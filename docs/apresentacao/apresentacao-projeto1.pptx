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24.xml" ContentType="application/vnd.openxmlformats-officedocument.presentationml.slideMaster+xml"/>
  <Override PartName="/ppt/slides/slide24.xml" ContentType="application/vnd.openxmlformats-officedocument.presentationml.slide+xml"/>
  <Override PartName="/ppt/charts/chart3.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1B2A4A"/>
                </a:solidFill>
                <a:latin typeface="Calibri"/>
              </a:defRPr>
            </a:pPr>
            <a:r>
              <a:rPr sz="1500" b="0" i="0" u="none" strike="noStrike">
                <a:solidFill>
                  <a:srgbClr val="1B2A4A"/>
                </a:solidFill>
                <a:latin typeface="Calibri"/>
              </a:rPr>
              <a:t>Crianças na fila de creche em junho</a:t>
            </a:r>
          </a:p>
        </c:rich>
      </c:tx>
      <c:layout/>
      <c:overlay val="0"/>
    </c:title>
    <c:autoTitleDeleted val="0"/>
    <c:plotArea>
      <c:layout/>
      <c:barChart>
        <c:barDir val="col"/>
        <c:grouping val="clustered"/>
        <c:varyColors val="0"/>
        <c:ser>
          <c:idx val="0"/>
          <c:order val="0"/>
          <c:tx>
            <c:strRef>
              <c:f>Sheet1!$B$1</c:f>
              <c:strCache>
                <c:ptCount val="1"/>
                <c:pt idx="0">
                  <c:v>Fila de creche em junho</c:v>
                </c:pt>
              </c:strCache>
            </c:strRef>
          </c:tx>
          <c:spPr>
            <a:solidFill>
              <a:srgbClr val="2E5EAA"/>
            </a:solidFill>
            <a:effectLst/>
          </c:spPr>
          <c:invertIfNegative val="0"/>
          <c:dLbls>
            <c:numFmt formatCode="#,##0" sourceLinked="0"/>
            <c:txPr>
              <a:bodyPr/>
              <a:lstStyle/>
              <a:p>
                <a:pPr>
                  <a:defRPr b="0" i="0" strike="noStrike" sz="900" u="none">
                    <a:solidFill>
                      <a:srgbClr val="1F2937"/>
                    </a:solidFill>
                    <a:latin typeface="Calibri"/>
                  </a:defRPr>
                </a:pPr>
              </a:p>
            </c:txPr>
            <c:showLegendKey val="0"/>
            <c:showVal val="1"/>
            <c:showCatName val="0"/>
            <c:showSerName val="0"/>
            <c:showPercent val="0"/>
            <c:showBubbleSize val="0"/>
            <c:showLeaderLines val="0"/>
          </c:dLbls>
          <c:cat>
            <c:multiLvlStrRef>
              <c:f>Sheet1!$A$2:$A$11</c:f>
              <c:multiLvlStrCache>
                <c:ptCount val="10"/>
                <c:lvl>
                  <c:pt idx="0">
                    <c:v>2015</c:v>
                  </c:pt>
                  <c:pt idx="1">
                    <c:v>2016</c:v>
                  </c:pt>
                  <c:pt idx="2">
                    <c:v>2017</c:v>
                  </c:pt>
                  <c:pt idx="3">
                    <c:v>2018</c:v>
                  </c:pt>
                  <c:pt idx="4">
                    <c:v>2019</c:v>
                  </c:pt>
                  <c:pt idx="5">
                    <c:v>2020</c:v>
                  </c:pt>
                  <c:pt idx="6">
                    <c:v>2021</c:v>
                  </c:pt>
                  <c:pt idx="7">
                    <c:v>2022</c:v>
                  </c:pt>
                  <c:pt idx="8">
                    <c:v>2023</c:v>
                  </c:pt>
                  <c:pt idx="9">
                    <c:v>2024</c:v>
                  </c:pt>
                </c:lvl>
              </c:multiLvlStrCache>
            </c:multiLvlStrRef>
          </c:cat>
          <c:val>
            <c:numRef>
              <c:f>Sheet1!$B$2:$B$11</c:f>
              <c:numCache>
                <c:formatCode>General</c:formatCode>
                <c:ptCount val="10"/>
                <c:pt idx="0">
                  <c:v>124741</c:v>
                </c:pt>
                <c:pt idx="1">
                  <c:v>103496</c:v>
                </c:pt>
                <c:pt idx="2">
                  <c:v>104268</c:v>
                </c:pt>
                <c:pt idx="3">
                  <c:v>66714</c:v>
                </c:pt>
                <c:pt idx="4">
                  <c:v>48910</c:v>
                </c:pt>
                <c:pt idx="5">
                  <c:v>22732</c:v>
                </c:pt>
                <c:pt idx="6">
                  <c:v>8767</c:v>
                </c:pt>
                <c:pt idx="7">
                  <c:v>4761</c:v>
                </c:pt>
                <c:pt idx="8">
                  <c:v>4913</c:v>
                </c:pt>
                <c:pt idx="9">
                  <c:v>3633</c:v>
                </c:pt>
              </c:numCache>
            </c:numRef>
          </c:val>
        </c:ser>
        <c:dLbls>
          <c:numFmt formatCode="#,##0" sourceLinked="0"/>
          <c:txPr>
            <a:bodyPr/>
            <a:lstStyle/>
            <a:p>
              <a:pPr>
                <a:defRPr b="0" i="0" strike="noStrike" sz="900" u="none">
                  <a:solidFill>
                    <a:srgbClr val="1F2937"/>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66175"/>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3E8F0"/>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66175"/>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1B2A4A"/>
                </a:solidFill>
                <a:latin typeface="Calibri"/>
              </a:defRPr>
            </a:pPr>
            <a:r>
              <a:rPr sz="1500" b="0" i="0" u="none" strike="noStrike">
                <a:solidFill>
                  <a:srgbClr val="1B2A4A"/>
                </a:solidFill>
                <a:latin typeface="Calibri"/>
              </a:rPr>
              <a:t>Fração da demanda de creche fora da rede (%)</a:t>
            </a:r>
          </a:p>
        </c:rich>
      </c:tx>
      <c:layout/>
      <c:overlay val="0"/>
    </c:title>
    <c:autoTitleDeleted val="0"/>
    <c:plotArea>
      <c:layout/>
      <c:lineChart>
        <c:varyColors val="0"/>
        <c:ser>
          <c:idx val="0"/>
          <c:order val="0"/>
          <c:tx>
            <c:strRef>
              <c:f>Sheet1!$B$1</c:f>
              <c:strCache>
                <c:ptCount val="1"/>
                <c:pt idx="0">
                  <c:v>Fração fora da rede</c:v>
                </c:pt>
              </c:strCache>
            </c:strRef>
          </c:tx>
          <c:spPr>
            <a:solidFill>
              <a:srgbClr val="F2A541"/>
            </a:solidFill>
            <a:ln w="38100" cap="flat">
              <a:solidFill>
                <a:srgbClr val="F2A541"/>
              </a:solidFill>
              <a:prstDash val="solid"/>
              <a:round/>
            </a:ln>
            <a:effectLst/>
          </c:spPr>
          <c:invertIfNegative val="0"/>
          <c:dLbls>
            <c:numFmt formatCode="0.0" sourceLinked="0"/>
            <c:txPr>
              <a:bodyPr/>
              <a:lstStyle/>
              <a:p>
                <a:pPr>
                  <a:defRPr b="0" i="0" strike="noStrike" sz="900" u="none">
                    <a:solidFill>
                      <a:srgbClr val="1F2937"/>
                    </a:solidFill>
                    <a:latin typeface="Calibri"/>
                  </a:defRPr>
                </a:pPr>
              </a:p>
            </c:txPr>
            <c:dLblPos val="t"/>
            <c:showLegendKey val="0"/>
            <c:showVal val="1"/>
            <c:showCatName val="0"/>
            <c:showSerName val="0"/>
            <c:showPercent val="0"/>
            <c:showBubbleSize val="0"/>
            <c:showLeaderLines val="0"/>
          </c:dLbls>
          <c:marker>
            <c:symbol val="circle"/>
            <c:size val="8"/>
            <c:spPr>
              <a:solidFill>
                <a:srgbClr val="F2A541"/>
              </a:solidFill>
              <a:ln w="9525" cap="flat">
                <a:solidFill>
                  <a:srgbClr val="F2A541"/>
                </a:solidFill>
                <a:prstDash val="solid"/>
                <a:round/>
              </a:ln>
              <a:effectLst/>
            </c:spPr>
          </c:marker>
          <c:cat>
            <c:multiLvlStrRef>
              <c:f>Sheet1!$A$2:$A$11</c:f>
              <c:multiLvlStrCache>
                <c:ptCount val="10"/>
                <c:lvl>
                  <c:pt idx="0">
                    <c:v>2015</c:v>
                  </c:pt>
                  <c:pt idx="1">
                    <c:v>2016</c:v>
                  </c:pt>
                  <c:pt idx="2">
                    <c:v>2017</c:v>
                  </c:pt>
                  <c:pt idx="3">
                    <c:v>2018</c:v>
                  </c:pt>
                  <c:pt idx="4">
                    <c:v>2019</c:v>
                  </c:pt>
                  <c:pt idx="5">
                    <c:v>2020</c:v>
                  </c:pt>
                  <c:pt idx="6">
                    <c:v>2021</c:v>
                  </c:pt>
                  <c:pt idx="7">
                    <c:v>2022</c:v>
                  </c:pt>
                  <c:pt idx="8">
                    <c:v>2023</c:v>
                  </c:pt>
                  <c:pt idx="9">
                    <c:v>2024</c:v>
                  </c:pt>
                </c:lvl>
              </c:multiLvlStrCache>
            </c:multiLvlStrRef>
          </c:cat>
          <c:val>
            <c:numRef>
              <c:f>Sheet1!$B$2:$B$11</c:f>
              <c:numCache>
                <c:formatCode>General</c:formatCode>
                <c:ptCount val="10"/>
                <c:pt idx="0">
                  <c:v>34.1</c:v>
                </c:pt>
                <c:pt idx="1">
                  <c:v>27.1</c:v>
                </c:pt>
                <c:pt idx="2">
                  <c:v>26.6</c:v>
                </c:pt>
                <c:pt idx="3">
                  <c:v>17.5</c:v>
                </c:pt>
                <c:pt idx="4">
                  <c:v>12.8</c:v>
                </c:pt>
                <c:pt idx="5">
                  <c:v>6.2</c:v>
                </c:pt>
                <c:pt idx="6">
                  <c:v>2.4</c:v>
                </c:pt>
                <c:pt idx="7">
                  <c:v>1.3</c:v>
                </c:pt>
                <c:pt idx="8">
                  <c:v>1.4</c:v>
                </c:pt>
                <c:pt idx="9">
                  <c:v>1.1</c:v>
                </c:pt>
              </c:numCache>
            </c:numRef>
          </c:val>
          <c:smooth val="0"/>
        </c:ser>
        <c:dLbls>
          <c:numFmt formatCode="0.0" sourceLinked="0"/>
          <c:txPr>
            <a:bodyPr/>
            <a:lstStyle/>
            <a:p>
              <a:pPr>
                <a:defRPr b="0" i="0" strike="noStrike" sz="900" u="none">
                  <a:solidFill>
                    <a:srgbClr val="1F2937"/>
                  </a:solidFill>
                  <a:latin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66175"/>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3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66175"/>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1B2A4A"/>
                </a:solidFill>
                <a:latin typeface="Calibri"/>
              </a:defRPr>
            </a:pPr>
            <a:r>
              <a:rPr sz="1500" b="0" i="0" u="none" strike="noStrike">
                <a:solidFill>
                  <a:srgbClr val="1B2A4A"/>
                </a:solidFill>
                <a:latin typeface="Calibri"/>
              </a:rPr>
              <a:t>Alunos por turma em 30 de junho (consulta 8)</a:t>
            </a:r>
          </a:p>
        </c:rich>
      </c:tx>
      <c:layout/>
      <c:overlay val="0"/>
    </c:title>
    <c:autoTitleDeleted val="0"/>
    <c:plotArea>
      <c:layout/>
      <c:barChart>
        <c:barDir val="col"/>
        <c:grouping val="clustered"/>
        <c:varyColors val="0"/>
        <c:ser>
          <c:idx val="0"/>
          <c:order val="0"/>
          <c:tx>
            <c:strRef>
              <c:f>Sheet1!$B$1</c:f>
              <c:strCache>
                <c:ptCount val="1"/>
                <c:pt idx="0">
                  <c:v>2019</c:v>
                </c:pt>
              </c:strCache>
            </c:strRef>
          </c:tx>
          <c:spPr>
            <a:solidFill>
              <a:srgbClr val="2E5EAA"/>
            </a:solidFill>
            <a:effectLst/>
          </c:spPr>
          <c:invertIfNegative val="0"/>
          <c:dLbls>
            <c:numFmt formatCode="0.0"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cat>
            <c:multiLvlStrRef>
              <c:f>Sheet1!$A$2:$A$5</c:f>
              <c:multiLvlStrCache>
                <c:ptCount val="4"/>
                <c:lvl>
                  <c:pt idx="0">
                    <c:v>Creche</c:v>
                  </c:pt>
                  <c:pt idx="1">
                    <c:v>Pré-escola</c:v>
                  </c:pt>
                  <c:pt idx="2">
                    <c:v>Fund. iniciais</c:v>
                  </c:pt>
                  <c:pt idx="3">
                    <c:v>Fund. finais</c:v>
                  </c:pt>
                </c:lvl>
              </c:multiLvlStrCache>
            </c:multiLvlStrRef>
          </c:cat>
          <c:val>
            <c:numRef>
              <c:f>Sheet1!$B$2:$B$5</c:f>
              <c:numCache>
                <c:formatCode>General</c:formatCode>
                <c:ptCount val="4"/>
                <c:pt idx="0">
                  <c:v>11.5</c:v>
                </c:pt>
                <c:pt idx="1">
                  <c:v>30.7</c:v>
                </c:pt>
                <c:pt idx="2">
                  <c:v>28.7</c:v>
                </c:pt>
                <c:pt idx="3">
                  <c:v>29.4</c:v>
                </c:pt>
              </c:numCache>
            </c:numRef>
          </c:val>
        </c:ser>
        <c:ser>
          <c:idx val="1"/>
          <c:order val="1"/>
          <c:tx>
            <c:strRef>
              <c:f>Sheet1!$C$1</c:f>
              <c:strCache>
                <c:ptCount val="1"/>
                <c:pt idx="0">
                  <c:v>2024</c:v>
                </c:pt>
              </c:strCache>
            </c:strRef>
          </c:tx>
          <c:spPr>
            <a:solidFill>
              <a:srgbClr val="F2A541"/>
            </a:solidFill>
            <a:effectLst/>
          </c:spPr>
          <c:invertIfNegative val="0"/>
          <c:dLbls>
            <c:numFmt formatCode="0.0"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cat>
            <c:multiLvlStrRef>
              <c:f>Sheet1!$A$2:$A$5</c:f>
              <c:multiLvlStrCache>
                <c:ptCount val="4"/>
                <c:lvl>
                  <c:pt idx="0">
                    <c:v>Creche</c:v>
                  </c:pt>
                  <c:pt idx="1">
                    <c:v>Pré-escola</c:v>
                  </c:pt>
                  <c:pt idx="2">
                    <c:v>Fund. iniciais</c:v>
                  </c:pt>
                  <c:pt idx="3">
                    <c:v>Fund. finais</c:v>
                  </c:pt>
                </c:lvl>
              </c:multiLvlStrCache>
            </c:multiLvlStrRef>
          </c:cat>
          <c:val>
            <c:numRef>
              <c:f>Sheet1!$C$2:$C$5</c:f>
              <c:numCache>
                <c:formatCode>General</c:formatCode>
                <c:ptCount val="4"/>
                <c:pt idx="0">
                  <c:v>11</c:v>
                </c:pt>
                <c:pt idx="1">
                  <c:v>26.9</c:v>
                </c:pt>
                <c:pt idx="2">
                  <c:v>30.6</c:v>
                </c:pt>
                <c:pt idx="3">
                  <c:v>31.6</c:v>
                </c:pt>
              </c:numCache>
            </c:numRef>
          </c:val>
        </c:ser>
        <c:dLbls>
          <c:numFmt formatCode="0.0"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66175"/>
                </a:solidFill>
                <a:latin typeface="Calibri"/>
              </a:defRPr>
            </a:pPr>
            <a:endParaRPr lang="en-US"/>
          </a:p>
        </c:txPr>
        <c:crossAx val="2094734552"/>
        <c:crosses val="autoZero"/>
        <c:auto val="1"/>
        <c:lblAlgn val="ctr"/>
        <c:noMultiLvlLbl val="1"/>
      </c:catAx>
      <c:valAx>
        <c:axId val="2094734552"/>
        <c:scaling>
          <c:orientation val="minMax"/>
          <c:min val="0"/>
        </c:scaling>
        <c:delete val="0"/>
        <c:axPos val="l"/>
        <c:majorGridlines>
          <c:spPr>
            <a:ln w="6350" cap="flat">
              <a:solidFill>
                <a:srgbClr val="E3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66175"/>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F2937"/>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Kevenn Laranjeira de Oliveira (bloco 1 de 4). Tempo previsto: 0,5 min.
Abrir com uma pergunta, antes de nos apresentarmos: quantas crianças esperavam vaga em creche em São Paulo em junho de 2015? Foram 124.741. Depois, em uma frase: somos o Grupo 7 de SCC0245, e o tema é política pública municipal de educação.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Kevenn Laranjeira de Oliveira (bloco 1 de 4). Tempo previsto: 0,75 min.
Começar pelo que deu certo. A falta de vaga em creche foi por anos o principal problema de acesso da educação infantil paulistana, e o PNE (Lei 13.005/2014), Meta 1, pede creche para pelo menos metade das crianças de até 3 anos e pré-escola universal. A cidade avançou: a fila de creche em junho caiu de 124.741 crianças em 2015 para 3.633 em 2024, e a parte da demanda fora da rede passou de 34% para 1%. Só que 3.633 não é zero.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Kevenn Laranjeira de Oliveira (bloco 1 de 4). Tempo previsto: 0,75 min.
Pausa, falando para a plateia. Em junho de 2024 ainda havia 3.633 crianças esperando vaga em creche, e havia fila nos 96 distritos. E se uma delas fosse o seu filho? Ele passaria meses fora da creche e poderia chegar à escola atrás das crianças que tiveram educação infantil. Você teria de faltar ao trabalho, pagar alguém para cuidar ou deixar o emprego até a vaga sair, e avós e vizinhos cobririam o horário da creche. As consequências são um cenário ilustrativo; o número de crianças é real. Para essas famílias, a espera continua, e a pergunta deste trabalho é como fazer essa fila cair mais.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Kevenn Laranjeira de Oliveira (bloco 1 de 4). Tempo previsto: 0,75 min.
Por que a fila não acaba? A planilha da prefeitura separa dois grupos. Quem aceita qualquer unidade não espera muito: em junho de 2024, eram 1.131 crianças, e nenhuma estava na fila havia mais de 30 dias. As outras 2.502, quase sete em cada dez, esperavam uma unidade específica, escolhida pela família, perto de casa ou do trabalho. E a fila está nos 96 distritos, com oferta que vai de menos de 50 a mais de 100 matrículas por 100 crianças de 0 a 4 anos, conforme o distrito. A pergunta deixou de ser quantas vagas abrir e virou onde abrir.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Kevenn Laranjeira de Oliveira (bloco 1 de 4). Tempo previsto: 0,75 min.
Por que é difícil responder onde? Porque os dados publicados atrapalham, e estes quatro casos são reais, da nossa carga. Matrícula em dobro: em junho de 2022, o microdado mostrava 378.954 matrículas de creche ativas, mas, contando cada aluno uma vez, eram 340.085; transferências saem sem data de fim, e a rede parece atender 38.869 crianças a mais. Código repetido: em 2024, 193 códigos cobriam 4.011 escolas, em notação científica. Totais que não fecham: na fila de junho de 2023, a soma dos distritos dava 2.926 crianças com opção, e o total publicado, 2.904. Zero que não é zero: até setembro de 2020 a fila não separava quem esperava havia mais de 30 dias, e gravar zero faria essa espera sumir. No passo 1, o Thiago mostra como tratamos cada caso.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Kevenn Laranjeira de Oliveira (bloco 1 de 4). Tempo previsto: 0,5 min.
Para achar o lugar certo entre 96 distritos, o gestor precisa cruzar quatro coisas: quem está na fila, quem já tem vaga, se as turmas estão cheias e quantas crianças moram em cada lugar. Hoje cada uma está numa base diferente. Nossa solução junta as três num data warehouse: um comando baixa, limpa, carrega e confere tudo, e cinco fatos e catorze dimensões se cruzam por distrito, etapa e data. Quem usa é a Secretaria Municipal de Educação e as 13 Diretorias Regionais.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Kevenn Laranjeira de Oliveira (bloco 1 de 4). Tempo previsto: 0,75 min.
O que a proposta melhora, com números da nossa carga real. Mais rápida: as oito consultas, somadas, rodam em 0,42 segundo sobre 13,4 milhões de matrículas, e a carga leva 3,5 minutos, com um comando. Mais confiável: catorze verificações rodam a cada carga, e na carga real nenhuma deu FALHA; as duas bases da SME concordam com diferença abaixo de 1% de 2015 a 2020, e de 2022 em diante a diferença fica à vista em vez de se misturar. E uma linguagem só: distrito, etapa e idade têm a mesma representação nas três bases, nulo quer dizer não publicado, e a Secretaria e as 13 Diretorias olham o mesmo número.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Kevenn Laranjeira de Oliveira (bloco 1 de 4). Tempo previsto: 0,75 min.
Como os dados ajudam a fila a cair mais: um ciclo de quatro passos. Medir: a cada publicação, a fila de cada distrito e etapa, separando quem espera uma unidade específica de quem aceita qualquer uma. Localizar: as consultas 1, 5 e 7 mostram onde a fila resiste e onde a oferta por criança é menor. Decidir: a consulta 8 mostra quantas crianças as turmas já têm, o que ajuda a escolher entre turma nova e lugar ocioso, e as consultas 3 e 4 mostram como a oferta é feita, por rede e jornada. Acompanhar: a publicação seguinte mostra se a fila do distrito caiu, e o ciclo recomeça. Como quase sete em cada dez crianças da fila esperam uma unidade específica, o que falta é vaga no lugar certo, e é isso que o ciclo procura.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Kevenn Laranjeira de Oliveira (bloco 1 de 4). Tempo previsto: 0,5 min.
O enunciado temático prioriza São Carlos, e nossa primeira proposta foi lá. Sem dado aberto de vaga nem de fila, a demanda não atendida teria de ser estimada, e o enunciado pede dados reais. São Paulo publica o microdado de cada matrícula e a fila por distrito, e é isso que permite medir a fila em vez de estimar. O modelo vale para São Carlos: matrícula, turma e desfecho vêm do registro que todo sistema de gestão escolar mantém, e o Censo 2022 tem população por setor para todos os municípios.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Kevenn Laranjeira de Oliveira (bloco 1 de 4). Tempo previsto: 0,5 min.
Os cinco assuntos são os que registramos na nossa planilha, e cada um responde a uma parte da decisão de onde abrir vagas: quem espera, quem já tem vaga, se as turmas estão cheias, quantas crianças moram em cada lugar e onde a rede oferece vaga. Quatro viram tabelas de fatos; a oferta por setor sai das dimensões Escola, Território e Setor Censitário. O quinto processo, desfecho da matrícula, acompanha o que acontece depois do acesso.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Kevenn Laranjeira de Oliveira (bloco 1 de 4). Tempo previsto: 0,5 min.
Agora a proposta vira plano. Imagine que a prefeitura adote o nosso data warehouse. São três passos, e cada um de nós apresenta um: no passo 1, o Thiago mostra como os dados da fila, das matrículas e do Censo entram, limpos e integrados; no passo 2, o Daniel mostra como o modelo organiza esses dados em estrelas e numa constelação; no passo 3, o Luís mostra as consultas, os resultados e um exemplo de onde abrir a próxima vaga, e volta à pergunta do começo. A adoção é um cenário hipotético; os números são da nossa carga com os dados reais. Passar a palavra ao Thiago.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Thiago Rodrigues Gouveia da Silva (bloco 2 de 4). Tempo previsto: 1 min.
Passo 1: os dados entram. Para decidir onde abrir vaga, precisamos de três respostas sobre cada distrito, e cada uma vem de uma fonte. Quem já tem vaga: o microdado de matrículas da SME, 13,4 milhões de linhas, uma por aluno numa turma. Quem espera vaga: a planilha de demanda da SME, 44 meses de fila, uma linha por distrito com uma coluna por etapa. Quantas crianças moram ali: o Censo 2022 do IBGE, 26.889 setores, uma linha por setor com uma coluna por faixa de idade. Repare que cada fonte tem um tamanho de linha diferente; é isso que os próximos slides resolvem. Para não ficar abstrato, vamos seguir um distrito, o Tremembé: 153 crianças na fila de creche em junho de 2024 e 11.498 crianças de 0 a 4 anos morando lá.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Thiago Rodrigues Gouveia da Silva (bloco 2 de 4). Tempo previsto: 1 min.
Integrar é fazer as fontes falarem a mesma língua. Leia cada linha da esquerda para a direita: como o dado chega, a regra que aplicamos e o que fica no data warehouse. Distrito: a fila escreve TREMEMBE com um espaço sobrando no fim, a matrícula escreve TREMEMBE, o IBGE escreve Tremembé com acento; a mesma regra de normalização transforma os três numa única linha da dimensão Território. Idade: a matrícula traz a idade exata, o IBGE só o grupo de 0 a 4; cada idade ganha a faixa do IBGE, e as duas bases passam a ser comparadas na mesma faixa. Setor: as duas bases usam o nome CD_SETOR para coisas diferentes, setor administrativo de 4 dígitos e setor censitário de 15; é um homônimo, então viram atributos separados e nunca são cruzados. Como sabemos que deu certo: contamos a mesma coisa nas duas bases da SME. Matrículas de creche ativas em junho de 2015: 240.905 no microdado e 240.840 na planilha. De 2015 a 2020 a diferença fica abaixo de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Thiago Rodrigues Gouveia da Silva (bloco 2 de 4). Tempo previsto: 1 min.
Os dados reais chegaram com vários defeitos; vou mostrar um, de ponta a ponta, porque é o mais grave e mostra como tratamos todos. À esquerda, como o código da escola chega. Em 2021 a UNIAO DE VILA NOVA I tem o código 19459. Em 2022 o código vem embaralhado. Em 2023 vem em notação científica, 9,20961E+15, e o mesmo código aparece também na BEIJA FLOR, outra escola: o código deixou de identificar a escola. O que fizemos, em três passos. Um: medimos cada ano no próprio dado; em 2023 há E+ e um código em duas escolas, então o ano está corrompido, e 2021 é o último ano confiável. Dois: procuramos a escola pelo nome, tipo e distrito em 2021; a UNIAO DE VILA NOVA I, EMEI da Vila Jacuí, tem um único código, 19459. Três: um código só, copiamos; a BEIJA FLOR tem duas escolas com esse nome em 2021, então é ambígua e recebe uma chave sintética, nunca um chute. À direita, como ficou. Resultado: 94,8% a 98,6% das matrículas de 2022 a 2024 ficam com o código real. Os outros problemas (fila em sete formatos, turno de 2021, idade, datas e valores escondidos pelo IBGE) seguem a mesma lógica: medir, corrigir com uma regra testada e, na dúvida, não inventar; o que não foi publicado fica nulo, nunca zero, como os 6.543 valores que o IBGE esconde em setores pequenos. Depois de cada carga rodam catorze verificações automáticas, e nenhuma deu FALHA. (O exemplo é do teste do projeto, no formato dos arquivos.)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Thiago Rodrigues Gouveia da Silva (bloco 2 de 4). Tempo previsto: 1 min.
Dois conceitos, cada um com uma pergunta. Grão: o que uma linha da tabela representa? É a primeira decisão do modelo, tomada antes das dimensões. No fato Fila, uma linha é o Tremembé, junho de 2024, creche, com o número 153. No fato Matrícula, uma linha é um aluno numa turma, com o número 1. Por isso uma criança não é uma linha da fila: ela é uma das 153; quando consegue a vaga, vira uma linha do fato Matrícula. Aditividade: posso somar essa medida? Somar distritos pode: 153 do Tremembé mais 88 do Grajaú dá 241 crianças na fila. Somar meses não pode: a fila é um estoque, um retrato numa data, e quem esperou de abril a junho apareceria duas vezes. Taxas e médias nunca se somam: recalculamos a partir das contagens. A tabela embaixo resume os cinco fatos: matrícula, desfecho e ocupação somam; fila e população são estoques.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Thiago Rodrigues Gouveia da Silva (bloco 2 de 4). Tempo previsto: 1 min.
A primeira estrela do modelo: o fato Matrícula no centro, dez dimensões em volta, e cada recurso de modelagem resolve um problema concreto. Um: a dimensão Data entra duas vezes, como início e fim da matrícula, como a internação e a alta do artigo da disciplina; com as duas datas sabemos se a matrícula estava ativa em 30 de junho, que é o número que se compara com a fila. Dois: cada linha tem um campo igual a 1, técnica das tabelas de fatos sem fato, e contar matrículas vira uma soma; a outra medida é dias de matrícula. Três: sexo, raça, deficiências e situação são mais de 30 indicadores; em vez de 30 dimensões minúsculas, ficam em 3 dimensões bugiganga. Quatro: id da turma e código da matrícula ficam no fato, sem tabela própria; são dimensões degeneradas. Cinco: a escola é mudança lenta tipo 2; 402 escolas mudam de nome ou tipo na série, e a matrícula de 2017 continua com o nome que a escola tinha em 2017. Fechar o passo 1: os dados estão limpos e integrados, e o passo 2 é o modelo. Passar a palavra ao Daniel.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Daniel Afonso Borges dos Santos (bloco 3 de 4). Tempo previsto: 1 min.
Passo 2: o modelo organiza os dados. A fila fica nesta estrela: por exemplo, distrito Tremembé, junho de 2024, etapa creche, 153 crianças. Fila: medidas nulas onde a prefeitura não publicou a quebra; formato da planilha como dimensão degenerada. Tempo tem duas hierarquias porque a fila foi trimestral até 2022 e bimestral depois. A fila é estoque: soma entre distritos e etapas, mas no tempo se escolhe um mês, nunca se soma.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Daniel Afonso Borges dos Santos (bloco 3 de 4). Tempo previsto: 1 min.
Desfecho: fato agregado do fato de matrícula, porque taxa de rendimento só faz sentido sobre um conjunto de alunos. As contagens somam; as taxas são recalculadas pelas contagens em qualquer nível, nunca como média de taxas. Na educação infantil não há aprovação, então a taxa fica nula. Esta estrela olha o que vem depois do acesso: quem sai da fila e consegue a vaga passa a contar aqui.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Daniel Afonso Borges dos Santos (bloco 3 de 4). Tempo previsto: 1 min.
Ocupação de turma: agregado do fato de matrícula pelo id da turma. A capacidade não é publicada, então medimos os alunos ativos em 30 de junho por turma em funcionamento. A média é sempre soma de alunos dividida por soma de turmas. No Tremembé, as 578 turmas de creche tinham em média 10,7 crianças em junho de 2024, perto da média da cidade, de 11,0.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Daniel Afonso Borges dos Santos (bloco 3 de 4). Tempo previsto: 1 min.
População: Censo 2022 no grão de setor censitário, a menor unidade territorial do modelo. Na carga real são 26.889 setores, todos ligados a um distrito da SME, e 11,4 milhões de moradores. Faixa Etária é o rollup encolhido de Idade que conforma com a matrícula. As 11.498 crianças de 0 a 4 anos do Tremembé são a soma dos setores censitários do distrito.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Daniel Afonso Borges dos Santos (bloco 3 de 4). Tempo previsto: 1 min.
Cinco fatos, catorze dimensões. Território é compartilhado pelos cinco. Processo de projeto: matriz de barramento com fato e dimensão, dimensões conformadas e, onde os grãos diferem, rollups encolhidos conformados (tracejado): Tempo e Ano Letivo de Data, Etapa de Série, Faixa Etária de Idade, Território de Setor Censitário. O drill-across agrega cada fato até o grão comum e une pelos atributos conformados. Território está nos cinco fatos, e é por ele que um distrito, como o Tremembé, liga fila, matrícula, ocupação, desfecho e população. Passar a palavra ao Luís: com o modelo pronto, o passo 3 são as respostas.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Luís Antônio Arruda Soares (bloco 4 de 4). Tempo previsto: 1 min.
Passo 3: as perguntas do gestor viram consultas. O enunciado pede ao menos duas de roll-up ou drill-down, uma slice and dice, uma pivot e uma drill-across. Temos três, uma, uma e três. Cada consulta responde a uma pergunta do gestor e cita os fatos que usa. C7 é a que liga fila, matrícula e população; C8 é a da ocupação das turmas. Para decidir onde abrir vaga, as que pesam são a C1, que desce do município até o distrito, a C5 e a C7, que cruzam fila, matrícula e população, e a C8, da ocupação.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Luís Antônio Arruda Soares (bloco 4 de 4). Tempo previsto: 0,75 min.
Consulta 5 na carga com os dados reais de 2015 a 2024. A fila de creche em junho caiu 97% em dez anos e a fração da demanda fora da rede passou de 34% para 1%. A queda maior foi de 2017 a 2021. Consulta 3: 85% das matrículas de creche estão na rede conveniada, quase todas em jornada integral, em 2019 e em 2024. A cidade melhorou muito; o que falta é achar onde a fila resiste.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Luís Antônio Arruda Soares (bloco 4 de 4). Tempo previsto: 0,75 min.
Consulta 7, na data do Censo: 598.406 crianças de 0 a 4 anos moram no município e a rede municipal tinha 514.131 matrículas ativas dessa idade, 86 por 100. A média esconde distâncias grandes: 25 distritos têm menos de 50 matrículas por 100 crianças residentes e outros 25 passam de 100, porque a matrícula conta onde a escola fica e a população onde a criança mora. Consulta 8: a creche funciona com perto de 11 crianças por turma em todas as DREs; no fundamental, o município tem de 28,7 a 31,6 alunos por turma em 2019 e 2024. O Tremembé está no grupo abaixo da média, com 71,6.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Luís Antônio Arruda Soares (bloco 4 de 4). Tempo previsto: 0,5 min.
Antes da decisão final, por que confiar nesses números. Seis das 23 decisões documentadas no repositório. Cada uma tem a alternativa descartada e o argumento. Destacar as duas que mais aparecem em perguntas: por que rollups encolhidos em vez de um grão único, e por que nulo e não zero.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Luís Antônio Arruda Soares (bloco 4 de 4). Tempo previsto: 0,75 min.
Um exemplo do passo de localizar, com números reais. Olhando só o tamanho, o gestor escolheria o Grajaú: é o distrito com mais crianças de 0 a 4 anos, 24.398, e tinha a maior fila de creche da cidade em 2015, 8.018 crianças. Mas a fila do Grajaú caiu para 88 em 2024, e a oferta lá é de 82,7 matrículas por 100 crianças. No Tremembé, a fila de 2024 era de 153 crianças, a segunda maior da cidade, e a oferta era de 71,6 por 100, abaixo da média do município, de 86. Com as bases cruzadas, a próxima vaga vai para o Tremembé. Se perguntarem: a matrícula conta onde a escola fica e a população onde a criança mora, então a razão é oferta por criança residente, não taxa de atendimento.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Luís Antônio Arruda Soares (bloco 4 de 4). Tempo previsto: 0,75 min.
Voltar à pergunta do começo. Se fosse o seu filho, o que mudaria com o data warehouse? A prefeitura enxergaria onde a fila resiste, como no Tremembé, e abriria vaga lá. A criança sairia da fila e viraria uma linha do fato Matrícula, e a família voltaria a trabalhar com o filho na creche. O que faz a diferença é juntar números que já existem: uma consulta no lugar de três bases, respostas em menos de um segundo, catorze verificações a cada carga e dez anos de histórico. É um cenário hipotético; a prefeitura não usa o nosso data warehouse, mas tudo o que ele mostra sai dos dados reais. Cada vaga aberta no lugar certo é uma criança a menos na fila.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Luís Antônio Arruda Soares (bloco 4 de 4). Tempo previsto: 0,5 min.
Encerramento. A proposta está pronta: o repositório tem o pipeline completo, os testes e a documentação, e o relatório em PDF traz a descrição de cada atributo, com a coluna de origem e a integração. Abrir para perguntas.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LARO">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6858000" cy="274320"/>
          </a:xfrm>
          <a:prstGeom prst="rect">
            <a:avLst/>
          </a:prstGeom>
          <a:noFill/>
          <a:ln/>
        </p:spPr>
        <p:txBody>
          <a:bodyPr wrap="square" lIns="0" tIns="0" rIns="0" bIns="0" rtlCol="0" anchor="ctr"/>
          <a:lstStyle/>
          <a:p>
            <a:pPr indent="0" marL="0">
              <a:buNone/>
            </a:pPr>
            <a:r>
              <a:rPr lang="en-US" sz="1000" dirty="0">
                <a:solidFill>
                  <a:srgbClr val="566175"/>
                </a:solidFill>
                <a:latin typeface="Calibri" pitchFamily="34" charset="0"/>
                <a:ea typeface="Calibri" pitchFamily="34" charset="-122"/>
                <a:cs typeface="Calibri" pitchFamily="34" charset="-120"/>
              </a:rPr>
              <a:t>SCC0245 · Grupo 7 · Rede Municipal Paulistana</a:t>
            </a:r>
            <a:endParaRPr lang="en-US" sz="1000" dirty="0"/>
          </a:p>
        </p:txBody>
      </p:sp>
      <p:sp>
        <p:nvSpPr>
          <p:cNvPr id="3" name="Text 1"/>
          <p:cNvSpPr/>
          <p:nvPr/>
        </p:nvSpPr>
        <p:spPr>
          <a:xfrm>
            <a:off x="11256264" y="6400800"/>
            <a:ext cx="457200" cy="292608"/>
          </a:xfrm>
          <a:prstGeom prst="rect">
            <a:avLst/>
          </a:prstGeom>
          <a:noFill/>
          <a:ln/>
        </p:spPr>
        <p:txBody>
          <a:bodyPr wrap="square" lIns="0" tIns="0" rIns="0" bIns="0" rtlCol="0" anchor="ctr"/>
          <a:lstStyle/>
          <a:p>
            <a:pPr indent="0" marL="0">
              <a:buNone/>
            </a:pPr>
            <a:r>
              <a:rPr lang="en-US" sz="1100" dirty="0">
                <a:solidFill>
                  <a:srgbClr val="566175"/>
                </a:solidFill>
                <a:latin typeface="Calibri" pitchFamily="34" charset="0"/>
                <a:ea typeface="Calibri" pitchFamily="34" charset="-122"/>
                <a:cs typeface="Calibri" pitchFamily="34" charset="-120"/>
              </a:rPr>
              <a:t>/ 28</a:t>
            </a:r>
            <a:endParaRPr lang="en-US" sz="11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ESCURO">
    <p:bg>
      <p:bgPr>
        <a:solidFill>
          <a:srgbClr val="1B2A4A"/>
        </a:solidFill>
      </p:bgPr>
    </p:bg>
    <p:spTree>
      <p:nvGrpSpPr>
        <p:cNvPr id="1" name=""/>
        <p:cNvGrpSpPr/>
        <p:nvPr/>
      </p:nvGrpSpPr>
      <p:grpSpPr>
        <a:xfrm>
          <a:off x="0" y="0"/>
          <a:ext cx="0" cy="0"/>
          <a:chOff x="0" y="0"/>
          <a:chExt cx="0" cy="0"/>
        </a:xfrm>
      </p:grpSpPr>
      <p:sp>
        <p:nvSpPr>
          <p:cNvPr id="2" name="Text 0"/>
          <p:cNvSpPr/>
          <p:nvPr/>
        </p:nvSpPr>
        <p:spPr>
          <a:xfrm>
            <a:off x="548640" y="6419088"/>
            <a:ext cx="6858000" cy="274320"/>
          </a:xfrm>
          <a:prstGeom prst="rect">
            <a:avLst/>
          </a:prstGeom>
          <a:noFill/>
          <a:ln/>
        </p:spPr>
        <p:txBody>
          <a:bodyPr wrap="square" lIns="0" tIns="0" rIns="0" bIns="0" rtlCol="0" anchor="ctr"/>
          <a:lstStyle/>
          <a:p>
            <a:pPr indent="0" marL="0">
              <a:buNone/>
            </a:pPr>
            <a:r>
              <a:rPr lang="en-US" sz="1000" dirty="0">
                <a:solidFill>
                  <a:srgbClr val="C9D3E6"/>
                </a:solidFill>
                <a:latin typeface="Calibri" pitchFamily="34" charset="0"/>
                <a:ea typeface="Calibri" pitchFamily="34" charset="-122"/>
                <a:cs typeface="Calibri" pitchFamily="34" charset="-120"/>
              </a:rPr>
              <a:t>SCC0245 · Grupo 7 · Rede Municipal Paulistana</a:t>
            </a:r>
            <a:endParaRPr lang="en-US" sz="1000" dirty="0"/>
          </a:p>
        </p:txBody>
      </p:sp>
      <p:sp>
        <p:nvSpPr>
          <p:cNvPr id="3" name="Text 1"/>
          <p:cNvSpPr/>
          <p:nvPr/>
        </p:nvSpPr>
        <p:spPr>
          <a:xfrm>
            <a:off x="11256264" y="6400800"/>
            <a:ext cx="457200" cy="292608"/>
          </a:xfrm>
          <a:prstGeom prst="rect">
            <a:avLst/>
          </a:prstGeom>
          <a:noFill/>
          <a:ln/>
        </p:spPr>
        <p:txBody>
          <a:bodyPr wrap="square" lIns="0" tIns="0" rIns="0" bIns="0" rtlCol="0" anchor="ctr"/>
          <a:lstStyle/>
          <a:p>
            <a:pPr indent="0" marL="0">
              <a:buNone/>
            </a:pPr>
            <a:r>
              <a:rPr lang="en-US" sz="1100" dirty="0">
                <a:solidFill>
                  <a:srgbClr val="C9D3E6"/>
                </a:solidFill>
                <a:latin typeface="Calibri" pitchFamily="34" charset="0"/>
                <a:ea typeface="Calibri" pitchFamily="34" charset="-122"/>
                <a:cs typeface="Calibri" pitchFamily="34" charset="-120"/>
              </a:rPr>
              <a:t>/ 28</a:t>
            </a:r>
            <a:endParaRPr lang="en-US" sz="11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F2A541"/>
                </a:solidFill>
                <a:latin typeface="Calibri"/>
                <a:ea typeface="Calibri"/>
                <a:cs typeface="Calibri"/>
              </a:defRPr>
            </a:lvl1pPr>
          </a:lstStyle>
          <a:p>
            <a:pPr algn="r"/>
            <a:fld id="{F7021451-1387-4CA6-816F-3879F97B5CBC}" type="slidenum">
              <a:rPr b="1"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APA">
    <p:bg>
      <p:bgPr>
        <a:solidFill>
          <a:srgbClr val="1B2A4A"/>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2.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Text 0"/>
          <p:cNvSpPr txBox="1"/>
          <p:nvPr/>
        </p:nvSpPr>
        <p:spPr>
          <a:xfrm>
            <a:off x="731520" y="685800"/>
            <a:ext cx="10515600" cy="320040"/>
          </a:xfrm>
          <a:prstGeom prst="rect">
            <a:avLst/>
          </a:prstGeom>
          <a:noFill/>
          <a:ln/>
        </p:spPr>
        <p:txBody>
          <a:bodyPr wrap="square" lIns="0" tIns="0" rIns="0" bIns="0" rtlCol="0" anchor="t"/>
          <a:lstStyle/>
          <a:p>
            <a:pPr algn="l" indent="0" marL="0">
              <a:buNone/>
            </a:pPr>
            <a:r>
              <a:rPr lang="en-US" sz="1300" b="1" spc="100" kern="0" dirty="0">
                <a:solidFill>
                  <a:srgbClr val="F2A541"/>
                </a:solidFill>
                <a:latin typeface="Calibri" pitchFamily="34" charset="0"/>
                <a:ea typeface="Calibri" pitchFamily="34" charset="-122"/>
                <a:cs typeface="Calibri" pitchFamily="34" charset="-120"/>
              </a:rPr>
              <a:t>SCC0245 · PROCESSAMENTO ANALÍTICO DE DADOS · PRIMEIRO TRABALHO PRÁTICO</a:t>
            </a:r>
            <a:endParaRPr lang="en-US" sz="1300" dirty="0"/>
          </a:p>
        </p:txBody>
      </p:sp>
      <p:sp>
        <p:nvSpPr>
          <p:cNvPr id="4" name="Text 1"/>
          <p:cNvSpPr txBox="1"/>
          <p:nvPr/>
        </p:nvSpPr>
        <p:spPr>
          <a:xfrm>
            <a:off x="731520" y="1143000"/>
            <a:ext cx="7315200" cy="1783080"/>
          </a:xfrm>
          <a:prstGeom prst="rect">
            <a:avLst/>
          </a:prstGeom>
          <a:noFill/>
          <a:ln/>
        </p:spPr>
        <p:txBody>
          <a:bodyPr wrap="square" lIns="0" tIns="0" rIns="0" bIns="0" rtlCol="0" anchor="t"/>
          <a:lstStyle/>
          <a:p>
            <a:pPr algn="l" indent="0" marL="0">
              <a:buNone/>
            </a:pPr>
            <a:r>
              <a:rPr lang="en-US" sz="4000" b="1" dirty="0">
                <a:solidFill>
                  <a:srgbClr val="FFFFFF"/>
                </a:solidFill>
                <a:latin typeface="Calibri" pitchFamily="34" charset="0"/>
                <a:ea typeface="Calibri" pitchFamily="34" charset="-122"/>
                <a:cs typeface="Calibri" pitchFamily="34" charset="-120"/>
              </a:rPr>
              <a:t>Rede Municipal Paulistana: oferta escolar e demanda não atendida</a:t>
            </a:r>
            <a:endParaRPr lang="en-US" sz="4000" dirty="0"/>
          </a:p>
        </p:txBody>
      </p:sp>
      <p:sp>
        <p:nvSpPr>
          <p:cNvPr id="5" name="Text 2"/>
          <p:cNvSpPr txBox="1"/>
          <p:nvPr/>
        </p:nvSpPr>
        <p:spPr>
          <a:xfrm>
            <a:off x="731520" y="3017520"/>
            <a:ext cx="6949440" cy="731520"/>
          </a:xfrm>
          <a:prstGeom prst="rect">
            <a:avLst/>
          </a:prstGeom>
          <a:noFill/>
          <a:ln/>
        </p:spPr>
        <p:txBody>
          <a:bodyPr wrap="square" lIns="0" tIns="0" rIns="0" bIns="0" rtlCol="0" anchor="t"/>
          <a:lstStyle/>
          <a:p>
            <a:pPr algn="l" indent="0" marL="0">
              <a:buNone/>
            </a:pPr>
            <a:r>
              <a:rPr lang="en-US" sz="1800" dirty="0">
                <a:solidFill>
                  <a:srgbClr val="C9D3E6"/>
                </a:solidFill>
                <a:latin typeface="Calibri" pitchFamily="34" charset="0"/>
                <a:ea typeface="Calibri" pitchFamily="34" charset="-122"/>
                <a:cs typeface="Calibri" pitchFamily="34" charset="-120"/>
              </a:rPr>
              <a:t>Um data warehouse para decidir onde abrir vagas, com dados abertos da SME-SP e do IBGE</a:t>
            </a:r>
            <a:endParaRPr lang="en-US" sz="1800" dirty="0"/>
          </a:p>
        </p:txBody>
      </p:sp>
      <p:sp>
        <p:nvSpPr>
          <p:cNvPr id="6" name="anim:1:1"/>
          <p:cNvSpPr/>
          <p:nvPr/>
        </p:nvSpPr>
        <p:spPr>
          <a:xfrm>
            <a:off x="731520" y="3977640"/>
            <a:ext cx="1234440" cy="310896"/>
          </a:xfrm>
          <a:prstGeom prst="roundRect">
            <a:avLst>
              <a:gd name="adj" fmla="val 50000"/>
            </a:avLst>
          </a:prstGeom>
          <a:solidFill>
            <a:srgbClr val="F2A541"/>
          </a:solidFill>
          <a:ln w="12700">
            <a:solidFill>
              <a:srgbClr val="F2A541"/>
            </a:solidFill>
            <a:prstDash val="solid"/>
          </a:ln>
        </p:spPr>
      </p:sp>
      <p:sp>
        <p:nvSpPr>
          <p:cNvPr id="7" name="anim:1:2"/>
          <p:cNvSpPr txBox="1"/>
          <p:nvPr/>
        </p:nvSpPr>
        <p:spPr>
          <a:xfrm>
            <a:off x="731520" y="3977640"/>
            <a:ext cx="1234440" cy="310896"/>
          </a:xfrm>
          <a:prstGeom prst="rect">
            <a:avLst/>
          </a:prstGeom>
          <a:noFill/>
          <a:ln/>
        </p:spPr>
        <p:txBody>
          <a:bodyPr wrap="square" lIns="0" tIns="0" rIns="0" bIns="0" rtlCol="0" anchor="ctr"/>
          <a:lstStyle/>
          <a:p>
            <a:pPr algn="ctr" indent="0" marL="0">
              <a:buNone/>
            </a:pPr>
            <a:r>
              <a:rPr lang="en-US" sz="1200" b="1" dirty="0">
                <a:solidFill>
                  <a:srgbClr val="1B2A4A"/>
                </a:solidFill>
                <a:latin typeface="Calibri" pitchFamily="34" charset="0"/>
                <a:ea typeface="Calibri" pitchFamily="34" charset="-122"/>
                <a:cs typeface="Calibri" pitchFamily="34" charset="-120"/>
              </a:rPr>
              <a:t>GRUPO 7</a:t>
            </a:r>
            <a:endParaRPr lang="en-US" sz="1200" dirty="0"/>
          </a:p>
        </p:txBody>
      </p:sp>
      <p:sp>
        <p:nvSpPr>
          <p:cNvPr id="8" name="anim:2:3"/>
          <p:cNvSpPr/>
          <p:nvPr/>
        </p:nvSpPr>
        <p:spPr>
          <a:xfrm>
            <a:off x="731520" y="4480560"/>
            <a:ext cx="3520440" cy="658368"/>
          </a:xfrm>
          <a:prstGeom prst="roundRect">
            <a:avLst>
              <a:gd name="adj" fmla="val 16667"/>
            </a:avLst>
          </a:prstGeom>
          <a:solidFill>
            <a:srgbClr val="FFFFFF">
              <a:alpha val="10000"/>
            </a:srgbClr>
          </a:solidFill>
          <a:ln w="9525">
            <a:solidFill>
              <a:srgbClr val="3A4D73"/>
            </a:solidFill>
            <a:prstDash val="solid"/>
          </a:ln>
        </p:spPr>
      </p:sp>
      <p:sp>
        <p:nvSpPr>
          <p:cNvPr id="9" name="anim:2:4"/>
          <p:cNvSpPr txBox="1"/>
          <p:nvPr/>
        </p:nvSpPr>
        <p:spPr>
          <a:xfrm>
            <a:off x="914400" y="4544568"/>
            <a:ext cx="3200400" cy="292608"/>
          </a:xfrm>
          <a:prstGeom prst="rect">
            <a:avLst/>
          </a:prstGeom>
          <a:noFill/>
          <a:ln/>
        </p:spPr>
        <p:txBody>
          <a:bodyPr wrap="square" lIns="0" tIns="0" rIns="0" bIns="0" rtlCol="0" anchor="t"/>
          <a:lstStyle/>
          <a:p>
            <a:pPr algn="l" indent="0" marL="0">
              <a:buNone/>
            </a:pPr>
            <a:r>
              <a:rPr lang="en-US" sz="1400" b="1" dirty="0">
                <a:solidFill>
                  <a:srgbClr val="FFFFFF"/>
                </a:solidFill>
                <a:latin typeface="Calibri" pitchFamily="34" charset="0"/>
                <a:ea typeface="Calibri" pitchFamily="34" charset="-122"/>
                <a:cs typeface="Calibri" pitchFamily="34" charset="-120"/>
              </a:rPr>
              <a:t>Kevenn Laranjeira de Oliveira</a:t>
            </a:r>
            <a:endParaRPr lang="en-US" sz="1400" dirty="0"/>
          </a:p>
        </p:txBody>
      </p:sp>
      <p:sp>
        <p:nvSpPr>
          <p:cNvPr id="10" name="anim:2:5"/>
          <p:cNvSpPr txBox="1"/>
          <p:nvPr/>
        </p:nvSpPr>
        <p:spPr>
          <a:xfrm>
            <a:off x="914400" y="4828032"/>
            <a:ext cx="3200400" cy="237744"/>
          </a:xfrm>
          <a:prstGeom prst="rect">
            <a:avLst/>
          </a:prstGeom>
          <a:noFill/>
          <a:ln/>
        </p:spPr>
        <p:txBody>
          <a:bodyPr wrap="square" lIns="0" tIns="0" rIns="0" bIns="0" rtlCol="0" anchor="t"/>
          <a:lstStyle/>
          <a:p>
            <a:pPr algn="l" indent="0" marL="0">
              <a:buNone/>
            </a:pPr>
            <a:r>
              <a:rPr lang="en-US" sz="1200" dirty="0">
                <a:solidFill>
                  <a:srgbClr val="C9D3E6"/>
                </a:solidFill>
                <a:latin typeface="Calibri" pitchFamily="34" charset="0"/>
                <a:ea typeface="Calibri" pitchFamily="34" charset="-122"/>
                <a:cs typeface="Calibri" pitchFamily="34" charset="-120"/>
              </a:rPr>
              <a:t>Nº USP 18046529</a:t>
            </a:r>
            <a:endParaRPr lang="en-US" sz="1200" dirty="0"/>
          </a:p>
        </p:txBody>
      </p:sp>
      <p:sp>
        <p:nvSpPr>
          <p:cNvPr id="11" name="anim:3:6"/>
          <p:cNvSpPr/>
          <p:nvPr/>
        </p:nvSpPr>
        <p:spPr>
          <a:xfrm>
            <a:off x="4434840" y="4480560"/>
            <a:ext cx="3520440" cy="658368"/>
          </a:xfrm>
          <a:prstGeom prst="roundRect">
            <a:avLst>
              <a:gd name="adj" fmla="val 16667"/>
            </a:avLst>
          </a:prstGeom>
          <a:solidFill>
            <a:srgbClr val="FFFFFF">
              <a:alpha val="10000"/>
            </a:srgbClr>
          </a:solidFill>
          <a:ln w="9525">
            <a:solidFill>
              <a:srgbClr val="3A4D73"/>
            </a:solidFill>
            <a:prstDash val="solid"/>
          </a:ln>
        </p:spPr>
      </p:sp>
      <p:sp>
        <p:nvSpPr>
          <p:cNvPr id="12" name="anim:3:7"/>
          <p:cNvSpPr txBox="1"/>
          <p:nvPr/>
        </p:nvSpPr>
        <p:spPr>
          <a:xfrm>
            <a:off x="4617720" y="4544568"/>
            <a:ext cx="3200400" cy="292608"/>
          </a:xfrm>
          <a:prstGeom prst="rect">
            <a:avLst/>
          </a:prstGeom>
          <a:noFill/>
          <a:ln/>
        </p:spPr>
        <p:txBody>
          <a:bodyPr wrap="square" lIns="0" tIns="0" rIns="0" bIns="0" rtlCol="0" anchor="t"/>
          <a:lstStyle/>
          <a:p>
            <a:pPr algn="l" indent="0" marL="0">
              <a:buNone/>
            </a:pPr>
            <a:r>
              <a:rPr lang="en-US" sz="1400" b="1" dirty="0">
                <a:solidFill>
                  <a:srgbClr val="FFFFFF"/>
                </a:solidFill>
                <a:latin typeface="Calibri" pitchFamily="34" charset="0"/>
                <a:ea typeface="Calibri" pitchFamily="34" charset="-122"/>
                <a:cs typeface="Calibri" pitchFamily="34" charset="-120"/>
              </a:rPr>
              <a:t>Thiago Rodrigues Gouveia da Silva</a:t>
            </a:r>
            <a:endParaRPr lang="en-US" sz="1400" dirty="0"/>
          </a:p>
        </p:txBody>
      </p:sp>
      <p:sp>
        <p:nvSpPr>
          <p:cNvPr id="13" name="anim:3:8"/>
          <p:cNvSpPr txBox="1"/>
          <p:nvPr/>
        </p:nvSpPr>
        <p:spPr>
          <a:xfrm>
            <a:off x="4617720" y="4828032"/>
            <a:ext cx="3200400" cy="237744"/>
          </a:xfrm>
          <a:prstGeom prst="rect">
            <a:avLst/>
          </a:prstGeom>
          <a:noFill/>
          <a:ln/>
        </p:spPr>
        <p:txBody>
          <a:bodyPr wrap="square" lIns="0" tIns="0" rIns="0" bIns="0" rtlCol="0" anchor="t"/>
          <a:lstStyle/>
          <a:p>
            <a:pPr algn="l" indent="0" marL="0">
              <a:buNone/>
            </a:pPr>
            <a:r>
              <a:rPr lang="en-US" sz="1200" dirty="0">
                <a:solidFill>
                  <a:srgbClr val="C9D3E6"/>
                </a:solidFill>
                <a:latin typeface="Calibri" pitchFamily="34" charset="0"/>
                <a:ea typeface="Calibri" pitchFamily="34" charset="-122"/>
                <a:cs typeface="Calibri" pitchFamily="34" charset="-120"/>
              </a:rPr>
              <a:t>Nº USP 18066911</a:t>
            </a:r>
            <a:endParaRPr lang="en-US" sz="1200" dirty="0"/>
          </a:p>
        </p:txBody>
      </p:sp>
      <p:sp>
        <p:nvSpPr>
          <p:cNvPr id="14" name="anim:4:9"/>
          <p:cNvSpPr/>
          <p:nvPr/>
        </p:nvSpPr>
        <p:spPr>
          <a:xfrm>
            <a:off x="731520" y="5266944"/>
            <a:ext cx="3520440" cy="658368"/>
          </a:xfrm>
          <a:prstGeom prst="roundRect">
            <a:avLst>
              <a:gd name="adj" fmla="val 16667"/>
            </a:avLst>
          </a:prstGeom>
          <a:solidFill>
            <a:srgbClr val="FFFFFF">
              <a:alpha val="10000"/>
            </a:srgbClr>
          </a:solidFill>
          <a:ln w="9525">
            <a:solidFill>
              <a:srgbClr val="3A4D73"/>
            </a:solidFill>
            <a:prstDash val="solid"/>
          </a:ln>
        </p:spPr>
      </p:sp>
      <p:sp>
        <p:nvSpPr>
          <p:cNvPr id="15" name="anim:4:10"/>
          <p:cNvSpPr txBox="1"/>
          <p:nvPr/>
        </p:nvSpPr>
        <p:spPr>
          <a:xfrm>
            <a:off x="914400" y="5330952"/>
            <a:ext cx="3200400" cy="292608"/>
          </a:xfrm>
          <a:prstGeom prst="rect">
            <a:avLst/>
          </a:prstGeom>
          <a:noFill/>
          <a:ln/>
        </p:spPr>
        <p:txBody>
          <a:bodyPr wrap="square" lIns="0" tIns="0" rIns="0" bIns="0" rtlCol="0" anchor="t"/>
          <a:lstStyle/>
          <a:p>
            <a:pPr algn="l" indent="0" marL="0">
              <a:buNone/>
            </a:pPr>
            <a:r>
              <a:rPr lang="en-US" sz="1400" b="1" dirty="0">
                <a:solidFill>
                  <a:srgbClr val="FFFFFF"/>
                </a:solidFill>
                <a:latin typeface="Calibri" pitchFamily="34" charset="0"/>
                <a:ea typeface="Calibri" pitchFamily="34" charset="-122"/>
                <a:cs typeface="Calibri" pitchFamily="34" charset="-120"/>
              </a:rPr>
              <a:t>Daniel Afonso Borges dos Santos</a:t>
            </a:r>
            <a:endParaRPr lang="en-US" sz="1400" dirty="0"/>
          </a:p>
        </p:txBody>
      </p:sp>
      <p:sp>
        <p:nvSpPr>
          <p:cNvPr id="16" name="anim:4:11"/>
          <p:cNvSpPr txBox="1"/>
          <p:nvPr/>
        </p:nvSpPr>
        <p:spPr>
          <a:xfrm>
            <a:off x="914400" y="5614416"/>
            <a:ext cx="3200400" cy="237744"/>
          </a:xfrm>
          <a:prstGeom prst="rect">
            <a:avLst/>
          </a:prstGeom>
          <a:noFill/>
          <a:ln/>
        </p:spPr>
        <p:txBody>
          <a:bodyPr wrap="square" lIns="0" tIns="0" rIns="0" bIns="0" rtlCol="0" anchor="t"/>
          <a:lstStyle/>
          <a:p>
            <a:pPr algn="l" indent="0" marL="0">
              <a:buNone/>
            </a:pPr>
            <a:r>
              <a:rPr lang="en-US" sz="1200" dirty="0">
                <a:solidFill>
                  <a:srgbClr val="C9D3E6"/>
                </a:solidFill>
                <a:latin typeface="Calibri" pitchFamily="34" charset="0"/>
                <a:ea typeface="Calibri" pitchFamily="34" charset="-122"/>
                <a:cs typeface="Calibri" pitchFamily="34" charset="-120"/>
              </a:rPr>
              <a:t>Nº USP 12608581</a:t>
            </a:r>
            <a:endParaRPr lang="en-US" sz="1200" dirty="0"/>
          </a:p>
        </p:txBody>
      </p:sp>
      <p:sp>
        <p:nvSpPr>
          <p:cNvPr id="17" name="anim:5:12"/>
          <p:cNvSpPr/>
          <p:nvPr/>
        </p:nvSpPr>
        <p:spPr>
          <a:xfrm>
            <a:off x="4434840" y="5266944"/>
            <a:ext cx="3520440" cy="658368"/>
          </a:xfrm>
          <a:prstGeom prst="roundRect">
            <a:avLst>
              <a:gd name="adj" fmla="val 16667"/>
            </a:avLst>
          </a:prstGeom>
          <a:solidFill>
            <a:srgbClr val="FFFFFF">
              <a:alpha val="10000"/>
            </a:srgbClr>
          </a:solidFill>
          <a:ln w="9525">
            <a:solidFill>
              <a:srgbClr val="3A4D73"/>
            </a:solidFill>
            <a:prstDash val="solid"/>
          </a:ln>
        </p:spPr>
      </p:sp>
      <p:sp>
        <p:nvSpPr>
          <p:cNvPr id="18" name="anim:5:13"/>
          <p:cNvSpPr txBox="1"/>
          <p:nvPr/>
        </p:nvSpPr>
        <p:spPr>
          <a:xfrm>
            <a:off x="4617720" y="5330952"/>
            <a:ext cx="3200400" cy="292608"/>
          </a:xfrm>
          <a:prstGeom prst="rect">
            <a:avLst/>
          </a:prstGeom>
          <a:noFill/>
          <a:ln/>
        </p:spPr>
        <p:txBody>
          <a:bodyPr wrap="square" lIns="0" tIns="0" rIns="0" bIns="0" rtlCol="0" anchor="t"/>
          <a:lstStyle/>
          <a:p>
            <a:pPr algn="l" indent="0" marL="0">
              <a:buNone/>
            </a:pPr>
            <a:r>
              <a:rPr lang="en-US" sz="1400" b="1" dirty="0">
                <a:solidFill>
                  <a:srgbClr val="FFFFFF"/>
                </a:solidFill>
                <a:latin typeface="Calibri" pitchFamily="34" charset="0"/>
                <a:ea typeface="Calibri" pitchFamily="34" charset="-122"/>
                <a:cs typeface="Calibri" pitchFamily="34" charset="-120"/>
              </a:rPr>
              <a:t>Luís Antônio Arruda Soares</a:t>
            </a:r>
            <a:endParaRPr lang="en-US" sz="1400" dirty="0"/>
          </a:p>
        </p:txBody>
      </p:sp>
      <p:sp>
        <p:nvSpPr>
          <p:cNvPr id="19" name="anim:5:14"/>
          <p:cNvSpPr txBox="1"/>
          <p:nvPr/>
        </p:nvSpPr>
        <p:spPr>
          <a:xfrm>
            <a:off x="4617720" y="5614416"/>
            <a:ext cx="3200400" cy="237744"/>
          </a:xfrm>
          <a:prstGeom prst="rect">
            <a:avLst/>
          </a:prstGeom>
          <a:noFill/>
          <a:ln/>
        </p:spPr>
        <p:txBody>
          <a:bodyPr wrap="square" lIns="0" tIns="0" rIns="0" bIns="0" rtlCol="0" anchor="t"/>
          <a:lstStyle/>
          <a:p>
            <a:pPr algn="l" indent="0" marL="0">
              <a:buNone/>
            </a:pPr>
            <a:r>
              <a:rPr lang="en-US" sz="1200" dirty="0">
                <a:solidFill>
                  <a:srgbClr val="C9D3E6"/>
                </a:solidFill>
                <a:latin typeface="Calibri" pitchFamily="34" charset="0"/>
                <a:ea typeface="Calibri" pitchFamily="34" charset="-122"/>
                <a:cs typeface="Calibri" pitchFamily="34" charset="-120"/>
              </a:rPr>
              <a:t>Nº USP 12559486</a:t>
            </a:r>
            <a:endParaRPr lang="en-US" sz="1200" dirty="0"/>
          </a:p>
        </p:txBody>
      </p:sp>
      <p:sp>
        <p:nvSpPr>
          <p:cNvPr id="20" name="anim:6:15"/>
          <p:cNvSpPr txBox="1"/>
          <p:nvPr/>
        </p:nvSpPr>
        <p:spPr>
          <a:xfrm>
            <a:off x="8549640" y="1234440"/>
            <a:ext cx="3108960" cy="685800"/>
          </a:xfrm>
          <a:prstGeom prst="rect">
            <a:avLst/>
          </a:prstGeom>
          <a:noFill/>
          <a:ln/>
        </p:spPr>
        <p:txBody>
          <a:bodyPr wrap="square" lIns="0" tIns="0" rIns="0" bIns="0" rtlCol="0" anchor="t"/>
          <a:lstStyle/>
          <a:p>
            <a:pPr algn="l" indent="0" marL="0">
              <a:buNone/>
            </a:pPr>
            <a:r>
              <a:rPr lang="en-US" sz="4000" b="1" dirty="0">
                <a:solidFill>
                  <a:srgbClr val="F2A541"/>
                </a:solidFill>
                <a:latin typeface="Calibri" pitchFamily="34" charset="0"/>
                <a:ea typeface="Calibri" pitchFamily="34" charset="-122"/>
                <a:cs typeface="Calibri" pitchFamily="34" charset="-120"/>
              </a:rPr>
              <a:t>13,4 mi</a:t>
            </a:r>
            <a:endParaRPr lang="en-US" sz="4000" dirty="0"/>
          </a:p>
        </p:txBody>
      </p:sp>
      <p:sp>
        <p:nvSpPr>
          <p:cNvPr id="21" name="anim:6:16"/>
          <p:cNvSpPr txBox="1"/>
          <p:nvPr/>
        </p:nvSpPr>
        <p:spPr>
          <a:xfrm>
            <a:off x="8549640" y="1920240"/>
            <a:ext cx="3108960" cy="365760"/>
          </a:xfrm>
          <a:prstGeom prst="rect">
            <a:avLst/>
          </a:prstGeom>
          <a:noFill/>
          <a:ln/>
        </p:spPr>
        <p:txBody>
          <a:bodyPr wrap="square" lIns="0" tIns="0" rIns="0" bIns="0" rtlCol="0" anchor="t"/>
          <a:lstStyle/>
          <a:p>
            <a:pPr algn="l" indent="0" marL="0">
              <a:buNone/>
            </a:pPr>
            <a:r>
              <a:rPr lang="en-US" sz="1300" dirty="0">
                <a:solidFill>
                  <a:srgbClr val="C9D3E6"/>
                </a:solidFill>
                <a:latin typeface="Calibri" pitchFamily="34" charset="0"/>
                <a:ea typeface="Calibri" pitchFamily="34" charset="-122"/>
                <a:cs typeface="Calibri" pitchFamily="34" charset="-120"/>
              </a:rPr>
              <a:t>matrículas de 2015 a 2024</a:t>
            </a:r>
            <a:endParaRPr lang="en-US" sz="1300" dirty="0"/>
          </a:p>
        </p:txBody>
      </p:sp>
      <p:sp>
        <p:nvSpPr>
          <p:cNvPr id="22" name="anim:7:17"/>
          <p:cNvSpPr txBox="1"/>
          <p:nvPr/>
        </p:nvSpPr>
        <p:spPr>
          <a:xfrm>
            <a:off x="8549640" y="2651760"/>
            <a:ext cx="3108960" cy="685800"/>
          </a:xfrm>
          <a:prstGeom prst="rect">
            <a:avLst/>
          </a:prstGeom>
          <a:noFill/>
          <a:ln/>
        </p:spPr>
        <p:txBody>
          <a:bodyPr wrap="square" lIns="0" tIns="0" rIns="0" bIns="0" rtlCol="0" anchor="t"/>
          <a:lstStyle/>
          <a:p>
            <a:pPr algn="l" indent="0" marL="0">
              <a:buNone/>
            </a:pPr>
            <a:r>
              <a:rPr lang="en-US" sz="4000" b="1" dirty="0">
                <a:solidFill>
                  <a:srgbClr val="F2A541"/>
                </a:solidFill>
                <a:latin typeface="Calibri" pitchFamily="34" charset="0"/>
                <a:ea typeface="Calibri" pitchFamily="34" charset="-122"/>
                <a:cs typeface="Calibri" pitchFamily="34" charset="-120"/>
              </a:rPr>
              <a:t>44</a:t>
            </a:r>
            <a:endParaRPr lang="en-US" sz="4000" dirty="0"/>
          </a:p>
        </p:txBody>
      </p:sp>
      <p:sp>
        <p:nvSpPr>
          <p:cNvPr id="23" name="anim:7:18"/>
          <p:cNvSpPr txBox="1"/>
          <p:nvPr/>
        </p:nvSpPr>
        <p:spPr>
          <a:xfrm>
            <a:off x="8549640" y="3337560"/>
            <a:ext cx="3108960" cy="365760"/>
          </a:xfrm>
          <a:prstGeom prst="rect">
            <a:avLst/>
          </a:prstGeom>
          <a:noFill/>
          <a:ln/>
        </p:spPr>
        <p:txBody>
          <a:bodyPr wrap="square" lIns="0" tIns="0" rIns="0" bIns="0" rtlCol="0" anchor="t"/>
          <a:lstStyle/>
          <a:p>
            <a:pPr algn="l" indent="0" marL="0">
              <a:buNone/>
            </a:pPr>
            <a:r>
              <a:rPr lang="en-US" sz="1300" dirty="0">
                <a:solidFill>
                  <a:srgbClr val="C9D3E6"/>
                </a:solidFill>
                <a:latin typeface="Calibri" pitchFamily="34" charset="0"/>
                <a:ea typeface="Calibri" pitchFamily="34" charset="-122"/>
                <a:cs typeface="Calibri" pitchFamily="34" charset="-120"/>
              </a:rPr>
              <a:t>meses de fila por distrito</a:t>
            </a:r>
            <a:endParaRPr lang="en-US" sz="1300" dirty="0"/>
          </a:p>
        </p:txBody>
      </p:sp>
      <p:sp>
        <p:nvSpPr>
          <p:cNvPr id="24" name="anim:8:19"/>
          <p:cNvSpPr txBox="1"/>
          <p:nvPr/>
        </p:nvSpPr>
        <p:spPr>
          <a:xfrm>
            <a:off x="8549640" y="4069080"/>
            <a:ext cx="3108960" cy="685800"/>
          </a:xfrm>
          <a:prstGeom prst="rect">
            <a:avLst/>
          </a:prstGeom>
          <a:noFill/>
          <a:ln/>
        </p:spPr>
        <p:txBody>
          <a:bodyPr wrap="square" lIns="0" tIns="0" rIns="0" bIns="0" rtlCol="0" anchor="t"/>
          <a:lstStyle/>
          <a:p>
            <a:pPr algn="l" indent="0" marL="0">
              <a:buNone/>
            </a:pPr>
            <a:r>
              <a:rPr lang="en-US" sz="4000" b="1" dirty="0">
                <a:solidFill>
                  <a:srgbClr val="F2A541"/>
                </a:solidFill>
                <a:latin typeface="Calibri" pitchFamily="34" charset="0"/>
                <a:ea typeface="Calibri" pitchFamily="34" charset="-122"/>
                <a:cs typeface="Calibri" pitchFamily="34" charset="-120"/>
              </a:rPr>
              <a:t>26.889</a:t>
            </a:r>
            <a:endParaRPr lang="en-US" sz="4000" dirty="0"/>
          </a:p>
        </p:txBody>
      </p:sp>
      <p:sp>
        <p:nvSpPr>
          <p:cNvPr id="25" name="anim:8:20"/>
          <p:cNvSpPr txBox="1"/>
          <p:nvPr/>
        </p:nvSpPr>
        <p:spPr>
          <a:xfrm>
            <a:off x="8549640" y="4754880"/>
            <a:ext cx="3108960" cy="365760"/>
          </a:xfrm>
          <a:prstGeom prst="rect">
            <a:avLst/>
          </a:prstGeom>
          <a:noFill/>
          <a:ln/>
        </p:spPr>
        <p:txBody>
          <a:bodyPr wrap="square" lIns="0" tIns="0" rIns="0" bIns="0" rtlCol="0" anchor="t"/>
          <a:lstStyle/>
          <a:p>
            <a:pPr algn="l" indent="0" marL="0">
              <a:buNone/>
            </a:pPr>
            <a:r>
              <a:rPr lang="en-US" sz="1300" dirty="0">
                <a:solidFill>
                  <a:srgbClr val="C9D3E6"/>
                </a:solidFill>
                <a:latin typeface="Calibri" pitchFamily="34" charset="0"/>
                <a:ea typeface="Calibri" pitchFamily="34" charset="-122"/>
                <a:cs typeface="Calibri" pitchFamily="34" charset="-120"/>
              </a:rPr>
              <a:t>setores censitários do Censo 2022</a:t>
            </a:r>
            <a:endParaRPr lang="en-US" sz="1300" dirty="0"/>
          </a:p>
        </p:txBody>
      </p:sp>
      <p:sp>
        <p:nvSpPr>
          <p:cNvPr id="26" name="Text 23"/>
          <p:cNvSpPr txBox="1"/>
          <p:nvPr/>
        </p:nvSpPr>
        <p:spPr>
          <a:xfrm>
            <a:off x="731520" y="6217920"/>
            <a:ext cx="8229600" cy="320040"/>
          </a:xfrm>
          <a:prstGeom prst="rect">
            <a:avLst/>
          </a:prstGeom>
          <a:noFill/>
          <a:ln/>
        </p:spPr>
        <p:txBody>
          <a:bodyPr wrap="square" lIns="0" tIns="0" rIns="0" bIns="0" rtlCol="0" anchor="t"/>
          <a:lstStyle/>
          <a:p>
            <a:pPr algn="l" indent="0" marL="0">
              <a:buNone/>
            </a:pPr>
            <a:r>
              <a:rPr lang="en-US" sz="1300" dirty="0">
                <a:solidFill>
                  <a:srgbClr val="C9D3E6"/>
                </a:solidFill>
                <a:latin typeface="Calibri" pitchFamily="34" charset="0"/>
                <a:ea typeface="Calibri" pitchFamily="34" charset="-122"/>
                <a:cs typeface="Calibri" pitchFamily="34" charset="-120"/>
              </a:rPr>
              <a:t>Profa. Dra. Cristina Dutra de Aguiar · ICMC-USP, São Carlos</a:t>
            </a:r>
            <a:endParaRPr lang="en-US" sz="13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400"/>
                                        <p:tgtEl>
                                          <p:spTgt spid="6"/>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400"/>
                                        <p:tgtEl>
                                          <p:spTgt spid="7"/>
                                        </p:tgtEl>
                                      </p:cBhvr>
                                    </p:animEffect>
                                  </p:childTnLst>
                                </p:cTn>
                              </p:par>
                            </p:childTnLst>
                          </p:cTn>
                        </p:par>
                        <p:par>
                          <p:cTn id="12" fill="hold">
                            <p:stCondLst>
                              <p:cond delay="250"/>
                            </p:stCondLst>
                            <p:childTnLst>
                              <p:par>
                                <p:cTn id="13" presetID="10" presetClass="entr" presetSubtype="0" fill="hold" grpId="0" nodeType="withEffect">
                                  <p:stCondLst>
                                    <p:cond delay="0"/>
                                  </p:stCondLst>
                                  <p:childTnLst>
                                    <p:set>
                                      <p:cBhvr>
                                        <p:cTn id="14" dur="1" fill="hold">
                                          <p:stCondLst>
                                            <p:cond delay="0"/>
                                          </p:stCondLst>
                                        </p:cTn>
                                        <p:tgtEl>
                                          <p:spTgt spid="8"/>
                                        </p:tgtEl>
                                        <p:attrNameLst>
                                          <p:attrName>style.visibility</p:attrName>
                                        </p:attrNameLst>
                                      </p:cBhvr>
                                      <p:to>
                                        <p:strVal val="visible"/>
                                      </p:to>
                                    </p:set>
                                    <p:animEffect transition="in" filter="fade">
                                      <p:cBhvr>
                                        <p:cTn id="15" dur="400"/>
                                        <p:tgtEl>
                                          <p:spTgt spid="8"/>
                                        </p:tgtEl>
                                      </p:cBhvr>
                                    </p:animEffect>
                                  </p:childTnLst>
                                </p:cTn>
                              </p:par>
                            </p:childTnLst>
                          </p:cTn>
                        </p:par>
                        <p:par>
                          <p:cTn id="16" fill="hold">
                            <p:stCondLst>
                              <p:cond delay="250"/>
                            </p:stCondLst>
                            <p:childTnLst>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par>
                          <p:cTn id="20" fill="hold">
                            <p:stCondLst>
                              <p:cond delay="250"/>
                            </p:stCondLst>
                            <p:childTnLst>
                              <p:par>
                                <p:cTn id="21" presetID="10" presetClass="entr" presetSubtype="0" fill="hold" grpId="0" nodeType="withEffect">
                                  <p:stCondLst>
                                    <p:cond delay="0"/>
                                  </p:stCondLst>
                                  <p:childTnLst>
                                    <p:set>
                                      <p:cBhvr>
                                        <p:cTn id="22" dur="1" fill="hold">
                                          <p:stCondLst>
                                            <p:cond delay="0"/>
                                          </p:stCondLst>
                                        </p:cTn>
                                        <p:tgtEl>
                                          <p:spTgt spid="10"/>
                                        </p:tgtEl>
                                        <p:attrNameLst>
                                          <p:attrName>style.visibility</p:attrName>
                                        </p:attrNameLst>
                                      </p:cBhvr>
                                      <p:to>
                                        <p:strVal val="visible"/>
                                      </p:to>
                                    </p:set>
                                    <p:animEffect transition="in" filter="fade">
                                      <p:cBhvr>
                                        <p:cTn id="23" dur="400"/>
                                        <p:tgtEl>
                                          <p:spTgt spid="10"/>
                                        </p:tgtEl>
                                      </p:cBhvr>
                                    </p:animEffect>
                                  </p:childTnLst>
                                </p:cTn>
                              </p:par>
                            </p:childTnLst>
                          </p:cTn>
                        </p:par>
                        <p:par>
                          <p:cTn id="24" fill="hold">
                            <p:stCondLst>
                              <p:cond delay="500"/>
                            </p:stCondLst>
                            <p:childTnLst>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childTnLst>
                          </p:cTn>
                        </p:par>
                        <p:par>
                          <p:cTn id="28" fill="hold">
                            <p:stCondLst>
                              <p:cond delay="500"/>
                            </p:stCondLst>
                            <p:childTnLst>
                              <p:par>
                                <p:cTn id="29" presetID="10" presetClass="entr" presetSubtype="0" fill="hold" grpId="0" nodeType="withEffect">
                                  <p:stCondLst>
                                    <p:cond delay="0"/>
                                  </p:stCondLst>
                                  <p:childTnLst>
                                    <p:set>
                                      <p:cBhvr>
                                        <p:cTn id="30" dur="1" fill="hold">
                                          <p:stCondLst>
                                            <p:cond delay="0"/>
                                          </p:stCondLst>
                                        </p:cTn>
                                        <p:tgtEl>
                                          <p:spTgt spid="12"/>
                                        </p:tgtEl>
                                        <p:attrNameLst>
                                          <p:attrName>style.visibility</p:attrName>
                                        </p:attrNameLst>
                                      </p:cBhvr>
                                      <p:to>
                                        <p:strVal val="visible"/>
                                      </p:to>
                                    </p:set>
                                    <p:animEffect transition="in" filter="fade">
                                      <p:cBhvr>
                                        <p:cTn id="31" dur="400"/>
                                        <p:tgtEl>
                                          <p:spTgt spid="12"/>
                                        </p:tgtEl>
                                      </p:cBhvr>
                                    </p:animEffect>
                                  </p:childTnLst>
                                </p:cTn>
                              </p:par>
                            </p:childTnLst>
                          </p:cTn>
                        </p:par>
                        <p:par>
                          <p:cTn id="32" fill="hold">
                            <p:stCondLst>
                              <p:cond delay="500"/>
                            </p:stCondLst>
                            <p:childTnLst>
                              <p:par>
                                <p:cTn id="33" presetID="10" presetClass="entr" presetSubtype="0" fill="hold" grpId="0" nodeType="with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childTnLst>
                          </p:cTn>
                        </p:par>
                        <p:par>
                          <p:cTn id="36" fill="hold">
                            <p:stCondLst>
                              <p:cond delay="750"/>
                            </p:stCondLst>
                            <p:childTnLst>
                              <p:par>
                                <p:cTn id="37" presetID="10" presetClass="entr" presetSubtype="0" fill="hold" grpId="0" nodeType="withEffect">
                                  <p:stCondLst>
                                    <p:cond delay="0"/>
                                  </p:stCondLst>
                                  <p:childTnLst>
                                    <p:set>
                                      <p:cBhvr>
                                        <p:cTn id="38" dur="1" fill="hold">
                                          <p:stCondLst>
                                            <p:cond delay="0"/>
                                          </p:stCondLst>
                                        </p:cTn>
                                        <p:tgtEl>
                                          <p:spTgt spid="14"/>
                                        </p:tgtEl>
                                        <p:attrNameLst>
                                          <p:attrName>style.visibility</p:attrName>
                                        </p:attrNameLst>
                                      </p:cBhvr>
                                      <p:to>
                                        <p:strVal val="visible"/>
                                      </p:to>
                                    </p:set>
                                    <p:animEffect transition="in" filter="fade">
                                      <p:cBhvr>
                                        <p:cTn id="39" dur="400"/>
                                        <p:tgtEl>
                                          <p:spTgt spid="14"/>
                                        </p:tgtEl>
                                      </p:cBhvr>
                                    </p:animEffect>
                                  </p:childTnLst>
                                </p:cTn>
                              </p:par>
                            </p:childTnLst>
                          </p:cTn>
                        </p:par>
                        <p:par>
                          <p:cTn id="40" fill="hold">
                            <p:stCondLst>
                              <p:cond delay="750"/>
                            </p:stCondLst>
                            <p:childTnLst>
                              <p:par>
                                <p:cTn id="41" presetID="10" presetClass="entr" presetSubtype="0" fill="hold" grpId="0" nodeType="withEffect">
                                  <p:stCondLst>
                                    <p:cond delay="0"/>
                                  </p:stCondLst>
                                  <p:childTnLst>
                                    <p:set>
                                      <p:cBhvr>
                                        <p:cTn id="42" dur="1" fill="hold">
                                          <p:stCondLst>
                                            <p:cond delay="0"/>
                                          </p:stCondLst>
                                        </p:cTn>
                                        <p:tgtEl>
                                          <p:spTgt spid="15"/>
                                        </p:tgtEl>
                                        <p:attrNameLst>
                                          <p:attrName>style.visibility</p:attrName>
                                        </p:attrNameLst>
                                      </p:cBhvr>
                                      <p:to>
                                        <p:strVal val="visible"/>
                                      </p:to>
                                    </p:set>
                                    <p:animEffect transition="in" filter="fade">
                                      <p:cBhvr>
                                        <p:cTn id="43" dur="400"/>
                                        <p:tgtEl>
                                          <p:spTgt spid="15"/>
                                        </p:tgtEl>
                                      </p:cBhvr>
                                    </p:animEffect>
                                  </p:childTnLst>
                                </p:cTn>
                              </p:par>
                            </p:childTnLst>
                          </p:cTn>
                        </p:par>
                        <p:par>
                          <p:cTn id="44" fill="hold">
                            <p:stCondLst>
                              <p:cond delay="750"/>
                            </p:stCondLst>
                            <p:childTnLst>
                              <p:par>
                                <p:cTn id="45" presetID="10" presetClass="entr" presetSubtype="0" fill="hold" grpId="0" nodeType="withEffect">
                                  <p:stCondLst>
                                    <p:cond delay="0"/>
                                  </p:stCondLst>
                                  <p:childTnLst>
                                    <p:set>
                                      <p:cBhvr>
                                        <p:cTn id="46" dur="1" fill="hold">
                                          <p:stCondLst>
                                            <p:cond delay="0"/>
                                          </p:stCondLst>
                                        </p:cTn>
                                        <p:tgtEl>
                                          <p:spTgt spid="16"/>
                                        </p:tgtEl>
                                        <p:attrNameLst>
                                          <p:attrName>style.visibility</p:attrName>
                                        </p:attrNameLst>
                                      </p:cBhvr>
                                      <p:to>
                                        <p:strVal val="visible"/>
                                      </p:to>
                                    </p:set>
                                    <p:animEffect transition="in" filter="fade">
                                      <p:cBhvr>
                                        <p:cTn id="47" dur="400"/>
                                        <p:tgtEl>
                                          <p:spTgt spid="16"/>
                                        </p:tgtEl>
                                      </p:cBhvr>
                                    </p:animEffect>
                                  </p:childTnLst>
                                </p:cTn>
                              </p:par>
                            </p:childTnLst>
                          </p:cTn>
                        </p:par>
                        <p:par>
                          <p:cTn id="48" fill="hold">
                            <p:stCondLst>
                              <p:cond delay="1000"/>
                            </p:stCondLst>
                            <p:childTnLst>
                              <p:par>
                                <p:cTn id="49" presetID="10" presetClass="entr" presetSubtype="0" fill="hold" grpId="0" nodeType="withEffect">
                                  <p:stCondLst>
                                    <p:cond delay="0"/>
                                  </p:stCondLst>
                                  <p:childTnLst>
                                    <p:set>
                                      <p:cBhvr>
                                        <p:cTn id="50" dur="1" fill="hold">
                                          <p:stCondLst>
                                            <p:cond delay="0"/>
                                          </p:stCondLst>
                                        </p:cTn>
                                        <p:tgtEl>
                                          <p:spTgt spid="17"/>
                                        </p:tgtEl>
                                        <p:attrNameLst>
                                          <p:attrName>style.visibility</p:attrName>
                                        </p:attrNameLst>
                                      </p:cBhvr>
                                      <p:to>
                                        <p:strVal val="visible"/>
                                      </p:to>
                                    </p:set>
                                    <p:animEffect transition="in" filter="fade">
                                      <p:cBhvr>
                                        <p:cTn id="51" dur="400"/>
                                        <p:tgtEl>
                                          <p:spTgt spid="17"/>
                                        </p:tgtEl>
                                      </p:cBhvr>
                                    </p:animEffect>
                                  </p:childTnLst>
                                </p:cTn>
                              </p:par>
                            </p:childTnLst>
                          </p:cTn>
                        </p:par>
                        <p:par>
                          <p:cTn id="52" fill="hold">
                            <p:stCondLst>
                              <p:cond delay="1000"/>
                            </p:stCondLst>
                            <p:childTnLst>
                              <p:par>
                                <p:cTn id="53" presetID="10" presetClass="entr" presetSubtype="0" fill="hold" grpId="0" nodeType="withEffect">
                                  <p:stCondLst>
                                    <p:cond delay="0"/>
                                  </p:stCondLst>
                                  <p:childTnLst>
                                    <p:set>
                                      <p:cBhvr>
                                        <p:cTn id="54" dur="1" fill="hold">
                                          <p:stCondLst>
                                            <p:cond delay="0"/>
                                          </p:stCondLst>
                                        </p:cTn>
                                        <p:tgtEl>
                                          <p:spTgt spid="18"/>
                                        </p:tgtEl>
                                        <p:attrNameLst>
                                          <p:attrName>style.visibility</p:attrName>
                                        </p:attrNameLst>
                                      </p:cBhvr>
                                      <p:to>
                                        <p:strVal val="visible"/>
                                      </p:to>
                                    </p:set>
                                    <p:animEffect transition="in" filter="fade">
                                      <p:cBhvr>
                                        <p:cTn id="55" dur="400"/>
                                        <p:tgtEl>
                                          <p:spTgt spid="18"/>
                                        </p:tgtEl>
                                      </p:cBhvr>
                                    </p:animEffect>
                                  </p:childTnLst>
                                </p:cTn>
                              </p:par>
                            </p:childTnLst>
                          </p:cTn>
                        </p:par>
                        <p:par>
                          <p:cTn id="56" fill="hold">
                            <p:stCondLst>
                              <p:cond delay="1000"/>
                            </p:stCondLst>
                            <p:childTnLst>
                              <p:par>
                                <p:cTn id="57" presetID="10" presetClass="entr" presetSubtype="0" fill="hold" grpId="0" nodeType="withEffect">
                                  <p:stCondLst>
                                    <p:cond delay="0"/>
                                  </p:stCondLst>
                                  <p:childTnLst>
                                    <p:set>
                                      <p:cBhvr>
                                        <p:cTn id="58" dur="1" fill="hold">
                                          <p:stCondLst>
                                            <p:cond delay="0"/>
                                          </p:stCondLst>
                                        </p:cTn>
                                        <p:tgtEl>
                                          <p:spTgt spid="19"/>
                                        </p:tgtEl>
                                        <p:attrNameLst>
                                          <p:attrName>style.visibility</p:attrName>
                                        </p:attrNameLst>
                                      </p:cBhvr>
                                      <p:to>
                                        <p:strVal val="visible"/>
                                      </p:to>
                                    </p:set>
                                    <p:animEffect transition="in" filter="fade">
                                      <p:cBhvr>
                                        <p:cTn id="59" dur="400"/>
                                        <p:tgtEl>
                                          <p:spTgt spid="19"/>
                                        </p:tgtEl>
                                      </p:cBhvr>
                                    </p:animEffect>
                                  </p:childTnLst>
                                </p:cTn>
                              </p:par>
                            </p:childTnLst>
                          </p:cTn>
                        </p:par>
                        <p:par>
                          <p:cTn id="60" fill="hold">
                            <p:stCondLst>
                              <p:cond delay="1250"/>
                            </p:stCondLst>
                            <p:childTnLst>
                              <p:par>
                                <p:cTn id="61" presetID="10" presetClass="entr" presetSubtype="0" fill="hold" grpId="0" nodeType="withEffect">
                                  <p:stCondLst>
                                    <p:cond delay="0"/>
                                  </p:stCondLst>
                                  <p:childTnLst>
                                    <p:set>
                                      <p:cBhvr>
                                        <p:cTn id="62" dur="1" fill="hold">
                                          <p:stCondLst>
                                            <p:cond delay="0"/>
                                          </p:stCondLst>
                                        </p:cTn>
                                        <p:tgtEl>
                                          <p:spTgt spid="20"/>
                                        </p:tgtEl>
                                        <p:attrNameLst>
                                          <p:attrName>style.visibility</p:attrName>
                                        </p:attrNameLst>
                                      </p:cBhvr>
                                      <p:to>
                                        <p:strVal val="visible"/>
                                      </p:to>
                                    </p:set>
                                    <p:animEffect transition="in" filter="fade">
                                      <p:cBhvr>
                                        <p:cTn id="63" dur="400"/>
                                        <p:tgtEl>
                                          <p:spTgt spid="20"/>
                                        </p:tgtEl>
                                      </p:cBhvr>
                                    </p:animEffect>
                                  </p:childTnLst>
                                </p:cTn>
                              </p:par>
                            </p:childTnLst>
                          </p:cTn>
                        </p:par>
                        <p:par>
                          <p:cTn id="64" fill="hold">
                            <p:stCondLst>
                              <p:cond delay="1250"/>
                            </p:stCondLst>
                            <p:childTnLst>
                              <p:par>
                                <p:cTn id="65" presetID="10" presetClass="entr" presetSubtype="0" fill="hold" grpId="0" nodeType="withEffect">
                                  <p:stCondLst>
                                    <p:cond delay="0"/>
                                  </p:stCondLst>
                                  <p:childTnLst>
                                    <p:set>
                                      <p:cBhvr>
                                        <p:cTn id="66" dur="1" fill="hold">
                                          <p:stCondLst>
                                            <p:cond delay="0"/>
                                          </p:stCondLst>
                                        </p:cTn>
                                        <p:tgtEl>
                                          <p:spTgt spid="21"/>
                                        </p:tgtEl>
                                        <p:attrNameLst>
                                          <p:attrName>style.visibility</p:attrName>
                                        </p:attrNameLst>
                                      </p:cBhvr>
                                      <p:to>
                                        <p:strVal val="visible"/>
                                      </p:to>
                                    </p:set>
                                    <p:animEffect transition="in" filter="fade">
                                      <p:cBhvr>
                                        <p:cTn id="67" dur="400"/>
                                        <p:tgtEl>
                                          <p:spTgt spid="21"/>
                                        </p:tgtEl>
                                      </p:cBhvr>
                                    </p:animEffect>
                                  </p:childTnLst>
                                </p:cTn>
                              </p:par>
                            </p:childTnLst>
                          </p:cTn>
                        </p:par>
                        <p:par>
                          <p:cTn id="68" fill="hold">
                            <p:stCondLst>
                              <p:cond delay="1500"/>
                            </p:stCondLst>
                            <p:childTnLst>
                              <p:par>
                                <p:cTn id="69" presetID="10" presetClass="entr" presetSubtype="0" fill="hold" grpId="0" nodeType="withEffect">
                                  <p:stCondLst>
                                    <p:cond delay="0"/>
                                  </p:stCondLst>
                                  <p:childTnLst>
                                    <p:set>
                                      <p:cBhvr>
                                        <p:cTn id="70" dur="1" fill="hold">
                                          <p:stCondLst>
                                            <p:cond delay="0"/>
                                          </p:stCondLst>
                                        </p:cTn>
                                        <p:tgtEl>
                                          <p:spTgt spid="22"/>
                                        </p:tgtEl>
                                        <p:attrNameLst>
                                          <p:attrName>style.visibility</p:attrName>
                                        </p:attrNameLst>
                                      </p:cBhvr>
                                      <p:to>
                                        <p:strVal val="visible"/>
                                      </p:to>
                                    </p:set>
                                    <p:animEffect transition="in" filter="fade">
                                      <p:cBhvr>
                                        <p:cTn id="71" dur="400"/>
                                        <p:tgtEl>
                                          <p:spTgt spid="22"/>
                                        </p:tgtEl>
                                      </p:cBhvr>
                                    </p:animEffect>
                                  </p:childTnLst>
                                </p:cTn>
                              </p:par>
                            </p:childTnLst>
                          </p:cTn>
                        </p:par>
                        <p:par>
                          <p:cTn id="72" fill="hold">
                            <p:stCondLst>
                              <p:cond delay="1500"/>
                            </p:stCondLst>
                            <p:childTnLst>
                              <p:par>
                                <p:cTn id="73" presetID="10" presetClass="entr" presetSubtype="0" fill="hold" grpId="0" nodeType="withEffect">
                                  <p:stCondLst>
                                    <p:cond delay="0"/>
                                  </p:stCondLst>
                                  <p:childTnLst>
                                    <p:set>
                                      <p:cBhvr>
                                        <p:cTn id="74" dur="1" fill="hold">
                                          <p:stCondLst>
                                            <p:cond delay="0"/>
                                          </p:stCondLst>
                                        </p:cTn>
                                        <p:tgtEl>
                                          <p:spTgt spid="23"/>
                                        </p:tgtEl>
                                        <p:attrNameLst>
                                          <p:attrName>style.visibility</p:attrName>
                                        </p:attrNameLst>
                                      </p:cBhvr>
                                      <p:to>
                                        <p:strVal val="visible"/>
                                      </p:to>
                                    </p:set>
                                    <p:animEffect transition="in" filter="fade">
                                      <p:cBhvr>
                                        <p:cTn id="75" dur="400"/>
                                        <p:tgtEl>
                                          <p:spTgt spid="23"/>
                                        </p:tgtEl>
                                      </p:cBhvr>
                                    </p:animEffect>
                                  </p:childTnLst>
                                </p:cTn>
                              </p:par>
                            </p:childTnLst>
                          </p:cTn>
                        </p:par>
                        <p:par>
                          <p:cTn id="76" fill="hold">
                            <p:stCondLst>
                              <p:cond delay="1750"/>
                            </p:stCondLst>
                            <p:childTnLst>
                              <p:par>
                                <p:cTn id="77" presetID="10" presetClass="entr" presetSubtype="0" fill="hold" grpId="0" nodeType="withEffect">
                                  <p:stCondLst>
                                    <p:cond delay="0"/>
                                  </p:stCondLst>
                                  <p:childTnLst>
                                    <p:set>
                                      <p:cBhvr>
                                        <p:cTn id="78" dur="1" fill="hold">
                                          <p:stCondLst>
                                            <p:cond delay="0"/>
                                          </p:stCondLst>
                                        </p:cTn>
                                        <p:tgtEl>
                                          <p:spTgt spid="24"/>
                                        </p:tgtEl>
                                        <p:attrNameLst>
                                          <p:attrName>style.visibility</p:attrName>
                                        </p:attrNameLst>
                                      </p:cBhvr>
                                      <p:to>
                                        <p:strVal val="visible"/>
                                      </p:to>
                                    </p:set>
                                    <p:animEffect transition="in" filter="fade">
                                      <p:cBhvr>
                                        <p:cTn id="79" dur="400"/>
                                        <p:tgtEl>
                                          <p:spTgt spid="24"/>
                                        </p:tgtEl>
                                      </p:cBhvr>
                                    </p:animEffect>
                                  </p:childTnLst>
                                </p:cTn>
                              </p:par>
                            </p:childTnLst>
                          </p:cTn>
                        </p:par>
                        <p:par>
                          <p:cTn id="80" fill="hold">
                            <p:stCondLst>
                              <p:cond delay="1750"/>
                            </p:stCondLst>
                            <p:childTnLst>
                              <p:par>
                                <p:cTn id="81" presetID="10" presetClass="entr" presetSubtype="0" fill="hold" grpId="0" nodeType="withEffect">
                                  <p:stCondLst>
                                    <p:cond delay="0"/>
                                  </p:stCondLst>
                                  <p:childTnLst>
                                    <p:set>
                                      <p:cBhvr>
                                        <p:cTn id="82" dur="1" fill="hold">
                                          <p:stCondLst>
                                            <p:cond delay="0"/>
                                          </p:stCondLst>
                                        </p:cTn>
                                        <p:tgtEl>
                                          <p:spTgt spid="25"/>
                                        </p:tgtEl>
                                        <p:attrNameLst>
                                          <p:attrName>style.visibility</p:attrName>
                                        </p:attrNameLst>
                                      </p:cBhvr>
                                      <p:to>
                                        <p:strVal val="visible"/>
                                      </p:to>
                                    </p:set>
                                    <p:animEffect transition="in" filter="fade">
                                      <p:cBhvr>
                                        <p:cTn id="83"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1 · O PROBLEMA E A PROPOSTA · KEVENN</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Em dez anos, a fila de creche caiu 97%</a:t>
            </a:r>
            <a:endParaRPr lang="en-US" sz="3200" dirty="0"/>
          </a:p>
        </p:txBody>
      </p:sp>
      <p:sp>
        <p:nvSpPr>
          <p:cNvPr id="5" name="anim:1:21"/>
          <p:cNvSpPr txBox="1"/>
          <p:nvPr/>
        </p:nvSpPr>
        <p:spPr>
          <a:xfrm>
            <a:off x="548640" y="1645920"/>
            <a:ext cx="5669280" cy="4023360"/>
          </a:xfrm>
          <a:prstGeom prst="rect">
            <a:avLst/>
          </a:prstGeom>
          <a:noFill/>
          <a:ln/>
        </p:spPr>
        <p:txBody>
          <a:bodyPr wrap="square" lIns="0" tIns="0" rIns="0" bIns="0" rtlCol="0" anchor="t"/>
          <a:lstStyle/>
          <a:p>
            <a:pPr marL="228600" indent="-228600">
              <a:spcAft>
                <a:spcPts val="600"/>
              </a:spcAft>
              <a:buSzPct val="100000"/>
              <a:buChar char="•"/>
            </a:pPr>
            <a:r>
              <a:rPr lang="en-US" sz="1700" dirty="0">
                <a:solidFill>
                  <a:srgbClr val="1F2937"/>
                </a:solidFill>
                <a:latin typeface="Calibri" pitchFamily="34" charset="0"/>
                <a:ea typeface="Calibri" pitchFamily="34" charset="-122"/>
                <a:cs typeface="Calibri" pitchFamily="34" charset="-120"/>
              </a:rPr>
              <a:t>A falta de vaga em creche foi por anos o principal problema de acesso da educação infantil em São Paulo.</a:t>
            </a:r>
            <a:endParaRPr lang="en-US" sz="1700" dirty="0"/>
          </a:p>
          <a:p>
            <a:pPr marL="228600" indent="-228600">
              <a:spcAft>
                <a:spcPts val="600"/>
              </a:spcAft>
              <a:buSzPct val="100000"/>
              <a:buChar char="•"/>
            </a:pPr>
            <a:r>
              <a:rPr lang="en-US" sz="1700" dirty="0">
                <a:solidFill>
                  <a:srgbClr val="1F2937"/>
                </a:solidFill>
                <a:latin typeface="Calibri" pitchFamily="34" charset="0"/>
                <a:ea typeface="Calibri" pitchFamily="34" charset="-122"/>
                <a:cs typeface="Calibri" pitchFamily="34" charset="-120"/>
              </a:rPr>
              <a:t>PNE (Lei 13.005/2014), Meta 1: creche para ao menos metade das crianças de até 3 anos; pré-escola universal.</a:t>
            </a:r>
            <a:endParaRPr lang="en-US" sz="1700" dirty="0"/>
          </a:p>
          <a:p>
            <a:pPr marL="228600" indent="-228600">
              <a:spcAft>
                <a:spcPts val="600"/>
              </a:spcAft>
              <a:buSzPct val="100000"/>
              <a:buChar char="•"/>
            </a:pPr>
            <a:r>
              <a:rPr lang="en-US" sz="1700" dirty="0">
                <a:solidFill>
                  <a:srgbClr val="1F2937"/>
                </a:solidFill>
                <a:latin typeface="Calibri" pitchFamily="34" charset="0"/>
                <a:ea typeface="Calibri" pitchFamily="34" charset="-122"/>
                <a:cs typeface="Calibri" pitchFamily="34" charset="-120"/>
              </a:rPr>
              <a:t>A cidade avançou: a demanda de creche fora da rede passou de 34% para 1%.</a:t>
            </a:r>
            <a:endParaRPr lang="en-US" sz="1700" dirty="0"/>
          </a:p>
        </p:txBody>
      </p:sp>
      <p:sp>
        <p:nvSpPr>
          <p:cNvPr id="6" name="anim:2:22"/>
          <p:cNvSpPr/>
          <p:nvPr/>
        </p:nvSpPr>
        <p:spPr>
          <a:xfrm>
            <a:off x="6583680" y="1600200"/>
            <a:ext cx="5029200" cy="4343400"/>
          </a:xfrm>
          <a:prstGeom prst="roundRect">
            <a:avLst>
              <a:gd name="adj" fmla="val 2526"/>
            </a:avLst>
          </a:prstGeom>
          <a:solidFill>
            <a:srgbClr val="EEF2F8"/>
          </a:solidFill>
          <a:ln w="9525">
            <a:solidFill>
              <a:srgbClr val="EEF2F8"/>
            </a:solidFill>
            <a:prstDash val="solid"/>
          </a:ln>
        </p:spPr>
      </p:sp>
      <p:sp>
        <p:nvSpPr>
          <p:cNvPr id="7" name="anim:2:23"/>
          <p:cNvSpPr txBox="1"/>
          <p:nvPr/>
        </p:nvSpPr>
        <p:spPr>
          <a:xfrm>
            <a:off x="6903720" y="1810512"/>
            <a:ext cx="4389120" cy="274320"/>
          </a:xfrm>
          <a:prstGeom prst="rect">
            <a:avLst/>
          </a:prstGeom>
          <a:noFill/>
          <a:ln/>
        </p:spPr>
        <p:txBody>
          <a:bodyPr wrap="square" lIns="0" tIns="0" rIns="0" bIns="0" rtlCol="0" anchor="t"/>
          <a:lstStyle/>
          <a:p>
            <a:pPr algn="l" indent="0" marL="0">
              <a:buNone/>
            </a:pPr>
            <a:r>
              <a:rPr lang="en-US" sz="1200" b="1" spc="100" kern="0" dirty="0">
                <a:solidFill>
                  <a:srgbClr val="566175"/>
                </a:solidFill>
                <a:latin typeface="Calibri" pitchFamily="34" charset="0"/>
                <a:ea typeface="Calibri" pitchFamily="34" charset="-122"/>
                <a:cs typeface="Calibri" pitchFamily="34" charset="-120"/>
              </a:rPr>
              <a:t>FILA DE CRECHE EM JUNHO</a:t>
            </a:r>
            <a:endParaRPr lang="en-US" sz="1200" dirty="0"/>
          </a:p>
        </p:txBody>
      </p:sp>
      <p:sp>
        <p:nvSpPr>
          <p:cNvPr id="8" name="anim:2:24"/>
          <p:cNvSpPr txBox="1"/>
          <p:nvPr/>
        </p:nvSpPr>
        <p:spPr>
          <a:xfrm>
            <a:off x="6903720" y="2240280"/>
            <a:ext cx="1097280" cy="365760"/>
          </a:xfrm>
          <a:prstGeom prst="rect">
            <a:avLst/>
          </a:prstGeom>
          <a:noFill/>
          <a:ln/>
        </p:spPr>
        <p:txBody>
          <a:bodyPr wrap="square" lIns="0" tIns="0" rIns="0" bIns="0" rtlCol="0" anchor="t"/>
          <a:lstStyle/>
          <a:p>
            <a:pPr algn="l" indent="0" marL="0">
              <a:buNone/>
            </a:pPr>
            <a:r>
              <a:rPr lang="en-US" sz="1500" b="1" dirty="0">
                <a:solidFill>
                  <a:srgbClr val="566175"/>
                </a:solidFill>
                <a:latin typeface="Calibri" pitchFamily="34" charset="0"/>
                <a:ea typeface="Calibri" pitchFamily="34" charset="-122"/>
                <a:cs typeface="Calibri" pitchFamily="34" charset="-120"/>
              </a:rPr>
              <a:t>2015</a:t>
            </a:r>
            <a:endParaRPr lang="en-US" sz="1500" dirty="0"/>
          </a:p>
        </p:txBody>
      </p:sp>
      <p:sp>
        <p:nvSpPr>
          <p:cNvPr id="9" name="anim:2:25"/>
          <p:cNvSpPr txBox="1"/>
          <p:nvPr/>
        </p:nvSpPr>
        <p:spPr>
          <a:xfrm>
            <a:off x="6903720" y="2560320"/>
            <a:ext cx="4114800" cy="822960"/>
          </a:xfrm>
          <a:prstGeom prst="rect">
            <a:avLst/>
          </a:prstGeom>
          <a:noFill/>
          <a:ln/>
        </p:spPr>
        <p:txBody>
          <a:bodyPr wrap="square" lIns="0" tIns="0" rIns="0" bIns="0" rtlCol="0" anchor="t"/>
          <a:lstStyle/>
          <a:p>
            <a:pPr algn="l" indent="0" marL="0">
              <a:buNone/>
            </a:pPr>
            <a:r>
              <a:rPr lang="en-US" sz="4800" b="1" dirty="0">
                <a:solidFill>
                  <a:srgbClr val="1B2A4A"/>
                </a:solidFill>
                <a:latin typeface="Calibri" pitchFamily="34" charset="0"/>
                <a:ea typeface="Calibri" pitchFamily="34" charset="-122"/>
                <a:cs typeface="Calibri" pitchFamily="34" charset="-120"/>
              </a:rPr>
              <a:t>124.741</a:t>
            </a:r>
            <a:endParaRPr lang="en-US" sz="4800" dirty="0"/>
          </a:p>
        </p:txBody>
      </p:sp>
      <p:sp>
        <p:nvSpPr>
          <p:cNvPr id="10" name="anim:2:26"/>
          <p:cNvSpPr txBox="1"/>
          <p:nvPr/>
        </p:nvSpPr>
        <p:spPr>
          <a:xfrm>
            <a:off x="6903720" y="3383280"/>
            <a:ext cx="4389120" cy="320040"/>
          </a:xfrm>
          <a:prstGeom prst="rect">
            <a:avLst/>
          </a:prstGeom>
          <a:noFill/>
          <a:ln/>
        </p:spPr>
        <p:txBody>
          <a:bodyPr wrap="square" lIns="0" tIns="0" rIns="0" bIns="0" rtlCol="0" anchor="t"/>
          <a:lstStyle/>
          <a:p>
            <a:pPr algn="l" indent="0" marL="0">
              <a:buNone/>
            </a:pPr>
            <a:r>
              <a:rPr lang="en-US" sz="1400" dirty="0">
                <a:solidFill>
                  <a:srgbClr val="1F2937"/>
                </a:solidFill>
                <a:latin typeface="Calibri" pitchFamily="34" charset="0"/>
                <a:ea typeface="Calibri" pitchFamily="34" charset="-122"/>
                <a:cs typeface="Calibri" pitchFamily="34" charset="-120"/>
              </a:rPr>
              <a:t>crianças · 34% da demanda fora da rede</a:t>
            </a:r>
            <a:endParaRPr lang="en-US" sz="1400" dirty="0"/>
          </a:p>
        </p:txBody>
      </p:sp>
      <p:sp>
        <p:nvSpPr>
          <p:cNvPr id="11" name="anim:3:27"/>
          <p:cNvSpPr/>
          <p:nvPr/>
        </p:nvSpPr>
        <p:spPr>
          <a:xfrm>
            <a:off x="10287000" y="3639312"/>
            <a:ext cx="1005840" cy="384048"/>
          </a:xfrm>
          <a:prstGeom prst="roundRect">
            <a:avLst>
              <a:gd name="adj" fmla="val 40476"/>
            </a:avLst>
          </a:prstGeom>
          <a:solidFill>
            <a:srgbClr val="F2A541"/>
          </a:solidFill>
          <a:ln w="12700">
            <a:solidFill>
              <a:srgbClr val="F2A541"/>
            </a:solidFill>
            <a:prstDash val="solid"/>
          </a:ln>
        </p:spPr>
      </p:sp>
      <p:sp>
        <p:nvSpPr>
          <p:cNvPr id="12" name="anim:3:28"/>
          <p:cNvSpPr txBox="1"/>
          <p:nvPr/>
        </p:nvSpPr>
        <p:spPr>
          <a:xfrm>
            <a:off x="10287000" y="3639312"/>
            <a:ext cx="1005840" cy="384048"/>
          </a:xfrm>
          <a:prstGeom prst="rect">
            <a:avLst/>
          </a:prstGeom>
          <a:noFill/>
          <a:ln/>
        </p:spPr>
        <p:txBody>
          <a:bodyPr wrap="square" lIns="0" tIns="0" rIns="0" bIns="0" rtlCol="0" anchor="ctr"/>
          <a:lstStyle/>
          <a:p>
            <a:pPr algn="ctr" indent="0" marL="0">
              <a:buNone/>
            </a:pPr>
            <a:r>
              <a:rPr lang="en-US" sz="1400" b="1" dirty="0">
                <a:solidFill>
                  <a:srgbClr val="1B2A4A"/>
                </a:solidFill>
                <a:latin typeface="Calibri" pitchFamily="34" charset="0"/>
                <a:ea typeface="Calibri" pitchFamily="34" charset="-122"/>
                <a:cs typeface="Calibri" pitchFamily="34" charset="-120"/>
              </a:rPr>
              <a:t>-97%</a:t>
            </a:r>
            <a:endParaRPr lang="en-US" sz="1400" dirty="0"/>
          </a:p>
        </p:txBody>
      </p:sp>
      <p:sp>
        <p:nvSpPr>
          <p:cNvPr id="13" name="anim:4:29"/>
          <p:cNvSpPr txBox="1"/>
          <p:nvPr/>
        </p:nvSpPr>
        <p:spPr>
          <a:xfrm>
            <a:off x="6903720" y="4069080"/>
            <a:ext cx="1097280" cy="365760"/>
          </a:xfrm>
          <a:prstGeom prst="rect">
            <a:avLst/>
          </a:prstGeom>
          <a:noFill/>
          <a:ln/>
        </p:spPr>
        <p:txBody>
          <a:bodyPr wrap="square" lIns="0" tIns="0" rIns="0" bIns="0" rtlCol="0" anchor="t"/>
          <a:lstStyle/>
          <a:p>
            <a:pPr algn="l" indent="0" marL="0">
              <a:buNone/>
            </a:pPr>
            <a:r>
              <a:rPr lang="en-US" sz="1500" b="1" dirty="0">
                <a:solidFill>
                  <a:srgbClr val="566175"/>
                </a:solidFill>
                <a:latin typeface="Calibri" pitchFamily="34" charset="0"/>
                <a:ea typeface="Calibri" pitchFamily="34" charset="-122"/>
                <a:cs typeface="Calibri" pitchFamily="34" charset="-120"/>
              </a:rPr>
              <a:t>2024</a:t>
            </a:r>
            <a:endParaRPr lang="en-US" sz="1500" dirty="0"/>
          </a:p>
        </p:txBody>
      </p:sp>
      <p:sp>
        <p:nvSpPr>
          <p:cNvPr id="14" name="anim:4:30"/>
          <p:cNvSpPr txBox="1"/>
          <p:nvPr/>
        </p:nvSpPr>
        <p:spPr>
          <a:xfrm>
            <a:off x="6903720" y="4389120"/>
            <a:ext cx="4114800" cy="822960"/>
          </a:xfrm>
          <a:prstGeom prst="rect">
            <a:avLst/>
          </a:prstGeom>
          <a:noFill/>
          <a:ln/>
        </p:spPr>
        <p:txBody>
          <a:bodyPr wrap="square" lIns="0" tIns="0" rIns="0" bIns="0" rtlCol="0" anchor="t"/>
          <a:lstStyle/>
          <a:p>
            <a:pPr algn="l" indent="0" marL="0">
              <a:buNone/>
            </a:pPr>
            <a:r>
              <a:rPr lang="en-US" sz="4800" b="1" dirty="0">
                <a:solidFill>
                  <a:srgbClr val="2E5EAA"/>
                </a:solidFill>
                <a:latin typeface="Calibri" pitchFamily="34" charset="0"/>
                <a:ea typeface="Calibri" pitchFamily="34" charset="-122"/>
                <a:cs typeface="Calibri" pitchFamily="34" charset="-120"/>
              </a:rPr>
              <a:t>3.633</a:t>
            </a:r>
            <a:endParaRPr lang="en-US" sz="4800" dirty="0"/>
          </a:p>
        </p:txBody>
      </p:sp>
      <p:sp>
        <p:nvSpPr>
          <p:cNvPr id="15" name="anim:4:31"/>
          <p:cNvSpPr txBox="1"/>
          <p:nvPr/>
        </p:nvSpPr>
        <p:spPr>
          <a:xfrm>
            <a:off x="6903720" y="5212080"/>
            <a:ext cx="4389120" cy="320040"/>
          </a:xfrm>
          <a:prstGeom prst="rect">
            <a:avLst/>
          </a:prstGeom>
          <a:noFill/>
          <a:ln/>
        </p:spPr>
        <p:txBody>
          <a:bodyPr wrap="square" lIns="0" tIns="0" rIns="0" bIns="0" rtlCol="0" anchor="t"/>
          <a:lstStyle/>
          <a:p>
            <a:pPr algn="l" indent="0" marL="0">
              <a:buNone/>
            </a:pPr>
            <a:r>
              <a:rPr lang="en-US" sz="1400" dirty="0">
                <a:solidFill>
                  <a:srgbClr val="1F2937"/>
                </a:solidFill>
                <a:latin typeface="Calibri" pitchFamily="34" charset="0"/>
                <a:ea typeface="Calibri" pitchFamily="34" charset="-122"/>
                <a:cs typeface="Calibri" pitchFamily="34" charset="-120"/>
              </a:rPr>
              <a:t>crianças · 1% da demanda fora da rede</a:t>
            </a:r>
            <a:endParaRPr lang="en-US" sz="1400" dirty="0"/>
          </a:p>
        </p:txBody>
      </p:sp>
      <p:sp>
        <p:nvSpPr>
          <p:cNvPr id="16" name="Text 13"/>
          <p:cNvSpPr txBox="1"/>
          <p:nvPr/>
        </p:nvSpPr>
        <p:spPr>
          <a:xfrm>
            <a:off x="548640" y="6089904"/>
            <a:ext cx="10241280" cy="256032"/>
          </a:xfrm>
          <a:prstGeom prst="rect">
            <a:avLst/>
          </a:prstGeom>
          <a:noFill/>
          <a:ln/>
        </p:spPr>
        <p:txBody>
          <a:bodyPr wrap="square" lIns="0" tIns="0" rIns="0" bIns="0" rtlCol="0" anchor="t"/>
          <a:lstStyle/>
          <a:p>
            <a:pPr algn="l" indent="0" marL="0">
              <a:buNone/>
            </a:pPr>
            <a:r>
              <a:rPr lang="en-US" sz="1000" i="1" dirty="0">
                <a:solidFill>
                  <a:srgbClr val="566175"/>
                </a:solidFill>
                <a:latin typeface="Calibri" pitchFamily="34" charset="0"/>
                <a:ea typeface="Calibri" pitchFamily="34" charset="-122"/>
                <a:cs typeface="Calibri" pitchFamily="34" charset="-120"/>
              </a:rPr>
              <a:t>Fonte: Demanda Registrada e Matrículas (SME-SP); consulta 5 sobre a carga com os dados reais.</a:t>
            </a:r>
            <a:endParaRPr lang="en-US" sz="10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2</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par>
                          <p:cTn id="8" fill="hold">
                            <p:stCondLst>
                              <p:cond delay="250"/>
                            </p:stCondLst>
                            <p:childTnLst>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childTnLst>
                          </p:cTn>
                        </p:par>
                        <p:par>
                          <p:cTn id="12" fill="hold">
                            <p:stCondLst>
                              <p:cond delay="250"/>
                            </p:stCondLst>
                            <p:childTnLst>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childTnLst>
                          </p:cTn>
                        </p:par>
                        <p:par>
                          <p:cTn id="16" fill="hold">
                            <p:stCondLst>
                              <p:cond delay="250"/>
                            </p:stCondLst>
                            <p:childTnLst>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00"/>
                                        <p:tgtEl>
                                          <p:spTgt spid="8"/>
                                        </p:tgtEl>
                                      </p:cBhvr>
                                    </p:animEffect>
                                  </p:childTnLst>
                                </p:cTn>
                              </p:par>
                            </p:childTnLst>
                          </p:cTn>
                        </p:par>
                        <p:par>
                          <p:cTn id="20" fill="hold">
                            <p:stCondLst>
                              <p:cond delay="250"/>
                            </p:stCondLst>
                            <p:childTnLst>
                              <p:par>
                                <p:cTn id="21" presetID="10" presetClass="entr" presetSubtype="0"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400"/>
                                        <p:tgtEl>
                                          <p:spTgt spid="9"/>
                                        </p:tgtEl>
                                      </p:cBhvr>
                                    </p:animEffect>
                                  </p:childTnLst>
                                </p:cTn>
                              </p:par>
                            </p:childTnLst>
                          </p:cTn>
                        </p:par>
                        <p:par>
                          <p:cTn id="24" fill="hold">
                            <p:stCondLst>
                              <p:cond delay="250"/>
                            </p:stCondLst>
                            <p:childTnLst>
                              <p:par>
                                <p:cTn id="25" presetID="10"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400"/>
                                        <p:tgtEl>
                                          <p:spTgt spid="10"/>
                                        </p:tgtEl>
                                      </p:cBhvr>
                                    </p:animEffect>
                                  </p:childTnLst>
                                </p:cTn>
                              </p:par>
                            </p:childTnLst>
                          </p:cTn>
                        </p:par>
                        <p:par>
                          <p:cTn id="28" fill="hold">
                            <p:stCondLst>
                              <p:cond delay="500"/>
                            </p:stCondLst>
                            <p:childTnLst>
                              <p:par>
                                <p:cTn id="29" presetID="10" presetClass="entr" presetSubtype="0"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00"/>
                                        <p:tgtEl>
                                          <p:spTgt spid="11"/>
                                        </p:tgtEl>
                                      </p:cBhvr>
                                    </p:animEffect>
                                  </p:childTnLst>
                                </p:cTn>
                              </p:par>
                            </p:childTnLst>
                          </p:cTn>
                        </p:par>
                        <p:par>
                          <p:cTn id="32" fill="hold">
                            <p:stCondLst>
                              <p:cond delay="500"/>
                            </p:stCondLst>
                            <p:childTnLst>
                              <p:par>
                                <p:cTn id="33" presetID="10" presetClass="entr" presetSubtype="0" fill="hold" grpId="0" nodeType="with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400"/>
                                        <p:tgtEl>
                                          <p:spTgt spid="12"/>
                                        </p:tgtEl>
                                      </p:cBhvr>
                                    </p:animEffect>
                                  </p:childTnLst>
                                </p:cTn>
                              </p:par>
                            </p:childTnLst>
                          </p:cTn>
                        </p:par>
                        <p:par>
                          <p:cTn id="36" fill="hold">
                            <p:stCondLst>
                              <p:cond delay="750"/>
                            </p:stCondLst>
                            <p:childTnLst>
                              <p:par>
                                <p:cTn id="37" presetID="10" presetClass="entr" presetSubtype="0" fill="hold" grpId="0" nodeType="withEffect">
                                  <p:stCondLst>
                                    <p:cond delay="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400"/>
                                        <p:tgtEl>
                                          <p:spTgt spid="13"/>
                                        </p:tgtEl>
                                      </p:cBhvr>
                                    </p:animEffect>
                                  </p:childTnLst>
                                </p:cTn>
                              </p:par>
                            </p:childTnLst>
                          </p:cTn>
                        </p:par>
                        <p:par>
                          <p:cTn id="40" fill="hold">
                            <p:stCondLst>
                              <p:cond delay="750"/>
                            </p:stCondLst>
                            <p:childTnLst>
                              <p:par>
                                <p:cTn id="41" presetID="10" presetClass="entr" presetSubtype="0" fill="hold" grpId="0" nodeType="withEffect">
                                  <p:stCondLst>
                                    <p:cond delay="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400"/>
                                        <p:tgtEl>
                                          <p:spTgt spid="14"/>
                                        </p:tgtEl>
                                      </p:cBhvr>
                                    </p:animEffect>
                                  </p:childTnLst>
                                </p:cTn>
                              </p:par>
                            </p:childTnLst>
                          </p:cTn>
                        </p:par>
                        <p:par>
                          <p:cTn id="44" fill="hold">
                            <p:stCondLst>
                              <p:cond delay="750"/>
                            </p:stCondLst>
                            <p:childTnLst>
                              <p:par>
                                <p:cTn id="45" presetID="10" presetClass="entr" presetSubtype="0" fill="hold" grpId="0" nodeType="withEffect">
                                  <p:stCondLst>
                                    <p:cond delay="0"/>
                                  </p:stCondLst>
                                  <p:childTnLst>
                                    <p:set>
                                      <p:cBhvr>
                                        <p:cTn id="46" dur="1" fill="hold">
                                          <p:stCondLst>
                                            <p:cond delay="0"/>
                                          </p:stCondLst>
                                        </p:cTn>
                                        <p:tgtEl>
                                          <p:spTgt spid="15"/>
                                        </p:tgtEl>
                                        <p:attrNameLst>
                                          <p:attrName>style.visibility</p:attrName>
                                        </p:attrNameLst>
                                      </p:cBhvr>
                                      <p:to>
                                        <p:strVal val="visible"/>
                                      </p:to>
                                    </p:set>
                                    <p:animEffect transition="in" filter="fade">
                                      <p:cBhvr>
                                        <p:cTn id="47" dur="4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F2A541"/>
                </a:solidFill>
                <a:latin typeface="Calibri" pitchFamily="34" charset="0"/>
                <a:ea typeface="Calibri" pitchFamily="34" charset="-122"/>
                <a:cs typeface="Calibri" pitchFamily="34" charset="-120"/>
              </a:rPr>
              <a:t>BLOCO 1 · O PROBLEMA E A PROPOSTA · KEVENN</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FFFFFF"/>
                </a:solidFill>
                <a:latin typeface="Calibri" pitchFamily="34" charset="0"/>
                <a:ea typeface="Calibri" pitchFamily="34" charset="-122"/>
                <a:cs typeface="Calibri" pitchFamily="34" charset="-120"/>
              </a:rPr>
              <a:t>E se fosse o seu filho?</a:t>
            </a:r>
            <a:endParaRPr lang="en-US" sz="3200" dirty="0"/>
          </a:p>
        </p:txBody>
      </p:sp>
      <p:sp>
        <p:nvSpPr>
          <p:cNvPr id="5" name="anim:1:32"/>
          <p:cNvSpPr txBox="1"/>
          <p:nvPr/>
        </p:nvSpPr>
        <p:spPr>
          <a:xfrm>
            <a:off x="548640" y="1554480"/>
            <a:ext cx="5029200" cy="1280160"/>
          </a:xfrm>
          <a:prstGeom prst="rect">
            <a:avLst/>
          </a:prstGeom>
          <a:noFill/>
          <a:ln/>
        </p:spPr>
        <p:txBody>
          <a:bodyPr wrap="square" lIns="0" tIns="0" rIns="0" bIns="0" rtlCol="0" anchor="t"/>
          <a:lstStyle/>
          <a:p>
            <a:pPr algn="l" indent="0" marL="0">
              <a:buNone/>
            </a:pPr>
            <a:r>
              <a:rPr lang="en-US" sz="8000" b="1" dirty="0">
                <a:solidFill>
                  <a:srgbClr val="F2A541"/>
                </a:solidFill>
                <a:latin typeface="Calibri" pitchFamily="34" charset="0"/>
                <a:ea typeface="Calibri" pitchFamily="34" charset="-122"/>
                <a:cs typeface="Calibri" pitchFamily="34" charset="-120"/>
              </a:rPr>
              <a:t>3.633</a:t>
            </a:r>
            <a:endParaRPr lang="en-US" sz="8000" dirty="0"/>
          </a:p>
        </p:txBody>
      </p:sp>
      <p:sp>
        <p:nvSpPr>
          <p:cNvPr id="6" name="anim:1:33"/>
          <p:cNvSpPr txBox="1"/>
          <p:nvPr/>
        </p:nvSpPr>
        <p:spPr>
          <a:xfrm>
            <a:off x="548640" y="2880360"/>
            <a:ext cx="5029200" cy="914400"/>
          </a:xfrm>
          <a:prstGeom prst="rect">
            <a:avLst/>
          </a:prstGeom>
          <a:noFill/>
          <a:ln/>
        </p:spPr>
        <p:txBody>
          <a:bodyPr wrap="square" lIns="0" tIns="0" rIns="0" bIns="0" rtlCol="0" anchor="t"/>
          <a:lstStyle/>
          <a:p>
            <a:pPr algn="l" indent="0" marL="0">
              <a:buNone/>
            </a:pPr>
            <a:r>
              <a:rPr lang="en-US" sz="2000" dirty="0">
                <a:solidFill>
                  <a:srgbClr val="FFFFFF"/>
                </a:solidFill>
                <a:latin typeface="Calibri" pitchFamily="34" charset="0"/>
                <a:ea typeface="Calibri" pitchFamily="34" charset="-122"/>
                <a:cs typeface="Calibri" pitchFamily="34" charset="-120"/>
              </a:rPr>
              <a:t>crianças ainda esperavam vaga em creche em junho de 2024, em todos os 96 distritos</a:t>
            </a:r>
            <a:endParaRPr lang="en-US" sz="2000" dirty="0"/>
          </a:p>
        </p:txBody>
      </p:sp>
      <p:sp>
        <p:nvSpPr>
          <p:cNvPr id="7" name="anim:2:34"/>
          <p:cNvSpPr/>
          <p:nvPr/>
        </p:nvSpPr>
        <p:spPr>
          <a:xfrm>
            <a:off x="5989320" y="1554480"/>
            <a:ext cx="5623560" cy="932688"/>
          </a:xfrm>
          <a:prstGeom prst="roundRect">
            <a:avLst>
              <a:gd name="adj" fmla="val 11765"/>
            </a:avLst>
          </a:prstGeom>
          <a:solidFill>
            <a:srgbClr val="FFFFFF">
              <a:alpha val="10000"/>
            </a:srgbClr>
          </a:solidFill>
          <a:ln w="9525">
            <a:solidFill>
              <a:srgbClr val="3A4D73"/>
            </a:solidFill>
            <a:prstDash val="solid"/>
          </a:ln>
        </p:spPr>
      </p:sp>
      <p:sp>
        <p:nvSpPr>
          <p:cNvPr id="8" name="anim:2:35"/>
          <p:cNvSpPr txBox="1"/>
          <p:nvPr/>
        </p:nvSpPr>
        <p:spPr>
          <a:xfrm>
            <a:off x="6217920" y="1664208"/>
            <a:ext cx="5212080" cy="256032"/>
          </a:xfrm>
          <a:prstGeom prst="rect">
            <a:avLst/>
          </a:prstGeom>
          <a:noFill/>
          <a:ln/>
        </p:spPr>
        <p:txBody>
          <a:bodyPr wrap="square" lIns="0" tIns="0" rIns="0" bIns="0" rtlCol="0" anchor="t"/>
          <a:lstStyle/>
          <a:p>
            <a:pPr algn="l" indent="0" marL="0">
              <a:buNone/>
            </a:pPr>
            <a:r>
              <a:rPr lang="en-US" sz="1200" b="1" spc="100" kern="0" dirty="0">
                <a:solidFill>
                  <a:srgbClr val="F2A541"/>
                </a:solidFill>
                <a:latin typeface="Calibri" pitchFamily="34" charset="0"/>
                <a:ea typeface="Calibri" pitchFamily="34" charset="-122"/>
                <a:cs typeface="Calibri" pitchFamily="34" charset="-120"/>
              </a:rPr>
              <a:t>SEU FILHO</a:t>
            </a:r>
            <a:endParaRPr lang="en-US" sz="1200" dirty="0"/>
          </a:p>
        </p:txBody>
      </p:sp>
      <p:sp>
        <p:nvSpPr>
          <p:cNvPr id="9" name="anim:2:36"/>
          <p:cNvSpPr txBox="1"/>
          <p:nvPr/>
        </p:nvSpPr>
        <p:spPr>
          <a:xfrm>
            <a:off x="6217920" y="1920240"/>
            <a:ext cx="5212080" cy="502920"/>
          </a:xfrm>
          <a:prstGeom prst="rect">
            <a:avLst/>
          </a:prstGeom>
          <a:noFill/>
          <a:ln/>
        </p:spPr>
        <p:txBody>
          <a:bodyPr wrap="square" lIns="0" tIns="0" rIns="0" bIns="0" rtlCol="0" anchor="t"/>
          <a:lstStyle/>
          <a:p>
            <a:pPr algn="l" indent="0" marL="0">
              <a:buNone/>
            </a:pPr>
            <a:r>
              <a:rPr lang="en-US" sz="1400" dirty="0">
                <a:solidFill>
                  <a:srgbClr val="C9D3E6"/>
                </a:solidFill>
                <a:latin typeface="Calibri" pitchFamily="34" charset="0"/>
                <a:ea typeface="Calibri" pitchFamily="34" charset="-122"/>
                <a:cs typeface="Calibri" pitchFamily="34" charset="-120"/>
              </a:rPr>
              <a:t>Meses fora da creche. Poderia chegar à escola atrás das crianças que tiveram educação infantil.</a:t>
            </a:r>
            <a:endParaRPr lang="en-US" sz="1400" dirty="0"/>
          </a:p>
        </p:txBody>
      </p:sp>
      <p:sp>
        <p:nvSpPr>
          <p:cNvPr id="10" name="anim:3:37"/>
          <p:cNvSpPr/>
          <p:nvPr/>
        </p:nvSpPr>
        <p:spPr>
          <a:xfrm>
            <a:off x="5989320" y="2633472"/>
            <a:ext cx="5623560" cy="932688"/>
          </a:xfrm>
          <a:prstGeom prst="roundRect">
            <a:avLst>
              <a:gd name="adj" fmla="val 11765"/>
            </a:avLst>
          </a:prstGeom>
          <a:solidFill>
            <a:srgbClr val="FFFFFF">
              <a:alpha val="10000"/>
            </a:srgbClr>
          </a:solidFill>
          <a:ln w="9525">
            <a:solidFill>
              <a:srgbClr val="3A4D73"/>
            </a:solidFill>
            <a:prstDash val="solid"/>
          </a:ln>
        </p:spPr>
      </p:sp>
      <p:sp>
        <p:nvSpPr>
          <p:cNvPr id="11" name="anim:3:38"/>
          <p:cNvSpPr txBox="1"/>
          <p:nvPr/>
        </p:nvSpPr>
        <p:spPr>
          <a:xfrm>
            <a:off x="6217920" y="2743200"/>
            <a:ext cx="5212080" cy="256032"/>
          </a:xfrm>
          <a:prstGeom prst="rect">
            <a:avLst/>
          </a:prstGeom>
          <a:noFill/>
          <a:ln/>
        </p:spPr>
        <p:txBody>
          <a:bodyPr wrap="square" lIns="0" tIns="0" rIns="0" bIns="0" rtlCol="0" anchor="t"/>
          <a:lstStyle/>
          <a:p>
            <a:pPr algn="l" indent="0" marL="0">
              <a:buNone/>
            </a:pPr>
            <a:r>
              <a:rPr lang="en-US" sz="1200" b="1" spc="100" kern="0" dirty="0">
                <a:solidFill>
                  <a:srgbClr val="F2A541"/>
                </a:solidFill>
                <a:latin typeface="Calibri" pitchFamily="34" charset="0"/>
                <a:ea typeface="Calibri" pitchFamily="34" charset="-122"/>
                <a:cs typeface="Calibri" pitchFamily="34" charset="-120"/>
              </a:rPr>
              <a:t>SEU TRABALHO</a:t>
            </a:r>
            <a:endParaRPr lang="en-US" sz="1200" dirty="0"/>
          </a:p>
        </p:txBody>
      </p:sp>
      <p:sp>
        <p:nvSpPr>
          <p:cNvPr id="12" name="anim:3:39"/>
          <p:cNvSpPr txBox="1"/>
          <p:nvPr/>
        </p:nvSpPr>
        <p:spPr>
          <a:xfrm>
            <a:off x="6217920" y="2999232"/>
            <a:ext cx="5212080" cy="502920"/>
          </a:xfrm>
          <a:prstGeom prst="rect">
            <a:avLst/>
          </a:prstGeom>
          <a:noFill/>
          <a:ln/>
        </p:spPr>
        <p:txBody>
          <a:bodyPr wrap="square" lIns="0" tIns="0" rIns="0" bIns="0" rtlCol="0" anchor="t"/>
          <a:lstStyle/>
          <a:p>
            <a:pPr algn="l" indent="0" marL="0">
              <a:buNone/>
            </a:pPr>
            <a:r>
              <a:rPr lang="en-US" sz="1400" dirty="0">
                <a:solidFill>
                  <a:srgbClr val="C9D3E6"/>
                </a:solidFill>
                <a:latin typeface="Calibri" pitchFamily="34" charset="0"/>
                <a:ea typeface="Calibri" pitchFamily="34" charset="-122"/>
                <a:cs typeface="Calibri" pitchFamily="34" charset="-120"/>
              </a:rPr>
              <a:t>Faltas, um cuidador pago ou o emprego deixado de lado até a vaga sair.</a:t>
            </a:r>
            <a:endParaRPr lang="en-US" sz="1400" dirty="0"/>
          </a:p>
        </p:txBody>
      </p:sp>
      <p:sp>
        <p:nvSpPr>
          <p:cNvPr id="13" name="anim:4:40"/>
          <p:cNvSpPr/>
          <p:nvPr/>
        </p:nvSpPr>
        <p:spPr>
          <a:xfrm>
            <a:off x="5989320" y="3712464"/>
            <a:ext cx="5623560" cy="932688"/>
          </a:xfrm>
          <a:prstGeom prst="roundRect">
            <a:avLst>
              <a:gd name="adj" fmla="val 11765"/>
            </a:avLst>
          </a:prstGeom>
          <a:solidFill>
            <a:srgbClr val="FFFFFF">
              <a:alpha val="10000"/>
            </a:srgbClr>
          </a:solidFill>
          <a:ln w="9525">
            <a:solidFill>
              <a:srgbClr val="3A4D73"/>
            </a:solidFill>
            <a:prstDash val="solid"/>
          </a:ln>
        </p:spPr>
      </p:sp>
      <p:sp>
        <p:nvSpPr>
          <p:cNvPr id="14" name="anim:4:41"/>
          <p:cNvSpPr txBox="1"/>
          <p:nvPr/>
        </p:nvSpPr>
        <p:spPr>
          <a:xfrm>
            <a:off x="6217920" y="3822192"/>
            <a:ext cx="5212080" cy="256032"/>
          </a:xfrm>
          <a:prstGeom prst="rect">
            <a:avLst/>
          </a:prstGeom>
          <a:noFill/>
          <a:ln/>
        </p:spPr>
        <p:txBody>
          <a:bodyPr wrap="square" lIns="0" tIns="0" rIns="0" bIns="0" rtlCol="0" anchor="t"/>
          <a:lstStyle/>
          <a:p>
            <a:pPr algn="l" indent="0" marL="0">
              <a:buNone/>
            </a:pPr>
            <a:r>
              <a:rPr lang="en-US" sz="1200" b="1" spc="100" kern="0" dirty="0">
                <a:solidFill>
                  <a:srgbClr val="F2A541"/>
                </a:solidFill>
                <a:latin typeface="Calibri" pitchFamily="34" charset="0"/>
                <a:ea typeface="Calibri" pitchFamily="34" charset="-122"/>
                <a:cs typeface="Calibri" pitchFamily="34" charset="-120"/>
              </a:rPr>
              <a:t>SUA CASA</a:t>
            </a:r>
            <a:endParaRPr lang="en-US" sz="1200" dirty="0"/>
          </a:p>
        </p:txBody>
      </p:sp>
      <p:sp>
        <p:nvSpPr>
          <p:cNvPr id="15" name="anim:4:42"/>
          <p:cNvSpPr txBox="1"/>
          <p:nvPr/>
        </p:nvSpPr>
        <p:spPr>
          <a:xfrm>
            <a:off x="6217920" y="4078224"/>
            <a:ext cx="5212080" cy="502920"/>
          </a:xfrm>
          <a:prstGeom prst="rect">
            <a:avLst/>
          </a:prstGeom>
          <a:noFill/>
          <a:ln/>
        </p:spPr>
        <p:txBody>
          <a:bodyPr wrap="square" lIns="0" tIns="0" rIns="0" bIns="0" rtlCol="0" anchor="t"/>
          <a:lstStyle/>
          <a:p>
            <a:pPr algn="l" indent="0" marL="0">
              <a:buNone/>
            </a:pPr>
            <a:r>
              <a:rPr lang="en-US" sz="1400" dirty="0">
                <a:solidFill>
                  <a:srgbClr val="C9D3E6"/>
                </a:solidFill>
                <a:latin typeface="Calibri" pitchFamily="34" charset="0"/>
                <a:ea typeface="Calibri" pitchFamily="34" charset="-122"/>
                <a:cs typeface="Calibri" pitchFamily="34" charset="-120"/>
              </a:rPr>
              <a:t>Avós, vizinhos e irmãos mais velhos cobrindo o horário da creche.</a:t>
            </a:r>
            <a:endParaRPr lang="en-US" sz="1400" dirty="0"/>
          </a:p>
        </p:txBody>
      </p:sp>
      <p:sp>
        <p:nvSpPr>
          <p:cNvPr id="16" name="anim:5:43"/>
          <p:cNvSpPr txBox="1"/>
          <p:nvPr/>
        </p:nvSpPr>
        <p:spPr>
          <a:xfrm>
            <a:off x="548640" y="4937760"/>
            <a:ext cx="11064240" cy="548640"/>
          </a:xfrm>
          <a:prstGeom prst="rect">
            <a:avLst/>
          </a:prstGeom>
          <a:noFill/>
          <a:ln/>
        </p:spPr>
        <p:txBody>
          <a:bodyPr wrap="square" lIns="0" tIns="0" rIns="0" bIns="0" rtlCol="0" anchor="t"/>
          <a:lstStyle/>
          <a:p>
            <a:pPr algn="l" indent="0" marL="0">
              <a:buNone/>
            </a:pPr>
            <a:r>
              <a:rPr lang="en-US" sz="2400" b="1" dirty="0">
                <a:solidFill>
                  <a:srgbClr val="FFFFFF"/>
                </a:solidFill>
                <a:latin typeface="Calibri" pitchFamily="34" charset="0"/>
                <a:ea typeface="Calibri" pitchFamily="34" charset="-122"/>
                <a:cs typeface="Calibri" pitchFamily="34" charset="-120"/>
              </a:rPr>
              <a:t>A fila caiu 97%. Para essas famílias, a espera continua.</a:t>
            </a:r>
            <a:endParaRPr lang="en-US" sz="2400" dirty="0"/>
          </a:p>
        </p:txBody>
      </p:sp>
      <p:sp>
        <p:nvSpPr>
          <p:cNvPr id="17" name="Text 14"/>
          <p:cNvSpPr txBox="1"/>
          <p:nvPr/>
        </p:nvSpPr>
        <p:spPr>
          <a:xfrm>
            <a:off x="548640" y="5897880"/>
            <a:ext cx="10241280" cy="274320"/>
          </a:xfrm>
          <a:prstGeom prst="rect">
            <a:avLst/>
          </a:prstGeom>
          <a:noFill/>
          <a:ln/>
        </p:spPr>
        <p:txBody>
          <a:bodyPr wrap="square" lIns="0" tIns="0" rIns="0" bIns="0" rtlCol="0" anchor="t"/>
          <a:lstStyle/>
          <a:p>
            <a:pPr algn="l" indent="0" marL="0">
              <a:buNone/>
            </a:pPr>
            <a:r>
              <a:rPr lang="en-US" sz="1000" i="1" dirty="0">
                <a:solidFill>
                  <a:srgbClr val="C9D3E6"/>
                </a:solidFill>
                <a:latin typeface="Calibri" pitchFamily="34" charset="0"/>
                <a:ea typeface="Calibri" pitchFamily="34" charset="-122"/>
                <a:cs typeface="Calibri" pitchFamily="34" charset="-120"/>
              </a:rPr>
              <a:t>Fonte: Demanda Registrada e Matrículas (SME-SP), junho de 2024. As consequências são um cenário ilustrativo.</a:t>
            </a:r>
            <a:endParaRPr lang="en-US" sz="10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F2A541"/>
                </a:solidFill>
                <a:latin typeface="Calibri"/>
                <a:ea typeface="Calibri"/>
                <a:cs typeface="Calibri"/>
              </a:defRPr>
            </a:lvl1pPr>
          </a:lstStyle>
          <a:p>
            <a:pPr algn="r"/>
            <a:fld id="{F7021451-1387-4CA6-816F-3879F97B5CBC}" type="slidenum">
              <a:rPr b="1" lang="en-US"/>
              <a:t>3</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childTnLst>
                          </p:cTn>
                        </p:par>
                        <p:par>
                          <p:cTn id="12" fill="hold">
                            <p:stCondLst>
                              <p:cond delay="250"/>
                            </p:stCondLst>
                            <p:childTnLst>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childTnLst>
                          </p:cTn>
                        </p:par>
                        <p:par>
                          <p:cTn id="16" fill="hold">
                            <p:stCondLst>
                              <p:cond delay="250"/>
                            </p:stCondLst>
                            <p:childTnLst>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00"/>
                                        <p:tgtEl>
                                          <p:spTgt spid="8"/>
                                        </p:tgtEl>
                                      </p:cBhvr>
                                    </p:animEffect>
                                  </p:childTnLst>
                                </p:cTn>
                              </p:par>
                            </p:childTnLst>
                          </p:cTn>
                        </p:par>
                        <p:par>
                          <p:cTn id="20" fill="hold">
                            <p:stCondLst>
                              <p:cond delay="250"/>
                            </p:stCondLst>
                            <p:childTnLst>
                              <p:par>
                                <p:cTn id="21" presetID="10" presetClass="entr" presetSubtype="0"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400"/>
                                        <p:tgtEl>
                                          <p:spTgt spid="9"/>
                                        </p:tgtEl>
                                      </p:cBhvr>
                                    </p:animEffect>
                                  </p:childTnLst>
                                </p:cTn>
                              </p:par>
                            </p:childTnLst>
                          </p:cTn>
                        </p:par>
                        <p:par>
                          <p:cTn id="24" fill="hold">
                            <p:stCondLst>
                              <p:cond delay="500"/>
                            </p:stCondLst>
                            <p:childTnLst>
                              <p:par>
                                <p:cTn id="25" presetID="10"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400"/>
                                        <p:tgtEl>
                                          <p:spTgt spid="10"/>
                                        </p:tgtEl>
                                      </p:cBhvr>
                                    </p:animEffect>
                                  </p:childTnLst>
                                </p:cTn>
                              </p:par>
                            </p:childTnLst>
                          </p:cTn>
                        </p:par>
                        <p:par>
                          <p:cTn id="28" fill="hold">
                            <p:stCondLst>
                              <p:cond delay="500"/>
                            </p:stCondLst>
                            <p:childTnLst>
                              <p:par>
                                <p:cTn id="29" presetID="10" presetClass="entr" presetSubtype="0"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00"/>
                                        <p:tgtEl>
                                          <p:spTgt spid="11"/>
                                        </p:tgtEl>
                                      </p:cBhvr>
                                    </p:animEffect>
                                  </p:childTnLst>
                                </p:cTn>
                              </p:par>
                            </p:childTnLst>
                          </p:cTn>
                        </p:par>
                        <p:par>
                          <p:cTn id="32" fill="hold">
                            <p:stCondLst>
                              <p:cond delay="500"/>
                            </p:stCondLst>
                            <p:childTnLst>
                              <p:par>
                                <p:cTn id="33" presetID="10" presetClass="entr" presetSubtype="0" fill="hold" grpId="0" nodeType="with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400"/>
                                        <p:tgtEl>
                                          <p:spTgt spid="12"/>
                                        </p:tgtEl>
                                      </p:cBhvr>
                                    </p:animEffect>
                                  </p:childTnLst>
                                </p:cTn>
                              </p:par>
                            </p:childTnLst>
                          </p:cTn>
                        </p:par>
                        <p:par>
                          <p:cTn id="36" fill="hold">
                            <p:stCondLst>
                              <p:cond delay="750"/>
                            </p:stCondLst>
                            <p:childTnLst>
                              <p:par>
                                <p:cTn id="37" presetID="10" presetClass="entr" presetSubtype="0" fill="hold" grpId="0" nodeType="withEffect">
                                  <p:stCondLst>
                                    <p:cond delay="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400"/>
                                        <p:tgtEl>
                                          <p:spTgt spid="13"/>
                                        </p:tgtEl>
                                      </p:cBhvr>
                                    </p:animEffect>
                                  </p:childTnLst>
                                </p:cTn>
                              </p:par>
                            </p:childTnLst>
                          </p:cTn>
                        </p:par>
                        <p:par>
                          <p:cTn id="40" fill="hold">
                            <p:stCondLst>
                              <p:cond delay="750"/>
                            </p:stCondLst>
                            <p:childTnLst>
                              <p:par>
                                <p:cTn id="41" presetID="10" presetClass="entr" presetSubtype="0" fill="hold" grpId="0" nodeType="withEffect">
                                  <p:stCondLst>
                                    <p:cond delay="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400"/>
                                        <p:tgtEl>
                                          <p:spTgt spid="14"/>
                                        </p:tgtEl>
                                      </p:cBhvr>
                                    </p:animEffect>
                                  </p:childTnLst>
                                </p:cTn>
                              </p:par>
                            </p:childTnLst>
                          </p:cTn>
                        </p:par>
                        <p:par>
                          <p:cTn id="44" fill="hold">
                            <p:stCondLst>
                              <p:cond delay="750"/>
                            </p:stCondLst>
                            <p:childTnLst>
                              <p:par>
                                <p:cTn id="45" presetID="10" presetClass="entr" presetSubtype="0" fill="hold" grpId="0" nodeType="withEffect">
                                  <p:stCondLst>
                                    <p:cond delay="0"/>
                                  </p:stCondLst>
                                  <p:childTnLst>
                                    <p:set>
                                      <p:cBhvr>
                                        <p:cTn id="46" dur="1" fill="hold">
                                          <p:stCondLst>
                                            <p:cond delay="0"/>
                                          </p:stCondLst>
                                        </p:cTn>
                                        <p:tgtEl>
                                          <p:spTgt spid="15"/>
                                        </p:tgtEl>
                                        <p:attrNameLst>
                                          <p:attrName>style.visibility</p:attrName>
                                        </p:attrNameLst>
                                      </p:cBhvr>
                                      <p:to>
                                        <p:strVal val="visible"/>
                                      </p:to>
                                    </p:set>
                                    <p:animEffect transition="in" filter="fade">
                                      <p:cBhvr>
                                        <p:cTn id="47" dur="400"/>
                                        <p:tgtEl>
                                          <p:spTgt spid="15"/>
                                        </p:tgtEl>
                                      </p:cBhvr>
                                    </p:animEffect>
                                  </p:childTnLst>
                                </p:cTn>
                              </p:par>
                            </p:childTnLst>
                          </p:cTn>
                        </p:par>
                        <p:par>
                          <p:cTn id="48" fill="hold">
                            <p:stCondLst>
                              <p:cond delay="1000"/>
                            </p:stCondLst>
                            <p:childTnLst>
                              <p:par>
                                <p:cTn id="49" presetID="10" presetClass="entr" presetSubtype="0" fill="hold" grpId="0" nodeType="withEffect">
                                  <p:stCondLst>
                                    <p:cond delay="0"/>
                                  </p:stCondLst>
                                  <p:childTnLst>
                                    <p:set>
                                      <p:cBhvr>
                                        <p:cTn id="50" dur="1" fill="hold">
                                          <p:stCondLst>
                                            <p:cond delay="0"/>
                                          </p:stCondLst>
                                        </p:cTn>
                                        <p:tgtEl>
                                          <p:spTgt spid="16"/>
                                        </p:tgtEl>
                                        <p:attrNameLst>
                                          <p:attrName>style.visibility</p:attrName>
                                        </p:attrNameLst>
                                      </p:cBhvr>
                                      <p:to>
                                        <p:strVal val="visible"/>
                                      </p:to>
                                    </p:set>
                                    <p:animEffect transition="in" filter="fade">
                                      <p:cBhvr>
                                        <p:cTn id="51" dur="4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1 · O PROBLEMA E A PROPOSTA · KEVENN</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O problema: saber onde abrir a próxima vaga</a:t>
            </a:r>
            <a:endParaRPr lang="en-US" sz="3200" dirty="0"/>
          </a:p>
        </p:txBody>
      </p:sp>
      <p:sp>
        <p:nvSpPr>
          <p:cNvPr id="5" name="anim:1:44"/>
          <p:cNvSpPr txBox="1"/>
          <p:nvPr/>
        </p:nvSpPr>
        <p:spPr>
          <a:xfrm>
            <a:off x="548640" y="1645920"/>
            <a:ext cx="5669280" cy="4023360"/>
          </a:xfrm>
          <a:prstGeom prst="rect">
            <a:avLst/>
          </a:prstGeom>
          <a:noFill/>
          <a:ln/>
        </p:spPr>
        <p:txBody>
          <a:bodyPr wrap="square" lIns="0" tIns="0" rIns="0" bIns="0" rtlCol="0" anchor="t"/>
          <a:lstStyle/>
          <a:p>
            <a:pPr marL="228600" indent="-228600">
              <a:spcAft>
                <a:spcPts val="600"/>
              </a:spcAft>
              <a:buSzPct val="100000"/>
              <a:buChar char="•"/>
            </a:pPr>
            <a:r>
              <a:rPr lang="en-US" sz="1700" dirty="0">
                <a:solidFill>
                  <a:srgbClr val="1F2937"/>
                </a:solidFill>
                <a:latin typeface="Calibri" pitchFamily="34" charset="0"/>
                <a:ea typeface="Calibri" pitchFamily="34" charset="-122"/>
                <a:cs typeface="Calibri" pitchFamily="34" charset="-120"/>
              </a:rPr>
              <a:t>Quem aceita qualquer unidade não espera muito: em junho de 2024, nenhuma criança desse grupo estava na fila havia mais de 30 dias.</a:t>
            </a:r>
            <a:endParaRPr lang="en-US" sz="1700" dirty="0"/>
          </a:p>
          <a:p>
            <a:pPr marL="228600" indent="-228600">
              <a:spcAft>
                <a:spcPts val="600"/>
              </a:spcAft>
              <a:buSzPct val="100000"/>
              <a:buChar char="•"/>
            </a:pPr>
            <a:r>
              <a:rPr lang="en-US" sz="1700" dirty="0">
                <a:solidFill>
                  <a:srgbClr val="1F2937"/>
                </a:solidFill>
                <a:latin typeface="Calibri" pitchFamily="34" charset="0"/>
                <a:ea typeface="Calibri" pitchFamily="34" charset="-122"/>
                <a:cs typeface="Calibri" pitchFamily="34" charset="-120"/>
              </a:rPr>
              <a:t>Quase sete em cada dez crianças da fila esperavam uma unidade específica, escolhida pela família.</a:t>
            </a:r>
            <a:endParaRPr lang="en-US" sz="1700" dirty="0"/>
          </a:p>
          <a:p>
            <a:pPr marL="228600" indent="-228600">
              <a:spcAft>
                <a:spcPts val="600"/>
              </a:spcAft>
              <a:buSzPct val="100000"/>
              <a:buChar char="•"/>
            </a:pPr>
            <a:r>
              <a:rPr lang="en-US" sz="1700" dirty="0">
                <a:solidFill>
                  <a:srgbClr val="1F2937"/>
                </a:solidFill>
                <a:latin typeface="Calibri" pitchFamily="34" charset="0"/>
                <a:ea typeface="Calibri" pitchFamily="34" charset="-122"/>
                <a:cs typeface="Calibri" pitchFamily="34" charset="-120"/>
              </a:rPr>
              <a:t>A fila está nos 96 distritos, e a oferta vai de menos de 50 a mais de 100 matrículas por 100 crianças (Censo 2022).</a:t>
            </a:r>
            <a:endParaRPr lang="en-US" sz="1700" dirty="0"/>
          </a:p>
        </p:txBody>
      </p:sp>
      <p:sp>
        <p:nvSpPr>
          <p:cNvPr id="6" name="anim:2:45"/>
          <p:cNvSpPr/>
          <p:nvPr/>
        </p:nvSpPr>
        <p:spPr>
          <a:xfrm>
            <a:off x="6583680" y="1600200"/>
            <a:ext cx="5029200" cy="4343400"/>
          </a:xfrm>
          <a:prstGeom prst="roundRect">
            <a:avLst>
              <a:gd name="adj" fmla="val 2526"/>
            </a:avLst>
          </a:prstGeom>
          <a:solidFill>
            <a:srgbClr val="EEF2F8"/>
          </a:solidFill>
          <a:ln w="9525">
            <a:solidFill>
              <a:srgbClr val="EEF2F8"/>
            </a:solidFill>
            <a:prstDash val="solid"/>
          </a:ln>
        </p:spPr>
      </p:sp>
      <p:sp>
        <p:nvSpPr>
          <p:cNvPr id="7" name="anim:2:46"/>
          <p:cNvSpPr txBox="1"/>
          <p:nvPr/>
        </p:nvSpPr>
        <p:spPr>
          <a:xfrm>
            <a:off x="6903720" y="1810512"/>
            <a:ext cx="4389120" cy="274320"/>
          </a:xfrm>
          <a:prstGeom prst="rect">
            <a:avLst/>
          </a:prstGeom>
          <a:noFill/>
          <a:ln/>
        </p:spPr>
        <p:txBody>
          <a:bodyPr wrap="square" lIns="0" tIns="0" rIns="0" bIns="0" rtlCol="0" anchor="t"/>
          <a:lstStyle/>
          <a:p>
            <a:pPr algn="l" indent="0" marL="0">
              <a:buNone/>
            </a:pPr>
            <a:r>
              <a:rPr lang="en-US" sz="1200" b="1" spc="100" kern="0" dirty="0">
                <a:solidFill>
                  <a:srgbClr val="566175"/>
                </a:solidFill>
                <a:latin typeface="Calibri" pitchFamily="34" charset="0"/>
                <a:ea typeface="Calibri" pitchFamily="34" charset="-122"/>
                <a:cs typeface="Calibri" pitchFamily="34" charset="-120"/>
              </a:rPr>
              <a:t>FILA DE CRECHE, JUNHO DE 2024</a:t>
            </a:r>
            <a:endParaRPr lang="en-US" sz="1200" dirty="0"/>
          </a:p>
        </p:txBody>
      </p:sp>
      <p:sp>
        <p:nvSpPr>
          <p:cNvPr id="8" name="anim:2:47"/>
          <p:cNvSpPr txBox="1"/>
          <p:nvPr/>
        </p:nvSpPr>
        <p:spPr>
          <a:xfrm>
            <a:off x="6903720" y="2148840"/>
            <a:ext cx="4114800" cy="822960"/>
          </a:xfrm>
          <a:prstGeom prst="rect">
            <a:avLst/>
          </a:prstGeom>
          <a:noFill/>
          <a:ln/>
        </p:spPr>
        <p:txBody>
          <a:bodyPr wrap="square" lIns="0" tIns="0" rIns="0" bIns="0" rtlCol="0" anchor="t"/>
          <a:lstStyle/>
          <a:p>
            <a:pPr algn="l" indent="0" marL="0">
              <a:buNone/>
            </a:pPr>
            <a:r>
              <a:rPr lang="en-US" sz="4800" b="1" dirty="0">
                <a:solidFill>
                  <a:srgbClr val="1B2A4A"/>
                </a:solidFill>
                <a:latin typeface="Calibri" pitchFamily="34" charset="0"/>
                <a:ea typeface="Calibri" pitchFamily="34" charset="-122"/>
                <a:cs typeface="Calibri" pitchFamily="34" charset="-120"/>
              </a:rPr>
              <a:t>3.633</a:t>
            </a:r>
            <a:endParaRPr lang="en-US" sz="4800" dirty="0"/>
          </a:p>
        </p:txBody>
      </p:sp>
      <p:sp>
        <p:nvSpPr>
          <p:cNvPr id="9" name="anim:2:48"/>
          <p:cNvSpPr txBox="1"/>
          <p:nvPr/>
        </p:nvSpPr>
        <p:spPr>
          <a:xfrm>
            <a:off x="6903720" y="2926080"/>
            <a:ext cx="4389120" cy="320040"/>
          </a:xfrm>
          <a:prstGeom prst="rect">
            <a:avLst/>
          </a:prstGeom>
          <a:noFill/>
          <a:ln/>
        </p:spPr>
        <p:txBody>
          <a:bodyPr wrap="square" lIns="0" tIns="0" rIns="0" bIns="0" rtlCol="0" anchor="t"/>
          <a:lstStyle/>
          <a:p>
            <a:pPr algn="l" indent="0" marL="0">
              <a:buNone/>
            </a:pPr>
            <a:r>
              <a:rPr lang="en-US" sz="1400" dirty="0">
                <a:solidFill>
                  <a:srgbClr val="1F2937"/>
                </a:solidFill>
                <a:latin typeface="Calibri" pitchFamily="34" charset="0"/>
                <a:ea typeface="Calibri" pitchFamily="34" charset="-122"/>
                <a:cs typeface="Calibri" pitchFamily="34" charset="-120"/>
              </a:rPr>
              <a:t>crianças esperando vaga</a:t>
            </a:r>
            <a:endParaRPr lang="en-US" sz="1400" dirty="0"/>
          </a:p>
        </p:txBody>
      </p:sp>
      <p:sp>
        <p:nvSpPr>
          <p:cNvPr id="10" name="anim:3:49"/>
          <p:cNvSpPr/>
          <p:nvPr/>
        </p:nvSpPr>
        <p:spPr>
          <a:xfrm>
            <a:off x="6903720" y="3520440"/>
            <a:ext cx="3022730" cy="274320"/>
          </a:xfrm>
          <a:prstGeom prst="roundRect">
            <a:avLst>
              <a:gd name="adj" fmla="val 26667"/>
            </a:avLst>
          </a:prstGeom>
          <a:solidFill>
            <a:srgbClr val="1B2A4A"/>
          </a:solidFill>
          <a:ln w="12700">
            <a:solidFill>
              <a:srgbClr val="1B2A4A"/>
            </a:solidFill>
            <a:prstDash val="solid"/>
          </a:ln>
        </p:spPr>
      </p:sp>
      <p:sp>
        <p:nvSpPr>
          <p:cNvPr id="11" name="anim:3:50"/>
          <p:cNvSpPr txBox="1"/>
          <p:nvPr/>
        </p:nvSpPr>
        <p:spPr>
          <a:xfrm>
            <a:off x="6903720" y="3849624"/>
            <a:ext cx="4389120" cy="548640"/>
          </a:xfrm>
          <a:prstGeom prst="rect">
            <a:avLst/>
          </a:prstGeom>
          <a:noFill/>
          <a:ln/>
        </p:spPr>
        <p:txBody>
          <a:bodyPr wrap="square" lIns="0" tIns="0" rIns="0" bIns="0" rtlCol="0" anchor="t"/>
          <a:lstStyle/>
          <a:p>
            <a:pPr indent="0" marL="0">
              <a:buNone/>
            </a:pPr>
            <a:r>
              <a:rPr lang="en-US" sz="1300" b="1" dirty="0">
                <a:solidFill>
                  <a:srgbClr val="1B2A4A"/>
                </a:solidFill>
                <a:latin typeface="Calibri" pitchFamily="34" charset="0"/>
                <a:ea typeface="Calibri" pitchFamily="34" charset="-122"/>
                <a:cs typeface="Calibri" pitchFamily="34" charset="-120"/>
              </a:rPr>
              <a:t>2.502 </a:t>
            </a:r>
            <a:pPr indent="0" marL="0">
              <a:buNone/>
            </a:pPr>
            <a:r>
              <a:rPr lang="en-US" sz="1300" dirty="0">
                <a:solidFill>
                  <a:srgbClr val="1F2937"/>
                </a:solidFill>
                <a:latin typeface="Calibri" pitchFamily="34" charset="0"/>
                <a:ea typeface="Calibri" pitchFamily="34" charset="-122"/>
                <a:cs typeface="Calibri" pitchFamily="34" charset="-120"/>
              </a:rPr>
              <a:t>esperavam uma unidade específica, escolhida pela família</a:t>
            </a:r>
            <a:endParaRPr lang="en-US" sz="1300" dirty="0"/>
          </a:p>
        </p:txBody>
      </p:sp>
      <p:sp>
        <p:nvSpPr>
          <p:cNvPr id="12" name="anim:4:51"/>
          <p:cNvSpPr/>
          <p:nvPr/>
        </p:nvSpPr>
        <p:spPr>
          <a:xfrm>
            <a:off x="6903720" y="4663440"/>
            <a:ext cx="1366390" cy="274320"/>
          </a:xfrm>
          <a:prstGeom prst="roundRect">
            <a:avLst>
              <a:gd name="adj" fmla="val 26667"/>
            </a:avLst>
          </a:prstGeom>
          <a:solidFill>
            <a:srgbClr val="2E5EAA"/>
          </a:solidFill>
          <a:ln w="12700">
            <a:solidFill>
              <a:srgbClr val="2E5EAA"/>
            </a:solidFill>
            <a:prstDash val="solid"/>
          </a:ln>
        </p:spPr>
      </p:sp>
      <p:sp>
        <p:nvSpPr>
          <p:cNvPr id="13" name="anim:4:52"/>
          <p:cNvSpPr txBox="1"/>
          <p:nvPr/>
        </p:nvSpPr>
        <p:spPr>
          <a:xfrm>
            <a:off x="6903720" y="4992624"/>
            <a:ext cx="4389120" cy="548640"/>
          </a:xfrm>
          <a:prstGeom prst="rect">
            <a:avLst/>
          </a:prstGeom>
          <a:noFill/>
          <a:ln/>
        </p:spPr>
        <p:txBody>
          <a:bodyPr wrap="square" lIns="0" tIns="0" rIns="0" bIns="0" rtlCol="0" anchor="t"/>
          <a:lstStyle/>
          <a:p>
            <a:pPr indent="0" marL="0">
              <a:buNone/>
            </a:pPr>
            <a:r>
              <a:rPr lang="en-US" sz="1300" b="1" dirty="0">
                <a:solidFill>
                  <a:srgbClr val="1B2A4A"/>
                </a:solidFill>
                <a:latin typeface="Calibri" pitchFamily="34" charset="0"/>
                <a:ea typeface="Calibri" pitchFamily="34" charset="-122"/>
                <a:cs typeface="Calibri" pitchFamily="34" charset="-120"/>
              </a:rPr>
              <a:t>1.131 </a:t>
            </a:r>
            <a:pPr indent="0" marL="0">
              <a:buNone/>
            </a:pPr>
            <a:r>
              <a:rPr lang="en-US" sz="1300" dirty="0">
                <a:solidFill>
                  <a:srgbClr val="1F2937"/>
                </a:solidFill>
                <a:latin typeface="Calibri" pitchFamily="34" charset="0"/>
                <a:ea typeface="Calibri" pitchFamily="34" charset="-122"/>
                <a:cs typeface="Calibri" pitchFamily="34" charset="-120"/>
              </a:rPr>
              <a:t>aceitavam qualquer unidade; nenhuma esperava havia mais de 30 dias</a:t>
            </a:r>
            <a:endParaRPr lang="en-US" sz="1300" dirty="0"/>
          </a:p>
        </p:txBody>
      </p:sp>
      <p:sp>
        <p:nvSpPr>
          <p:cNvPr id="14" name="Text 11"/>
          <p:cNvSpPr txBox="1"/>
          <p:nvPr/>
        </p:nvSpPr>
        <p:spPr>
          <a:xfrm>
            <a:off x="548640" y="6089904"/>
            <a:ext cx="10241280" cy="256032"/>
          </a:xfrm>
          <a:prstGeom prst="rect">
            <a:avLst/>
          </a:prstGeom>
          <a:noFill/>
          <a:ln/>
        </p:spPr>
        <p:txBody>
          <a:bodyPr wrap="square" lIns="0" tIns="0" rIns="0" bIns="0" rtlCol="0" anchor="t"/>
          <a:lstStyle/>
          <a:p>
            <a:pPr algn="l" indent="0" marL="0">
              <a:buNone/>
            </a:pPr>
            <a:r>
              <a:rPr lang="en-US" sz="1000" i="1" dirty="0">
                <a:solidFill>
                  <a:srgbClr val="566175"/>
                </a:solidFill>
                <a:latin typeface="Calibri" pitchFamily="34" charset="0"/>
                <a:ea typeface="Calibri" pitchFamily="34" charset="-122"/>
                <a:cs typeface="Calibri" pitchFamily="34" charset="-120"/>
              </a:rPr>
              <a:t>Fonte: Demanda Registrada e Matrículas (SME-SP), junho de 2024, no fato Fila; Censo 2022 (IBGE), consulta 7.</a:t>
            </a:r>
            <a:endParaRPr lang="en-US" sz="10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4</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par>
                          <p:cTn id="8" fill="hold">
                            <p:stCondLst>
                              <p:cond delay="250"/>
                            </p:stCondLst>
                            <p:childTnLst>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childTnLst>
                          </p:cTn>
                        </p:par>
                        <p:par>
                          <p:cTn id="12" fill="hold">
                            <p:stCondLst>
                              <p:cond delay="250"/>
                            </p:stCondLst>
                            <p:childTnLst>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childTnLst>
                          </p:cTn>
                        </p:par>
                        <p:par>
                          <p:cTn id="16" fill="hold">
                            <p:stCondLst>
                              <p:cond delay="250"/>
                            </p:stCondLst>
                            <p:childTnLst>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00"/>
                                        <p:tgtEl>
                                          <p:spTgt spid="8"/>
                                        </p:tgtEl>
                                      </p:cBhvr>
                                    </p:animEffect>
                                  </p:childTnLst>
                                </p:cTn>
                              </p:par>
                            </p:childTnLst>
                          </p:cTn>
                        </p:par>
                        <p:par>
                          <p:cTn id="20" fill="hold">
                            <p:stCondLst>
                              <p:cond delay="250"/>
                            </p:stCondLst>
                            <p:childTnLst>
                              <p:par>
                                <p:cTn id="21" presetID="10" presetClass="entr" presetSubtype="0"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400"/>
                                        <p:tgtEl>
                                          <p:spTgt spid="9"/>
                                        </p:tgtEl>
                                      </p:cBhvr>
                                    </p:animEffect>
                                  </p:childTnLst>
                                </p:cTn>
                              </p:par>
                            </p:childTnLst>
                          </p:cTn>
                        </p:par>
                        <p:par>
                          <p:cTn id="24" fill="hold">
                            <p:stCondLst>
                              <p:cond delay="500"/>
                            </p:stCondLst>
                            <p:childTnLst>
                              <p:par>
                                <p:cTn id="25" presetID="10"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400"/>
                                        <p:tgtEl>
                                          <p:spTgt spid="10"/>
                                        </p:tgtEl>
                                      </p:cBhvr>
                                    </p:animEffect>
                                  </p:childTnLst>
                                </p:cTn>
                              </p:par>
                            </p:childTnLst>
                          </p:cTn>
                        </p:par>
                        <p:par>
                          <p:cTn id="28" fill="hold">
                            <p:stCondLst>
                              <p:cond delay="500"/>
                            </p:stCondLst>
                            <p:childTnLst>
                              <p:par>
                                <p:cTn id="29" presetID="10" presetClass="entr" presetSubtype="0"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00"/>
                                        <p:tgtEl>
                                          <p:spTgt spid="11"/>
                                        </p:tgtEl>
                                      </p:cBhvr>
                                    </p:animEffect>
                                  </p:childTnLst>
                                </p:cTn>
                              </p:par>
                            </p:childTnLst>
                          </p:cTn>
                        </p:par>
                        <p:par>
                          <p:cTn id="32" fill="hold">
                            <p:stCondLst>
                              <p:cond delay="750"/>
                            </p:stCondLst>
                            <p:childTnLst>
                              <p:par>
                                <p:cTn id="33" presetID="10" presetClass="entr" presetSubtype="0" fill="hold" grpId="0" nodeType="with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400"/>
                                        <p:tgtEl>
                                          <p:spTgt spid="12"/>
                                        </p:tgtEl>
                                      </p:cBhvr>
                                    </p:animEffect>
                                  </p:childTnLst>
                                </p:cTn>
                              </p:par>
                            </p:childTnLst>
                          </p:cTn>
                        </p:par>
                        <p:par>
                          <p:cTn id="36" fill="hold">
                            <p:stCondLst>
                              <p:cond delay="750"/>
                            </p:stCondLst>
                            <p:childTnLst>
                              <p:par>
                                <p:cTn id="37" presetID="10" presetClass="entr" presetSubtype="0" fill="hold" grpId="0" nodeType="withEffect">
                                  <p:stCondLst>
                                    <p:cond delay="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1 · O PROBLEMA E A PROPOSTA · KEVENN</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Hoje, os dados se repetem e não conversam</a:t>
            </a:r>
            <a:endParaRPr lang="en-US" sz="3200" dirty="0"/>
          </a:p>
        </p:txBody>
      </p:sp>
      <p:sp>
        <p:nvSpPr>
          <p:cNvPr id="5" name="anim:1:53"/>
          <p:cNvSpPr/>
          <p:nvPr/>
        </p:nvSpPr>
        <p:spPr>
          <a:xfrm>
            <a:off x="548640" y="1554480"/>
            <a:ext cx="5440680" cy="2057400"/>
          </a:xfrm>
          <a:prstGeom prst="roundRect">
            <a:avLst>
              <a:gd name="adj" fmla="val 5333"/>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6" name="anim:1:54"/>
          <p:cNvSpPr/>
          <p:nvPr/>
        </p:nvSpPr>
        <p:spPr>
          <a:xfrm>
            <a:off x="777240" y="1783080"/>
            <a:ext cx="457200" cy="457200"/>
          </a:xfrm>
          <a:prstGeom prst="ellipse">
            <a:avLst/>
          </a:prstGeom>
          <a:solidFill>
            <a:srgbClr val="F2A541"/>
          </a:solidFill>
          <a:ln w="12700">
            <a:solidFill>
              <a:srgbClr val="F2A541"/>
            </a:solidFill>
            <a:prstDash val="solid"/>
          </a:ln>
        </p:spPr>
      </p:sp>
      <p:sp>
        <p:nvSpPr>
          <p:cNvPr id="7" name="anim:1:55"/>
          <p:cNvSpPr txBox="1"/>
          <p:nvPr/>
        </p:nvSpPr>
        <p:spPr>
          <a:xfrm>
            <a:off x="777240" y="1783080"/>
            <a:ext cx="457200" cy="457200"/>
          </a:xfrm>
          <a:prstGeom prst="rect">
            <a:avLst/>
          </a:prstGeom>
          <a:noFill/>
          <a:ln/>
        </p:spPr>
        <p:txBody>
          <a:bodyPr wrap="square" lIns="0" tIns="0" rIns="0" bIns="0" rtlCol="0" anchor="ctr"/>
          <a:lstStyle/>
          <a:p>
            <a:pPr algn="ctr" indent="0" marL="0">
              <a:buNone/>
            </a:pPr>
            <a:r>
              <a:rPr lang="en-US" sz="1400" b="1" dirty="0">
                <a:solidFill>
                  <a:srgbClr val="1B2A4A"/>
                </a:solidFill>
                <a:latin typeface="Calibri" pitchFamily="34" charset="0"/>
                <a:ea typeface="Calibri" pitchFamily="34" charset="-122"/>
                <a:cs typeface="Calibri" pitchFamily="34" charset="-120"/>
              </a:rPr>
              <a:t>1</a:t>
            </a:r>
            <a:endParaRPr lang="en-US" sz="1400" dirty="0"/>
          </a:p>
        </p:txBody>
      </p:sp>
      <p:sp>
        <p:nvSpPr>
          <p:cNvPr id="8" name="anim:1:56"/>
          <p:cNvSpPr txBox="1"/>
          <p:nvPr/>
        </p:nvSpPr>
        <p:spPr>
          <a:xfrm>
            <a:off x="1417320" y="1755648"/>
            <a:ext cx="4343400" cy="384048"/>
          </a:xfrm>
          <a:prstGeom prst="rect">
            <a:avLst/>
          </a:prstGeom>
          <a:noFill/>
          <a:ln/>
        </p:spPr>
        <p:txBody>
          <a:bodyPr wrap="square" lIns="0" tIns="0" rIns="0" bIns="0" rtlCol="0" anchor="t"/>
          <a:lstStyle/>
          <a:p>
            <a:pPr algn="l" indent="0" marL="0">
              <a:buNone/>
            </a:pPr>
            <a:r>
              <a:rPr lang="en-US" sz="1700" b="1" dirty="0">
                <a:solidFill>
                  <a:srgbClr val="1B2A4A"/>
                </a:solidFill>
                <a:latin typeface="Calibri" pitchFamily="34" charset="0"/>
                <a:ea typeface="Calibri" pitchFamily="34" charset="-122"/>
                <a:cs typeface="Calibri" pitchFamily="34" charset="-120"/>
              </a:rPr>
              <a:t>Matrícula contada em dobro</a:t>
            </a:r>
            <a:endParaRPr lang="en-US" sz="1700" dirty="0"/>
          </a:p>
        </p:txBody>
      </p:sp>
      <p:sp>
        <p:nvSpPr>
          <p:cNvPr id="9" name="anim:1:57"/>
          <p:cNvSpPr txBox="1"/>
          <p:nvPr/>
        </p:nvSpPr>
        <p:spPr>
          <a:xfrm>
            <a:off x="1417320" y="2194560"/>
            <a:ext cx="4343400" cy="731520"/>
          </a:xfrm>
          <a:prstGeom prst="rect">
            <a:avLst/>
          </a:prstGeom>
          <a:noFill/>
          <a:ln/>
        </p:spPr>
        <p:txBody>
          <a:bodyPr wrap="square" lIns="0" tIns="0" rIns="0" bIns="0" rtlCol="0" anchor="t"/>
          <a:lstStyle/>
          <a:p>
            <a:pPr algn="l" indent="0" marL="0">
              <a:buNone/>
            </a:pPr>
            <a:r>
              <a:rPr lang="en-US" sz="1300" dirty="0">
                <a:solidFill>
                  <a:srgbClr val="1F2937"/>
                </a:solidFill>
                <a:latin typeface="Calibri" pitchFamily="34" charset="0"/>
                <a:ea typeface="Calibri" pitchFamily="34" charset="-122"/>
                <a:cs typeface="Calibri" pitchFamily="34" charset="-120"/>
              </a:rPr>
              <a:t>Junho de 2022: 378.954 matrículas de creche ativas no microdado, mas 340.085 alunos.</a:t>
            </a:r>
            <a:endParaRPr lang="en-US" sz="1300" dirty="0"/>
          </a:p>
        </p:txBody>
      </p:sp>
      <p:sp>
        <p:nvSpPr>
          <p:cNvPr id="10" name="anim:1:58"/>
          <p:cNvSpPr txBox="1"/>
          <p:nvPr/>
        </p:nvSpPr>
        <p:spPr>
          <a:xfrm>
            <a:off x="1417320" y="2999232"/>
            <a:ext cx="4343400" cy="457200"/>
          </a:xfrm>
          <a:prstGeom prst="rect">
            <a:avLst/>
          </a:prstGeom>
          <a:noFill/>
          <a:ln/>
        </p:spPr>
        <p:txBody>
          <a:bodyPr wrap="square" lIns="0" tIns="0" rIns="0" bIns="0" rtlCol="0" anchor="t"/>
          <a:lstStyle/>
          <a:p>
            <a:pPr algn="l" indent="0" marL="0">
              <a:buNone/>
            </a:pPr>
            <a:r>
              <a:rPr lang="en-US" sz="1300" b="1" dirty="0">
                <a:solidFill>
                  <a:srgbClr val="8A5300"/>
                </a:solidFill>
                <a:latin typeface="Calibri" pitchFamily="34" charset="0"/>
                <a:ea typeface="Calibri" pitchFamily="34" charset="-122"/>
                <a:cs typeface="Calibri" pitchFamily="34" charset="-120"/>
              </a:rPr>
              <a:t>A rede parece atender 38.869 crianças a mais.</a:t>
            </a:r>
            <a:endParaRPr lang="en-US" sz="1300" dirty="0"/>
          </a:p>
        </p:txBody>
      </p:sp>
      <p:sp>
        <p:nvSpPr>
          <p:cNvPr id="11" name="anim:2:59"/>
          <p:cNvSpPr/>
          <p:nvPr/>
        </p:nvSpPr>
        <p:spPr>
          <a:xfrm>
            <a:off x="6172200" y="1554480"/>
            <a:ext cx="5440680" cy="2057400"/>
          </a:xfrm>
          <a:prstGeom prst="roundRect">
            <a:avLst>
              <a:gd name="adj" fmla="val 5333"/>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12" name="anim:2:60"/>
          <p:cNvSpPr/>
          <p:nvPr/>
        </p:nvSpPr>
        <p:spPr>
          <a:xfrm>
            <a:off x="6400800" y="1783080"/>
            <a:ext cx="457200" cy="457200"/>
          </a:xfrm>
          <a:prstGeom prst="ellipse">
            <a:avLst/>
          </a:prstGeom>
          <a:solidFill>
            <a:srgbClr val="F2A541"/>
          </a:solidFill>
          <a:ln w="12700">
            <a:solidFill>
              <a:srgbClr val="F2A541"/>
            </a:solidFill>
            <a:prstDash val="solid"/>
          </a:ln>
        </p:spPr>
      </p:sp>
      <p:sp>
        <p:nvSpPr>
          <p:cNvPr id="13" name="anim:2:61"/>
          <p:cNvSpPr txBox="1"/>
          <p:nvPr/>
        </p:nvSpPr>
        <p:spPr>
          <a:xfrm>
            <a:off x="6400800" y="1783080"/>
            <a:ext cx="457200" cy="457200"/>
          </a:xfrm>
          <a:prstGeom prst="rect">
            <a:avLst/>
          </a:prstGeom>
          <a:noFill/>
          <a:ln/>
        </p:spPr>
        <p:txBody>
          <a:bodyPr wrap="square" lIns="0" tIns="0" rIns="0" bIns="0" rtlCol="0" anchor="ctr"/>
          <a:lstStyle/>
          <a:p>
            <a:pPr algn="ctr" indent="0" marL="0">
              <a:buNone/>
            </a:pPr>
            <a:r>
              <a:rPr lang="en-US" sz="1400" b="1" dirty="0">
                <a:solidFill>
                  <a:srgbClr val="1B2A4A"/>
                </a:solidFill>
                <a:latin typeface="Calibri" pitchFamily="34" charset="0"/>
                <a:ea typeface="Calibri" pitchFamily="34" charset="-122"/>
                <a:cs typeface="Calibri" pitchFamily="34" charset="-120"/>
              </a:rPr>
              <a:t>2</a:t>
            </a:r>
            <a:endParaRPr lang="en-US" sz="1400" dirty="0"/>
          </a:p>
        </p:txBody>
      </p:sp>
      <p:sp>
        <p:nvSpPr>
          <p:cNvPr id="14" name="anim:2:62"/>
          <p:cNvSpPr txBox="1"/>
          <p:nvPr/>
        </p:nvSpPr>
        <p:spPr>
          <a:xfrm>
            <a:off x="7040880" y="1755648"/>
            <a:ext cx="4343400" cy="384048"/>
          </a:xfrm>
          <a:prstGeom prst="rect">
            <a:avLst/>
          </a:prstGeom>
          <a:noFill/>
          <a:ln/>
        </p:spPr>
        <p:txBody>
          <a:bodyPr wrap="square" lIns="0" tIns="0" rIns="0" bIns="0" rtlCol="0" anchor="t"/>
          <a:lstStyle/>
          <a:p>
            <a:pPr algn="l" indent="0" marL="0">
              <a:buNone/>
            </a:pPr>
            <a:r>
              <a:rPr lang="en-US" sz="1700" b="1" dirty="0">
                <a:solidFill>
                  <a:srgbClr val="1B2A4A"/>
                </a:solidFill>
                <a:latin typeface="Calibri" pitchFamily="34" charset="0"/>
                <a:ea typeface="Calibri" pitchFamily="34" charset="-122"/>
                <a:cs typeface="Calibri" pitchFamily="34" charset="-120"/>
              </a:rPr>
              <a:t>Escolas diferentes, um código só</a:t>
            </a:r>
            <a:endParaRPr lang="en-US" sz="1700" dirty="0"/>
          </a:p>
        </p:txBody>
      </p:sp>
      <p:sp>
        <p:nvSpPr>
          <p:cNvPr id="15" name="anim:2:63"/>
          <p:cNvSpPr txBox="1"/>
          <p:nvPr/>
        </p:nvSpPr>
        <p:spPr>
          <a:xfrm>
            <a:off x="7040880" y="2194560"/>
            <a:ext cx="4343400" cy="731520"/>
          </a:xfrm>
          <a:prstGeom prst="rect">
            <a:avLst/>
          </a:prstGeom>
          <a:noFill/>
          <a:ln/>
        </p:spPr>
        <p:txBody>
          <a:bodyPr wrap="square" lIns="0" tIns="0" rIns="0" bIns="0" rtlCol="0" anchor="t"/>
          <a:lstStyle/>
          <a:p>
            <a:pPr algn="l" indent="0" marL="0">
              <a:buNone/>
            </a:pPr>
            <a:r>
              <a:rPr lang="en-US" sz="1300" dirty="0">
                <a:solidFill>
                  <a:srgbClr val="1F2937"/>
                </a:solidFill>
                <a:latin typeface="Calibri" pitchFamily="34" charset="0"/>
                <a:ea typeface="Calibri" pitchFamily="34" charset="-122"/>
                <a:cs typeface="Calibri" pitchFamily="34" charset="-120"/>
              </a:rPr>
              <a:t>2024: 193 códigos para 4.011 escolas, em notação científica.</a:t>
            </a:r>
            <a:endParaRPr lang="en-US" sz="1300" dirty="0"/>
          </a:p>
        </p:txBody>
      </p:sp>
      <p:sp>
        <p:nvSpPr>
          <p:cNvPr id="16" name="anim:2:64"/>
          <p:cNvSpPr txBox="1"/>
          <p:nvPr/>
        </p:nvSpPr>
        <p:spPr>
          <a:xfrm>
            <a:off x="7040880" y="2999232"/>
            <a:ext cx="4343400" cy="457200"/>
          </a:xfrm>
          <a:prstGeom prst="rect">
            <a:avLst/>
          </a:prstGeom>
          <a:noFill/>
          <a:ln/>
        </p:spPr>
        <p:txBody>
          <a:bodyPr wrap="square" lIns="0" tIns="0" rIns="0" bIns="0" rtlCol="0" anchor="t"/>
          <a:lstStyle/>
          <a:p>
            <a:pPr algn="l" indent="0" marL="0">
              <a:buNone/>
            </a:pPr>
            <a:r>
              <a:rPr lang="en-US" sz="1300" b="1" dirty="0">
                <a:solidFill>
                  <a:srgbClr val="8A5300"/>
                </a:solidFill>
                <a:latin typeface="Calibri" pitchFamily="34" charset="0"/>
                <a:ea typeface="Calibri" pitchFamily="34" charset="-122"/>
                <a:cs typeface="Calibri" pitchFamily="34" charset="-120"/>
              </a:rPr>
              <a:t>Não dá para saber em qual escola está a vaga.</a:t>
            </a:r>
            <a:endParaRPr lang="en-US" sz="1300" dirty="0"/>
          </a:p>
        </p:txBody>
      </p:sp>
      <p:sp>
        <p:nvSpPr>
          <p:cNvPr id="17" name="anim:3:65"/>
          <p:cNvSpPr/>
          <p:nvPr/>
        </p:nvSpPr>
        <p:spPr>
          <a:xfrm>
            <a:off x="548640" y="3794760"/>
            <a:ext cx="5440680" cy="2057400"/>
          </a:xfrm>
          <a:prstGeom prst="roundRect">
            <a:avLst>
              <a:gd name="adj" fmla="val 5333"/>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18" name="anim:3:66"/>
          <p:cNvSpPr/>
          <p:nvPr/>
        </p:nvSpPr>
        <p:spPr>
          <a:xfrm>
            <a:off x="777240" y="4023360"/>
            <a:ext cx="457200" cy="457200"/>
          </a:xfrm>
          <a:prstGeom prst="ellipse">
            <a:avLst/>
          </a:prstGeom>
          <a:solidFill>
            <a:srgbClr val="F2A541"/>
          </a:solidFill>
          <a:ln w="12700">
            <a:solidFill>
              <a:srgbClr val="F2A541"/>
            </a:solidFill>
            <a:prstDash val="solid"/>
          </a:ln>
        </p:spPr>
      </p:sp>
      <p:sp>
        <p:nvSpPr>
          <p:cNvPr id="19" name="anim:3:67"/>
          <p:cNvSpPr txBox="1"/>
          <p:nvPr/>
        </p:nvSpPr>
        <p:spPr>
          <a:xfrm>
            <a:off x="777240" y="4023360"/>
            <a:ext cx="457200" cy="457200"/>
          </a:xfrm>
          <a:prstGeom prst="rect">
            <a:avLst/>
          </a:prstGeom>
          <a:noFill/>
          <a:ln/>
        </p:spPr>
        <p:txBody>
          <a:bodyPr wrap="square" lIns="0" tIns="0" rIns="0" bIns="0" rtlCol="0" anchor="ctr"/>
          <a:lstStyle/>
          <a:p>
            <a:pPr algn="ctr" indent="0" marL="0">
              <a:buNone/>
            </a:pPr>
            <a:r>
              <a:rPr lang="en-US" sz="1400" b="1" dirty="0">
                <a:solidFill>
                  <a:srgbClr val="1B2A4A"/>
                </a:solidFill>
                <a:latin typeface="Calibri" pitchFamily="34" charset="0"/>
                <a:ea typeface="Calibri" pitchFamily="34" charset="-122"/>
                <a:cs typeface="Calibri" pitchFamily="34" charset="-120"/>
              </a:rPr>
              <a:t>3</a:t>
            </a:r>
            <a:endParaRPr lang="en-US" sz="1400" dirty="0"/>
          </a:p>
        </p:txBody>
      </p:sp>
      <p:sp>
        <p:nvSpPr>
          <p:cNvPr id="20" name="anim:3:68"/>
          <p:cNvSpPr txBox="1"/>
          <p:nvPr/>
        </p:nvSpPr>
        <p:spPr>
          <a:xfrm>
            <a:off x="1417320" y="3995928"/>
            <a:ext cx="4343400" cy="384048"/>
          </a:xfrm>
          <a:prstGeom prst="rect">
            <a:avLst/>
          </a:prstGeom>
          <a:noFill/>
          <a:ln/>
        </p:spPr>
        <p:txBody>
          <a:bodyPr wrap="square" lIns="0" tIns="0" rIns="0" bIns="0" rtlCol="0" anchor="t"/>
          <a:lstStyle/>
          <a:p>
            <a:pPr algn="l" indent="0" marL="0">
              <a:buNone/>
            </a:pPr>
            <a:r>
              <a:rPr lang="en-US" sz="1700" b="1" dirty="0">
                <a:solidFill>
                  <a:srgbClr val="1B2A4A"/>
                </a:solidFill>
                <a:latin typeface="Calibri" pitchFamily="34" charset="0"/>
                <a:ea typeface="Calibri" pitchFamily="34" charset="-122"/>
                <a:cs typeface="Calibri" pitchFamily="34" charset="-120"/>
              </a:rPr>
              <a:t>Totais que não fecham</a:t>
            </a:r>
            <a:endParaRPr lang="en-US" sz="1700" dirty="0"/>
          </a:p>
        </p:txBody>
      </p:sp>
      <p:sp>
        <p:nvSpPr>
          <p:cNvPr id="21" name="anim:3:69"/>
          <p:cNvSpPr txBox="1"/>
          <p:nvPr/>
        </p:nvSpPr>
        <p:spPr>
          <a:xfrm>
            <a:off x="1417320" y="4434840"/>
            <a:ext cx="4343400" cy="731520"/>
          </a:xfrm>
          <a:prstGeom prst="rect">
            <a:avLst/>
          </a:prstGeom>
          <a:noFill/>
          <a:ln/>
        </p:spPr>
        <p:txBody>
          <a:bodyPr wrap="square" lIns="0" tIns="0" rIns="0" bIns="0" rtlCol="0" anchor="t"/>
          <a:lstStyle/>
          <a:p>
            <a:pPr algn="l" indent="0" marL="0">
              <a:buNone/>
            </a:pPr>
            <a:r>
              <a:rPr lang="en-US" sz="1300" dirty="0">
                <a:solidFill>
                  <a:srgbClr val="1F2937"/>
                </a:solidFill>
                <a:latin typeface="Calibri" pitchFamily="34" charset="0"/>
                <a:ea typeface="Calibri" pitchFamily="34" charset="-122"/>
                <a:cs typeface="Calibri" pitchFamily="34" charset="-120"/>
              </a:rPr>
              <a:t>Fila de junho de 2023: a soma dos distritos dá 2.926 crianças com opção; o total publicado, 2.904.</a:t>
            </a:r>
            <a:endParaRPr lang="en-US" sz="1300" dirty="0"/>
          </a:p>
        </p:txBody>
      </p:sp>
      <p:sp>
        <p:nvSpPr>
          <p:cNvPr id="22" name="anim:3:70"/>
          <p:cNvSpPr txBox="1"/>
          <p:nvPr/>
        </p:nvSpPr>
        <p:spPr>
          <a:xfrm>
            <a:off x="1417320" y="5239512"/>
            <a:ext cx="4343400" cy="457200"/>
          </a:xfrm>
          <a:prstGeom prst="rect">
            <a:avLst/>
          </a:prstGeom>
          <a:noFill/>
          <a:ln/>
        </p:spPr>
        <p:txBody>
          <a:bodyPr wrap="square" lIns="0" tIns="0" rIns="0" bIns="0" rtlCol="0" anchor="t"/>
          <a:lstStyle/>
          <a:p>
            <a:pPr algn="l" indent="0" marL="0">
              <a:buNone/>
            </a:pPr>
            <a:r>
              <a:rPr lang="en-US" sz="1300" b="1" dirty="0">
                <a:solidFill>
                  <a:srgbClr val="8A5300"/>
                </a:solidFill>
                <a:latin typeface="Calibri" pitchFamily="34" charset="0"/>
                <a:ea typeface="Calibri" pitchFamily="34" charset="-122"/>
                <a:cs typeface="Calibri" pitchFamily="34" charset="-120"/>
              </a:rPr>
              <a:t>Cada área pode chegar a um número diferente.</a:t>
            </a:r>
            <a:endParaRPr lang="en-US" sz="1300" dirty="0"/>
          </a:p>
        </p:txBody>
      </p:sp>
      <p:sp>
        <p:nvSpPr>
          <p:cNvPr id="23" name="anim:4:71"/>
          <p:cNvSpPr/>
          <p:nvPr/>
        </p:nvSpPr>
        <p:spPr>
          <a:xfrm>
            <a:off x="6172200" y="3794760"/>
            <a:ext cx="5440680" cy="2057400"/>
          </a:xfrm>
          <a:prstGeom prst="roundRect">
            <a:avLst>
              <a:gd name="adj" fmla="val 5333"/>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24" name="anim:4:72"/>
          <p:cNvSpPr/>
          <p:nvPr/>
        </p:nvSpPr>
        <p:spPr>
          <a:xfrm>
            <a:off x="6400800" y="4023360"/>
            <a:ext cx="457200" cy="457200"/>
          </a:xfrm>
          <a:prstGeom prst="ellipse">
            <a:avLst/>
          </a:prstGeom>
          <a:solidFill>
            <a:srgbClr val="F2A541"/>
          </a:solidFill>
          <a:ln w="12700">
            <a:solidFill>
              <a:srgbClr val="F2A541"/>
            </a:solidFill>
            <a:prstDash val="solid"/>
          </a:ln>
        </p:spPr>
      </p:sp>
      <p:sp>
        <p:nvSpPr>
          <p:cNvPr id="25" name="anim:4:73"/>
          <p:cNvSpPr txBox="1"/>
          <p:nvPr/>
        </p:nvSpPr>
        <p:spPr>
          <a:xfrm>
            <a:off x="6400800" y="4023360"/>
            <a:ext cx="457200" cy="457200"/>
          </a:xfrm>
          <a:prstGeom prst="rect">
            <a:avLst/>
          </a:prstGeom>
          <a:noFill/>
          <a:ln/>
        </p:spPr>
        <p:txBody>
          <a:bodyPr wrap="square" lIns="0" tIns="0" rIns="0" bIns="0" rtlCol="0" anchor="ctr"/>
          <a:lstStyle/>
          <a:p>
            <a:pPr algn="ctr" indent="0" marL="0">
              <a:buNone/>
            </a:pPr>
            <a:r>
              <a:rPr lang="en-US" sz="1400" b="1" dirty="0">
                <a:solidFill>
                  <a:srgbClr val="1B2A4A"/>
                </a:solidFill>
                <a:latin typeface="Calibri" pitchFamily="34" charset="0"/>
                <a:ea typeface="Calibri" pitchFamily="34" charset="-122"/>
                <a:cs typeface="Calibri" pitchFamily="34" charset="-120"/>
              </a:rPr>
              <a:t>4</a:t>
            </a:r>
            <a:endParaRPr lang="en-US" sz="1400" dirty="0"/>
          </a:p>
        </p:txBody>
      </p:sp>
      <p:sp>
        <p:nvSpPr>
          <p:cNvPr id="26" name="anim:4:74"/>
          <p:cNvSpPr txBox="1"/>
          <p:nvPr/>
        </p:nvSpPr>
        <p:spPr>
          <a:xfrm>
            <a:off x="7040880" y="3995928"/>
            <a:ext cx="4343400" cy="384048"/>
          </a:xfrm>
          <a:prstGeom prst="rect">
            <a:avLst/>
          </a:prstGeom>
          <a:noFill/>
          <a:ln/>
        </p:spPr>
        <p:txBody>
          <a:bodyPr wrap="square" lIns="0" tIns="0" rIns="0" bIns="0" rtlCol="0" anchor="t"/>
          <a:lstStyle/>
          <a:p>
            <a:pPr algn="l" indent="0" marL="0">
              <a:buNone/>
            </a:pPr>
            <a:r>
              <a:rPr lang="en-US" sz="1700" b="1" dirty="0">
                <a:solidFill>
                  <a:srgbClr val="1B2A4A"/>
                </a:solidFill>
                <a:latin typeface="Calibri" pitchFamily="34" charset="0"/>
                <a:ea typeface="Calibri" pitchFamily="34" charset="-122"/>
                <a:cs typeface="Calibri" pitchFamily="34" charset="-120"/>
              </a:rPr>
              <a:t>Zero que não é zero</a:t>
            </a:r>
            <a:endParaRPr lang="en-US" sz="1700" dirty="0"/>
          </a:p>
        </p:txBody>
      </p:sp>
      <p:sp>
        <p:nvSpPr>
          <p:cNvPr id="27" name="anim:4:75"/>
          <p:cNvSpPr txBox="1"/>
          <p:nvPr/>
        </p:nvSpPr>
        <p:spPr>
          <a:xfrm>
            <a:off x="7040880" y="4434840"/>
            <a:ext cx="4343400" cy="731520"/>
          </a:xfrm>
          <a:prstGeom prst="rect">
            <a:avLst/>
          </a:prstGeom>
          <a:noFill/>
          <a:ln/>
        </p:spPr>
        <p:txBody>
          <a:bodyPr wrap="square" lIns="0" tIns="0" rIns="0" bIns="0" rtlCol="0" anchor="t"/>
          <a:lstStyle/>
          <a:p>
            <a:pPr algn="l" indent="0" marL="0">
              <a:buNone/>
            </a:pPr>
            <a:r>
              <a:rPr lang="en-US" sz="1300" dirty="0">
                <a:solidFill>
                  <a:srgbClr val="1F2937"/>
                </a:solidFill>
                <a:latin typeface="Calibri" pitchFamily="34" charset="0"/>
                <a:ea typeface="Calibri" pitchFamily="34" charset="-122"/>
                <a:cs typeface="Calibri" pitchFamily="34" charset="-120"/>
              </a:rPr>
              <a:t>Até setembro de 2020, a fila não separava quem esperava havia mais de 30 dias.</a:t>
            </a:r>
            <a:endParaRPr lang="en-US" sz="1300" dirty="0"/>
          </a:p>
        </p:txBody>
      </p:sp>
      <p:sp>
        <p:nvSpPr>
          <p:cNvPr id="28" name="anim:4:76"/>
          <p:cNvSpPr txBox="1"/>
          <p:nvPr/>
        </p:nvSpPr>
        <p:spPr>
          <a:xfrm>
            <a:off x="7040880" y="5239512"/>
            <a:ext cx="4343400" cy="457200"/>
          </a:xfrm>
          <a:prstGeom prst="rect">
            <a:avLst/>
          </a:prstGeom>
          <a:noFill/>
          <a:ln/>
        </p:spPr>
        <p:txBody>
          <a:bodyPr wrap="square" lIns="0" tIns="0" rIns="0" bIns="0" rtlCol="0" anchor="t"/>
          <a:lstStyle/>
          <a:p>
            <a:pPr algn="l" indent="0" marL="0">
              <a:buNone/>
            </a:pPr>
            <a:r>
              <a:rPr lang="en-US" sz="1300" b="1" dirty="0">
                <a:solidFill>
                  <a:srgbClr val="8A5300"/>
                </a:solidFill>
                <a:latin typeface="Calibri" pitchFamily="34" charset="0"/>
                <a:ea typeface="Calibri" pitchFamily="34" charset="-122"/>
                <a:cs typeface="Calibri" pitchFamily="34" charset="-120"/>
              </a:rPr>
              <a:t>Gravar zero faria essa espera sumir.</a:t>
            </a:r>
            <a:endParaRPr lang="en-US" sz="1300" dirty="0"/>
          </a:p>
        </p:txBody>
      </p:sp>
      <p:sp>
        <p:nvSpPr>
          <p:cNvPr id="29" name="Text 26"/>
          <p:cNvSpPr txBox="1"/>
          <p:nvPr/>
        </p:nvSpPr>
        <p:spPr>
          <a:xfrm>
            <a:off x="548640" y="6089904"/>
            <a:ext cx="10241280" cy="256032"/>
          </a:xfrm>
          <a:prstGeom prst="rect">
            <a:avLst/>
          </a:prstGeom>
          <a:noFill/>
          <a:ln/>
        </p:spPr>
        <p:txBody>
          <a:bodyPr wrap="square" lIns="0" tIns="0" rIns="0" bIns="0" rtlCol="0" anchor="t"/>
          <a:lstStyle/>
          <a:p>
            <a:pPr algn="l" indent="0" marL="0">
              <a:buNone/>
            </a:pPr>
            <a:r>
              <a:rPr lang="en-US" sz="1000" i="1" dirty="0">
                <a:solidFill>
                  <a:srgbClr val="566175"/>
                </a:solidFill>
                <a:latin typeface="Calibri" pitchFamily="34" charset="0"/>
                <a:ea typeface="Calibri" pitchFamily="34" charset="-122"/>
                <a:cs typeface="Calibri" pitchFamily="34" charset="-120"/>
              </a:rPr>
              <a:t>Fonte: nossa carga com os dados reais da SME-SP; o tratamento de cada caso está em docs/04 e no bloco 2.</a:t>
            </a:r>
            <a:endParaRPr lang="en-US" sz="10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5</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childTnLst>
                          </p:cTn>
                        </p:par>
                        <p:par>
                          <p:cTn id="12" fill="hold">
                            <p:stCondLst>
                              <p:cond delay="0"/>
                            </p:stCondLst>
                            <p:childTnLst>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childTnLst>
                          </p:cTn>
                        </p:par>
                        <p:par>
                          <p:cTn id="16" fill="hold">
                            <p:stCondLst>
                              <p:cond delay="0"/>
                            </p:stCondLst>
                            <p:childTnLst>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00"/>
                                        <p:tgtEl>
                                          <p:spTgt spid="8"/>
                                        </p:tgtEl>
                                      </p:cBhvr>
                                    </p:animEffect>
                                  </p:childTnLst>
                                </p:cTn>
                              </p:par>
                            </p:childTnLst>
                          </p:cTn>
                        </p:par>
                        <p:par>
                          <p:cTn id="20" fill="hold">
                            <p:stCondLst>
                              <p:cond delay="0"/>
                            </p:stCondLst>
                            <p:childTnLst>
                              <p:par>
                                <p:cTn id="21" presetID="10" presetClass="entr" presetSubtype="0"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400"/>
                                        <p:tgtEl>
                                          <p:spTgt spid="9"/>
                                        </p:tgtEl>
                                      </p:cBhvr>
                                    </p:animEffect>
                                  </p:childTnLst>
                                </p:cTn>
                              </p:par>
                            </p:childTnLst>
                          </p:cTn>
                        </p:par>
                        <p:par>
                          <p:cTn id="24" fill="hold">
                            <p:stCondLst>
                              <p:cond delay="0"/>
                            </p:stCondLst>
                            <p:childTnLst>
                              <p:par>
                                <p:cTn id="25" presetID="10"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400"/>
                                        <p:tgtEl>
                                          <p:spTgt spid="10"/>
                                        </p:tgtEl>
                                      </p:cBhvr>
                                    </p:animEffect>
                                  </p:childTnLst>
                                </p:cTn>
                              </p:par>
                            </p:childTnLst>
                          </p:cTn>
                        </p:par>
                        <p:par>
                          <p:cTn id="28" fill="hold">
                            <p:stCondLst>
                              <p:cond delay="250"/>
                            </p:stCondLst>
                            <p:childTnLst>
                              <p:par>
                                <p:cTn id="29" presetID="10" presetClass="entr" presetSubtype="0"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00"/>
                                        <p:tgtEl>
                                          <p:spTgt spid="11"/>
                                        </p:tgtEl>
                                      </p:cBhvr>
                                    </p:animEffect>
                                  </p:childTnLst>
                                </p:cTn>
                              </p:par>
                            </p:childTnLst>
                          </p:cTn>
                        </p:par>
                        <p:par>
                          <p:cTn id="32" fill="hold">
                            <p:stCondLst>
                              <p:cond delay="250"/>
                            </p:stCondLst>
                            <p:childTnLst>
                              <p:par>
                                <p:cTn id="33" presetID="10" presetClass="entr" presetSubtype="0" fill="hold" grpId="0" nodeType="with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400"/>
                                        <p:tgtEl>
                                          <p:spTgt spid="12"/>
                                        </p:tgtEl>
                                      </p:cBhvr>
                                    </p:animEffect>
                                  </p:childTnLst>
                                </p:cTn>
                              </p:par>
                            </p:childTnLst>
                          </p:cTn>
                        </p:par>
                        <p:par>
                          <p:cTn id="36" fill="hold">
                            <p:stCondLst>
                              <p:cond delay="250"/>
                            </p:stCondLst>
                            <p:childTnLst>
                              <p:par>
                                <p:cTn id="37" presetID="10" presetClass="entr" presetSubtype="0" fill="hold" grpId="0" nodeType="withEffect">
                                  <p:stCondLst>
                                    <p:cond delay="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400"/>
                                        <p:tgtEl>
                                          <p:spTgt spid="13"/>
                                        </p:tgtEl>
                                      </p:cBhvr>
                                    </p:animEffect>
                                  </p:childTnLst>
                                </p:cTn>
                              </p:par>
                            </p:childTnLst>
                          </p:cTn>
                        </p:par>
                        <p:par>
                          <p:cTn id="40" fill="hold">
                            <p:stCondLst>
                              <p:cond delay="250"/>
                            </p:stCondLst>
                            <p:childTnLst>
                              <p:par>
                                <p:cTn id="41" presetID="10" presetClass="entr" presetSubtype="0" fill="hold" grpId="0" nodeType="withEffect">
                                  <p:stCondLst>
                                    <p:cond delay="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400"/>
                                        <p:tgtEl>
                                          <p:spTgt spid="14"/>
                                        </p:tgtEl>
                                      </p:cBhvr>
                                    </p:animEffect>
                                  </p:childTnLst>
                                </p:cTn>
                              </p:par>
                            </p:childTnLst>
                          </p:cTn>
                        </p:par>
                        <p:par>
                          <p:cTn id="44" fill="hold">
                            <p:stCondLst>
                              <p:cond delay="250"/>
                            </p:stCondLst>
                            <p:childTnLst>
                              <p:par>
                                <p:cTn id="45" presetID="10" presetClass="entr" presetSubtype="0" fill="hold" grpId="0" nodeType="withEffect">
                                  <p:stCondLst>
                                    <p:cond delay="0"/>
                                  </p:stCondLst>
                                  <p:childTnLst>
                                    <p:set>
                                      <p:cBhvr>
                                        <p:cTn id="46" dur="1" fill="hold">
                                          <p:stCondLst>
                                            <p:cond delay="0"/>
                                          </p:stCondLst>
                                        </p:cTn>
                                        <p:tgtEl>
                                          <p:spTgt spid="15"/>
                                        </p:tgtEl>
                                        <p:attrNameLst>
                                          <p:attrName>style.visibility</p:attrName>
                                        </p:attrNameLst>
                                      </p:cBhvr>
                                      <p:to>
                                        <p:strVal val="visible"/>
                                      </p:to>
                                    </p:set>
                                    <p:animEffect transition="in" filter="fade">
                                      <p:cBhvr>
                                        <p:cTn id="47" dur="400"/>
                                        <p:tgtEl>
                                          <p:spTgt spid="15"/>
                                        </p:tgtEl>
                                      </p:cBhvr>
                                    </p:animEffect>
                                  </p:childTnLst>
                                </p:cTn>
                              </p:par>
                            </p:childTnLst>
                          </p:cTn>
                        </p:par>
                        <p:par>
                          <p:cTn id="48" fill="hold">
                            <p:stCondLst>
                              <p:cond delay="250"/>
                            </p:stCondLst>
                            <p:childTnLst>
                              <p:par>
                                <p:cTn id="49" presetID="10" presetClass="entr" presetSubtype="0" fill="hold" grpId="0" nodeType="withEffect">
                                  <p:stCondLst>
                                    <p:cond delay="0"/>
                                  </p:stCondLst>
                                  <p:childTnLst>
                                    <p:set>
                                      <p:cBhvr>
                                        <p:cTn id="50" dur="1" fill="hold">
                                          <p:stCondLst>
                                            <p:cond delay="0"/>
                                          </p:stCondLst>
                                        </p:cTn>
                                        <p:tgtEl>
                                          <p:spTgt spid="16"/>
                                        </p:tgtEl>
                                        <p:attrNameLst>
                                          <p:attrName>style.visibility</p:attrName>
                                        </p:attrNameLst>
                                      </p:cBhvr>
                                      <p:to>
                                        <p:strVal val="visible"/>
                                      </p:to>
                                    </p:set>
                                    <p:animEffect transition="in" filter="fade">
                                      <p:cBhvr>
                                        <p:cTn id="51" dur="400"/>
                                        <p:tgtEl>
                                          <p:spTgt spid="16"/>
                                        </p:tgtEl>
                                      </p:cBhvr>
                                    </p:animEffect>
                                  </p:childTnLst>
                                </p:cTn>
                              </p:par>
                            </p:childTnLst>
                          </p:cTn>
                        </p:par>
                        <p:par>
                          <p:cTn id="52" fill="hold">
                            <p:stCondLst>
                              <p:cond delay="500"/>
                            </p:stCondLst>
                            <p:childTnLst>
                              <p:par>
                                <p:cTn id="53" presetID="10" presetClass="entr" presetSubtype="0" fill="hold" grpId="0" nodeType="withEffect">
                                  <p:stCondLst>
                                    <p:cond delay="0"/>
                                  </p:stCondLst>
                                  <p:childTnLst>
                                    <p:set>
                                      <p:cBhvr>
                                        <p:cTn id="54" dur="1" fill="hold">
                                          <p:stCondLst>
                                            <p:cond delay="0"/>
                                          </p:stCondLst>
                                        </p:cTn>
                                        <p:tgtEl>
                                          <p:spTgt spid="17"/>
                                        </p:tgtEl>
                                        <p:attrNameLst>
                                          <p:attrName>style.visibility</p:attrName>
                                        </p:attrNameLst>
                                      </p:cBhvr>
                                      <p:to>
                                        <p:strVal val="visible"/>
                                      </p:to>
                                    </p:set>
                                    <p:animEffect transition="in" filter="fade">
                                      <p:cBhvr>
                                        <p:cTn id="55" dur="400"/>
                                        <p:tgtEl>
                                          <p:spTgt spid="17"/>
                                        </p:tgtEl>
                                      </p:cBhvr>
                                    </p:animEffect>
                                  </p:childTnLst>
                                </p:cTn>
                              </p:par>
                            </p:childTnLst>
                          </p:cTn>
                        </p:par>
                        <p:par>
                          <p:cTn id="56" fill="hold">
                            <p:stCondLst>
                              <p:cond delay="500"/>
                            </p:stCondLst>
                            <p:childTnLst>
                              <p:par>
                                <p:cTn id="57" presetID="10" presetClass="entr" presetSubtype="0" fill="hold" grpId="0" nodeType="withEffect">
                                  <p:stCondLst>
                                    <p:cond delay="0"/>
                                  </p:stCondLst>
                                  <p:childTnLst>
                                    <p:set>
                                      <p:cBhvr>
                                        <p:cTn id="58" dur="1" fill="hold">
                                          <p:stCondLst>
                                            <p:cond delay="0"/>
                                          </p:stCondLst>
                                        </p:cTn>
                                        <p:tgtEl>
                                          <p:spTgt spid="18"/>
                                        </p:tgtEl>
                                        <p:attrNameLst>
                                          <p:attrName>style.visibility</p:attrName>
                                        </p:attrNameLst>
                                      </p:cBhvr>
                                      <p:to>
                                        <p:strVal val="visible"/>
                                      </p:to>
                                    </p:set>
                                    <p:animEffect transition="in" filter="fade">
                                      <p:cBhvr>
                                        <p:cTn id="59" dur="400"/>
                                        <p:tgtEl>
                                          <p:spTgt spid="18"/>
                                        </p:tgtEl>
                                      </p:cBhvr>
                                    </p:animEffect>
                                  </p:childTnLst>
                                </p:cTn>
                              </p:par>
                            </p:childTnLst>
                          </p:cTn>
                        </p:par>
                        <p:par>
                          <p:cTn id="60" fill="hold">
                            <p:stCondLst>
                              <p:cond delay="500"/>
                            </p:stCondLst>
                            <p:childTnLst>
                              <p:par>
                                <p:cTn id="61" presetID="10" presetClass="entr" presetSubtype="0" fill="hold" grpId="0" nodeType="withEffect">
                                  <p:stCondLst>
                                    <p:cond delay="0"/>
                                  </p:stCondLst>
                                  <p:childTnLst>
                                    <p:set>
                                      <p:cBhvr>
                                        <p:cTn id="62" dur="1" fill="hold">
                                          <p:stCondLst>
                                            <p:cond delay="0"/>
                                          </p:stCondLst>
                                        </p:cTn>
                                        <p:tgtEl>
                                          <p:spTgt spid="19"/>
                                        </p:tgtEl>
                                        <p:attrNameLst>
                                          <p:attrName>style.visibility</p:attrName>
                                        </p:attrNameLst>
                                      </p:cBhvr>
                                      <p:to>
                                        <p:strVal val="visible"/>
                                      </p:to>
                                    </p:set>
                                    <p:animEffect transition="in" filter="fade">
                                      <p:cBhvr>
                                        <p:cTn id="63" dur="400"/>
                                        <p:tgtEl>
                                          <p:spTgt spid="19"/>
                                        </p:tgtEl>
                                      </p:cBhvr>
                                    </p:animEffect>
                                  </p:childTnLst>
                                </p:cTn>
                              </p:par>
                            </p:childTnLst>
                          </p:cTn>
                        </p:par>
                        <p:par>
                          <p:cTn id="64" fill="hold">
                            <p:stCondLst>
                              <p:cond delay="500"/>
                            </p:stCondLst>
                            <p:childTnLst>
                              <p:par>
                                <p:cTn id="65" presetID="10" presetClass="entr" presetSubtype="0" fill="hold" grpId="0" nodeType="withEffect">
                                  <p:stCondLst>
                                    <p:cond delay="0"/>
                                  </p:stCondLst>
                                  <p:childTnLst>
                                    <p:set>
                                      <p:cBhvr>
                                        <p:cTn id="66" dur="1" fill="hold">
                                          <p:stCondLst>
                                            <p:cond delay="0"/>
                                          </p:stCondLst>
                                        </p:cTn>
                                        <p:tgtEl>
                                          <p:spTgt spid="20"/>
                                        </p:tgtEl>
                                        <p:attrNameLst>
                                          <p:attrName>style.visibility</p:attrName>
                                        </p:attrNameLst>
                                      </p:cBhvr>
                                      <p:to>
                                        <p:strVal val="visible"/>
                                      </p:to>
                                    </p:set>
                                    <p:animEffect transition="in" filter="fade">
                                      <p:cBhvr>
                                        <p:cTn id="67" dur="400"/>
                                        <p:tgtEl>
                                          <p:spTgt spid="20"/>
                                        </p:tgtEl>
                                      </p:cBhvr>
                                    </p:animEffect>
                                  </p:childTnLst>
                                </p:cTn>
                              </p:par>
                            </p:childTnLst>
                          </p:cTn>
                        </p:par>
                        <p:par>
                          <p:cTn id="68" fill="hold">
                            <p:stCondLst>
                              <p:cond delay="500"/>
                            </p:stCondLst>
                            <p:childTnLst>
                              <p:par>
                                <p:cTn id="69" presetID="10" presetClass="entr" presetSubtype="0" fill="hold" grpId="0" nodeType="withEffect">
                                  <p:stCondLst>
                                    <p:cond delay="0"/>
                                  </p:stCondLst>
                                  <p:childTnLst>
                                    <p:set>
                                      <p:cBhvr>
                                        <p:cTn id="70" dur="1" fill="hold">
                                          <p:stCondLst>
                                            <p:cond delay="0"/>
                                          </p:stCondLst>
                                        </p:cTn>
                                        <p:tgtEl>
                                          <p:spTgt spid="21"/>
                                        </p:tgtEl>
                                        <p:attrNameLst>
                                          <p:attrName>style.visibility</p:attrName>
                                        </p:attrNameLst>
                                      </p:cBhvr>
                                      <p:to>
                                        <p:strVal val="visible"/>
                                      </p:to>
                                    </p:set>
                                    <p:animEffect transition="in" filter="fade">
                                      <p:cBhvr>
                                        <p:cTn id="71" dur="400"/>
                                        <p:tgtEl>
                                          <p:spTgt spid="21"/>
                                        </p:tgtEl>
                                      </p:cBhvr>
                                    </p:animEffect>
                                  </p:childTnLst>
                                </p:cTn>
                              </p:par>
                            </p:childTnLst>
                          </p:cTn>
                        </p:par>
                        <p:par>
                          <p:cTn id="72" fill="hold">
                            <p:stCondLst>
                              <p:cond delay="500"/>
                            </p:stCondLst>
                            <p:childTnLst>
                              <p:par>
                                <p:cTn id="73" presetID="10" presetClass="entr" presetSubtype="0" fill="hold" grpId="0" nodeType="withEffect">
                                  <p:stCondLst>
                                    <p:cond delay="0"/>
                                  </p:stCondLst>
                                  <p:childTnLst>
                                    <p:set>
                                      <p:cBhvr>
                                        <p:cTn id="74" dur="1" fill="hold">
                                          <p:stCondLst>
                                            <p:cond delay="0"/>
                                          </p:stCondLst>
                                        </p:cTn>
                                        <p:tgtEl>
                                          <p:spTgt spid="22"/>
                                        </p:tgtEl>
                                        <p:attrNameLst>
                                          <p:attrName>style.visibility</p:attrName>
                                        </p:attrNameLst>
                                      </p:cBhvr>
                                      <p:to>
                                        <p:strVal val="visible"/>
                                      </p:to>
                                    </p:set>
                                    <p:animEffect transition="in" filter="fade">
                                      <p:cBhvr>
                                        <p:cTn id="75" dur="400"/>
                                        <p:tgtEl>
                                          <p:spTgt spid="22"/>
                                        </p:tgtEl>
                                      </p:cBhvr>
                                    </p:animEffect>
                                  </p:childTnLst>
                                </p:cTn>
                              </p:par>
                            </p:childTnLst>
                          </p:cTn>
                        </p:par>
                        <p:par>
                          <p:cTn id="76" fill="hold">
                            <p:stCondLst>
                              <p:cond delay="750"/>
                            </p:stCondLst>
                            <p:childTnLst>
                              <p:par>
                                <p:cTn id="77" presetID="10" presetClass="entr" presetSubtype="0" fill="hold" grpId="0" nodeType="withEffect">
                                  <p:stCondLst>
                                    <p:cond delay="0"/>
                                  </p:stCondLst>
                                  <p:childTnLst>
                                    <p:set>
                                      <p:cBhvr>
                                        <p:cTn id="78" dur="1" fill="hold">
                                          <p:stCondLst>
                                            <p:cond delay="0"/>
                                          </p:stCondLst>
                                        </p:cTn>
                                        <p:tgtEl>
                                          <p:spTgt spid="23"/>
                                        </p:tgtEl>
                                        <p:attrNameLst>
                                          <p:attrName>style.visibility</p:attrName>
                                        </p:attrNameLst>
                                      </p:cBhvr>
                                      <p:to>
                                        <p:strVal val="visible"/>
                                      </p:to>
                                    </p:set>
                                    <p:animEffect transition="in" filter="fade">
                                      <p:cBhvr>
                                        <p:cTn id="79" dur="400"/>
                                        <p:tgtEl>
                                          <p:spTgt spid="23"/>
                                        </p:tgtEl>
                                      </p:cBhvr>
                                    </p:animEffect>
                                  </p:childTnLst>
                                </p:cTn>
                              </p:par>
                            </p:childTnLst>
                          </p:cTn>
                        </p:par>
                        <p:par>
                          <p:cTn id="80" fill="hold">
                            <p:stCondLst>
                              <p:cond delay="750"/>
                            </p:stCondLst>
                            <p:childTnLst>
                              <p:par>
                                <p:cTn id="81" presetID="10" presetClass="entr" presetSubtype="0" fill="hold" grpId="0" nodeType="withEffect">
                                  <p:stCondLst>
                                    <p:cond delay="0"/>
                                  </p:stCondLst>
                                  <p:childTnLst>
                                    <p:set>
                                      <p:cBhvr>
                                        <p:cTn id="82" dur="1" fill="hold">
                                          <p:stCondLst>
                                            <p:cond delay="0"/>
                                          </p:stCondLst>
                                        </p:cTn>
                                        <p:tgtEl>
                                          <p:spTgt spid="24"/>
                                        </p:tgtEl>
                                        <p:attrNameLst>
                                          <p:attrName>style.visibility</p:attrName>
                                        </p:attrNameLst>
                                      </p:cBhvr>
                                      <p:to>
                                        <p:strVal val="visible"/>
                                      </p:to>
                                    </p:set>
                                    <p:animEffect transition="in" filter="fade">
                                      <p:cBhvr>
                                        <p:cTn id="83" dur="400"/>
                                        <p:tgtEl>
                                          <p:spTgt spid="24"/>
                                        </p:tgtEl>
                                      </p:cBhvr>
                                    </p:animEffect>
                                  </p:childTnLst>
                                </p:cTn>
                              </p:par>
                            </p:childTnLst>
                          </p:cTn>
                        </p:par>
                        <p:par>
                          <p:cTn id="84" fill="hold">
                            <p:stCondLst>
                              <p:cond delay="750"/>
                            </p:stCondLst>
                            <p:childTnLst>
                              <p:par>
                                <p:cTn id="85" presetID="10" presetClass="entr" presetSubtype="0" fill="hold" grpId="0" nodeType="withEffect">
                                  <p:stCondLst>
                                    <p:cond delay="0"/>
                                  </p:stCondLst>
                                  <p:childTnLst>
                                    <p:set>
                                      <p:cBhvr>
                                        <p:cTn id="86" dur="1" fill="hold">
                                          <p:stCondLst>
                                            <p:cond delay="0"/>
                                          </p:stCondLst>
                                        </p:cTn>
                                        <p:tgtEl>
                                          <p:spTgt spid="25"/>
                                        </p:tgtEl>
                                        <p:attrNameLst>
                                          <p:attrName>style.visibility</p:attrName>
                                        </p:attrNameLst>
                                      </p:cBhvr>
                                      <p:to>
                                        <p:strVal val="visible"/>
                                      </p:to>
                                    </p:set>
                                    <p:animEffect transition="in" filter="fade">
                                      <p:cBhvr>
                                        <p:cTn id="87" dur="400"/>
                                        <p:tgtEl>
                                          <p:spTgt spid="25"/>
                                        </p:tgtEl>
                                      </p:cBhvr>
                                    </p:animEffect>
                                  </p:childTnLst>
                                </p:cTn>
                              </p:par>
                            </p:childTnLst>
                          </p:cTn>
                        </p:par>
                        <p:par>
                          <p:cTn id="88" fill="hold">
                            <p:stCondLst>
                              <p:cond delay="750"/>
                            </p:stCondLst>
                            <p:childTnLst>
                              <p:par>
                                <p:cTn id="89" presetID="10" presetClass="entr" presetSubtype="0" fill="hold" grpId="0" nodeType="withEffect">
                                  <p:stCondLst>
                                    <p:cond delay="0"/>
                                  </p:stCondLst>
                                  <p:childTnLst>
                                    <p:set>
                                      <p:cBhvr>
                                        <p:cTn id="90" dur="1" fill="hold">
                                          <p:stCondLst>
                                            <p:cond delay="0"/>
                                          </p:stCondLst>
                                        </p:cTn>
                                        <p:tgtEl>
                                          <p:spTgt spid="26"/>
                                        </p:tgtEl>
                                        <p:attrNameLst>
                                          <p:attrName>style.visibility</p:attrName>
                                        </p:attrNameLst>
                                      </p:cBhvr>
                                      <p:to>
                                        <p:strVal val="visible"/>
                                      </p:to>
                                    </p:set>
                                    <p:animEffect transition="in" filter="fade">
                                      <p:cBhvr>
                                        <p:cTn id="91" dur="400"/>
                                        <p:tgtEl>
                                          <p:spTgt spid="26"/>
                                        </p:tgtEl>
                                      </p:cBhvr>
                                    </p:animEffect>
                                  </p:childTnLst>
                                </p:cTn>
                              </p:par>
                            </p:childTnLst>
                          </p:cTn>
                        </p:par>
                        <p:par>
                          <p:cTn id="92" fill="hold">
                            <p:stCondLst>
                              <p:cond delay="750"/>
                            </p:stCondLst>
                            <p:childTnLst>
                              <p:par>
                                <p:cTn id="93" presetID="10" presetClass="entr" presetSubtype="0" fill="hold" grpId="0" nodeType="withEffect">
                                  <p:stCondLst>
                                    <p:cond delay="0"/>
                                  </p:stCondLst>
                                  <p:childTnLst>
                                    <p:set>
                                      <p:cBhvr>
                                        <p:cTn id="94" dur="1" fill="hold">
                                          <p:stCondLst>
                                            <p:cond delay="0"/>
                                          </p:stCondLst>
                                        </p:cTn>
                                        <p:tgtEl>
                                          <p:spTgt spid="27"/>
                                        </p:tgtEl>
                                        <p:attrNameLst>
                                          <p:attrName>style.visibility</p:attrName>
                                        </p:attrNameLst>
                                      </p:cBhvr>
                                      <p:to>
                                        <p:strVal val="visible"/>
                                      </p:to>
                                    </p:set>
                                    <p:animEffect transition="in" filter="fade">
                                      <p:cBhvr>
                                        <p:cTn id="95" dur="400"/>
                                        <p:tgtEl>
                                          <p:spTgt spid="27"/>
                                        </p:tgtEl>
                                      </p:cBhvr>
                                    </p:animEffect>
                                  </p:childTnLst>
                                </p:cTn>
                              </p:par>
                            </p:childTnLst>
                          </p:cTn>
                        </p:par>
                        <p:par>
                          <p:cTn id="96" fill="hold">
                            <p:stCondLst>
                              <p:cond delay="750"/>
                            </p:stCondLst>
                            <p:childTnLst>
                              <p:par>
                                <p:cTn id="97" presetID="10" presetClass="entr" presetSubtype="0" fill="hold" grpId="0" nodeType="withEffect">
                                  <p:stCondLst>
                                    <p:cond delay="0"/>
                                  </p:stCondLst>
                                  <p:childTnLst>
                                    <p:set>
                                      <p:cBhvr>
                                        <p:cTn id="98" dur="1" fill="hold">
                                          <p:stCondLst>
                                            <p:cond delay="0"/>
                                          </p:stCondLst>
                                        </p:cTn>
                                        <p:tgtEl>
                                          <p:spTgt spid="28"/>
                                        </p:tgtEl>
                                        <p:attrNameLst>
                                          <p:attrName>style.visibility</p:attrName>
                                        </p:attrNameLst>
                                      </p:cBhvr>
                                      <p:to>
                                        <p:strVal val="visible"/>
                                      </p:to>
                                    </p:set>
                                    <p:animEffect transition="in" filter="fade">
                                      <p:cBhvr>
                                        <p:cTn id="99"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1 · O PROBLEMA E A PROPOSTA · KEVENN</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Nossa solução: as três bases num data warehouse</a:t>
            </a:r>
            <a:endParaRPr lang="en-US" sz="3200" dirty="0"/>
          </a:p>
        </p:txBody>
      </p:sp>
      <p:sp>
        <p:nvSpPr>
          <p:cNvPr id="5" name="anim:1:77"/>
          <p:cNvSpPr/>
          <p:nvPr/>
        </p:nvSpPr>
        <p:spPr>
          <a:xfrm>
            <a:off x="548640" y="1554480"/>
            <a:ext cx="5257800" cy="3520440"/>
          </a:xfrm>
          <a:prstGeom prst="roundRect">
            <a:avLst>
              <a:gd name="adj" fmla="val 3117"/>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6" name="anim:1:78"/>
          <p:cNvSpPr/>
          <p:nvPr/>
        </p:nvSpPr>
        <p:spPr>
          <a:xfrm>
            <a:off x="822960" y="1783080"/>
            <a:ext cx="868680" cy="310896"/>
          </a:xfrm>
          <a:prstGeom prst="roundRect">
            <a:avLst>
              <a:gd name="adj" fmla="val 50000"/>
            </a:avLst>
          </a:prstGeom>
          <a:solidFill>
            <a:srgbClr val="566175"/>
          </a:solidFill>
          <a:ln w="12700">
            <a:solidFill>
              <a:srgbClr val="566175"/>
            </a:solidFill>
            <a:prstDash val="solid"/>
          </a:ln>
        </p:spPr>
      </p:sp>
      <p:sp>
        <p:nvSpPr>
          <p:cNvPr id="7" name="anim:1:79"/>
          <p:cNvSpPr txBox="1"/>
          <p:nvPr/>
        </p:nvSpPr>
        <p:spPr>
          <a:xfrm>
            <a:off x="822960" y="1783080"/>
            <a:ext cx="868680"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HOJE</a:t>
            </a:r>
            <a:endParaRPr lang="en-US" sz="1200" dirty="0"/>
          </a:p>
        </p:txBody>
      </p:sp>
      <p:sp>
        <p:nvSpPr>
          <p:cNvPr id="8" name="anim:1:80"/>
          <p:cNvSpPr txBox="1"/>
          <p:nvPr/>
        </p:nvSpPr>
        <p:spPr>
          <a:xfrm>
            <a:off x="822960" y="2212848"/>
            <a:ext cx="4709160" cy="411480"/>
          </a:xfrm>
          <a:prstGeom prst="rect">
            <a:avLst/>
          </a:prstGeom>
          <a:noFill/>
          <a:ln/>
        </p:spPr>
        <p:txBody>
          <a:bodyPr wrap="square" lIns="0" tIns="0" rIns="0" bIns="0" rtlCol="0" anchor="t"/>
          <a:lstStyle/>
          <a:p>
            <a:pPr algn="l" indent="0" marL="0">
              <a:buNone/>
            </a:pPr>
            <a:r>
              <a:rPr lang="en-US" sz="2000" b="1" dirty="0">
                <a:solidFill>
                  <a:srgbClr val="1B2A4A"/>
                </a:solidFill>
                <a:latin typeface="Calibri" pitchFamily="34" charset="0"/>
                <a:ea typeface="Calibri" pitchFamily="34" charset="-122"/>
                <a:cs typeface="Calibri" pitchFamily="34" charset="-120"/>
              </a:rPr>
              <a:t>Três bases que não conversam</a:t>
            </a:r>
            <a:endParaRPr lang="en-US" sz="2000" dirty="0"/>
          </a:p>
        </p:txBody>
      </p:sp>
      <p:sp>
        <p:nvSpPr>
          <p:cNvPr id="9" name="anim:1:81"/>
          <p:cNvSpPr txBox="1"/>
          <p:nvPr/>
        </p:nvSpPr>
        <p:spPr>
          <a:xfrm>
            <a:off x="822960" y="2743200"/>
            <a:ext cx="4709160" cy="2240280"/>
          </a:xfrm>
          <a:prstGeom prst="rect">
            <a:avLst/>
          </a:prstGeom>
          <a:noFill/>
          <a:ln/>
        </p:spPr>
        <p:txBody>
          <a:bodyPr wrap="square" lIns="0" tIns="0" rIns="0" bIns="0" rtlCol="0" anchor="t"/>
          <a:lstStyle/>
          <a:p>
            <a:pPr marL="228600" indent="-2286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Fila: planilha por distrito, publicada em sete formatos diferentes.</a:t>
            </a:r>
            <a:endParaRPr lang="en-US" sz="1400" dirty="0"/>
          </a:p>
          <a:p>
            <a:pPr marL="228600" indent="-2286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Matrícula: 13,4 milhões de linhas; de 2022 a 2024 o código da escola chega corrompido.</a:t>
            </a:r>
            <a:endParaRPr lang="en-US" sz="1400" dirty="0"/>
          </a:p>
          <a:p>
            <a:pPr marL="228600" indent="-2286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População: Censo do IBGE, por setor censitário e em faixas de cinco anos.</a:t>
            </a:r>
            <a:endParaRPr lang="en-US" sz="1400" dirty="0"/>
          </a:p>
          <a:p>
            <a:pPr marL="228600" indent="-2286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Nem o distrito é escrito igual: AGUA RASA na SME, Água Rasa no IBGE.</a:t>
            </a:r>
            <a:endParaRPr lang="en-US" sz="1400" dirty="0"/>
          </a:p>
        </p:txBody>
      </p:sp>
      <p:sp>
        <p:nvSpPr>
          <p:cNvPr id="10" name="anim:3:82"/>
          <p:cNvSpPr/>
          <p:nvPr/>
        </p:nvSpPr>
        <p:spPr>
          <a:xfrm>
            <a:off x="6355080" y="1554480"/>
            <a:ext cx="5257800" cy="3520440"/>
          </a:xfrm>
          <a:prstGeom prst="roundRect">
            <a:avLst>
              <a:gd name="adj" fmla="val 3117"/>
            </a:avLst>
          </a:prstGeom>
          <a:solidFill>
            <a:srgbClr val="FFFFFF"/>
          </a:solidFill>
          <a:ln w="9525">
            <a:solidFill>
              <a:srgbClr val="2E5EAA"/>
            </a:solidFill>
            <a:prstDash val="solid"/>
          </a:ln>
          <a:effectLst>
            <a:outerShdw sx="100000" sy="100000" kx="0" ky="0" algn="bl" rotWithShape="0" blurRad="101600" dist="25400" dir="5400000">
              <a:srgbClr val="1B2A4A">
                <a:alpha val="14000"/>
              </a:srgbClr>
            </a:outerShdw>
          </a:effectLst>
        </p:spPr>
      </p:sp>
      <p:sp>
        <p:nvSpPr>
          <p:cNvPr id="11" name="anim:3:83"/>
          <p:cNvSpPr/>
          <p:nvPr/>
        </p:nvSpPr>
        <p:spPr>
          <a:xfrm>
            <a:off x="6629400" y="1783080"/>
            <a:ext cx="3063240" cy="310896"/>
          </a:xfrm>
          <a:prstGeom prst="roundRect">
            <a:avLst>
              <a:gd name="adj" fmla="val 50000"/>
            </a:avLst>
          </a:prstGeom>
          <a:solidFill>
            <a:srgbClr val="2E5EAA"/>
          </a:solidFill>
          <a:ln w="12700">
            <a:solidFill>
              <a:srgbClr val="2E5EAA"/>
            </a:solidFill>
            <a:prstDash val="solid"/>
          </a:ln>
        </p:spPr>
      </p:sp>
      <p:sp>
        <p:nvSpPr>
          <p:cNvPr id="12" name="anim:3:84"/>
          <p:cNvSpPr txBox="1"/>
          <p:nvPr/>
        </p:nvSpPr>
        <p:spPr>
          <a:xfrm>
            <a:off x="6629400" y="1783080"/>
            <a:ext cx="3063240"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COM O NOSSO DATA WAREHOUSE</a:t>
            </a:r>
            <a:endParaRPr lang="en-US" sz="1200" dirty="0"/>
          </a:p>
        </p:txBody>
      </p:sp>
      <p:sp>
        <p:nvSpPr>
          <p:cNvPr id="13" name="anim:3:85"/>
          <p:cNvSpPr txBox="1"/>
          <p:nvPr/>
        </p:nvSpPr>
        <p:spPr>
          <a:xfrm>
            <a:off x="6629400" y="2212848"/>
            <a:ext cx="4709160" cy="411480"/>
          </a:xfrm>
          <a:prstGeom prst="rect">
            <a:avLst/>
          </a:prstGeom>
          <a:noFill/>
          <a:ln/>
        </p:spPr>
        <p:txBody>
          <a:bodyPr wrap="square" lIns="0" tIns="0" rIns="0" bIns="0" rtlCol="0" anchor="t"/>
          <a:lstStyle/>
          <a:p>
            <a:pPr algn="l" indent="0" marL="0">
              <a:buNone/>
            </a:pPr>
            <a:r>
              <a:rPr lang="en-US" sz="2000" b="1" dirty="0">
                <a:solidFill>
                  <a:srgbClr val="1B2A4A"/>
                </a:solidFill>
                <a:latin typeface="Calibri" pitchFamily="34" charset="0"/>
                <a:ea typeface="Calibri" pitchFamily="34" charset="-122"/>
                <a:cs typeface="Calibri" pitchFamily="34" charset="-120"/>
              </a:rPr>
              <a:t>Uma pergunta, uma consulta</a:t>
            </a:r>
            <a:endParaRPr lang="en-US" sz="2000" dirty="0"/>
          </a:p>
        </p:txBody>
      </p:sp>
      <p:sp>
        <p:nvSpPr>
          <p:cNvPr id="14" name="anim:3:86"/>
          <p:cNvSpPr txBox="1"/>
          <p:nvPr/>
        </p:nvSpPr>
        <p:spPr>
          <a:xfrm>
            <a:off x="6629400" y="2743200"/>
            <a:ext cx="4709160" cy="2240280"/>
          </a:xfrm>
          <a:prstGeom prst="rect">
            <a:avLst/>
          </a:prstGeom>
          <a:noFill/>
          <a:ln/>
        </p:spPr>
        <p:txBody>
          <a:bodyPr wrap="square" lIns="0" tIns="0" rIns="0" bIns="0" rtlCol="0" anchor="t"/>
          <a:lstStyle/>
          <a:p>
            <a:pPr marL="228600" indent="-2286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Um comando baixa, limpa, carrega e confere os dados do portal da prefeitura e do IBGE.</a:t>
            </a:r>
            <a:endParaRPr lang="en-US" sz="1400" dirty="0"/>
          </a:p>
          <a:p>
            <a:pPr marL="228600" indent="-2286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Cinco fatos e catorze dimensões que se cruzam por distrito, etapa e data.</a:t>
            </a:r>
            <a:endParaRPr lang="en-US" sz="1400" dirty="0"/>
          </a:p>
          <a:p>
            <a:pPr marL="228600" indent="-2286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14 verificações de qualidade a cada carga; na carga real, nenhuma deu FALHA.</a:t>
            </a:r>
            <a:endParaRPr lang="en-US" sz="1400" dirty="0"/>
          </a:p>
          <a:p>
            <a:pPr marL="228600" indent="-2286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Oito consultas OLAP respondem às perguntas do gestor.</a:t>
            </a:r>
            <a:endParaRPr lang="en-US" sz="1400" dirty="0"/>
          </a:p>
        </p:txBody>
      </p:sp>
      <p:sp>
        <p:nvSpPr>
          <p:cNvPr id="15" name="anim:2:87"/>
          <p:cNvSpPr/>
          <p:nvPr/>
        </p:nvSpPr>
        <p:spPr>
          <a:xfrm>
            <a:off x="5870448" y="3127248"/>
            <a:ext cx="420624" cy="365760"/>
          </a:xfrm>
          <a:prstGeom prst="rightArrow">
            <a:avLst/>
          </a:prstGeom>
          <a:solidFill>
            <a:srgbClr val="F2A541"/>
          </a:solidFill>
          <a:ln w="12700">
            <a:solidFill>
              <a:srgbClr val="F2A541"/>
            </a:solidFill>
            <a:prstDash val="solid"/>
          </a:ln>
        </p:spPr>
      </p:sp>
      <p:sp>
        <p:nvSpPr>
          <p:cNvPr id="16" name="anim:4:88"/>
          <p:cNvSpPr/>
          <p:nvPr/>
        </p:nvSpPr>
        <p:spPr>
          <a:xfrm>
            <a:off x="548640" y="5257800"/>
            <a:ext cx="11064240" cy="731520"/>
          </a:xfrm>
          <a:prstGeom prst="roundRect">
            <a:avLst>
              <a:gd name="adj" fmla="val 15000"/>
            </a:avLst>
          </a:prstGeom>
          <a:solidFill>
            <a:srgbClr val="EEF2F8"/>
          </a:solidFill>
          <a:ln w="9525">
            <a:solidFill>
              <a:srgbClr val="EEF2F8"/>
            </a:solidFill>
            <a:prstDash val="solid"/>
          </a:ln>
        </p:spPr>
      </p:sp>
      <p:sp>
        <p:nvSpPr>
          <p:cNvPr id="17" name="anim:4:89"/>
          <p:cNvSpPr/>
          <p:nvPr/>
        </p:nvSpPr>
        <p:spPr>
          <a:xfrm>
            <a:off x="777240" y="5376672"/>
            <a:ext cx="493776" cy="493776"/>
          </a:xfrm>
          <a:prstGeom prst="ellipse">
            <a:avLst/>
          </a:prstGeom>
          <a:solidFill>
            <a:srgbClr val="F2A541"/>
          </a:solidFill>
          <a:ln w="12700">
            <a:solidFill>
              <a:srgbClr val="F2A541"/>
            </a:solidFill>
            <a:prstDash val="solid"/>
          </a:ln>
        </p:spPr>
      </p:sp>
      <p:sp>
        <p:nvSpPr>
          <p:cNvPr id="18" name="anim:4:90"/>
          <p:cNvSpPr txBox="1"/>
          <p:nvPr/>
        </p:nvSpPr>
        <p:spPr>
          <a:xfrm>
            <a:off x="777240" y="5376672"/>
            <a:ext cx="493776" cy="493776"/>
          </a:xfrm>
          <a:prstGeom prst="rect">
            <a:avLst/>
          </a:prstGeom>
          <a:noFill/>
          <a:ln/>
        </p:spPr>
        <p:txBody>
          <a:bodyPr wrap="square" lIns="0" tIns="0" rIns="0" bIns="0" rtlCol="0" anchor="ctr"/>
          <a:lstStyle/>
          <a:p>
            <a:pPr algn="ctr" indent="0" marL="0">
              <a:buNone/>
            </a:pPr>
            <a:r>
              <a:rPr lang="en-US" sz="1600" b="1" dirty="0">
                <a:solidFill>
                  <a:srgbClr val="1B2A4A"/>
                </a:solidFill>
                <a:latin typeface="Calibri" pitchFamily="34" charset="0"/>
                <a:ea typeface="Calibri" pitchFamily="34" charset="-122"/>
                <a:cs typeface="Calibri" pitchFamily="34" charset="-120"/>
              </a:rPr>
              <a:t>✓</a:t>
            </a:r>
            <a:endParaRPr lang="en-US" sz="1600" dirty="0"/>
          </a:p>
        </p:txBody>
      </p:sp>
      <p:sp>
        <p:nvSpPr>
          <p:cNvPr id="19" name="anim:4:91"/>
          <p:cNvSpPr txBox="1"/>
          <p:nvPr/>
        </p:nvSpPr>
        <p:spPr>
          <a:xfrm>
            <a:off x="1463040" y="5303520"/>
            <a:ext cx="9966960" cy="640080"/>
          </a:xfrm>
          <a:prstGeom prst="rect">
            <a:avLst/>
          </a:prstGeom>
          <a:noFill/>
          <a:ln/>
        </p:spPr>
        <p:txBody>
          <a:bodyPr wrap="square" lIns="0" tIns="0" rIns="0" bIns="0" rtlCol="0" anchor="ctr"/>
          <a:lstStyle/>
          <a:p>
            <a:pPr indent="0" marL="0">
              <a:buNone/>
            </a:pPr>
            <a:r>
              <a:rPr lang="en-US" sz="1500" b="1" dirty="0">
                <a:solidFill>
                  <a:srgbClr val="1B2A4A"/>
                </a:solidFill>
                <a:latin typeface="Calibri" pitchFamily="34" charset="0"/>
                <a:ea typeface="Calibri" pitchFamily="34" charset="-122"/>
                <a:cs typeface="Calibri" pitchFamily="34" charset="-120"/>
              </a:rPr>
              <a:t>Quem usa: </a:t>
            </a:r>
            <a:pPr indent="0" marL="0">
              <a:buNone/>
            </a:pPr>
            <a:r>
              <a:rPr lang="en-US" sz="1500" dirty="0">
                <a:solidFill>
                  <a:srgbClr val="1F2937"/>
                </a:solidFill>
                <a:latin typeface="Calibri" pitchFamily="34" charset="0"/>
                <a:ea typeface="Calibri" pitchFamily="34" charset="-122"/>
                <a:cs typeface="Calibri" pitchFamily="34" charset="-120"/>
              </a:rPr>
              <a:t>a Secretaria Municipal de Educação e as 13 Diretorias Regionais, para decidir onde abrir a próxima vaga.</a:t>
            </a:r>
            <a:endParaRPr lang="en-US" sz="15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6</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childTnLst>
                          </p:cTn>
                        </p:par>
                        <p:par>
                          <p:cTn id="12" fill="hold">
                            <p:stCondLst>
                              <p:cond delay="0"/>
                            </p:stCondLst>
                            <p:childTnLst>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childTnLst>
                          </p:cTn>
                        </p:par>
                        <p:par>
                          <p:cTn id="16" fill="hold">
                            <p:stCondLst>
                              <p:cond delay="0"/>
                            </p:stCondLst>
                            <p:childTnLst>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00"/>
                                        <p:tgtEl>
                                          <p:spTgt spid="8"/>
                                        </p:tgtEl>
                                      </p:cBhvr>
                                    </p:animEffect>
                                  </p:childTnLst>
                                </p:cTn>
                              </p:par>
                            </p:childTnLst>
                          </p:cTn>
                        </p:par>
                        <p:par>
                          <p:cTn id="20" fill="hold">
                            <p:stCondLst>
                              <p:cond delay="0"/>
                            </p:stCondLst>
                            <p:childTnLst>
                              <p:par>
                                <p:cTn id="21" presetID="10" presetClass="entr" presetSubtype="0"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400"/>
                                        <p:tgtEl>
                                          <p:spTgt spid="9"/>
                                        </p:tgtEl>
                                      </p:cBhvr>
                                    </p:animEffect>
                                  </p:childTnLst>
                                </p:cTn>
                              </p:par>
                            </p:childTnLst>
                          </p:cTn>
                        </p:par>
                        <p:par>
                          <p:cTn id="24" fill="hold">
                            <p:stCondLst>
                              <p:cond delay="250"/>
                            </p:stCondLst>
                            <p:childTnLst>
                              <p:par>
                                <p:cTn id="25" presetID="10" presetClass="entr" presetSubtype="0" fill="hold" grpId="0" nodeType="withEffect">
                                  <p:stCondLst>
                                    <p:cond delay="0"/>
                                  </p:stCondLst>
                                  <p:childTnLst>
                                    <p:set>
                                      <p:cBhvr>
                                        <p:cTn id="26" dur="1" fill="hold">
                                          <p:stCondLst>
                                            <p:cond delay="0"/>
                                          </p:stCondLst>
                                        </p:cTn>
                                        <p:tgtEl>
                                          <p:spTgt spid="15"/>
                                        </p:tgtEl>
                                        <p:attrNameLst>
                                          <p:attrName>style.visibility</p:attrName>
                                        </p:attrNameLst>
                                      </p:cBhvr>
                                      <p:to>
                                        <p:strVal val="visible"/>
                                      </p:to>
                                    </p:set>
                                    <p:animEffect transition="in" filter="fade">
                                      <p:cBhvr>
                                        <p:cTn id="27" dur="400"/>
                                        <p:tgtEl>
                                          <p:spTgt spid="15"/>
                                        </p:tgtEl>
                                      </p:cBhvr>
                                    </p:animEffect>
                                  </p:childTnLst>
                                </p:cTn>
                              </p:par>
                            </p:childTnLst>
                          </p:cTn>
                        </p:par>
                        <p:par>
                          <p:cTn id="28" fill="hold">
                            <p:stCondLst>
                              <p:cond delay="500"/>
                            </p:stCondLst>
                            <p:childTnLst>
                              <p:par>
                                <p:cTn id="29" presetID="10" presetClass="entr" presetSubtype="0" fill="hold" grpId="0" nodeType="withEffect">
                                  <p:stCondLst>
                                    <p:cond delay="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400"/>
                                        <p:tgtEl>
                                          <p:spTgt spid="10"/>
                                        </p:tgtEl>
                                      </p:cBhvr>
                                    </p:animEffect>
                                  </p:childTnLst>
                                </p:cTn>
                              </p:par>
                            </p:childTnLst>
                          </p:cTn>
                        </p:par>
                        <p:par>
                          <p:cTn id="32" fill="hold">
                            <p:stCondLst>
                              <p:cond delay="500"/>
                            </p:stCondLst>
                            <p:childTnLst>
                              <p:par>
                                <p:cTn id="33" presetID="10" presetClass="entr" presetSubtype="0" fill="hold" grpId="0" nodeType="withEffect">
                                  <p:stCondLst>
                                    <p:cond delay="0"/>
                                  </p:stCondLst>
                                  <p:childTnLst>
                                    <p:set>
                                      <p:cBhvr>
                                        <p:cTn id="34" dur="1" fill="hold">
                                          <p:stCondLst>
                                            <p:cond delay="0"/>
                                          </p:stCondLst>
                                        </p:cTn>
                                        <p:tgtEl>
                                          <p:spTgt spid="11"/>
                                        </p:tgtEl>
                                        <p:attrNameLst>
                                          <p:attrName>style.visibility</p:attrName>
                                        </p:attrNameLst>
                                      </p:cBhvr>
                                      <p:to>
                                        <p:strVal val="visible"/>
                                      </p:to>
                                    </p:set>
                                    <p:animEffect transition="in" filter="fade">
                                      <p:cBhvr>
                                        <p:cTn id="35" dur="400"/>
                                        <p:tgtEl>
                                          <p:spTgt spid="11"/>
                                        </p:tgtEl>
                                      </p:cBhvr>
                                    </p:animEffect>
                                  </p:childTnLst>
                                </p:cTn>
                              </p:par>
                            </p:childTnLst>
                          </p:cTn>
                        </p:par>
                        <p:par>
                          <p:cTn id="36" fill="hold">
                            <p:stCondLst>
                              <p:cond delay="500"/>
                            </p:stCondLst>
                            <p:childTnLst>
                              <p:par>
                                <p:cTn id="37" presetID="10" presetClass="entr" presetSubtype="0" fill="hold" grpId="0" nodeType="withEffect">
                                  <p:stCondLst>
                                    <p:cond delay="0"/>
                                  </p:stCondLst>
                                  <p:childTnLst>
                                    <p:set>
                                      <p:cBhvr>
                                        <p:cTn id="38" dur="1" fill="hold">
                                          <p:stCondLst>
                                            <p:cond delay="0"/>
                                          </p:stCondLst>
                                        </p:cTn>
                                        <p:tgtEl>
                                          <p:spTgt spid="12"/>
                                        </p:tgtEl>
                                        <p:attrNameLst>
                                          <p:attrName>style.visibility</p:attrName>
                                        </p:attrNameLst>
                                      </p:cBhvr>
                                      <p:to>
                                        <p:strVal val="visible"/>
                                      </p:to>
                                    </p:set>
                                    <p:animEffect transition="in" filter="fade">
                                      <p:cBhvr>
                                        <p:cTn id="39" dur="400"/>
                                        <p:tgtEl>
                                          <p:spTgt spid="12"/>
                                        </p:tgtEl>
                                      </p:cBhvr>
                                    </p:animEffect>
                                  </p:childTnLst>
                                </p:cTn>
                              </p:par>
                            </p:childTnLst>
                          </p:cTn>
                        </p:par>
                        <p:par>
                          <p:cTn id="40" fill="hold">
                            <p:stCondLst>
                              <p:cond delay="500"/>
                            </p:stCondLst>
                            <p:childTnLst>
                              <p:par>
                                <p:cTn id="41" presetID="10" presetClass="entr" presetSubtype="0" fill="hold" grpId="0" nodeType="withEffect">
                                  <p:stCondLst>
                                    <p:cond delay="0"/>
                                  </p:stCondLst>
                                  <p:childTnLst>
                                    <p:set>
                                      <p:cBhvr>
                                        <p:cTn id="42" dur="1" fill="hold">
                                          <p:stCondLst>
                                            <p:cond delay="0"/>
                                          </p:stCondLst>
                                        </p:cTn>
                                        <p:tgtEl>
                                          <p:spTgt spid="13"/>
                                        </p:tgtEl>
                                        <p:attrNameLst>
                                          <p:attrName>style.visibility</p:attrName>
                                        </p:attrNameLst>
                                      </p:cBhvr>
                                      <p:to>
                                        <p:strVal val="visible"/>
                                      </p:to>
                                    </p:set>
                                    <p:animEffect transition="in" filter="fade">
                                      <p:cBhvr>
                                        <p:cTn id="43" dur="400"/>
                                        <p:tgtEl>
                                          <p:spTgt spid="13"/>
                                        </p:tgtEl>
                                      </p:cBhvr>
                                    </p:animEffect>
                                  </p:childTnLst>
                                </p:cTn>
                              </p:par>
                            </p:childTnLst>
                          </p:cTn>
                        </p:par>
                        <p:par>
                          <p:cTn id="44" fill="hold">
                            <p:stCondLst>
                              <p:cond delay="500"/>
                            </p:stCondLst>
                            <p:childTnLst>
                              <p:par>
                                <p:cTn id="45" presetID="10" presetClass="entr" presetSubtype="0" fill="hold" grpId="0" nodeType="withEffect">
                                  <p:stCondLst>
                                    <p:cond delay="0"/>
                                  </p:stCondLst>
                                  <p:childTnLst>
                                    <p:set>
                                      <p:cBhvr>
                                        <p:cTn id="46" dur="1" fill="hold">
                                          <p:stCondLst>
                                            <p:cond delay="0"/>
                                          </p:stCondLst>
                                        </p:cTn>
                                        <p:tgtEl>
                                          <p:spTgt spid="14"/>
                                        </p:tgtEl>
                                        <p:attrNameLst>
                                          <p:attrName>style.visibility</p:attrName>
                                        </p:attrNameLst>
                                      </p:cBhvr>
                                      <p:to>
                                        <p:strVal val="visible"/>
                                      </p:to>
                                    </p:set>
                                    <p:animEffect transition="in" filter="fade">
                                      <p:cBhvr>
                                        <p:cTn id="47" dur="400"/>
                                        <p:tgtEl>
                                          <p:spTgt spid="14"/>
                                        </p:tgtEl>
                                      </p:cBhvr>
                                    </p:animEffect>
                                  </p:childTnLst>
                                </p:cTn>
                              </p:par>
                            </p:childTnLst>
                          </p:cTn>
                        </p:par>
                        <p:par>
                          <p:cTn id="48" fill="hold">
                            <p:stCondLst>
                              <p:cond delay="750"/>
                            </p:stCondLst>
                            <p:childTnLst>
                              <p:par>
                                <p:cTn id="49" presetID="10" presetClass="entr" presetSubtype="0" fill="hold" grpId="0" nodeType="withEffect">
                                  <p:stCondLst>
                                    <p:cond delay="0"/>
                                  </p:stCondLst>
                                  <p:childTnLst>
                                    <p:set>
                                      <p:cBhvr>
                                        <p:cTn id="50" dur="1" fill="hold">
                                          <p:stCondLst>
                                            <p:cond delay="0"/>
                                          </p:stCondLst>
                                        </p:cTn>
                                        <p:tgtEl>
                                          <p:spTgt spid="16"/>
                                        </p:tgtEl>
                                        <p:attrNameLst>
                                          <p:attrName>style.visibility</p:attrName>
                                        </p:attrNameLst>
                                      </p:cBhvr>
                                      <p:to>
                                        <p:strVal val="visible"/>
                                      </p:to>
                                    </p:set>
                                    <p:animEffect transition="in" filter="fade">
                                      <p:cBhvr>
                                        <p:cTn id="51" dur="400"/>
                                        <p:tgtEl>
                                          <p:spTgt spid="16"/>
                                        </p:tgtEl>
                                      </p:cBhvr>
                                    </p:animEffect>
                                  </p:childTnLst>
                                </p:cTn>
                              </p:par>
                            </p:childTnLst>
                          </p:cTn>
                        </p:par>
                        <p:par>
                          <p:cTn id="52" fill="hold">
                            <p:stCondLst>
                              <p:cond delay="750"/>
                            </p:stCondLst>
                            <p:childTnLst>
                              <p:par>
                                <p:cTn id="53" presetID="10" presetClass="entr" presetSubtype="0" fill="hold" grpId="0" nodeType="withEffect">
                                  <p:stCondLst>
                                    <p:cond delay="0"/>
                                  </p:stCondLst>
                                  <p:childTnLst>
                                    <p:set>
                                      <p:cBhvr>
                                        <p:cTn id="54" dur="1" fill="hold">
                                          <p:stCondLst>
                                            <p:cond delay="0"/>
                                          </p:stCondLst>
                                        </p:cTn>
                                        <p:tgtEl>
                                          <p:spTgt spid="17"/>
                                        </p:tgtEl>
                                        <p:attrNameLst>
                                          <p:attrName>style.visibility</p:attrName>
                                        </p:attrNameLst>
                                      </p:cBhvr>
                                      <p:to>
                                        <p:strVal val="visible"/>
                                      </p:to>
                                    </p:set>
                                    <p:animEffect transition="in" filter="fade">
                                      <p:cBhvr>
                                        <p:cTn id="55" dur="400"/>
                                        <p:tgtEl>
                                          <p:spTgt spid="17"/>
                                        </p:tgtEl>
                                      </p:cBhvr>
                                    </p:animEffect>
                                  </p:childTnLst>
                                </p:cTn>
                              </p:par>
                            </p:childTnLst>
                          </p:cTn>
                        </p:par>
                        <p:par>
                          <p:cTn id="56" fill="hold">
                            <p:stCondLst>
                              <p:cond delay="750"/>
                            </p:stCondLst>
                            <p:childTnLst>
                              <p:par>
                                <p:cTn id="57" presetID="10" presetClass="entr" presetSubtype="0" fill="hold" grpId="0" nodeType="withEffect">
                                  <p:stCondLst>
                                    <p:cond delay="0"/>
                                  </p:stCondLst>
                                  <p:childTnLst>
                                    <p:set>
                                      <p:cBhvr>
                                        <p:cTn id="58" dur="1" fill="hold">
                                          <p:stCondLst>
                                            <p:cond delay="0"/>
                                          </p:stCondLst>
                                        </p:cTn>
                                        <p:tgtEl>
                                          <p:spTgt spid="18"/>
                                        </p:tgtEl>
                                        <p:attrNameLst>
                                          <p:attrName>style.visibility</p:attrName>
                                        </p:attrNameLst>
                                      </p:cBhvr>
                                      <p:to>
                                        <p:strVal val="visible"/>
                                      </p:to>
                                    </p:set>
                                    <p:animEffect transition="in" filter="fade">
                                      <p:cBhvr>
                                        <p:cTn id="59" dur="400"/>
                                        <p:tgtEl>
                                          <p:spTgt spid="18"/>
                                        </p:tgtEl>
                                      </p:cBhvr>
                                    </p:animEffect>
                                  </p:childTnLst>
                                </p:cTn>
                              </p:par>
                            </p:childTnLst>
                          </p:cTn>
                        </p:par>
                        <p:par>
                          <p:cTn id="60" fill="hold">
                            <p:stCondLst>
                              <p:cond delay="750"/>
                            </p:stCondLst>
                            <p:childTnLst>
                              <p:par>
                                <p:cTn id="61" presetID="10" presetClass="entr" presetSubtype="0" fill="hold" grpId="0" nodeType="withEffect">
                                  <p:stCondLst>
                                    <p:cond delay="0"/>
                                  </p:stCondLst>
                                  <p:childTnLst>
                                    <p:set>
                                      <p:cBhvr>
                                        <p:cTn id="62" dur="1" fill="hold">
                                          <p:stCondLst>
                                            <p:cond delay="0"/>
                                          </p:stCondLst>
                                        </p:cTn>
                                        <p:tgtEl>
                                          <p:spTgt spid="19"/>
                                        </p:tgtEl>
                                        <p:attrNameLst>
                                          <p:attrName>style.visibility</p:attrName>
                                        </p:attrNameLst>
                                      </p:cBhvr>
                                      <p:to>
                                        <p:strVal val="visible"/>
                                      </p:to>
                                    </p:set>
                                    <p:animEffect transition="in" filter="fade">
                                      <p:cBhvr>
                                        <p:cTn id="63" dur="4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1 · O PROBLEMA E A PROPOSTA · KEVENN</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Consultas mais confiáveis e mais rápidas</a:t>
            </a:r>
            <a:endParaRPr lang="en-US" sz="3200" dirty="0"/>
          </a:p>
        </p:txBody>
      </p:sp>
      <p:sp>
        <p:nvSpPr>
          <p:cNvPr id="5" name="anim:1:92"/>
          <p:cNvSpPr/>
          <p:nvPr/>
        </p:nvSpPr>
        <p:spPr>
          <a:xfrm>
            <a:off x="548640" y="1600200"/>
            <a:ext cx="2542032" cy="2514600"/>
          </a:xfrm>
          <a:prstGeom prst="roundRect">
            <a:avLst>
              <a:gd name="adj" fmla="val 4364"/>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6" name="anim:1:93"/>
          <p:cNvSpPr txBox="1"/>
          <p:nvPr/>
        </p:nvSpPr>
        <p:spPr>
          <a:xfrm>
            <a:off x="777240" y="1810512"/>
            <a:ext cx="2148840" cy="256032"/>
          </a:xfrm>
          <a:prstGeom prst="rect">
            <a:avLst/>
          </a:prstGeom>
          <a:noFill/>
          <a:ln/>
        </p:spPr>
        <p:txBody>
          <a:bodyPr wrap="square" lIns="0" tIns="0" rIns="0" bIns="0" rtlCol="0" anchor="t"/>
          <a:lstStyle/>
          <a:p>
            <a:pPr algn="l" indent="0" marL="0">
              <a:buNone/>
            </a:pPr>
            <a:r>
              <a:rPr lang="en-US" sz="1100" b="1" spc="100" kern="0" dirty="0">
                <a:solidFill>
                  <a:srgbClr val="8A5300"/>
                </a:solidFill>
                <a:latin typeface="Calibri" pitchFamily="34" charset="0"/>
                <a:ea typeface="Calibri" pitchFamily="34" charset="-122"/>
                <a:cs typeface="Calibri" pitchFamily="34" charset="-120"/>
              </a:rPr>
              <a:t>MAIS RÁPIDA</a:t>
            </a:r>
            <a:endParaRPr lang="en-US" sz="1100" dirty="0"/>
          </a:p>
        </p:txBody>
      </p:sp>
      <p:sp>
        <p:nvSpPr>
          <p:cNvPr id="7" name="anim:1:94"/>
          <p:cNvSpPr txBox="1"/>
          <p:nvPr/>
        </p:nvSpPr>
        <p:spPr>
          <a:xfrm>
            <a:off x="777240" y="2103120"/>
            <a:ext cx="2148840" cy="685800"/>
          </a:xfrm>
          <a:prstGeom prst="rect">
            <a:avLst/>
          </a:prstGeom>
          <a:noFill/>
          <a:ln/>
        </p:spPr>
        <p:txBody>
          <a:bodyPr wrap="square" lIns="0" tIns="0" rIns="0" bIns="0" rtlCol="0" anchor="t"/>
          <a:lstStyle/>
          <a:p>
            <a:pPr algn="l" indent="0" marL="0">
              <a:buNone/>
            </a:pPr>
            <a:r>
              <a:rPr lang="en-US" sz="3400" b="1" dirty="0">
                <a:solidFill>
                  <a:srgbClr val="2E5EAA"/>
                </a:solidFill>
                <a:latin typeface="Calibri" pitchFamily="34" charset="0"/>
                <a:ea typeface="Calibri" pitchFamily="34" charset="-122"/>
                <a:cs typeface="Calibri" pitchFamily="34" charset="-120"/>
              </a:rPr>
              <a:t>0,42 s</a:t>
            </a:r>
            <a:endParaRPr lang="en-US" sz="3400" dirty="0"/>
          </a:p>
        </p:txBody>
      </p:sp>
      <p:sp>
        <p:nvSpPr>
          <p:cNvPr id="8" name="anim:1:95"/>
          <p:cNvSpPr txBox="1"/>
          <p:nvPr/>
        </p:nvSpPr>
        <p:spPr>
          <a:xfrm>
            <a:off x="777240" y="2834640"/>
            <a:ext cx="2148840" cy="1188720"/>
          </a:xfrm>
          <a:prstGeom prst="rect">
            <a:avLst/>
          </a:prstGeom>
          <a:noFill/>
          <a:ln/>
        </p:spPr>
        <p:txBody>
          <a:bodyPr wrap="square" lIns="0" tIns="0" rIns="0" bIns="0" rtlCol="0" anchor="t"/>
          <a:lstStyle/>
          <a:p>
            <a:pPr algn="l" indent="0" marL="0">
              <a:buNone/>
            </a:pPr>
            <a:r>
              <a:rPr lang="en-US" sz="1300" dirty="0">
                <a:solidFill>
                  <a:srgbClr val="1F2937"/>
                </a:solidFill>
                <a:latin typeface="Calibri" pitchFamily="34" charset="0"/>
                <a:ea typeface="Calibri" pitchFamily="34" charset="-122"/>
                <a:cs typeface="Calibri" pitchFamily="34" charset="-120"/>
              </a:rPr>
              <a:t>para as oito consultas OLAP, somadas, sobre 13,4 milhões de matrículas</a:t>
            </a:r>
            <a:endParaRPr lang="en-US" sz="1300" dirty="0"/>
          </a:p>
        </p:txBody>
      </p:sp>
      <p:sp>
        <p:nvSpPr>
          <p:cNvPr id="9" name="anim:2:96"/>
          <p:cNvSpPr/>
          <p:nvPr/>
        </p:nvSpPr>
        <p:spPr>
          <a:xfrm>
            <a:off x="3364992" y="1600200"/>
            <a:ext cx="2542032" cy="2514600"/>
          </a:xfrm>
          <a:prstGeom prst="roundRect">
            <a:avLst>
              <a:gd name="adj" fmla="val 4364"/>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10" name="anim:2:97"/>
          <p:cNvSpPr txBox="1"/>
          <p:nvPr/>
        </p:nvSpPr>
        <p:spPr>
          <a:xfrm>
            <a:off x="3593592" y="1810512"/>
            <a:ext cx="2148840" cy="256032"/>
          </a:xfrm>
          <a:prstGeom prst="rect">
            <a:avLst/>
          </a:prstGeom>
          <a:noFill/>
          <a:ln/>
        </p:spPr>
        <p:txBody>
          <a:bodyPr wrap="square" lIns="0" tIns="0" rIns="0" bIns="0" rtlCol="0" anchor="t"/>
          <a:lstStyle/>
          <a:p>
            <a:pPr algn="l" indent="0" marL="0">
              <a:buNone/>
            </a:pPr>
            <a:r>
              <a:rPr lang="en-US" sz="1100" b="1" spc="100" kern="0" dirty="0">
                <a:solidFill>
                  <a:srgbClr val="8A5300"/>
                </a:solidFill>
                <a:latin typeface="Calibri" pitchFamily="34" charset="0"/>
                <a:ea typeface="Calibri" pitchFamily="34" charset="-122"/>
                <a:cs typeface="Calibri" pitchFamily="34" charset="-120"/>
              </a:rPr>
              <a:t>MAIS RÁPIDA</a:t>
            </a:r>
            <a:endParaRPr lang="en-US" sz="1100" dirty="0"/>
          </a:p>
        </p:txBody>
      </p:sp>
      <p:sp>
        <p:nvSpPr>
          <p:cNvPr id="11" name="anim:2:98"/>
          <p:cNvSpPr txBox="1"/>
          <p:nvPr/>
        </p:nvSpPr>
        <p:spPr>
          <a:xfrm>
            <a:off x="3593592" y="2103120"/>
            <a:ext cx="2148840" cy="685800"/>
          </a:xfrm>
          <a:prstGeom prst="rect">
            <a:avLst/>
          </a:prstGeom>
          <a:noFill/>
          <a:ln/>
        </p:spPr>
        <p:txBody>
          <a:bodyPr wrap="square" lIns="0" tIns="0" rIns="0" bIns="0" rtlCol="0" anchor="t"/>
          <a:lstStyle/>
          <a:p>
            <a:pPr algn="l" indent="0" marL="0">
              <a:buNone/>
            </a:pPr>
            <a:r>
              <a:rPr lang="en-US" sz="3400" b="1" dirty="0">
                <a:solidFill>
                  <a:srgbClr val="2E5EAA"/>
                </a:solidFill>
                <a:latin typeface="Calibri" pitchFamily="34" charset="0"/>
                <a:ea typeface="Calibri" pitchFamily="34" charset="-122"/>
                <a:cs typeface="Calibri" pitchFamily="34" charset="-120"/>
              </a:rPr>
              <a:t>3,5 min</a:t>
            </a:r>
            <a:endParaRPr lang="en-US" sz="3400" dirty="0"/>
          </a:p>
        </p:txBody>
      </p:sp>
      <p:sp>
        <p:nvSpPr>
          <p:cNvPr id="12" name="anim:2:99"/>
          <p:cNvSpPr txBox="1"/>
          <p:nvPr/>
        </p:nvSpPr>
        <p:spPr>
          <a:xfrm>
            <a:off x="3593592" y="2834640"/>
            <a:ext cx="2148840" cy="1188720"/>
          </a:xfrm>
          <a:prstGeom prst="rect">
            <a:avLst/>
          </a:prstGeom>
          <a:noFill/>
          <a:ln/>
        </p:spPr>
        <p:txBody>
          <a:bodyPr wrap="square" lIns="0" tIns="0" rIns="0" bIns="0" rtlCol="0" anchor="t"/>
          <a:lstStyle/>
          <a:p>
            <a:pPr algn="l" indent="0" marL="0">
              <a:buNone/>
            </a:pPr>
            <a:r>
              <a:rPr lang="en-US" sz="1300" dirty="0">
                <a:solidFill>
                  <a:srgbClr val="1F2937"/>
                </a:solidFill>
                <a:latin typeface="Calibri" pitchFamily="34" charset="0"/>
                <a:ea typeface="Calibri" pitchFamily="34" charset="-122"/>
                <a:cs typeface="Calibri" pitchFamily="34" charset="-120"/>
              </a:rPr>
              <a:t>para carregar tudo no banco, com um comando</a:t>
            </a:r>
            <a:endParaRPr lang="en-US" sz="1300" dirty="0"/>
          </a:p>
        </p:txBody>
      </p:sp>
      <p:sp>
        <p:nvSpPr>
          <p:cNvPr id="13" name="anim:3:100"/>
          <p:cNvSpPr/>
          <p:nvPr/>
        </p:nvSpPr>
        <p:spPr>
          <a:xfrm>
            <a:off x="6181344" y="1600200"/>
            <a:ext cx="2542032" cy="2514600"/>
          </a:xfrm>
          <a:prstGeom prst="roundRect">
            <a:avLst>
              <a:gd name="adj" fmla="val 4364"/>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14" name="anim:3:101"/>
          <p:cNvSpPr txBox="1"/>
          <p:nvPr/>
        </p:nvSpPr>
        <p:spPr>
          <a:xfrm>
            <a:off x="6409944" y="1810512"/>
            <a:ext cx="2148840" cy="256032"/>
          </a:xfrm>
          <a:prstGeom prst="rect">
            <a:avLst/>
          </a:prstGeom>
          <a:noFill/>
          <a:ln/>
        </p:spPr>
        <p:txBody>
          <a:bodyPr wrap="square" lIns="0" tIns="0" rIns="0" bIns="0" rtlCol="0" anchor="t"/>
          <a:lstStyle/>
          <a:p>
            <a:pPr algn="l" indent="0" marL="0">
              <a:buNone/>
            </a:pPr>
            <a:r>
              <a:rPr lang="en-US" sz="1100" b="1" spc="100" kern="0" dirty="0">
                <a:solidFill>
                  <a:srgbClr val="8A5300"/>
                </a:solidFill>
                <a:latin typeface="Calibri" pitchFamily="34" charset="0"/>
                <a:ea typeface="Calibri" pitchFamily="34" charset="-122"/>
                <a:cs typeface="Calibri" pitchFamily="34" charset="-120"/>
              </a:rPr>
              <a:t>MAIS CONFIÁVEL</a:t>
            </a:r>
            <a:endParaRPr lang="en-US" sz="1100" dirty="0"/>
          </a:p>
        </p:txBody>
      </p:sp>
      <p:sp>
        <p:nvSpPr>
          <p:cNvPr id="15" name="anim:3:102"/>
          <p:cNvSpPr txBox="1"/>
          <p:nvPr/>
        </p:nvSpPr>
        <p:spPr>
          <a:xfrm>
            <a:off x="6409944" y="2103120"/>
            <a:ext cx="2148840" cy="685800"/>
          </a:xfrm>
          <a:prstGeom prst="rect">
            <a:avLst/>
          </a:prstGeom>
          <a:noFill/>
          <a:ln/>
        </p:spPr>
        <p:txBody>
          <a:bodyPr wrap="square" lIns="0" tIns="0" rIns="0" bIns="0" rtlCol="0" anchor="t"/>
          <a:lstStyle/>
          <a:p>
            <a:pPr algn="l" indent="0" marL="0">
              <a:buNone/>
            </a:pPr>
            <a:r>
              <a:rPr lang="en-US" sz="3400" b="1" dirty="0">
                <a:solidFill>
                  <a:srgbClr val="2E5EAA"/>
                </a:solidFill>
                <a:latin typeface="Calibri" pitchFamily="34" charset="0"/>
                <a:ea typeface="Calibri" pitchFamily="34" charset="-122"/>
                <a:cs typeface="Calibri" pitchFamily="34" charset="-120"/>
              </a:rPr>
              <a:t>14</a:t>
            </a:r>
            <a:endParaRPr lang="en-US" sz="3400" dirty="0"/>
          </a:p>
        </p:txBody>
      </p:sp>
      <p:sp>
        <p:nvSpPr>
          <p:cNvPr id="16" name="anim:3:103"/>
          <p:cNvSpPr txBox="1"/>
          <p:nvPr/>
        </p:nvSpPr>
        <p:spPr>
          <a:xfrm>
            <a:off x="6409944" y="2834640"/>
            <a:ext cx="2148840" cy="1188720"/>
          </a:xfrm>
          <a:prstGeom prst="rect">
            <a:avLst/>
          </a:prstGeom>
          <a:noFill/>
          <a:ln/>
        </p:spPr>
        <p:txBody>
          <a:bodyPr wrap="square" lIns="0" tIns="0" rIns="0" bIns="0" rtlCol="0" anchor="t"/>
          <a:lstStyle/>
          <a:p>
            <a:pPr algn="l" indent="0" marL="0">
              <a:buNone/>
            </a:pPr>
            <a:r>
              <a:rPr lang="en-US" sz="1300" dirty="0">
                <a:solidFill>
                  <a:srgbClr val="1F2937"/>
                </a:solidFill>
                <a:latin typeface="Calibri" pitchFamily="34" charset="0"/>
                <a:ea typeface="Calibri" pitchFamily="34" charset="-122"/>
                <a:cs typeface="Calibri" pitchFamily="34" charset="-120"/>
              </a:rPr>
              <a:t>verificações a cada carga; nenhuma FALHA na carga real</a:t>
            </a:r>
            <a:endParaRPr lang="en-US" sz="1300" dirty="0"/>
          </a:p>
        </p:txBody>
      </p:sp>
      <p:sp>
        <p:nvSpPr>
          <p:cNvPr id="17" name="anim:4:104"/>
          <p:cNvSpPr/>
          <p:nvPr/>
        </p:nvSpPr>
        <p:spPr>
          <a:xfrm>
            <a:off x="8997696" y="1600200"/>
            <a:ext cx="2542032" cy="2514600"/>
          </a:xfrm>
          <a:prstGeom prst="roundRect">
            <a:avLst>
              <a:gd name="adj" fmla="val 4364"/>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18" name="anim:4:105"/>
          <p:cNvSpPr txBox="1"/>
          <p:nvPr/>
        </p:nvSpPr>
        <p:spPr>
          <a:xfrm>
            <a:off x="9226296" y="1810512"/>
            <a:ext cx="2148840" cy="256032"/>
          </a:xfrm>
          <a:prstGeom prst="rect">
            <a:avLst/>
          </a:prstGeom>
          <a:noFill/>
          <a:ln/>
        </p:spPr>
        <p:txBody>
          <a:bodyPr wrap="square" lIns="0" tIns="0" rIns="0" bIns="0" rtlCol="0" anchor="t"/>
          <a:lstStyle/>
          <a:p>
            <a:pPr algn="l" indent="0" marL="0">
              <a:buNone/>
            </a:pPr>
            <a:r>
              <a:rPr lang="en-US" sz="1100" b="1" spc="100" kern="0" dirty="0">
                <a:solidFill>
                  <a:srgbClr val="8A5300"/>
                </a:solidFill>
                <a:latin typeface="Calibri" pitchFamily="34" charset="0"/>
                <a:ea typeface="Calibri" pitchFamily="34" charset="-122"/>
                <a:cs typeface="Calibri" pitchFamily="34" charset="-120"/>
              </a:rPr>
              <a:t>MAIS CONFIÁVEL</a:t>
            </a:r>
            <a:endParaRPr lang="en-US" sz="1100" dirty="0"/>
          </a:p>
        </p:txBody>
      </p:sp>
      <p:sp>
        <p:nvSpPr>
          <p:cNvPr id="19" name="anim:4:106"/>
          <p:cNvSpPr txBox="1"/>
          <p:nvPr/>
        </p:nvSpPr>
        <p:spPr>
          <a:xfrm>
            <a:off x="9226296" y="2103120"/>
            <a:ext cx="2148840" cy="685800"/>
          </a:xfrm>
          <a:prstGeom prst="rect">
            <a:avLst/>
          </a:prstGeom>
          <a:noFill/>
          <a:ln/>
        </p:spPr>
        <p:txBody>
          <a:bodyPr wrap="square" lIns="0" tIns="0" rIns="0" bIns="0" rtlCol="0" anchor="t"/>
          <a:lstStyle/>
          <a:p>
            <a:pPr algn="l" indent="0" marL="0">
              <a:buNone/>
            </a:pPr>
            <a:r>
              <a:rPr lang="en-US" sz="3400" b="1" dirty="0">
                <a:solidFill>
                  <a:srgbClr val="2E5EAA"/>
                </a:solidFill>
                <a:latin typeface="Calibri" pitchFamily="34" charset="0"/>
                <a:ea typeface="Calibri" pitchFamily="34" charset="-122"/>
                <a:cs typeface="Calibri" pitchFamily="34" charset="-120"/>
              </a:rPr>
              <a:t>&lt; 1%</a:t>
            </a:r>
            <a:endParaRPr lang="en-US" sz="3400" dirty="0"/>
          </a:p>
        </p:txBody>
      </p:sp>
      <p:sp>
        <p:nvSpPr>
          <p:cNvPr id="20" name="anim:4:107"/>
          <p:cNvSpPr txBox="1"/>
          <p:nvPr/>
        </p:nvSpPr>
        <p:spPr>
          <a:xfrm>
            <a:off x="9226296" y="2834640"/>
            <a:ext cx="2148840" cy="1188720"/>
          </a:xfrm>
          <a:prstGeom prst="rect">
            <a:avLst/>
          </a:prstGeom>
          <a:noFill/>
          <a:ln/>
        </p:spPr>
        <p:txBody>
          <a:bodyPr wrap="square" lIns="0" tIns="0" rIns="0" bIns="0" rtlCol="0" anchor="t"/>
          <a:lstStyle/>
          <a:p>
            <a:pPr algn="l" indent="0" marL="0">
              <a:buNone/>
            </a:pPr>
            <a:r>
              <a:rPr lang="en-US" sz="1300" dirty="0">
                <a:solidFill>
                  <a:srgbClr val="1F2937"/>
                </a:solidFill>
                <a:latin typeface="Calibri" pitchFamily="34" charset="0"/>
                <a:ea typeface="Calibri" pitchFamily="34" charset="-122"/>
                <a:cs typeface="Calibri" pitchFamily="34" charset="-120"/>
              </a:rPr>
              <a:t>de diferença entre as bases da SME de 2015 a 2020; depois, a diferença fica à vista</a:t>
            </a:r>
            <a:endParaRPr lang="en-US" sz="1300" dirty="0"/>
          </a:p>
        </p:txBody>
      </p:sp>
      <p:sp>
        <p:nvSpPr>
          <p:cNvPr id="21" name="anim:5:108"/>
          <p:cNvSpPr/>
          <p:nvPr/>
        </p:nvSpPr>
        <p:spPr>
          <a:xfrm>
            <a:off x="548640" y="4343400"/>
            <a:ext cx="11064240" cy="1371600"/>
          </a:xfrm>
          <a:prstGeom prst="roundRect">
            <a:avLst>
              <a:gd name="adj" fmla="val 8000"/>
            </a:avLst>
          </a:prstGeom>
          <a:solidFill>
            <a:srgbClr val="EEF2F8"/>
          </a:solidFill>
          <a:ln w="9525">
            <a:solidFill>
              <a:srgbClr val="EEF2F8"/>
            </a:solidFill>
            <a:prstDash val="solid"/>
          </a:ln>
        </p:spPr>
      </p:sp>
      <p:sp>
        <p:nvSpPr>
          <p:cNvPr id="22" name="anim:5:109"/>
          <p:cNvSpPr/>
          <p:nvPr/>
        </p:nvSpPr>
        <p:spPr>
          <a:xfrm>
            <a:off x="777240" y="4599432"/>
            <a:ext cx="512064" cy="512064"/>
          </a:xfrm>
          <a:prstGeom prst="ellipse">
            <a:avLst/>
          </a:prstGeom>
          <a:solidFill>
            <a:srgbClr val="F2A541"/>
          </a:solidFill>
          <a:ln w="12700">
            <a:solidFill>
              <a:srgbClr val="F2A541"/>
            </a:solidFill>
            <a:prstDash val="solid"/>
          </a:ln>
        </p:spPr>
      </p:sp>
      <p:sp>
        <p:nvSpPr>
          <p:cNvPr id="23" name="anim:5:110"/>
          <p:cNvSpPr txBox="1"/>
          <p:nvPr/>
        </p:nvSpPr>
        <p:spPr>
          <a:xfrm>
            <a:off x="777240" y="4599432"/>
            <a:ext cx="512064" cy="512064"/>
          </a:xfrm>
          <a:prstGeom prst="rect">
            <a:avLst/>
          </a:prstGeom>
          <a:noFill/>
          <a:ln/>
        </p:spPr>
        <p:txBody>
          <a:bodyPr wrap="square" lIns="0" tIns="0" rIns="0" bIns="0" rtlCol="0" anchor="ctr"/>
          <a:lstStyle/>
          <a:p>
            <a:pPr algn="ctr" indent="0" marL="0">
              <a:buNone/>
            </a:pPr>
            <a:r>
              <a:rPr lang="en-US" sz="1600" b="1" dirty="0">
                <a:solidFill>
                  <a:srgbClr val="1B2A4A"/>
                </a:solidFill>
                <a:latin typeface="Calibri" pitchFamily="34" charset="0"/>
                <a:ea typeface="Calibri" pitchFamily="34" charset="-122"/>
                <a:cs typeface="Calibri" pitchFamily="34" charset="-120"/>
              </a:rPr>
              <a:t>✓</a:t>
            </a:r>
            <a:endParaRPr lang="en-US" sz="1600" dirty="0"/>
          </a:p>
        </p:txBody>
      </p:sp>
      <p:sp>
        <p:nvSpPr>
          <p:cNvPr id="24" name="anim:5:111"/>
          <p:cNvSpPr txBox="1"/>
          <p:nvPr/>
        </p:nvSpPr>
        <p:spPr>
          <a:xfrm>
            <a:off x="1508760" y="4553712"/>
            <a:ext cx="9875520" cy="365760"/>
          </a:xfrm>
          <a:prstGeom prst="rect">
            <a:avLst/>
          </a:prstGeom>
          <a:noFill/>
          <a:ln/>
        </p:spPr>
        <p:txBody>
          <a:bodyPr wrap="square" lIns="0" tIns="0" rIns="0" bIns="0" rtlCol="0" anchor="t"/>
          <a:lstStyle/>
          <a:p>
            <a:pPr algn="l" indent="0" marL="0">
              <a:buNone/>
            </a:pPr>
            <a:r>
              <a:rPr lang="en-US" sz="1700" b="1" dirty="0">
                <a:solidFill>
                  <a:srgbClr val="1B2A4A"/>
                </a:solidFill>
                <a:latin typeface="Calibri" pitchFamily="34" charset="0"/>
                <a:ea typeface="Calibri" pitchFamily="34" charset="-122"/>
                <a:cs typeface="Calibri" pitchFamily="34" charset="-120"/>
              </a:rPr>
              <a:t>Uma linguagem só</a:t>
            </a:r>
            <a:endParaRPr lang="en-US" sz="1700" dirty="0"/>
          </a:p>
        </p:txBody>
      </p:sp>
      <p:sp>
        <p:nvSpPr>
          <p:cNvPr id="25" name="anim:5:112"/>
          <p:cNvSpPr txBox="1"/>
          <p:nvPr/>
        </p:nvSpPr>
        <p:spPr>
          <a:xfrm>
            <a:off x="1508760" y="4937760"/>
            <a:ext cx="9875520" cy="914400"/>
          </a:xfrm>
          <a:prstGeom prst="rect">
            <a:avLst/>
          </a:prstGeom>
          <a:noFill/>
          <a:ln/>
        </p:spPr>
        <p:txBody>
          <a:bodyPr wrap="square" lIns="0" tIns="0" rIns="0" bIns="0" rtlCol="0" anchor="t"/>
          <a:lstStyle/>
          <a:p>
            <a:pPr algn="l" indent="0" marL="0">
              <a:buNone/>
            </a:pPr>
            <a:r>
              <a:rPr lang="en-US" sz="1400" dirty="0">
                <a:solidFill>
                  <a:srgbClr val="1F2937"/>
                </a:solidFill>
                <a:latin typeface="Calibri" pitchFamily="34" charset="0"/>
                <a:ea typeface="Calibri" pitchFamily="34" charset="-122"/>
                <a:cs typeface="Calibri" pitchFamily="34" charset="-120"/>
              </a:rPr>
              <a:t>Distrito, etapa e idade com a mesma representação nas três bases; nulo quer dizer não publicado, nunca zero; a contagem em dobro do microdado fica ao lado da matrícula da planilha, sem se misturar. A Secretaria e as 13 Diretorias olham o mesmo número.</a:t>
            </a:r>
            <a:endParaRPr lang="en-US" sz="14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7</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childTnLst>
                          </p:cTn>
                        </p:par>
                        <p:par>
                          <p:cTn id="12" fill="hold">
                            <p:stCondLst>
                              <p:cond delay="0"/>
                            </p:stCondLst>
                            <p:childTnLst>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childTnLst>
                          </p:cTn>
                        </p:par>
                        <p:par>
                          <p:cTn id="16" fill="hold">
                            <p:stCondLst>
                              <p:cond delay="0"/>
                            </p:stCondLst>
                            <p:childTnLst>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00"/>
                                        <p:tgtEl>
                                          <p:spTgt spid="8"/>
                                        </p:tgtEl>
                                      </p:cBhvr>
                                    </p:animEffect>
                                  </p:childTnLst>
                                </p:cTn>
                              </p:par>
                            </p:childTnLst>
                          </p:cTn>
                        </p:par>
                        <p:par>
                          <p:cTn id="20" fill="hold">
                            <p:stCondLst>
                              <p:cond delay="250"/>
                            </p:stCondLst>
                            <p:childTnLst>
                              <p:par>
                                <p:cTn id="21" presetID="10" presetClass="entr" presetSubtype="0"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400"/>
                                        <p:tgtEl>
                                          <p:spTgt spid="9"/>
                                        </p:tgtEl>
                                      </p:cBhvr>
                                    </p:animEffect>
                                  </p:childTnLst>
                                </p:cTn>
                              </p:par>
                            </p:childTnLst>
                          </p:cTn>
                        </p:par>
                        <p:par>
                          <p:cTn id="24" fill="hold">
                            <p:stCondLst>
                              <p:cond delay="250"/>
                            </p:stCondLst>
                            <p:childTnLst>
                              <p:par>
                                <p:cTn id="25" presetID="10"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400"/>
                                        <p:tgtEl>
                                          <p:spTgt spid="10"/>
                                        </p:tgtEl>
                                      </p:cBhvr>
                                    </p:animEffect>
                                  </p:childTnLst>
                                </p:cTn>
                              </p:par>
                            </p:childTnLst>
                          </p:cTn>
                        </p:par>
                        <p:par>
                          <p:cTn id="28" fill="hold">
                            <p:stCondLst>
                              <p:cond delay="250"/>
                            </p:stCondLst>
                            <p:childTnLst>
                              <p:par>
                                <p:cTn id="29" presetID="10" presetClass="entr" presetSubtype="0"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00"/>
                                        <p:tgtEl>
                                          <p:spTgt spid="11"/>
                                        </p:tgtEl>
                                      </p:cBhvr>
                                    </p:animEffect>
                                  </p:childTnLst>
                                </p:cTn>
                              </p:par>
                            </p:childTnLst>
                          </p:cTn>
                        </p:par>
                        <p:par>
                          <p:cTn id="32" fill="hold">
                            <p:stCondLst>
                              <p:cond delay="250"/>
                            </p:stCondLst>
                            <p:childTnLst>
                              <p:par>
                                <p:cTn id="33" presetID="10" presetClass="entr" presetSubtype="0" fill="hold" grpId="0" nodeType="with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400"/>
                                        <p:tgtEl>
                                          <p:spTgt spid="12"/>
                                        </p:tgtEl>
                                      </p:cBhvr>
                                    </p:animEffect>
                                  </p:childTnLst>
                                </p:cTn>
                              </p:par>
                            </p:childTnLst>
                          </p:cTn>
                        </p:par>
                        <p:par>
                          <p:cTn id="36" fill="hold">
                            <p:stCondLst>
                              <p:cond delay="500"/>
                            </p:stCondLst>
                            <p:childTnLst>
                              <p:par>
                                <p:cTn id="37" presetID="10" presetClass="entr" presetSubtype="0" fill="hold" grpId="0" nodeType="withEffect">
                                  <p:stCondLst>
                                    <p:cond delay="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400"/>
                                        <p:tgtEl>
                                          <p:spTgt spid="13"/>
                                        </p:tgtEl>
                                      </p:cBhvr>
                                    </p:animEffect>
                                  </p:childTnLst>
                                </p:cTn>
                              </p:par>
                            </p:childTnLst>
                          </p:cTn>
                        </p:par>
                        <p:par>
                          <p:cTn id="40" fill="hold">
                            <p:stCondLst>
                              <p:cond delay="500"/>
                            </p:stCondLst>
                            <p:childTnLst>
                              <p:par>
                                <p:cTn id="41" presetID="10" presetClass="entr" presetSubtype="0" fill="hold" grpId="0" nodeType="withEffect">
                                  <p:stCondLst>
                                    <p:cond delay="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400"/>
                                        <p:tgtEl>
                                          <p:spTgt spid="14"/>
                                        </p:tgtEl>
                                      </p:cBhvr>
                                    </p:animEffect>
                                  </p:childTnLst>
                                </p:cTn>
                              </p:par>
                            </p:childTnLst>
                          </p:cTn>
                        </p:par>
                        <p:par>
                          <p:cTn id="44" fill="hold">
                            <p:stCondLst>
                              <p:cond delay="500"/>
                            </p:stCondLst>
                            <p:childTnLst>
                              <p:par>
                                <p:cTn id="45" presetID="10" presetClass="entr" presetSubtype="0" fill="hold" grpId="0" nodeType="withEffect">
                                  <p:stCondLst>
                                    <p:cond delay="0"/>
                                  </p:stCondLst>
                                  <p:childTnLst>
                                    <p:set>
                                      <p:cBhvr>
                                        <p:cTn id="46" dur="1" fill="hold">
                                          <p:stCondLst>
                                            <p:cond delay="0"/>
                                          </p:stCondLst>
                                        </p:cTn>
                                        <p:tgtEl>
                                          <p:spTgt spid="15"/>
                                        </p:tgtEl>
                                        <p:attrNameLst>
                                          <p:attrName>style.visibility</p:attrName>
                                        </p:attrNameLst>
                                      </p:cBhvr>
                                      <p:to>
                                        <p:strVal val="visible"/>
                                      </p:to>
                                    </p:set>
                                    <p:animEffect transition="in" filter="fade">
                                      <p:cBhvr>
                                        <p:cTn id="47" dur="400"/>
                                        <p:tgtEl>
                                          <p:spTgt spid="15"/>
                                        </p:tgtEl>
                                      </p:cBhvr>
                                    </p:animEffect>
                                  </p:childTnLst>
                                </p:cTn>
                              </p:par>
                            </p:childTnLst>
                          </p:cTn>
                        </p:par>
                        <p:par>
                          <p:cTn id="48" fill="hold">
                            <p:stCondLst>
                              <p:cond delay="500"/>
                            </p:stCondLst>
                            <p:childTnLst>
                              <p:par>
                                <p:cTn id="49" presetID="10" presetClass="entr" presetSubtype="0" fill="hold" grpId="0" nodeType="withEffect">
                                  <p:stCondLst>
                                    <p:cond delay="0"/>
                                  </p:stCondLst>
                                  <p:childTnLst>
                                    <p:set>
                                      <p:cBhvr>
                                        <p:cTn id="50" dur="1" fill="hold">
                                          <p:stCondLst>
                                            <p:cond delay="0"/>
                                          </p:stCondLst>
                                        </p:cTn>
                                        <p:tgtEl>
                                          <p:spTgt spid="16"/>
                                        </p:tgtEl>
                                        <p:attrNameLst>
                                          <p:attrName>style.visibility</p:attrName>
                                        </p:attrNameLst>
                                      </p:cBhvr>
                                      <p:to>
                                        <p:strVal val="visible"/>
                                      </p:to>
                                    </p:set>
                                    <p:animEffect transition="in" filter="fade">
                                      <p:cBhvr>
                                        <p:cTn id="51" dur="400"/>
                                        <p:tgtEl>
                                          <p:spTgt spid="16"/>
                                        </p:tgtEl>
                                      </p:cBhvr>
                                    </p:animEffect>
                                  </p:childTnLst>
                                </p:cTn>
                              </p:par>
                            </p:childTnLst>
                          </p:cTn>
                        </p:par>
                        <p:par>
                          <p:cTn id="52" fill="hold">
                            <p:stCondLst>
                              <p:cond delay="750"/>
                            </p:stCondLst>
                            <p:childTnLst>
                              <p:par>
                                <p:cTn id="53" presetID="10" presetClass="entr" presetSubtype="0" fill="hold" grpId="0" nodeType="withEffect">
                                  <p:stCondLst>
                                    <p:cond delay="0"/>
                                  </p:stCondLst>
                                  <p:childTnLst>
                                    <p:set>
                                      <p:cBhvr>
                                        <p:cTn id="54" dur="1" fill="hold">
                                          <p:stCondLst>
                                            <p:cond delay="0"/>
                                          </p:stCondLst>
                                        </p:cTn>
                                        <p:tgtEl>
                                          <p:spTgt spid="17"/>
                                        </p:tgtEl>
                                        <p:attrNameLst>
                                          <p:attrName>style.visibility</p:attrName>
                                        </p:attrNameLst>
                                      </p:cBhvr>
                                      <p:to>
                                        <p:strVal val="visible"/>
                                      </p:to>
                                    </p:set>
                                    <p:animEffect transition="in" filter="fade">
                                      <p:cBhvr>
                                        <p:cTn id="55" dur="400"/>
                                        <p:tgtEl>
                                          <p:spTgt spid="17"/>
                                        </p:tgtEl>
                                      </p:cBhvr>
                                    </p:animEffect>
                                  </p:childTnLst>
                                </p:cTn>
                              </p:par>
                            </p:childTnLst>
                          </p:cTn>
                        </p:par>
                        <p:par>
                          <p:cTn id="56" fill="hold">
                            <p:stCondLst>
                              <p:cond delay="750"/>
                            </p:stCondLst>
                            <p:childTnLst>
                              <p:par>
                                <p:cTn id="57" presetID="10" presetClass="entr" presetSubtype="0" fill="hold" grpId="0" nodeType="withEffect">
                                  <p:stCondLst>
                                    <p:cond delay="0"/>
                                  </p:stCondLst>
                                  <p:childTnLst>
                                    <p:set>
                                      <p:cBhvr>
                                        <p:cTn id="58" dur="1" fill="hold">
                                          <p:stCondLst>
                                            <p:cond delay="0"/>
                                          </p:stCondLst>
                                        </p:cTn>
                                        <p:tgtEl>
                                          <p:spTgt spid="18"/>
                                        </p:tgtEl>
                                        <p:attrNameLst>
                                          <p:attrName>style.visibility</p:attrName>
                                        </p:attrNameLst>
                                      </p:cBhvr>
                                      <p:to>
                                        <p:strVal val="visible"/>
                                      </p:to>
                                    </p:set>
                                    <p:animEffect transition="in" filter="fade">
                                      <p:cBhvr>
                                        <p:cTn id="59" dur="400"/>
                                        <p:tgtEl>
                                          <p:spTgt spid="18"/>
                                        </p:tgtEl>
                                      </p:cBhvr>
                                    </p:animEffect>
                                  </p:childTnLst>
                                </p:cTn>
                              </p:par>
                            </p:childTnLst>
                          </p:cTn>
                        </p:par>
                        <p:par>
                          <p:cTn id="60" fill="hold">
                            <p:stCondLst>
                              <p:cond delay="750"/>
                            </p:stCondLst>
                            <p:childTnLst>
                              <p:par>
                                <p:cTn id="61" presetID="10" presetClass="entr" presetSubtype="0" fill="hold" grpId="0" nodeType="withEffect">
                                  <p:stCondLst>
                                    <p:cond delay="0"/>
                                  </p:stCondLst>
                                  <p:childTnLst>
                                    <p:set>
                                      <p:cBhvr>
                                        <p:cTn id="62" dur="1" fill="hold">
                                          <p:stCondLst>
                                            <p:cond delay="0"/>
                                          </p:stCondLst>
                                        </p:cTn>
                                        <p:tgtEl>
                                          <p:spTgt spid="19"/>
                                        </p:tgtEl>
                                        <p:attrNameLst>
                                          <p:attrName>style.visibility</p:attrName>
                                        </p:attrNameLst>
                                      </p:cBhvr>
                                      <p:to>
                                        <p:strVal val="visible"/>
                                      </p:to>
                                    </p:set>
                                    <p:animEffect transition="in" filter="fade">
                                      <p:cBhvr>
                                        <p:cTn id="63" dur="400"/>
                                        <p:tgtEl>
                                          <p:spTgt spid="19"/>
                                        </p:tgtEl>
                                      </p:cBhvr>
                                    </p:animEffect>
                                  </p:childTnLst>
                                </p:cTn>
                              </p:par>
                            </p:childTnLst>
                          </p:cTn>
                        </p:par>
                        <p:par>
                          <p:cTn id="64" fill="hold">
                            <p:stCondLst>
                              <p:cond delay="750"/>
                            </p:stCondLst>
                            <p:childTnLst>
                              <p:par>
                                <p:cTn id="65" presetID="10" presetClass="entr" presetSubtype="0" fill="hold" grpId="0" nodeType="withEffect">
                                  <p:stCondLst>
                                    <p:cond delay="0"/>
                                  </p:stCondLst>
                                  <p:childTnLst>
                                    <p:set>
                                      <p:cBhvr>
                                        <p:cTn id="66" dur="1" fill="hold">
                                          <p:stCondLst>
                                            <p:cond delay="0"/>
                                          </p:stCondLst>
                                        </p:cTn>
                                        <p:tgtEl>
                                          <p:spTgt spid="20"/>
                                        </p:tgtEl>
                                        <p:attrNameLst>
                                          <p:attrName>style.visibility</p:attrName>
                                        </p:attrNameLst>
                                      </p:cBhvr>
                                      <p:to>
                                        <p:strVal val="visible"/>
                                      </p:to>
                                    </p:set>
                                    <p:animEffect transition="in" filter="fade">
                                      <p:cBhvr>
                                        <p:cTn id="67" dur="400"/>
                                        <p:tgtEl>
                                          <p:spTgt spid="20"/>
                                        </p:tgtEl>
                                      </p:cBhvr>
                                    </p:animEffect>
                                  </p:childTnLst>
                                </p:cTn>
                              </p:par>
                            </p:childTnLst>
                          </p:cTn>
                        </p:par>
                        <p:par>
                          <p:cTn id="68" fill="hold">
                            <p:stCondLst>
                              <p:cond delay="1000"/>
                            </p:stCondLst>
                            <p:childTnLst>
                              <p:par>
                                <p:cTn id="69" presetID="10" presetClass="entr" presetSubtype="0" fill="hold" grpId="0" nodeType="withEffect">
                                  <p:stCondLst>
                                    <p:cond delay="0"/>
                                  </p:stCondLst>
                                  <p:childTnLst>
                                    <p:set>
                                      <p:cBhvr>
                                        <p:cTn id="70" dur="1" fill="hold">
                                          <p:stCondLst>
                                            <p:cond delay="0"/>
                                          </p:stCondLst>
                                        </p:cTn>
                                        <p:tgtEl>
                                          <p:spTgt spid="21"/>
                                        </p:tgtEl>
                                        <p:attrNameLst>
                                          <p:attrName>style.visibility</p:attrName>
                                        </p:attrNameLst>
                                      </p:cBhvr>
                                      <p:to>
                                        <p:strVal val="visible"/>
                                      </p:to>
                                    </p:set>
                                    <p:animEffect transition="in" filter="fade">
                                      <p:cBhvr>
                                        <p:cTn id="71" dur="400"/>
                                        <p:tgtEl>
                                          <p:spTgt spid="21"/>
                                        </p:tgtEl>
                                      </p:cBhvr>
                                    </p:animEffect>
                                  </p:childTnLst>
                                </p:cTn>
                              </p:par>
                            </p:childTnLst>
                          </p:cTn>
                        </p:par>
                        <p:par>
                          <p:cTn id="72" fill="hold">
                            <p:stCondLst>
                              <p:cond delay="1000"/>
                            </p:stCondLst>
                            <p:childTnLst>
                              <p:par>
                                <p:cTn id="73" presetID="10" presetClass="entr" presetSubtype="0" fill="hold" grpId="0" nodeType="withEffect">
                                  <p:stCondLst>
                                    <p:cond delay="0"/>
                                  </p:stCondLst>
                                  <p:childTnLst>
                                    <p:set>
                                      <p:cBhvr>
                                        <p:cTn id="74" dur="1" fill="hold">
                                          <p:stCondLst>
                                            <p:cond delay="0"/>
                                          </p:stCondLst>
                                        </p:cTn>
                                        <p:tgtEl>
                                          <p:spTgt spid="22"/>
                                        </p:tgtEl>
                                        <p:attrNameLst>
                                          <p:attrName>style.visibility</p:attrName>
                                        </p:attrNameLst>
                                      </p:cBhvr>
                                      <p:to>
                                        <p:strVal val="visible"/>
                                      </p:to>
                                    </p:set>
                                    <p:animEffect transition="in" filter="fade">
                                      <p:cBhvr>
                                        <p:cTn id="75" dur="400"/>
                                        <p:tgtEl>
                                          <p:spTgt spid="22"/>
                                        </p:tgtEl>
                                      </p:cBhvr>
                                    </p:animEffect>
                                  </p:childTnLst>
                                </p:cTn>
                              </p:par>
                            </p:childTnLst>
                          </p:cTn>
                        </p:par>
                        <p:par>
                          <p:cTn id="76" fill="hold">
                            <p:stCondLst>
                              <p:cond delay="1000"/>
                            </p:stCondLst>
                            <p:childTnLst>
                              <p:par>
                                <p:cTn id="77" presetID="10" presetClass="entr" presetSubtype="0" fill="hold" grpId="0" nodeType="withEffect">
                                  <p:stCondLst>
                                    <p:cond delay="0"/>
                                  </p:stCondLst>
                                  <p:childTnLst>
                                    <p:set>
                                      <p:cBhvr>
                                        <p:cTn id="78" dur="1" fill="hold">
                                          <p:stCondLst>
                                            <p:cond delay="0"/>
                                          </p:stCondLst>
                                        </p:cTn>
                                        <p:tgtEl>
                                          <p:spTgt spid="23"/>
                                        </p:tgtEl>
                                        <p:attrNameLst>
                                          <p:attrName>style.visibility</p:attrName>
                                        </p:attrNameLst>
                                      </p:cBhvr>
                                      <p:to>
                                        <p:strVal val="visible"/>
                                      </p:to>
                                    </p:set>
                                    <p:animEffect transition="in" filter="fade">
                                      <p:cBhvr>
                                        <p:cTn id="79" dur="400"/>
                                        <p:tgtEl>
                                          <p:spTgt spid="23"/>
                                        </p:tgtEl>
                                      </p:cBhvr>
                                    </p:animEffect>
                                  </p:childTnLst>
                                </p:cTn>
                              </p:par>
                            </p:childTnLst>
                          </p:cTn>
                        </p:par>
                        <p:par>
                          <p:cTn id="80" fill="hold">
                            <p:stCondLst>
                              <p:cond delay="1000"/>
                            </p:stCondLst>
                            <p:childTnLst>
                              <p:par>
                                <p:cTn id="81" presetID="10" presetClass="entr" presetSubtype="0" fill="hold" grpId="0" nodeType="withEffect">
                                  <p:stCondLst>
                                    <p:cond delay="0"/>
                                  </p:stCondLst>
                                  <p:childTnLst>
                                    <p:set>
                                      <p:cBhvr>
                                        <p:cTn id="82" dur="1" fill="hold">
                                          <p:stCondLst>
                                            <p:cond delay="0"/>
                                          </p:stCondLst>
                                        </p:cTn>
                                        <p:tgtEl>
                                          <p:spTgt spid="24"/>
                                        </p:tgtEl>
                                        <p:attrNameLst>
                                          <p:attrName>style.visibility</p:attrName>
                                        </p:attrNameLst>
                                      </p:cBhvr>
                                      <p:to>
                                        <p:strVal val="visible"/>
                                      </p:to>
                                    </p:set>
                                    <p:animEffect transition="in" filter="fade">
                                      <p:cBhvr>
                                        <p:cTn id="83" dur="400"/>
                                        <p:tgtEl>
                                          <p:spTgt spid="24"/>
                                        </p:tgtEl>
                                      </p:cBhvr>
                                    </p:animEffect>
                                  </p:childTnLst>
                                </p:cTn>
                              </p:par>
                            </p:childTnLst>
                          </p:cTn>
                        </p:par>
                        <p:par>
                          <p:cTn id="84" fill="hold">
                            <p:stCondLst>
                              <p:cond delay="1000"/>
                            </p:stCondLst>
                            <p:childTnLst>
                              <p:par>
                                <p:cTn id="85" presetID="10" presetClass="entr" presetSubtype="0" fill="hold" grpId="0" nodeType="withEffect">
                                  <p:stCondLst>
                                    <p:cond delay="0"/>
                                  </p:stCondLst>
                                  <p:childTnLst>
                                    <p:set>
                                      <p:cBhvr>
                                        <p:cTn id="86" dur="1" fill="hold">
                                          <p:stCondLst>
                                            <p:cond delay="0"/>
                                          </p:stCondLst>
                                        </p:cTn>
                                        <p:tgtEl>
                                          <p:spTgt spid="25"/>
                                        </p:tgtEl>
                                        <p:attrNameLst>
                                          <p:attrName>style.visibility</p:attrName>
                                        </p:attrNameLst>
                                      </p:cBhvr>
                                      <p:to>
                                        <p:strVal val="visible"/>
                                      </p:to>
                                    </p:set>
                                    <p:animEffect transition="in" filter="fade">
                                      <p:cBhvr>
                                        <p:cTn id="87"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1 · O PROBLEMA E A PROPOSTA · KEVENN</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Do dado à vaga: como a fila pode cair mais</a:t>
            </a:r>
            <a:endParaRPr lang="en-US" sz="3200" dirty="0"/>
          </a:p>
        </p:txBody>
      </p:sp>
      <p:sp>
        <p:nvSpPr>
          <p:cNvPr id="5" name="anim:1:113"/>
          <p:cNvSpPr/>
          <p:nvPr/>
        </p:nvSpPr>
        <p:spPr>
          <a:xfrm>
            <a:off x="548640" y="1600200"/>
            <a:ext cx="2542032" cy="3337560"/>
          </a:xfrm>
          <a:prstGeom prst="roundRect">
            <a:avLst>
              <a:gd name="adj" fmla="val 4317"/>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6" name="anim:1:114"/>
          <p:cNvSpPr/>
          <p:nvPr/>
        </p:nvSpPr>
        <p:spPr>
          <a:xfrm>
            <a:off x="777240" y="1810512"/>
            <a:ext cx="502920" cy="502920"/>
          </a:xfrm>
          <a:prstGeom prst="ellipse">
            <a:avLst/>
          </a:prstGeom>
          <a:solidFill>
            <a:srgbClr val="F2A541"/>
          </a:solidFill>
          <a:ln w="12700">
            <a:solidFill>
              <a:srgbClr val="F2A541"/>
            </a:solidFill>
            <a:prstDash val="solid"/>
          </a:ln>
        </p:spPr>
      </p:sp>
      <p:sp>
        <p:nvSpPr>
          <p:cNvPr id="7" name="anim:1:115"/>
          <p:cNvSpPr txBox="1"/>
          <p:nvPr/>
        </p:nvSpPr>
        <p:spPr>
          <a:xfrm>
            <a:off x="777240" y="1810512"/>
            <a:ext cx="502920" cy="502920"/>
          </a:xfrm>
          <a:prstGeom prst="rect">
            <a:avLst/>
          </a:prstGeom>
          <a:noFill/>
          <a:ln/>
        </p:spPr>
        <p:txBody>
          <a:bodyPr wrap="square" lIns="0" tIns="0" rIns="0" bIns="0" rtlCol="0" anchor="ctr"/>
          <a:lstStyle/>
          <a:p>
            <a:pPr algn="ctr" indent="0" marL="0">
              <a:buNone/>
            </a:pPr>
            <a:r>
              <a:rPr lang="en-US" sz="1500" b="1" dirty="0">
                <a:solidFill>
                  <a:srgbClr val="1B2A4A"/>
                </a:solidFill>
                <a:latin typeface="Calibri" pitchFamily="34" charset="0"/>
                <a:ea typeface="Calibri" pitchFamily="34" charset="-122"/>
                <a:cs typeface="Calibri" pitchFamily="34" charset="-120"/>
              </a:rPr>
              <a:t>1</a:t>
            </a:r>
            <a:endParaRPr lang="en-US" sz="1500" dirty="0"/>
          </a:p>
        </p:txBody>
      </p:sp>
      <p:sp>
        <p:nvSpPr>
          <p:cNvPr id="8" name="anim:1:116"/>
          <p:cNvSpPr txBox="1"/>
          <p:nvPr/>
        </p:nvSpPr>
        <p:spPr>
          <a:xfrm>
            <a:off x="777240" y="2423160"/>
            <a:ext cx="2148840" cy="411480"/>
          </a:xfrm>
          <a:prstGeom prst="rect">
            <a:avLst/>
          </a:prstGeom>
          <a:noFill/>
          <a:ln/>
        </p:spPr>
        <p:txBody>
          <a:bodyPr wrap="square" lIns="0" tIns="0" rIns="0" bIns="0" rtlCol="0" anchor="t"/>
          <a:lstStyle/>
          <a:p>
            <a:pPr algn="l" indent="0" marL="0">
              <a:buNone/>
            </a:pPr>
            <a:r>
              <a:rPr lang="en-US" sz="1900" b="1" dirty="0">
                <a:solidFill>
                  <a:srgbClr val="1B2A4A"/>
                </a:solidFill>
                <a:latin typeface="Calibri" pitchFamily="34" charset="0"/>
                <a:ea typeface="Calibri" pitchFamily="34" charset="-122"/>
                <a:cs typeface="Calibri" pitchFamily="34" charset="-120"/>
              </a:rPr>
              <a:t>Medir</a:t>
            </a:r>
            <a:endParaRPr lang="en-US" sz="1900" dirty="0"/>
          </a:p>
        </p:txBody>
      </p:sp>
      <p:sp>
        <p:nvSpPr>
          <p:cNvPr id="9" name="anim:1:117"/>
          <p:cNvSpPr txBox="1"/>
          <p:nvPr/>
        </p:nvSpPr>
        <p:spPr>
          <a:xfrm>
            <a:off x="777240" y="2880360"/>
            <a:ext cx="2148840" cy="1325880"/>
          </a:xfrm>
          <a:prstGeom prst="rect">
            <a:avLst/>
          </a:prstGeom>
          <a:noFill/>
          <a:ln/>
        </p:spPr>
        <p:txBody>
          <a:bodyPr wrap="square" lIns="0" tIns="0" rIns="0" bIns="0" rtlCol="0" anchor="t"/>
          <a:lstStyle/>
          <a:p>
            <a:pPr algn="l" indent="0" marL="0">
              <a:buNone/>
            </a:pPr>
            <a:r>
              <a:rPr lang="en-US" sz="1400" dirty="0">
                <a:solidFill>
                  <a:srgbClr val="1F2937"/>
                </a:solidFill>
                <a:latin typeface="Calibri" pitchFamily="34" charset="0"/>
                <a:ea typeface="Calibri" pitchFamily="34" charset="-122"/>
                <a:cs typeface="Calibri" pitchFamily="34" charset="-120"/>
              </a:rPr>
              <a:t>A fila de cada distrito e etapa, a cada publicação, separando quem espera uma unidade específica.</a:t>
            </a:r>
            <a:endParaRPr lang="en-US" sz="1400" dirty="0"/>
          </a:p>
        </p:txBody>
      </p:sp>
      <p:sp>
        <p:nvSpPr>
          <p:cNvPr id="10" name="anim:1:118"/>
          <p:cNvSpPr/>
          <p:nvPr/>
        </p:nvSpPr>
        <p:spPr>
          <a:xfrm>
            <a:off x="777240" y="4343400"/>
            <a:ext cx="1097280" cy="310896"/>
          </a:xfrm>
          <a:prstGeom prst="roundRect">
            <a:avLst>
              <a:gd name="adj" fmla="val 50000"/>
            </a:avLst>
          </a:prstGeom>
          <a:solidFill>
            <a:srgbClr val="2E5EAA"/>
          </a:solidFill>
          <a:ln w="12700">
            <a:solidFill>
              <a:srgbClr val="2E5EAA"/>
            </a:solidFill>
            <a:prstDash val="solid"/>
          </a:ln>
        </p:spPr>
      </p:sp>
      <p:sp>
        <p:nvSpPr>
          <p:cNvPr id="11" name="anim:1:119"/>
          <p:cNvSpPr txBox="1"/>
          <p:nvPr/>
        </p:nvSpPr>
        <p:spPr>
          <a:xfrm>
            <a:off x="777240" y="4343400"/>
            <a:ext cx="1097280"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fato Fila</a:t>
            </a:r>
            <a:endParaRPr lang="en-US" sz="1200" dirty="0"/>
          </a:p>
        </p:txBody>
      </p:sp>
      <p:sp>
        <p:nvSpPr>
          <p:cNvPr id="12" name="anim:1:120"/>
          <p:cNvSpPr/>
          <p:nvPr/>
        </p:nvSpPr>
        <p:spPr>
          <a:xfrm>
            <a:off x="3118104" y="3108960"/>
            <a:ext cx="219456" cy="274320"/>
          </a:xfrm>
          <a:prstGeom prst="rightArrow">
            <a:avLst/>
          </a:prstGeom>
          <a:solidFill>
            <a:srgbClr val="F2A541"/>
          </a:solidFill>
          <a:ln w="12700">
            <a:solidFill>
              <a:srgbClr val="F2A541"/>
            </a:solidFill>
            <a:prstDash val="solid"/>
          </a:ln>
        </p:spPr>
      </p:sp>
      <p:sp>
        <p:nvSpPr>
          <p:cNvPr id="13" name="anim:2:121"/>
          <p:cNvSpPr/>
          <p:nvPr/>
        </p:nvSpPr>
        <p:spPr>
          <a:xfrm>
            <a:off x="3364992" y="1600200"/>
            <a:ext cx="2542032" cy="3337560"/>
          </a:xfrm>
          <a:prstGeom prst="roundRect">
            <a:avLst>
              <a:gd name="adj" fmla="val 4317"/>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14" name="anim:2:122"/>
          <p:cNvSpPr/>
          <p:nvPr/>
        </p:nvSpPr>
        <p:spPr>
          <a:xfrm>
            <a:off x="3593592" y="1810512"/>
            <a:ext cx="502920" cy="502920"/>
          </a:xfrm>
          <a:prstGeom prst="ellipse">
            <a:avLst/>
          </a:prstGeom>
          <a:solidFill>
            <a:srgbClr val="F2A541"/>
          </a:solidFill>
          <a:ln w="12700">
            <a:solidFill>
              <a:srgbClr val="F2A541"/>
            </a:solidFill>
            <a:prstDash val="solid"/>
          </a:ln>
        </p:spPr>
      </p:sp>
      <p:sp>
        <p:nvSpPr>
          <p:cNvPr id="15" name="anim:2:123"/>
          <p:cNvSpPr txBox="1"/>
          <p:nvPr/>
        </p:nvSpPr>
        <p:spPr>
          <a:xfrm>
            <a:off x="3593592" y="1810512"/>
            <a:ext cx="502920" cy="502920"/>
          </a:xfrm>
          <a:prstGeom prst="rect">
            <a:avLst/>
          </a:prstGeom>
          <a:noFill/>
          <a:ln/>
        </p:spPr>
        <p:txBody>
          <a:bodyPr wrap="square" lIns="0" tIns="0" rIns="0" bIns="0" rtlCol="0" anchor="ctr"/>
          <a:lstStyle/>
          <a:p>
            <a:pPr algn="ctr" indent="0" marL="0">
              <a:buNone/>
            </a:pPr>
            <a:r>
              <a:rPr lang="en-US" sz="1500" b="1" dirty="0">
                <a:solidFill>
                  <a:srgbClr val="1B2A4A"/>
                </a:solidFill>
                <a:latin typeface="Calibri" pitchFamily="34" charset="0"/>
                <a:ea typeface="Calibri" pitchFamily="34" charset="-122"/>
                <a:cs typeface="Calibri" pitchFamily="34" charset="-120"/>
              </a:rPr>
              <a:t>2</a:t>
            </a:r>
            <a:endParaRPr lang="en-US" sz="1500" dirty="0"/>
          </a:p>
        </p:txBody>
      </p:sp>
      <p:sp>
        <p:nvSpPr>
          <p:cNvPr id="16" name="anim:2:124"/>
          <p:cNvSpPr txBox="1"/>
          <p:nvPr/>
        </p:nvSpPr>
        <p:spPr>
          <a:xfrm>
            <a:off x="3593592" y="2423160"/>
            <a:ext cx="2148840" cy="411480"/>
          </a:xfrm>
          <a:prstGeom prst="rect">
            <a:avLst/>
          </a:prstGeom>
          <a:noFill/>
          <a:ln/>
        </p:spPr>
        <p:txBody>
          <a:bodyPr wrap="square" lIns="0" tIns="0" rIns="0" bIns="0" rtlCol="0" anchor="t"/>
          <a:lstStyle/>
          <a:p>
            <a:pPr algn="l" indent="0" marL="0">
              <a:buNone/>
            </a:pPr>
            <a:r>
              <a:rPr lang="en-US" sz="1900" b="1" dirty="0">
                <a:solidFill>
                  <a:srgbClr val="1B2A4A"/>
                </a:solidFill>
                <a:latin typeface="Calibri" pitchFamily="34" charset="0"/>
                <a:ea typeface="Calibri" pitchFamily="34" charset="-122"/>
                <a:cs typeface="Calibri" pitchFamily="34" charset="-120"/>
              </a:rPr>
              <a:t>Localizar</a:t>
            </a:r>
            <a:endParaRPr lang="en-US" sz="1900" dirty="0"/>
          </a:p>
        </p:txBody>
      </p:sp>
      <p:sp>
        <p:nvSpPr>
          <p:cNvPr id="17" name="anim:2:125"/>
          <p:cNvSpPr txBox="1"/>
          <p:nvPr/>
        </p:nvSpPr>
        <p:spPr>
          <a:xfrm>
            <a:off x="3593592" y="2880360"/>
            <a:ext cx="2148840" cy="1325880"/>
          </a:xfrm>
          <a:prstGeom prst="rect">
            <a:avLst/>
          </a:prstGeom>
          <a:noFill/>
          <a:ln/>
        </p:spPr>
        <p:txBody>
          <a:bodyPr wrap="square" lIns="0" tIns="0" rIns="0" bIns="0" rtlCol="0" anchor="t"/>
          <a:lstStyle/>
          <a:p>
            <a:pPr algn="l" indent="0" marL="0">
              <a:buNone/>
            </a:pPr>
            <a:r>
              <a:rPr lang="en-US" sz="1400" dirty="0">
                <a:solidFill>
                  <a:srgbClr val="1F2937"/>
                </a:solidFill>
                <a:latin typeface="Calibri" pitchFamily="34" charset="0"/>
                <a:ea typeface="Calibri" pitchFamily="34" charset="-122"/>
                <a:cs typeface="Calibri" pitchFamily="34" charset="-120"/>
              </a:rPr>
              <a:t>Onde a fila resiste e onde a oferta por criança é menor.</a:t>
            </a:r>
            <a:endParaRPr lang="en-US" sz="1400" dirty="0"/>
          </a:p>
        </p:txBody>
      </p:sp>
      <p:sp>
        <p:nvSpPr>
          <p:cNvPr id="18" name="anim:2:126"/>
          <p:cNvSpPr/>
          <p:nvPr/>
        </p:nvSpPr>
        <p:spPr>
          <a:xfrm>
            <a:off x="3593592" y="4343400"/>
            <a:ext cx="566928" cy="310896"/>
          </a:xfrm>
          <a:prstGeom prst="roundRect">
            <a:avLst>
              <a:gd name="adj" fmla="val 50000"/>
            </a:avLst>
          </a:prstGeom>
          <a:solidFill>
            <a:srgbClr val="2E5EAA"/>
          </a:solidFill>
          <a:ln w="12700">
            <a:solidFill>
              <a:srgbClr val="2E5EAA"/>
            </a:solidFill>
            <a:prstDash val="solid"/>
          </a:ln>
        </p:spPr>
      </p:sp>
      <p:sp>
        <p:nvSpPr>
          <p:cNvPr id="19" name="anim:2:127"/>
          <p:cNvSpPr txBox="1"/>
          <p:nvPr/>
        </p:nvSpPr>
        <p:spPr>
          <a:xfrm>
            <a:off x="3593592" y="4343400"/>
            <a:ext cx="566928"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C1</a:t>
            </a:r>
            <a:endParaRPr lang="en-US" sz="1200" dirty="0"/>
          </a:p>
        </p:txBody>
      </p:sp>
      <p:sp>
        <p:nvSpPr>
          <p:cNvPr id="20" name="anim:2:128"/>
          <p:cNvSpPr/>
          <p:nvPr/>
        </p:nvSpPr>
        <p:spPr>
          <a:xfrm>
            <a:off x="4251960" y="4343400"/>
            <a:ext cx="566928" cy="310896"/>
          </a:xfrm>
          <a:prstGeom prst="roundRect">
            <a:avLst>
              <a:gd name="adj" fmla="val 50000"/>
            </a:avLst>
          </a:prstGeom>
          <a:solidFill>
            <a:srgbClr val="2E5EAA"/>
          </a:solidFill>
          <a:ln w="12700">
            <a:solidFill>
              <a:srgbClr val="2E5EAA"/>
            </a:solidFill>
            <a:prstDash val="solid"/>
          </a:ln>
        </p:spPr>
      </p:sp>
      <p:sp>
        <p:nvSpPr>
          <p:cNvPr id="21" name="anim:2:129"/>
          <p:cNvSpPr txBox="1"/>
          <p:nvPr/>
        </p:nvSpPr>
        <p:spPr>
          <a:xfrm>
            <a:off x="4251960" y="4343400"/>
            <a:ext cx="566928"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C5</a:t>
            </a:r>
            <a:endParaRPr lang="en-US" sz="1200" dirty="0"/>
          </a:p>
        </p:txBody>
      </p:sp>
      <p:sp>
        <p:nvSpPr>
          <p:cNvPr id="22" name="anim:2:130"/>
          <p:cNvSpPr/>
          <p:nvPr/>
        </p:nvSpPr>
        <p:spPr>
          <a:xfrm>
            <a:off x="4910328" y="4343400"/>
            <a:ext cx="566928" cy="310896"/>
          </a:xfrm>
          <a:prstGeom prst="roundRect">
            <a:avLst>
              <a:gd name="adj" fmla="val 50000"/>
            </a:avLst>
          </a:prstGeom>
          <a:solidFill>
            <a:srgbClr val="2E5EAA"/>
          </a:solidFill>
          <a:ln w="12700">
            <a:solidFill>
              <a:srgbClr val="2E5EAA"/>
            </a:solidFill>
            <a:prstDash val="solid"/>
          </a:ln>
        </p:spPr>
      </p:sp>
      <p:sp>
        <p:nvSpPr>
          <p:cNvPr id="23" name="anim:2:131"/>
          <p:cNvSpPr txBox="1"/>
          <p:nvPr/>
        </p:nvSpPr>
        <p:spPr>
          <a:xfrm>
            <a:off x="4910328" y="4343400"/>
            <a:ext cx="566928"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C7</a:t>
            </a:r>
            <a:endParaRPr lang="en-US" sz="1200" dirty="0"/>
          </a:p>
        </p:txBody>
      </p:sp>
      <p:sp>
        <p:nvSpPr>
          <p:cNvPr id="24" name="anim:2:132"/>
          <p:cNvSpPr/>
          <p:nvPr/>
        </p:nvSpPr>
        <p:spPr>
          <a:xfrm>
            <a:off x="5934456" y="3108960"/>
            <a:ext cx="219456" cy="274320"/>
          </a:xfrm>
          <a:prstGeom prst="rightArrow">
            <a:avLst/>
          </a:prstGeom>
          <a:solidFill>
            <a:srgbClr val="F2A541"/>
          </a:solidFill>
          <a:ln w="12700">
            <a:solidFill>
              <a:srgbClr val="F2A541"/>
            </a:solidFill>
            <a:prstDash val="solid"/>
          </a:ln>
        </p:spPr>
      </p:sp>
      <p:sp>
        <p:nvSpPr>
          <p:cNvPr id="25" name="anim:3:133"/>
          <p:cNvSpPr/>
          <p:nvPr/>
        </p:nvSpPr>
        <p:spPr>
          <a:xfrm>
            <a:off x="6181344" y="1600200"/>
            <a:ext cx="2542032" cy="3337560"/>
          </a:xfrm>
          <a:prstGeom prst="roundRect">
            <a:avLst>
              <a:gd name="adj" fmla="val 4317"/>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26" name="anim:3:134"/>
          <p:cNvSpPr/>
          <p:nvPr/>
        </p:nvSpPr>
        <p:spPr>
          <a:xfrm>
            <a:off x="6409944" y="1810512"/>
            <a:ext cx="502920" cy="502920"/>
          </a:xfrm>
          <a:prstGeom prst="ellipse">
            <a:avLst/>
          </a:prstGeom>
          <a:solidFill>
            <a:srgbClr val="F2A541"/>
          </a:solidFill>
          <a:ln w="12700">
            <a:solidFill>
              <a:srgbClr val="F2A541"/>
            </a:solidFill>
            <a:prstDash val="solid"/>
          </a:ln>
        </p:spPr>
      </p:sp>
      <p:sp>
        <p:nvSpPr>
          <p:cNvPr id="27" name="anim:3:135"/>
          <p:cNvSpPr txBox="1"/>
          <p:nvPr/>
        </p:nvSpPr>
        <p:spPr>
          <a:xfrm>
            <a:off x="6409944" y="1810512"/>
            <a:ext cx="502920" cy="502920"/>
          </a:xfrm>
          <a:prstGeom prst="rect">
            <a:avLst/>
          </a:prstGeom>
          <a:noFill/>
          <a:ln/>
        </p:spPr>
        <p:txBody>
          <a:bodyPr wrap="square" lIns="0" tIns="0" rIns="0" bIns="0" rtlCol="0" anchor="ctr"/>
          <a:lstStyle/>
          <a:p>
            <a:pPr algn="ctr" indent="0" marL="0">
              <a:buNone/>
            </a:pPr>
            <a:r>
              <a:rPr lang="en-US" sz="1500" b="1" dirty="0">
                <a:solidFill>
                  <a:srgbClr val="1B2A4A"/>
                </a:solidFill>
                <a:latin typeface="Calibri" pitchFamily="34" charset="0"/>
                <a:ea typeface="Calibri" pitchFamily="34" charset="-122"/>
                <a:cs typeface="Calibri" pitchFamily="34" charset="-120"/>
              </a:rPr>
              <a:t>3</a:t>
            </a:r>
            <a:endParaRPr lang="en-US" sz="1500" dirty="0"/>
          </a:p>
        </p:txBody>
      </p:sp>
      <p:sp>
        <p:nvSpPr>
          <p:cNvPr id="28" name="anim:3:136"/>
          <p:cNvSpPr txBox="1"/>
          <p:nvPr/>
        </p:nvSpPr>
        <p:spPr>
          <a:xfrm>
            <a:off x="6409944" y="2423160"/>
            <a:ext cx="2148840" cy="411480"/>
          </a:xfrm>
          <a:prstGeom prst="rect">
            <a:avLst/>
          </a:prstGeom>
          <a:noFill/>
          <a:ln/>
        </p:spPr>
        <p:txBody>
          <a:bodyPr wrap="square" lIns="0" tIns="0" rIns="0" bIns="0" rtlCol="0" anchor="t"/>
          <a:lstStyle/>
          <a:p>
            <a:pPr algn="l" indent="0" marL="0">
              <a:buNone/>
            </a:pPr>
            <a:r>
              <a:rPr lang="en-US" sz="1900" b="1" dirty="0">
                <a:solidFill>
                  <a:srgbClr val="1B2A4A"/>
                </a:solidFill>
                <a:latin typeface="Calibri" pitchFamily="34" charset="0"/>
                <a:ea typeface="Calibri" pitchFamily="34" charset="-122"/>
                <a:cs typeface="Calibri" pitchFamily="34" charset="-120"/>
              </a:rPr>
              <a:t>Decidir</a:t>
            </a:r>
            <a:endParaRPr lang="en-US" sz="1900" dirty="0"/>
          </a:p>
        </p:txBody>
      </p:sp>
      <p:sp>
        <p:nvSpPr>
          <p:cNvPr id="29" name="anim:3:137"/>
          <p:cNvSpPr txBox="1"/>
          <p:nvPr/>
        </p:nvSpPr>
        <p:spPr>
          <a:xfrm>
            <a:off x="6409944" y="2880360"/>
            <a:ext cx="2148840" cy="1325880"/>
          </a:xfrm>
          <a:prstGeom prst="rect">
            <a:avLst/>
          </a:prstGeom>
          <a:noFill/>
          <a:ln/>
        </p:spPr>
        <p:txBody>
          <a:bodyPr wrap="square" lIns="0" tIns="0" rIns="0" bIns="0" rtlCol="0" anchor="t"/>
          <a:lstStyle/>
          <a:p>
            <a:pPr algn="l" indent="0" marL="0">
              <a:buNone/>
            </a:pPr>
            <a:r>
              <a:rPr lang="en-US" sz="1400" dirty="0">
                <a:solidFill>
                  <a:srgbClr val="1F2937"/>
                </a:solidFill>
                <a:latin typeface="Calibri" pitchFamily="34" charset="0"/>
                <a:ea typeface="Calibri" pitchFamily="34" charset="-122"/>
                <a:cs typeface="Calibri" pitchFamily="34" charset="-120"/>
              </a:rPr>
              <a:t>Turma nova ou lugar ocioso, pela ocupação das turmas, e por qual rede abrir a vaga.</a:t>
            </a:r>
            <a:endParaRPr lang="en-US" sz="1400" dirty="0"/>
          </a:p>
        </p:txBody>
      </p:sp>
      <p:sp>
        <p:nvSpPr>
          <p:cNvPr id="30" name="anim:3:138"/>
          <p:cNvSpPr/>
          <p:nvPr/>
        </p:nvSpPr>
        <p:spPr>
          <a:xfrm>
            <a:off x="6409944" y="4343400"/>
            <a:ext cx="566928" cy="310896"/>
          </a:xfrm>
          <a:prstGeom prst="roundRect">
            <a:avLst>
              <a:gd name="adj" fmla="val 50000"/>
            </a:avLst>
          </a:prstGeom>
          <a:solidFill>
            <a:srgbClr val="2E5EAA"/>
          </a:solidFill>
          <a:ln w="12700">
            <a:solidFill>
              <a:srgbClr val="2E5EAA"/>
            </a:solidFill>
            <a:prstDash val="solid"/>
          </a:ln>
        </p:spPr>
      </p:sp>
      <p:sp>
        <p:nvSpPr>
          <p:cNvPr id="31" name="anim:3:139"/>
          <p:cNvSpPr txBox="1"/>
          <p:nvPr/>
        </p:nvSpPr>
        <p:spPr>
          <a:xfrm>
            <a:off x="6409944" y="4343400"/>
            <a:ext cx="566928"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C3</a:t>
            </a:r>
            <a:endParaRPr lang="en-US" sz="1200" dirty="0"/>
          </a:p>
        </p:txBody>
      </p:sp>
      <p:sp>
        <p:nvSpPr>
          <p:cNvPr id="32" name="anim:3:140"/>
          <p:cNvSpPr/>
          <p:nvPr/>
        </p:nvSpPr>
        <p:spPr>
          <a:xfrm>
            <a:off x="7068312" y="4343400"/>
            <a:ext cx="566928" cy="310896"/>
          </a:xfrm>
          <a:prstGeom prst="roundRect">
            <a:avLst>
              <a:gd name="adj" fmla="val 50000"/>
            </a:avLst>
          </a:prstGeom>
          <a:solidFill>
            <a:srgbClr val="2E5EAA"/>
          </a:solidFill>
          <a:ln w="12700">
            <a:solidFill>
              <a:srgbClr val="2E5EAA"/>
            </a:solidFill>
            <a:prstDash val="solid"/>
          </a:ln>
        </p:spPr>
      </p:sp>
      <p:sp>
        <p:nvSpPr>
          <p:cNvPr id="33" name="anim:3:141"/>
          <p:cNvSpPr txBox="1"/>
          <p:nvPr/>
        </p:nvSpPr>
        <p:spPr>
          <a:xfrm>
            <a:off x="7068312" y="4343400"/>
            <a:ext cx="566928"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C4</a:t>
            </a:r>
            <a:endParaRPr lang="en-US" sz="1200" dirty="0"/>
          </a:p>
        </p:txBody>
      </p:sp>
      <p:sp>
        <p:nvSpPr>
          <p:cNvPr id="34" name="anim:3:142"/>
          <p:cNvSpPr/>
          <p:nvPr/>
        </p:nvSpPr>
        <p:spPr>
          <a:xfrm>
            <a:off x="7726680" y="4343400"/>
            <a:ext cx="566928" cy="310896"/>
          </a:xfrm>
          <a:prstGeom prst="roundRect">
            <a:avLst>
              <a:gd name="adj" fmla="val 50000"/>
            </a:avLst>
          </a:prstGeom>
          <a:solidFill>
            <a:srgbClr val="2E5EAA"/>
          </a:solidFill>
          <a:ln w="12700">
            <a:solidFill>
              <a:srgbClr val="2E5EAA"/>
            </a:solidFill>
            <a:prstDash val="solid"/>
          </a:ln>
        </p:spPr>
      </p:sp>
      <p:sp>
        <p:nvSpPr>
          <p:cNvPr id="35" name="anim:3:143"/>
          <p:cNvSpPr txBox="1"/>
          <p:nvPr/>
        </p:nvSpPr>
        <p:spPr>
          <a:xfrm>
            <a:off x="7726680" y="4343400"/>
            <a:ext cx="566928"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C8</a:t>
            </a:r>
            <a:endParaRPr lang="en-US" sz="1200" dirty="0"/>
          </a:p>
        </p:txBody>
      </p:sp>
      <p:sp>
        <p:nvSpPr>
          <p:cNvPr id="36" name="anim:3:144"/>
          <p:cNvSpPr/>
          <p:nvPr/>
        </p:nvSpPr>
        <p:spPr>
          <a:xfrm>
            <a:off x="8750808" y="3108960"/>
            <a:ext cx="219456" cy="274320"/>
          </a:xfrm>
          <a:prstGeom prst="rightArrow">
            <a:avLst/>
          </a:prstGeom>
          <a:solidFill>
            <a:srgbClr val="F2A541"/>
          </a:solidFill>
          <a:ln w="12700">
            <a:solidFill>
              <a:srgbClr val="F2A541"/>
            </a:solidFill>
            <a:prstDash val="solid"/>
          </a:ln>
        </p:spPr>
      </p:sp>
      <p:sp>
        <p:nvSpPr>
          <p:cNvPr id="37" name="anim:4:145"/>
          <p:cNvSpPr/>
          <p:nvPr/>
        </p:nvSpPr>
        <p:spPr>
          <a:xfrm>
            <a:off x="8997696" y="1600200"/>
            <a:ext cx="2542032" cy="3337560"/>
          </a:xfrm>
          <a:prstGeom prst="roundRect">
            <a:avLst>
              <a:gd name="adj" fmla="val 4317"/>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38" name="anim:4:146"/>
          <p:cNvSpPr/>
          <p:nvPr/>
        </p:nvSpPr>
        <p:spPr>
          <a:xfrm>
            <a:off x="9226296" y="1810512"/>
            <a:ext cx="502920" cy="502920"/>
          </a:xfrm>
          <a:prstGeom prst="ellipse">
            <a:avLst/>
          </a:prstGeom>
          <a:solidFill>
            <a:srgbClr val="F2A541"/>
          </a:solidFill>
          <a:ln w="12700">
            <a:solidFill>
              <a:srgbClr val="F2A541"/>
            </a:solidFill>
            <a:prstDash val="solid"/>
          </a:ln>
        </p:spPr>
      </p:sp>
      <p:sp>
        <p:nvSpPr>
          <p:cNvPr id="39" name="anim:4:147"/>
          <p:cNvSpPr txBox="1"/>
          <p:nvPr/>
        </p:nvSpPr>
        <p:spPr>
          <a:xfrm>
            <a:off x="9226296" y="1810512"/>
            <a:ext cx="502920" cy="502920"/>
          </a:xfrm>
          <a:prstGeom prst="rect">
            <a:avLst/>
          </a:prstGeom>
          <a:noFill/>
          <a:ln/>
        </p:spPr>
        <p:txBody>
          <a:bodyPr wrap="square" lIns="0" tIns="0" rIns="0" bIns="0" rtlCol="0" anchor="ctr"/>
          <a:lstStyle/>
          <a:p>
            <a:pPr algn="ctr" indent="0" marL="0">
              <a:buNone/>
            </a:pPr>
            <a:r>
              <a:rPr lang="en-US" sz="1500" b="1" dirty="0">
                <a:solidFill>
                  <a:srgbClr val="1B2A4A"/>
                </a:solidFill>
                <a:latin typeface="Calibri" pitchFamily="34" charset="0"/>
                <a:ea typeface="Calibri" pitchFamily="34" charset="-122"/>
                <a:cs typeface="Calibri" pitchFamily="34" charset="-120"/>
              </a:rPr>
              <a:t>4</a:t>
            </a:r>
            <a:endParaRPr lang="en-US" sz="1500" dirty="0"/>
          </a:p>
        </p:txBody>
      </p:sp>
      <p:sp>
        <p:nvSpPr>
          <p:cNvPr id="40" name="anim:4:148"/>
          <p:cNvSpPr txBox="1"/>
          <p:nvPr/>
        </p:nvSpPr>
        <p:spPr>
          <a:xfrm>
            <a:off x="9226296" y="2423160"/>
            <a:ext cx="2148840" cy="411480"/>
          </a:xfrm>
          <a:prstGeom prst="rect">
            <a:avLst/>
          </a:prstGeom>
          <a:noFill/>
          <a:ln/>
        </p:spPr>
        <p:txBody>
          <a:bodyPr wrap="square" lIns="0" tIns="0" rIns="0" bIns="0" rtlCol="0" anchor="t"/>
          <a:lstStyle/>
          <a:p>
            <a:pPr algn="l" indent="0" marL="0">
              <a:buNone/>
            </a:pPr>
            <a:r>
              <a:rPr lang="en-US" sz="1900" b="1" dirty="0">
                <a:solidFill>
                  <a:srgbClr val="1B2A4A"/>
                </a:solidFill>
                <a:latin typeface="Calibri" pitchFamily="34" charset="0"/>
                <a:ea typeface="Calibri" pitchFamily="34" charset="-122"/>
                <a:cs typeface="Calibri" pitchFamily="34" charset="-120"/>
              </a:rPr>
              <a:t>Acompanhar</a:t>
            </a:r>
            <a:endParaRPr lang="en-US" sz="1900" dirty="0"/>
          </a:p>
        </p:txBody>
      </p:sp>
      <p:sp>
        <p:nvSpPr>
          <p:cNvPr id="41" name="anim:4:149"/>
          <p:cNvSpPr txBox="1"/>
          <p:nvPr/>
        </p:nvSpPr>
        <p:spPr>
          <a:xfrm>
            <a:off x="9226296" y="2880360"/>
            <a:ext cx="2148840" cy="1325880"/>
          </a:xfrm>
          <a:prstGeom prst="rect">
            <a:avLst/>
          </a:prstGeom>
          <a:noFill/>
          <a:ln/>
        </p:spPr>
        <p:txBody>
          <a:bodyPr wrap="square" lIns="0" tIns="0" rIns="0" bIns="0" rtlCol="0" anchor="t"/>
          <a:lstStyle/>
          <a:p>
            <a:pPr algn="l" indent="0" marL="0">
              <a:buNone/>
            </a:pPr>
            <a:r>
              <a:rPr lang="en-US" sz="1400" dirty="0">
                <a:solidFill>
                  <a:srgbClr val="1F2937"/>
                </a:solidFill>
                <a:latin typeface="Calibri" pitchFamily="34" charset="0"/>
                <a:ea typeface="Calibri" pitchFamily="34" charset="-122"/>
                <a:cs typeface="Calibri" pitchFamily="34" charset="-120"/>
              </a:rPr>
              <a:t>A publicação seguinte mostra se a fila do distrito caiu; o ciclo recomeça.</a:t>
            </a:r>
            <a:endParaRPr lang="en-US" sz="1400" dirty="0"/>
          </a:p>
        </p:txBody>
      </p:sp>
      <p:sp>
        <p:nvSpPr>
          <p:cNvPr id="42" name="anim:4:150"/>
          <p:cNvSpPr/>
          <p:nvPr/>
        </p:nvSpPr>
        <p:spPr>
          <a:xfrm>
            <a:off x="9226296" y="4343400"/>
            <a:ext cx="566928" cy="310896"/>
          </a:xfrm>
          <a:prstGeom prst="roundRect">
            <a:avLst>
              <a:gd name="adj" fmla="val 50000"/>
            </a:avLst>
          </a:prstGeom>
          <a:solidFill>
            <a:srgbClr val="2E5EAA"/>
          </a:solidFill>
          <a:ln w="12700">
            <a:solidFill>
              <a:srgbClr val="2E5EAA"/>
            </a:solidFill>
            <a:prstDash val="solid"/>
          </a:ln>
        </p:spPr>
      </p:sp>
      <p:sp>
        <p:nvSpPr>
          <p:cNvPr id="43" name="anim:4:151"/>
          <p:cNvSpPr txBox="1"/>
          <p:nvPr/>
        </p:nvSpPr>
        <p:spPr>
          <a:xfrm>
            <a:off x="9226296" y="4343400"/>
            <a:ext cx="566928"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C1</a:t>
            </a:r>
            <a:endParaRPr lang="en-US" sz="1200" dirty="0"/>
          </a:p>
        </p:txBody>
      </p:sp>
      <p:sp>
        <p:nvSpPr>
          <p:cNvPr id="44" name="anim:4:152"/>
          <p:cNvSpPr/>
          <p:nvPr/>
        </p:nvSpPr>
        <p:spPr>
          <a:xfrm>
            <a:off x="9884664" y="4343400"/>
            <a:ext cx="566928" cy="310896"/>
          </a:xfrm>
          <a:prstGeom prst="roundRect">
            <a:avLst>
              <a:gd name="adj" fmla="val 50000"/>
            </a:avLst>
          </a:prstGeom>
          <a:solidFill>
            <a:srgbClr val="2E5EAA"/>
          </a:solidFill>
          <a:ln w="12700">
            <a:solidFill>
              <a:srgbClr val="2E5EAA"/>
            </a:solidFill>
            <a:prstDash val="solid"/>
          </a:ln>
        </p:spPr>
      </p:sp>
      <p:sp>
        <p:nvSpPr>
          <p:cNvPr id="45" name="anim:4:153"/>
          <p:cNvSpPr txBox="1"/>
          <p:nvPr/>
        </p:nvSpPr>
        <p:spPr>
          <a:xfrm>
            <a:off x="9884664" y="4343400"/>
            <a:ext cx="566928"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C5</a:t>
            </a:r>
            <a:endParaRPr lang="en-US" sz="1200" dirty="0"/>
          </a:p>
        </p:txBody>
      </p:sp>
      <p:sp>
        <p:nvSpPr>
          <p:cNvPr id="46" name="anim:5:154"/>
          <p:cNvSpPr/>
          <p:nvPr/>
        </p:nvSpPr>
        <p:spPr>
          <a:xfrm>
            <a:off x="548640" y="5166360"/>
            <a:ext cx="11064240" cy="822960"/>
          </a:xfrm>
          <a:prstGeom prst="roundRect">
            <a:avLst>
              <a:gd name="adj" fmla="val 13333"/>
            </a:avLst>
          </a:prstGeom>
          <a:solidFill>
            <a:srgbClr val="EEF2F8"/>
          </a:solidFill>
          <a:ln w="9525">
            <a:solidFill>
              <a:srgbClr val="EEF2F8"/>
            </a:solidFill>
            <a:prstDash val="solid"/>
          </a:ln>
        </p:spPr>
      </p:sp>
      <p:sp>
        <p:nvSpPr>
          <p:cNvPr id="47" name="anim:5:155"/>
          <p:cNvSpPr/>
          <p:nvPr/>
        </p:nvSpPr>
        <p:spPr>
          <a:xfrm>
            <a:off x="777240" y="5321808"/>
            <a:ext cx="512064" cy="512064"/>
          </a:xfrm>
          <a:prstGeom prst="ellipse">
            <a:avLst/>
          </a:prstGeom>
          <a:solidFill>
            <a:srgbClr val="F2A541"/>
          </a:solidFill>
          <a:ln w="12700">
            <a:solidFill>
              <a:srgbClr val="F2A541"/>
            </a:solidFill>
            <a:prstDash val="solid"/>
          </a:ln>
        </p:spPr>
      </p:sp>
      <p:sp>
        <p:nvSpPr>
          <p:cNvPr id="48" name="anim:5:156"/>
          <p:cNvSpPr txBox="1"/>
          <p:nvPr/>
        </p:nvSpPr>
        <p:spPr>
          <a:xfrm>
            <a:off x="777240" y="5321808"/>
            <a:ext cx="512064" cy="512064"/>
          </a:xfrm>
          <a:prstGeom prst="rect">
            <a:avLst/>
          </a:prstGeom>
          <a:noFill/>
          <a:ln/>
        </p:spPr>
        <p:txBody>
          <a:bodyPr wrap="square" lIns="0" tIns="0" rIns="0" bIns="0" rtlCol="0" anchor="ctr"/>
          <a:lstStyle/>
          <a:p>
            <a:pPr algn="ctr" indent="0" marL="0">
              <a:buNone/>
            </a:pPr>
            <a:r>
              <a:rPr lang="en-US" sz="1800" b="1" dirty="0">
                <a:solidFill>
                  <a:srgbClr val="1B2A4A"/>
                </a:solidFill>
                <a:latin typeface="Calibri" pitchFamily="34" charset="0"/>
                <a:ea typeface="Calibri" pitchFamily="34" charset="-122"/>
                <a:cs typeface="Calibri" pitchFamily="34" charset="-120"/>
              </a:rPr>
              <a:t>!</a:t>
            </a:r>
            <a:endParaRPr lang="en-US" sz="1800" dirty="0"/>
          </a:p>
        </p:txBody>
      </p:sp>
      <p:sp>
        <p:nvSpPr>
          <p:cNvPr id="49" name="anim:5:157"/>
          <p:cNvSpPr txBox="1"/>
          <p:nvPr/>
        </p:nvSpPr>
        <p:spPr>
          <a:xfrm>
            <a:off x="1508760" y="5212080"/>
            <a:ext cx="9966960" cy="731520"/>
          </a:xfrm>
          <a:prstGeom prst="rect">
            <a:avLst/>
          </a:prstGeom>
          <a:noFill/>
          <a:ln/>
        </p:spPr>
        <p:txBody>
          <a:bodyPr wrap="square" lIns="0" tIns="0" rIns="0" bIns="0" rtlCol="0" anchor="ctr"/>
          <a:lstStyle/>
          <a:p>
            <a:pPr indent="0" marL="0">
              <a:buNone/>
            </a:pPr>
            <a:r>
              <a:rPr lang="en-US" sz="1500" b="1" dirty="0">
                <a:solidFill>
                  <a:srgbClr val="1B2A4A"/>
                </a:solidFill>
                <a:latin typeface="Calibri" pitchFamily="34" charset="0"/>
                <a:ea typeface="Calibri" pitchFamily="34" charset="-122"/>
                <a:cs typeface="Calibri" pitchFamily="34" charset="-120"/>
              </a:rPr>
              <a:t>Quase sete em cada dez crianças da fila de creche esperavam uma unidade específica: </a:t>
            </a:r>
            <a:pPr indent="0" marL="0">
              <a:buNone/>
            </a:pPr>
            <a:r>
              <a:rPr lang="en-US" sz="1500" dirty="0">
                <a:solidFill>
                  <a:srgbClr val="1F2937"/>
                </a:solidFill>
                <a:latin typeface="Calibri" pitchFamily="34" charset="0"/>
                <a:ea typeface="Calibri" pitchFamily="34" charset="-122"/>
                <a:cs typeface="Calibri" pitchFamily="34" charset="-120"/>
              </a:rPr>
              <a:t>falta vaga no lugar certo, e é isso que o ciclo procura.</a:t>
            </a:r>
            <a:endParaRPr lang="en-US" sz="15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8</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childTnLst>
                          </p:cTn>
                        </p:par>
                        <p:par>
                          <p:cTn id="12" fill="hold">
                            <p:stCondLst>
                              <p:cond delay="0"/>
                            </p:stCondLst>
                            <p:childTnLst>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childTnLst>
                          </p:cTn>
                        </p:par>
                        <p:par>
                          <p:cTn id="16" fill="hold">
                            <p:stCondLst>
                              <p:cond delay="0"/>
                            </p:stCondLst>
                            <p:childTnLst>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00"/>
                                        <p:tgtEl>
                                          <p:spTgt spid="8"/>
                                        </p:tgtEl>
                                      </p:cBhvr>
                                    </p:animEffect>
                                  </p:childTnLst>
                                </p:cTn>
                              </p:par>
                            </p:childTnLst>
                          </p:cTn>
                        </p:par>
                        <p:par>
                          <p:cTn id="20" fill="hold">
                            <p:stCondLst>
                              <p:cond delay="0"/>
                            </p:stCondLst>
                            <p:childTnLst>
                              <p:par>
                                <p:cTn id="21" presetID="10" presetClass="entr" presetSubtype="0"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400"/>
                                        <p:tgtEl>
                                          <p:spTgt spid="9"/>
                                        </p:tgtEl>
                                      </p:cBhvr>
                                    </p:animEffect>
                                  </p:childTnLst>
                                </p:cTn>
                              </p:par>
                            </p:childTnLst>
                          </p:cTn>
                        </p:par>
                        <p:par>
                          <p:cTn id="24" fill="hold">
                            <p:stCondLst>
                              <p:cond delay="0"/>
                            </p:stCondLst>
                            <p:childTnLst>
                              <p:par>
                                <p:cTn id="25" presetID="10"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400"/>
                                        <p:tgtEl>
                                          <p:spTgt spid="10"/>
                                        </p:tgtEl>
                                      </p:cBhvr>
                                    </p:animEffect>
                                  </p:childTnLst>
                                </p:cTn>
                              </p:par>
                            </p:childTnLst>
                          </p:cTn>
                        </p:par>
                        <p:par>
                          <p:cTn id="28" fill="hold">
                            <p:stCondLst>
                              <p:cond delay="0"/>
                            </p:stCondLst>
                            <p:childTnLst>
                              <p:par>
                                <p:cTn id="29" presetID="10" presetClass="entr" presetSubtype="0"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00"/>
                                        <p:tgtEl>
                                          <p:spTgt spid="11"/>
                                        </p:tgtEl>
                                      </p:cBhvr>
                                    </p:animEffect>
                                  </p:childTnLst>
                                </p:cTn>
                              </p:par>
                            </p:childTnLst>
                          </p:cTn>
                        </p:par>
                        <p:par>
                          <p:cTn id="32" fill="hold">
                            <p:stCondLst>
                              <p:cond delay="0"/>
                            </p:stCondLst>
                            <p:childTnLst>
                              <p:par>
                                <p:cTn id="33" presetID="10" presetClass="entr" presetSubtype="0" fill="hold" grpId="0" nodeType="with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400"/>
                                        <p:tgtEl>
                                          <p:spTgt spid="12"/>
                                        </p:tgtEl>
                                      </p:cBhvr>
                                    </p:animEffect>
                                  </p:childTnLst>
                                </p:cTn>
                              </p:par>
                            </p:childTnLst>
                          </p:cTn>
                        </p:par>
                        <p:par>
                          <p:cTn id="36" fill="hold">
                            <p:stCondLst>
                              <p:cond delay="250"/>
                            </p:stCondLst>
                            <p:childTnLst>
                              <p:par>
                                <p:cTn id="37" presetID="10" presetClass="entr" presetSubtype="0" fill="hold" grpId="0" nodeType="withEffect">
                                  <p:stCondLst>
                                    <p:cond delay="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400"/>
                                        <p:tgtEl>
                                          <p:spTgt spid="13"/>
                                        </p:tgtEl>
                                      </p:cBhvr>
                                    </p:animEffect>
                                  </p:childTnLst>
                                </p:cTn>
                              </p:par>
                            </p:childTnLst>
                          </p:cTn>
                        </p:par>
                        <p:par>
                          <p:cTn id="40" fill="hold">
                            <p:stCondLst>
                              <p:cond delay="250"/>
                            </p:stCondLst>
                            <p:childTnLst>
                              <p:par>
                                <p:cTn id="41" presetID="10" presetClass="entr" presetSubtype="0" fill="hold" grpId="0" nodeType="withEffect">
                                  <p:stCondLst>
                                    <p:cond delay="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400"/>
                                        <p:tgtEl>
                                          <p:spTgt spid="14"/>
                                        </p:tgtEl>
                                      </p:cBhvr>
                                    </p:animEffect>
                                  </p:childTnLst>
                                </p:cTn>
                              </p:par>
                            </p:childTnLst>
                          </p:cTn>
                        </p:par>
                        <p:par>
                          <p:cTn id="44" fill="hold">
                            <p:stCondLst>
                              <p:cond delay="250"/>
                            </p:stCondLst>
                            <p:childTnLst>
                              <p:par>
                                <p:cTn id="45" presetID="10" presetClass="entr" presetSubtype="0" fill="hold" grpId="0" nodeType="withEffect">
                                  <p:stCondLst>
                                    <p:cond delay="0"/>
                                  </p:stCondLst>
                                  <p:childTnLst>
                                    <p:set>
                                      <p:cBhvr>
                                        <p:cTn id="46" dur="1" fill="hold">
                                          <p:stCondLst>
                                            <p:cond delay="0"/>
                                          </p:stCondLst>
                                        </p:cTn>
                                        <p:tgtEl>
                                          <p:spTgt spid="15"/>
                                        </p:tgtEl>
                                        <p:attrNameLst>
                                          <p:attrName>style.visibility</p:attrName>
                                        </p:attrNameLst>
                                      </p:cBhvr>
                                      <p:to>
                                        <p:strVal val="visible"/>
                                      </p:to>
                                    </p:set>
                                    <p:animEffect transition="in" filter="fade">
                                      <p:cBhvr>
                                        <p:cTn id="47" dur="400"/>
                                        <p:tgtEl>
                                          <p:spTgt spid="15"/>
                                        </p:tgtEl>
                                      </p:cBhvr>
                                    </p:animEffect>
                                  </p:childTnLst>
                                </p:cTn>
                              </p:par>
                            </p:childTnLst>
                          </p:cTn>
                        </p:par>
                        <p:par>
                          <p:cTn id="48" fill="hold">
                            <p:stCondLst>
                              <p:cond delay="250"/>
                            </p:stCondLst>
                            <p:childTnLst>
                              <p:par>
                                <p:cTn id="49" presetID="10" presetClass="entr" presetSubtype="0" fill="hold" grpId="0" nodeType="withEffect">
                                  <p:stCondLst>
                                    <p:cond delay="0"/>
                                  </p:stCondLst>
                                  <p:childTnLst>
                                    <p:set>
                                      <p:cBhvr>
                                        <p:cTn id="50" dur="1" fill="hold">
                                          <p:stCondLst>
                                            <p:cond delay="0"/>
                                          </p:stCondLst>
                                        </p:cTn>
                                        <p:tgtEl>
                                          <p:spTgt spid="16"/>
                                        </p:tgtEl>
                                        <p:attrNameLst>
                                          <p:attrName>style.visibility</p:attrName>
                                        </p:attrNameLst>
                                      </p:cBhvr>
                                      <p:to>
                                        <p:strVal val="visible"/>
                                      </p:to>
                                    </p:set>
                                    <p:animEffect transition="in" filter="fade">
                                      <p:cBhvr>
                                        <p:cTn id="51" dur="400"/>
                                        <p:tgtEl>
                                          <p:spTgt spid="16"/>
                                        </p:tgtEl>
                                      </p:cBhvr>
                                    </p:animEffect>
                                  </p:childTnLst>
                                </p:cTn>
                              </p:par>
                            </p:childTnLst>
                          </p:cTn>
                        </p:par>
                        <p:par>
                          <p:cTn id="52" fill="hold">
                            <p:stCondLst>
                              <p:cond delay="250"/>
                            </p:stCondLst>
                            <p:childTnLst>
                              <p:par>
                                <p:cTn id="53" presetID="10" presetClass="entr" presetSubtype="0" fill="hold" grpId="0" nodeType="withEffect">
                                  <p:stCondLst>
                                    <p:cond delay="0"/>
                                  </p:stCondLst>
                                  <p:childTnLst>
                                    <p:set>
                                      <p:cBhvr>
                                        <p:cTn id="54" dur="1" fill="hold">
                                          <p:stCondLst>
                                            <p:cond delay="0"/>
                                          </p:stCondLst>
                                        </p:cTn>
                                        <p:tgtEl>
                                          <p:spTgt spid="17"/>
                                        </p:tgtEl>
                                        <p:attrNameLst>
                                          <p:attrName>style.visibility</p:attrName>
                                        </p:attrNameLst>
                                      </p:cBhvr>
                                      <p:to>
                                        <p:strVal val="visible"/>
                                      </p:to>
                                    </p:set>
                                    <p:animEffect transition="in" filter="fade">
                                      <p:cBhvr>
                                        <p:cTn id="55" dur="400"/>
                                        <p:tgtEl>
                                          <p:spTgt spid="17"/>
                                        </p:tgtEl>
                                      </p:cBhvr>
                                    </p:animEffect>
                                  </p:childTnLst>
                                </p:cTn>
                              </p:par>
                            </p:childTnLst>
                          </p:cTn>
                        </p:par>
                        <p:par>
                          <p:cTn id="56" fill="hold">
                            <p:stCondLst>
                              <p:cond delay="250"/>
                            </p:stCondLst>
                            <p:childTnLst>
                              <p:par>
                                <p:cTn id="57" presetID="10" presetClass="entr" presetSubtype="0" fill="hold" grpId="0" nodeType="withEffect">
                                  <p:stCondLst>
                                    <p:cond delay="0"/>
                                  </p:stCondLst>
                                  <p:childTnLst>
                                    <p:set>
                                      <p:cBhvr>
                                        <p:cTn id="58" dur="1" fill="hold">
                                          <p:stCondLst>
                                            <p:cond delay="0"/>
                                          </p:stCondLst>
                                        </p:cTn>
                                        <p:tgtEl>
                                          <p:spTgt spid="18"/>
                                        </p:tgtEl>
                                        <p:attrNameLst>
                                          <p:attrName>style.visibility</p:attrName>
                                        </p:attrNameLst>
                                      </p:cBhvr>
                                      <p:to>
                                        <p:strVal val="visible"/>
                                      </p:to>
                                    </p:set>
                                    <p:animEffect transition="in" filter="fade">
                                      <p:cBhvr>
                                        <p:cTn id="59" dur="400"/>
                                        <p:tgtEl>
                                          <p:spTgt spid="18"/>
                                        </p:tgtEl>
                                      </p:cBhvr>
                                    </p:animEffect>
                                  </p:childTnLst>
                                </p:cTn>
                              </p:par>
                            </p:childTnLst>
                          </p:cTn>
                        </p:par>
                        <p:par>
                          <p:cTn id="60" fill="hold">
                            <p:stCondLst>
                              <p:cond delay="250"/>
                            </p:stCondLst>
                            <p:childTnLst>
                              <p:par>
                                <p:cTn id="61" presetID="10" presetClass="entr" presetSubtype="0" fill="hold" grpId="0" nodeType="withEffect">
                                  <p:stCondLst>
                                    <p:cond delay="0"/>
                                  </p:stCondLst>
                                  <p:childTnLst>
                                    <p:set>
                                      <p:cBhvr>
                                        <p:cTn id="62" dur="1" fill="hold">
                                          <p:stCondLst>
                                            <p:cond delay="0"/>
                                          </p:stCondLst>
                                        </p:cTn>
                                        <p:tgtEl>
                                          <p:spTgt spid="19"/>
                                        </p:tgtEl>
                                        <p:attrNameLst>
                                          <p:attrName>style.visibility</p:attrName>
                                        </p:attrNameLst>
                                      </p:cBhvr>
                                      <p:to>
                                        <p:strVal val="visible"/>
                                      </p:to>
                                    </p:set>
                                    <p:animEffect transition="in" filter="fade">
                                      <p:cBhvr>
                                        <p:cTn id="63" dur="400"/>
                                        <p:tgtEl>
                                          <p:spTgt spid="19"/>
                                        </p:tgtEl>
                                      </p:cBhvr>
                                    </p:animEffect>
                                  </p:childTnLst>
                                </p:cTn>
                              </p:par>
                            </p:childTnLst>
                          </p:cTn>
                        </p:par>
                        <p:par>
                          <p:cTn id="64" fill="hold">
                            <p:stCondLst>
                              <p:cond delay="250"/>
                            </p:stCondLst>
                            <p:childTnLst>
                              <p:par>
                                <p:cTn id="65" presetID="10" presetClass="entr" presetSubtype="0" fill="hold" grpId="0" nodeType="withEffect">
                                  <p:stCondLst>
                                    <p:cond delay="0"/>
                                  </p:stCondLst>
                                  <p:childTnLst>
                                    <p:set>
                                      <p:cBhvr>
                                        <p:cTn id="66" dur="1" fill="hold">
                                          <p:stCondLst>
                                            <p:cond delay="0"/>
                                          </p:stCondLst>
                                        </p:cTn>
                                        <p:tgtEl>
                                          <p:spTgt spid="20"/>
                                        </p:tgtEl>
                                        <p:attrNameLst>
                                          <p:attrName>style.visibility</p:attrName>
                                        </p:attrNameLst>
                                      </p:cBhvr>
                                      <p:to>
                                        <p:strVal val="visible"/>
                                      </p:to>
                                    </p:set>
                                    <p:animEffect transition="in" filter="fade">
                                      <p:cBhvr>
                                        <p:cTn id="67" dur="400"/>
                                        <p:tgtEl>
                                          <p:spTgt spid="20"/>
                                        </p:tgtEl>
                                      </p:cBhvr>
                                    </p:animEffect>
                                  </p:childTnLst>
                                </p:cTn>
                              </p:par>
                            </p:childTnLst>
                          </p:cTn>
                        </p:par>
                        <p:par>
                          <p:cTn id="68" fill="hold">
                            <p:stCondLst>
                              <p:cond delay="250"/>
                            </p:stCondLst>
                            <p:childTnLst>
                              <p:par>
                                <p:cTn id="69" presetID="10" presetClass="entr" presetSubtype="0" fill="hold" grpId="0" nodeType="withEffect">
                                  <p:stCondLst>
                                    <p:cond delay="0"/>
                                  </p:stCondLst>
                                  <p:childTnLst>
                                    <p:set>
                                      <p:cBhvr>
                                        <p:cTn id="70" dur="1" fill="hold">
                                          <p:stCondLst>
                                            <p:cond delay="0"/>
                                          </p:stCondLst>
                                        </p:cTn>
                                        <p:tgtEl>
                                          <p:spTgt spid="21"/>
                                        </p:tgtEl>
                                        <p:attrNameLst>
                                          <p:attrName>style.visibility</p:attrName>
                                        </p:attrNameLst>
                                      </p:cBhvr>
                                      <p:to>
                                        <p:strVal val="visible"/>
                                      </p:to>
                                    </p:set>
                                    <p:animEffect transition="in" filter="fade">
                                      <p:cBhvr>
                                        <p:cTn id="71" dur="400"/>
                                        <p:tgtEl>
                                          <p:spTgt spid="21"/>
                                        </p:tgtEl>
                                      </p:cBhvr>
                                    </p:animEffect>
                                  </p:childTnLst>
                                </p:cTn>
                              </p:par>
                            </p:childTnLst>
                          </p:cTn>
                        </p:par>
                        <p:par>
                          <p:cTn id="72" fill="hold">
                            <p:stCondLst>
                              <p:cond delay="250"/>
                            </p:stCondLst>
                            <p:childTnLst>
                              <p:par>
                                <p:cTn id="73" presetID="10" presetClass="entr" presetSubtype="0" fill="hold" grpId="0" nodeType="withEffect">
                                  <p:stCondLst>
                                    <p:cond delay="0"/>
                                  </p:stCondLst>
                                  <p:childTnLst>
                                    <p:set>
                                      <p:cBhvr>
                                        <p:cTn id="74" dur="1" fill="hold">
                                          <p:stCondLst>
                                            <p:cond delay="0"/>
                                          </p:stCondLst>
                                        </p:cTn>
                                        <p:tgtEl>
                                          <p:spTgt spid="22"/>
                                        </p:tgtEl>
                                        <p:attrNameLst>
                                          <p:attrName>style.visibility</p:attrName>
                                        </p:attrNameLst>
                                      </p:cBhvr>
                                      <p:to>
                                        <p:strVal val="visible"/>
                                      </p:to>
                                    </p:set>
                                    <p:animEffect transition="in" filter="fade">
                                      <p:cBhvr>
                                        <p:cTn id="75" dur="400"/>
                                        <p:tgtEl>
                                          <p:spTgt spid="22"/>
                                        </p:tgtEl>
                                      </p:cBhvr>
                                    </p:animEffect>
                                  </p:childTnLst>
                                </p:cTn>
                              </p:par>
                            </p:childTnLst>
                          </p:cTn>
                        </p:par>
                        <p:par>
                          <p:cTn id="76" fill="hold">
                            <p:stCondLst>
                              <p:cond delay="250"/>
                            </p:stCondLst>
                            <p:childTnLst>
                              <p:par>
                                <p:cTn id="77" presetID="10" presetClass="entr" presetSubtype="0" fill="hold" grpId="0" nodeType="withEffect">
                                  <p:stCondLst>
                                    <p:cond delay="0"/>
                                  </p:stCondLst>
                                  <p:childTnLst>
                                    <p:set>
                                      <p:cBhvr>
                                        <p:cTn id="78" dur="1" fill="hold">
                                          <p:stCondLst>
                                            <p:cond delay="0"/>
                                          </p:stCondLst>
                                        </p:cTn>
                                        <p:tgtEl>
                                          <p:spTgt spid="23"/>
                                        </p:tgtEl>
                                        <p:attrNameLst>
                                          <p:attrName>style.visibility</p:attrName>
                                        </p:attrNameLst>
                                      </p:cBhvr>
                                      <p:to>
                                        <p:strVal val="visible"/>
                                      </p:to>
                                    </p:set>
                                    <p:animEffect transition="in" filter="fade">
                                      <p:cBhvr>
                                        <p:cTn id="79" dur="400"/>
                                        <p:tgtEl>
                                          <p:spTgt spid="23"/>
                                        </p:tgtEl>
                                      </p:cBhvr>
                                    </p:animEffect>
                                  </p:childTnLst>
                                </p:cTn>
                              </p:par>
                            </p:childTnLst>
                          </p:cTn>
                        </p:par>
                        <p:par>
                          <p:cTn id="80" fill="hold">
                            <p:stCondLst>
                              <p:cond delay="250"/>
                            </p:stCondLst>
                            <p:childTnLst>
                              <p:par>
                                <p:cTn id="81" presetID="10" presetClass="entr" presetSubtype="0" fill="hold" grpId="0" nodeType="withEffect">
                                  <p:stCondLst>
                                    <p:cond delay="0"/>
                                  </p:stCondLst>
                                  <p:childTnLst>
                                    <p:set>
                                      <p:cBhvr>
                                        <p:cTn id="82" dur="1" fill="hold">
                                          <p:stCondLst>
                                            <p:cond delay="0"/>
                                          </p:stCondLst>
                                        </p:cTn>
                                        <p:tgtEl>
                                          <p:spTgt spid="24"/>
                                        </p:tgtEl>
                                        <p:attrNameLst>
                                          <p:attrName>style.visibility</p:attrName>
                                        </p:attrNameLst>
                                      </p:cBhvr>
                                      <p:to>
                                        <p:strVal val="visible"/>
                                      </p:to>
                                    </p:set>
                                    <p:animEffect transition="in" filter="fade">
                                      <p:cBhvr>
                                        <p:cTn id="83" dur="400"/>
                                        <p:tgtEl>
                                          <p:spTgt spid="24"/>
                                        </p:tgtEl>
                                      </p:cBhvr>
                                    </p:animEffect>
                                  </p:childTnLst>
                                </p:cTn>
                              </p:par>
                            </p:childTnLst>
                          </p:cTn>
                        </p:par>
                        <p:par>
                          <p:cTn id="84" fill="hold">
                            <p:stCondLst>
                              <p:cond delay="500"/>
                            </p:stCondLst>
                            <p:childTnLst>
                              <p:par>
                                <p:cTn id="85" presetID="10" presetClass="entr" presetSubtype="0" fill="hold" grpId="0" nodeType="withEffect">
                                  <p:stCondLst>
                                    <p:cond delay="0"/>
                                  </p:stCondLst>
                                  <p:childTnLst>
                                    <p:set>
                                      <p:cBhvr>
                                        <p:cTn id="86" dur="1" fill="hold">
                                          <p:stCondLst>
                                            <p:cond delay="0"/>
                                          </p:stCondLst>
                                        </p:cTn>
                                        <p:tgtEl>
                                          <p:spTgt spid="25"/>
                                        </p:tgtEl>
                                        <p:attrNameLst>
                                          <p:attrName>style.visibility</p:attrName>
                                        </p:attrNameLst>
                                      </p:cBhvr>
                                      <p:to>
                                        <p:strVal val="visible"/>
                                      </p:to>
                                    </p:set>
                                    <p:animEffect transition="in" filter="fade">
                                      <p:cBhvr>
                                        <p:cTn id="87" dur="400"/>
                                        <p:tgtEl>
                                          <p:spTgt spid="25"/>
                                        </p:tgtEl>
                                      </p:cBhvr>
                                    </p:animEffect>
                                  </p:childTnLst>
                                </p:cTn>
                              </p:par>
                            </p:childTnLst>
                          </p:cTn>
                        </p:par>
                        <p:par>
                          <p:cTn id="88" fill="hold">
                            <p:stCondLst>
                              <p:cond delay="500"/>
                            </p:stCondLst>
                            <p:childTnLst>
                              <p:par>
                                <p:cTn id="89" presetID="10" presetClass="entr" presetSubtype="0" fill="hold" grpId="0" nodeType="withEffect">
                                  <p:stCondLst>
                                    <p:cond delay="0"/>
                                  </p:stCondLst>
                                  <p:childTnLst>
                                    <p:set>
                                      <p:cBhvr>
                                        <p:cTn id="90" dur="1" fill="hold">
                                          <p:stCondLst>
                                            <p:cond delay="0"/>
                                          </p:stCondLst>
                                        </p:cTn>
                                        <p:tgtEl>
                                          <p:spTgt spid="26"/>
                                        </p:tgtEl>
                                        <p:attrNameLst>
                                          <p:attrName>style.visibility</p:attrName>
                                        </p:attrNameLst>
                                      </p:cBhvr>
                                      <p:to>
                                        <p:strVal val="visible"/>
                                      </p:to>
                                    </p:set>
                                    <p:animEffect transition="in" filter="fade">
                                      <p:cBhvr>
                                        <p:cTn id="91" dur="400"/>
                                        <p:tgtEl>
                                          <p:spTgt spid="26"/>
                                        </p:tgtEl>
                                      </p:cBhvr>
                                    </p:animEffect>
                                  </p:childTnLst>
                                </p:cTn>
                              </p:par>
                            </p:childTnLst>
                          </p:cTn>
                        </p:par>
                        <p:par>
                          <p:cTn id="92" fill="hold">
                            <p:stCondLst>
                              <p:cond delay="500"/>
                            </p:stCondLst>
                            <p:childTnLst>
                              <p:par>
                                <p:cTn id="93" presetID="10" presetClass="entr" presetSubtype="0" fill="hold" grpId="0" nodeType="withEffect">
                                  <p:stCondLst>
                                    <p:cond delay="0"/>
                                  </p:stCondLst>
                                  <p:childTnLst>
                                    <p:set>
                                      <p:cBhvr>
                                        <p:cTn id="94" dur="1" fill="hold">
                                          <p:stCondLst>
                                            <p:cond delay="0"/>
                                          </p:stCondLst>
                                        </p:cTn>
                                        <p:tgtEl>
                                          <p:spTgt spid="27"/>
                                        </p:tgtEl>
                                        <p:attrNameLst>
                                          <p:attrName>style.visibility</p:attrName>
                                        </p:attrNameLst>
                                      </p:cBhvr>
                                      <p:to>
                                        <p:strVal val="visible"/>
                                      </p:to>
                                    </p:set>
                                    <p:animEffect transition="in" filter="fade">
                                      <p:cBhvr>
                                        <p:cTn id="95" dur="400"/>
                                        <p:tgtEl>
                                          <p:spTgt spid="27"/>
                                        </p:tgtEl>
                                      </p:cBhvr>
                                    </p:animEffect>
                                  </p:childTnLst>
                                </p:cTn>
                              </p:par>
                            </p:childTnLst>
                          </p:cTn>
                        </p:par>
                        <p:par>
                          <p:cTn id="96" fill="hold">
                            <p:stCondLst>
                              <p:cond delay="500"/>
                            </p:stCondLst>
                            <p:childTnLst>
                              <p:par>
                                <p:cTn id="97" presetID="10" presetClass="entr" presetSubtype="0" fill="hold" grpId="0" nodeType="withEffect">
                                  <p:stCondLst>
                                    <p:cond delay="0"/>
                                  </p:stCondLst>
                                  <p:childTnLst>
                                    <p:set>
                                      <p:cBhvr>
                                        <p:cTn id="98" dur="1" fill="hold">
                                          <p:stCondLst>
                                            <p:cond delay="0"/>
                                          </p:stCondLst>
                                        </p:cTn>
                                        <p:tgtEl>
                                          <p:spTgt spid="28"/>
                                        </p:tgtEl>
                                        <p:attrNameLst>
                                          <p:attrName>style.visibility</p:attrName>
                                        </p:attrNameLst>
                                      </p:cBhvr>
                                      <p:to>
                                        <p:strVal val="visible"/>
                                      </p:to>
                                    </p:set>
                                    <p:animEffect transition="in" filter="fade">
                                      <p:cBhvr>
                                        <p:cTn id="99" dur="400"/>
                                        <p:tgtEl>
                                          <p:spTgt spid="28"/>
                                        </p:tgtEl>
                                      </p:cBhvr>
                                    </p:animEffect>
                                  </p:childTnLst>
                                </p:cTn>
                              </p:par>
                            </p:childTnLst>
                          </p:cTn>
                        </p:par>
                        <p:par>
                          <p:cTn id="100" fill="hold">
                            <p:stCondLst>
                              <p:cond delay="500"/>
                            </p:stCondLst>
                            <p:childTnLst>
                              <p:par>
                                <p:cTn id="101" presetID="10" presetClass="entr" presetSubtype="0" fill="hold" grpId="0" nodeType="withEffect">
                                  <p:stCondLst>
                                    <p:cond delay="0"/>
                                  </p:stCondLst>
                                  <p:childTnLst>
                                    <p:set>
                                      <p:cBhvr>
                                        <p:cTn id="102" dur="1" fill="hold">
                                          <p:stCondLst>
                                            <p:cond delay="0"/>
                                          </p:stCondLst>
                                        </p:cTn>
                                        <p:tgtEl>
                                          <p:spTgt spid="29"/>
                                        </p:tgtEl>
                                        <p:attrNameLst>
                                          <p:attrName>style.visibility</p:attrName>
                                        </p:attrNameLst>
                                      </p:cBhvr>
                                      <p:to>
                                        <p:strVal val="visible"/>
                                      </p:to>
                                    </p:set>
                                    <p:animEffect transition="in" filter="fade">
                                      <p:cBhvr>
                                        <p:cTn id="103" dur="400"/>
                                        <p:tgtEl>
                                          <p:spTgt spid="29"/>
                                        </p:tgtEl>
                                      </p:cBhvr>
                                    </p:animEffect>
                                  </p:childTnLst>
                                </p:cTn>
                              </p:par>
                            </p:childTnLst>
                          </p:cTn>
                        </p:par>
                        <p:par>
                          <p:cTn id="104" fill="hold">
                            <p:stCondLst>
                              <p:cond delay="500"/>
                            </p:stCondLst>
                            <p:childTnLst>
                              <p:par>
                                <p:cTn id="105" presetID="10" presetClass="entr" presetSubtype="0" fill="hold" grpId="0" nodeType="withEffect">
                                  <p:stCondLst>
                                    <p:cond delay="0"/>
                                  </p:stCondLst>
                                  <p:childTnLst>
                                    <p:set>
                                      <p:cBhvr>
                                        <p:cTn id="106" dur="1" fill="hold">
                                          <p:stCondLst>
                                            <p:cond delay="0"/>
                                          </p:stCondLst>
                                        </p:cTn>
                                        <p:tgtEl>
                                          <p:spTgt spid="30"/>
                                        </p:tgtEl>
                                        <p:attrNameLst>
                                          <p:attrName>style.visibility</p:attrName>
                                        </p:attrNameLst>
                                      </p:cBhvr>
                                      <p:to>
                                        <p:strVal val="visible"/>
                                      </p:to>
                                    </p:set>
                                    <p:animEffect transition="in" filter="fade">
                                      <p:cBhvr>
                                        <p:cTn id="107" dur="400"/>
                                        <p:tgtEl>
                                          <p:spTgt spid="30"/>
                                        </p:tgtEl>
                                      </p:cBhvr>
                                    </p:animEffect>
                                  </p:childTnLst>
                                </p:cTn>
                              </p:par>
                            </p:childTnLst>
                          </p:cTn>
                        </p:par>
                        <p:par>
                          <p:cTn id="108" fill="hold">
                            <p:stCondLst>
                              <p:cond delay="500"/>
                            </p:stCondLst>
                            <p:childTnLst>
                              <p:par>
                                <p:cTn id="109" presetID="10" presetClass="entr" presetSubtype="0" fill="hold" grpId="0" nodeType="withEffect">
                                  <p:stCondLst>
                                    <p:cond delay="0"/>
                                  </p:stCondLst>
                                  <p:childTnLst>
                                    <p:set>
                                      <p:cBhvr>
                                        <p:cTn id="110" dur="1" fill="hold">
                                          <p:stCondLst>
                                            <p:cond delay="0"/>
                                          </p:stCondLst>
                                        </p:cTn>
                                        <p:tgtEl>
                                          <p:spTgt spid="31"/>
                                        </p:tgtEl>
                                        <p:attrNameLst>
                                          <p:attrName>style.visibility</p:attrName>
                                        </p:attrNameLst>
                                      </p:cBhvr>
                                      <p:to>
                                        <p:strVal val="visible"/>
                                      </p:to>
                                    </p:set>
                                    <p:animEffect transition="in" filter="fade">
                                      <p:cBhvr>
                                        <p:cTn id="111" dur="400"/>
                                        <p:tgtEl>
                                          <p:spTgt spid="31"/>
                                        </p:tgtEl>
                                      </p:cBhvr>
                                    </p:animEffect>
                                  </p:childTnLst>
                                </p:cTn>
                              </p:par>
                            </p:childTnLst>
                          </p:cTn>
                        </p:par>
                        <p:par>
                          <p:cTn id="112" fill="hold">
                            <p:stCondLst>
                              <p:cond delay="500"/>
                            </p:stCondLst>
                            <p:childTnLst>
                              <p:par>
                                <p:cTn id="113" presetID="10" presetClass="entr" presetSubtype="0" fill="hold" grpId="0" nodeType="withEffect">
                                  <p:stCondLst>
                                    <p:cond delay="0"/>
                                  </p:stCondLst>
                                  <p:childTnLst>
                                    <p:set>
                                      <p:cBhvr>
                                        <p:cTn id="114" dur="1" fill="hold">
                                          <p:stCondLst>
                                            <p:cond delay="0"/>
                                          </p:stCondLst>
                                        </p:cTn>
                                        <p:tgtEl>
                                          <p:spTgt spid="32"/>
                                        </p:tgtEl>
                                        <p:attrNameLst>
                                          <p:attrName>style.visibility</p:attrName>
                                        </p:attrNameLst>
                                      </p:cBhvr>
                                      <p:to>
                                        <p:strVal val="visible"/>
                                      </p:to>
                                    </p:set>
                                    <p:animEffect transition="in" filter="fade">
                                      <p:cBhvr>
                                        <p:cTn id="115" dur="400"/>
                                        <p:tgtEl>
                                          <p:spTgt spid="32"/>
                                        </p:tgtEl>
                                      </p:cBhvr>
                                    </p:animEffect>
                                  </p:childTnLst>
                                </p:cTn>
                              </p:par>
                            </p:childTnLst>
                          </p:cTn>
                        </p:par>
                        <p:par>
                          <p:cTn id="116" fill="hold">
                            <p:stCondLst>
                              <p:cond delay="500"/>
                            </p:stCondLst>
                            <p:childTnLst>
                              <p:par>
                                <p:cTn id="117" presetID="10" presetClass="entr" presetSubtype="0" fill="hold" grpId="0" nodeType="withEffect">
                                  <p:stCondLst>
                                    <p:cond delay="0"/>
                                  </p:stCondLst>
                                  <p:childTnLst>
                                    <p:set>
                                      <p:cBhvr>
                                        <p:cTn id="118" dur="1" fill="hold">
                                          <p:stCondLst>
                                            <p:cond delay="0"/>
                                          </p:stCondLst>
                                        </p:cTn>
                                        <p:tgtEl>
                                          <p:spTgt spid="33"/>
                                        </p:tgtEl>
                                        <p:attrNameLst>
                                          <p:attrName>style.visibility</p:attrName>
                                        </p:attrNameLst>
                                      </p:cBhvr>
                                      <p:to>
                                        <p:strVal val="visible"/>
                                      </p:to>
                                    </p:set>
                                    <p:animEffect transition="in" filter="fade">
                                      <p:cBhvr>
                                        <p:cTn id="119" dur="400"/>
                                        <p:tgtEl>
                                          <p:spTgt spid="33"/>
                                        </p:tgtEl>
                                      </p:cBhvr>
                                    </p:animEffect>
                                  </p:childTnLst>
                                </p:cTn>
                              </p:par>
                            </p:childTnLst>
                          </p:cTn>
                        </p:par>
                        <p:par>
                          <p:cTn id="120" fill="hold">
                            <p:stCondLst>
                              <p:cond delay="500"/>
                            </p:stCondLst>
                            <p:childTnLst>
                              <p:par>
                                <p:cTn id="121" presetID="10" presetClass="entr" presetSubtype="0" fill="hold" grpId="0" nodeType="withEffect">
                                  <p:stCondLst>
                                    <p:cond delay="0"/>
                                  </p:stCondLst>
                                  <p:childTnLst>
                                    <p:set>
                                      <p:cBhvr>
                                        <p:cTn id="122" dur="1" fill="hold">
                                          <p:stCondLst>
                                            <p:cond delay="0"/>
                                          </p:stCondLst>
                                        </p:cTn>
                                        <p:tgtEl>
                                          <p:spTgt spid="34"/>
                                        </p:tgtEl>
                                        <p:attrNameLst>
                                          <p:attrName>style.visibility</p:attrName>
                                        </p:attrNameLst>
                                      </p:cBhvr>
                                      <p:to>
                                        <p:strVal val="visible"/>
                                      </p:to>
                                    </p:set>
                                    <p:animEffect transition="in" filter="fade">
                                      <p:cBhvr>
                                        <p:cTn id="123" dur="400"/>
                                        <p:tgtEl>
                                          <p:spTgt spid="34"/>
                                        </p:tgtEl>
                                      </p:cBhvr>
                                    </p:animEffect>
                                  </p:childTnLst>
                                </p:cTn>
                              </p:par>
                            </p:childTnLst>
                          </p:cTn>
                        </p:par>
                        <p:par>
                          <p:cTn id="124" fill="hold">
                            <p:stCondLst>
                              <p:cond delay="500"/>
                            </p:stCondLst>
                            <p:childTnLst>
                              <p:par>
                                <p:cTn id="125" presetID="10" presetClass="entr" presetSubtype="0" fill="hold" grpId="0" nodeType="withEffect">
                                  <p:stCondLst>
                                    <p:cond delay="0"/>
                                  </p:stCondLst>
                                  <p:childTnLst>
                                    <p:set>
                                      <p:cBhvr>
                                        <p:cTn id="126" dur="1" fill="hold">
                                          <p:stCondLst>
                                            <p:cond delay="0"/>
                                          </p:stCondLst>
                                        </p:cTn>
                                        <p:tgtEl>
                                          <p:spTgt spid="35"/>
                                        </p:tgtEl>
                                        <p:attrNameLst>
                                          <p:attrName>style.visibility</p:attrName>
                                        </p:attrNameLst>
                                      </p:cBhvr>
                                      <p:to>
                                        <p:strVal val="visible"/>
                                      </p:to>
                                    </p:set>
                                    <p:animEffect transition="in" filter="fade">
                                      <p:cBhvr>
                                        <p:cTn id="127" dur="400"/>
                                        <p:tgtEl>
                                          <p:spTgt spid="35"/>
                                        </p:tgtEl>
                                      </p:cBhvr>
                                    </p:animEffect>
                                  </p:childTnLst>
                                </p:cTn>
                              </p:par>
                            </p:childTnLst>
                          </p:cTn>
                        </p:par>
                        <p:par>
                          <p:cTn id="128" fill="hold">
                            <p:stCondLst>
                              <p:cond delay="500"/>
                            </p:stCondLst>
                            <p:childTnLst>
                              <p:par>
                                <p:cTn id="129" presetID="10" presetClass="entr" presetSubtype="0" fill="hold" grpId="0" nodeType="withEffect">
                                  <p:stCondLst>
                                    <p:cond delay="0"/>
                                  </p:stCondLst>
                                  <p:childTnLst>
                                    <p:set>
                                      <p:cBhvr>
                                        <p:cTn id="130" dur="1" fill="hold">
                                          <p:stCondLst>
                                            <p:cond delay="0"/>
                                          </p:stCondLst>
                                        </p:cTn>
                                        <p:tgtEl>
                                          <p:spTgt spid="36"/>
                                        </p:tgtEl>
                                        <p:attrNameLst>
                                          <p:attrName>style.visibility</p:attrName>
                                        </p:attrNameLst>
                                      </p:cBhvr>
                                      <p:to>
                                        <p:strVal val="visible"/>
                                      </p:to>
                                    </p:set>
                                    <p:animEffect transition="in" filter="fade">
                                      <p:cBhvr>
                                        <p:cTn id="131" dur="400"/>
                                        <p:tgtEl>
                                          <p:spTgt spid="36"/>
                                        </p:tgtEl>
                                      </p:cBhvr>
                                    </p:animEffect>
                                  </p:childTnLst>
                                </p:cTn>
                              </p:par>
                            </p:childTnLst>
                          </p:cTn>
                        </p:par>
                        <p:par>
                          <p:cTn id="132" fill="hold">
                            <p:stCondLst>
                              <p:cond delay="750"/>
                            </p:stCondLst>
                            <p:childTnLst>
                              <p:par>
                                <p:cTn id="133" presetID="10" presetClass="entr" presetSubtype="0" fill="hold" grpId="0" nodeType="withEffect">
                                  <p:stCondLst>
                                    <p:cond delay="0"/>
                                  </p:stCondLst>
                                  <p:childTnLst>
                                    <p:set>
                                      <p:cBhvr>
                                        <p:cTn id="134" dur="1" fill="hold">
                                          <p:stCondLst>
                                            <p:cond delay="0"/>
                                          </p:stCondLst>
                                        </p:cTn>
                                        <p:tgtEl>
                                          <p:spTgt spid="37"/>
                                        </p:tgtEl>
                                        <p:attrNameLst>
                                          <p:attrName>style.visibility</p:attrName>
                                        </p:attrNameLst>
                                      </p:cBhvr>
                                      <p:to>
                                        <p:strVal val="visible"/>
                                      </p:to>
                                    </p:set>
                                    <p:animEffect transition="in" filter="fade">
                                      <p:cBhvr>
                                        <p:cTn id="135" dur="400"/>
                                        <p:tgtEl>
                                          <p:spTgt spid="37"/>
                                        </p:tgtEl>
                                      </p:cBhvr>
                                    </p:animEffect>
                                  </p:childTnLst>
                                </p:cTn>
                              </p:par>
                            </p:childTnLst>
                          </p:cTn>
                        </p:par>
                        <p:par>
                          <p:cTn id="136" fill="hold">
                            <p:stCondLst>
                              <p:cond delay="750"/>
                            </p:stCondLst>
                            <p:childTnLst>
                              <p:par>
                                <p:cTn id="137" presetID="10" presetClass="entr" presetSubtype="0" fill="hold" grpId="0" nodeType="withEffect">
                                  <p:stCondLst>
                                    <p:cond delay="0"/>
                                  </p:stCondLst>
                                  <p:childTnLst>
                                    <p:set>
                                      <p:cBhvr>
                                        <p:cTn id="138" dur="1" fill="hold">
                                          <p:stCondLst>
                                            <p:cond delay="0"/>
                                          </p:stCondLst>
                                        </p:cTn>
                                        <p:tgtEl>
                                          <p:spTgt spid="38"/>
                                        </p:tgtEl>
                                        <p:attrNameLst>
                                          <p:attrName>style.visibility</p:attrName>
                                        </p:attrNameLst>
                                      </p:cBhvr>
                                      <p:to>
                                        <p:strVal val="visible"/>
                                      </p:to>
                                    </p:set>
                                    <p:animEffect transition="in" filter="fade">
                                      <p:cBhvr>
                                        <p:cTn id="139" dur="400"/>
                                        <p:tgtEl>
                                          <p:spTgt spid="38"/>
                                        </p:tgtEl>
                                      </p:cBhvr>
                                    </p:animEffect>
                                  </p:childTnLst>
                                </p:cTn>
                              </p:par>
                            </p:childTnLst>
                          </p:cTn>
                        </p:par>
                        <p:par>
                          <p:cTn id="140" fill="hold">
                            <p:stCondLst>
                              <p:cond delay="750"/>
                            </p:stCondLst>
                            <p:childTnLst>
                              <p:par>
                                <p:cTn id="141" presetID="10" presetClass="entr" presetSubtype="0" fill="hold" grpId="0" nodeType="withEffect">
                                  <p:stCondLst>
                                    <p:cond delay="0"/>
                                  </p:stCondLst>
                                  <p:childTnLst>
                                    <p:set>
                                      <p:cBhvr>
                                        <p:cTn id="142" dur="1" fill="hold">
                                          <p:stCondLst>
                                            <p:cond delay="0"/>
                                          </p:stCondLst>
                                        </p:cTn>
                                        <p:tgtEl>
                                          <p:spTgt spid="39"/>
                                        </p:tgtEl>
                                        <p:attrNameLst>
                                          <p:attrName>style.visibility</p:attrName>
                                        </p:attrNameLst>
                                      </p:cBhvr>
                                      <p:to>
                                        <p:strVal val="visible"/>
                                      </p:to>
                                    </p:set>
                                    <p:animEffect transition="in" filter="fade">
                                      <p:cBhvr>
                                        <p:cTn id="143" dur="400"/>
                                        <p:tgtEl>
                                          <p:spTgt spid="39"/>
                                        </p:tgtEl>
                                      </p:cBhvr>
                                    </p:animEffect>
                                  </p:childTnLst>
                                </p:cTn>
                              </p:par>
                            </p:childTnLst>
                          </p:cTn>
                        </p:par>
                        <p:par>
                          <p:cTn id="144" fill="hold">
                            <p:stCondLst>
                              <p:cond delay="750"/>
                            </p:stCondLst>
                            <p:childTnLst>
                              <p:par>
                                <p:cTn id="145" presetID="10" presetClass="entr" presetSubtype="0" fill="hold" grpId="0" nodeType="withEffect">
                                  <p:stCondLst>
                                    <p:cond delay="0"/>
                                  </p:stCondLst>
                                  <p:childTnLst>
                                    <p:set>
                                      <p:cBhvr>
                                        <p:cTn id="146" dur="1" fill="hold">
                                          <p:stCondLst>
                                            <p:cond delay="0"/>
                                          </p:stCondLst>
                                        </p:cTn>
                                        <p:tgtEl>
                                          <p:spTgt spid="40"/>
                                        </p:tgtEl>
                                        <p:attrNameLst>
                                          <p:attrName>style.visibility</p:attrName>
                                        </p:attrNameLst>
                                      </p:cBhvr>
                                      <p:to>
                                        <p:strVal val="visible"/>
                                      </p:to>
                                    </p:set>
                                    <p:animEffect transition="in" filter="fade">
                                      <p:cBhvr>
                                        <p:cTn id="147" dur="400"/>
                                        <p:tgtEl>
                                          <p:spTgt spid="40"/>
                                        </p:tgtEl>
                                      </p:cBhvr>
                                    </p:animEffect>
                                  </p:childTnLst>
                                </p:cTn>
                              </p:par>
                            </p:childTnLst>
                          </p:cTn>
                        </p:par>
                        <p:par>
                          <p:cTn id="148" fill="hold">
                            <p:stCondLst>
                              <p:cond delay="750"/>
                            </p:stCondLst>
                            <p:childTnLst>
                              <p:par>
                                <p:cTn id="149" presetID="10" presetClass="entr" presetSubtype="0" fill="hold" grpId="0" nodeType="withEffect">
                                  <p:stCondLst>
                                    <p:cond delay="0"/>
                                  </p:stCondLst>
                                  <p:childTnLst>
                                    <p:set>
                                      <p:cBhvr>
                                        <p:cTn id="150" dur="1" fill="hold">
                                          <p:stCondLst>
                                            <p:cond delay="0"/>
                                          </p:stCondLst>
                                        </p:cTn>
                                        <p:tgtEl>
                                          <p:spTgt spid="41"/>
                                        </p:tgtEl>
                                        <p:attrNameLst>
                                          <p:attrName>style.visibility</p:attrName>
                                        </p:attrNameLst>
                                      </p:cBhvr>
                                      <p:to>
                                        <p:strVal val="visible"/>
                                      </p:to>
                                    </p:set>
                                    <p:animEffect transition="in" filter="fade">
                                      <p:cBhvr>
                                        <p:cTn id="151" dur="400"/>
                                        <p:tgtEl>
                                          <p:spTgt spid="41"/>
                                        </p:tgtEl>
                                      </p:cBhvr>
                                    </p:animEffect>
                                  </p:childTnLst>
                                </p:cTn>
                              </p:par>
                            </p:childTnLst>
                          </p:cTn>
                        </p:par>
                        <p:par>
                          <p:cTn id="152" fill="hold">
                            <p:stCondLst>
                              <p:cond delay="750"/>
                            </p:stCondLst>
                            <p:childTnLst>
                              <p:par>
                                <p:cTn id="153" presetID="10" presetClass="entr" presetSubtype="0" fill="hold" grpId="0" nodeType="withEffect">
                                  <p:stCondLst>
                                    <p:cond delay="0"/>
                                  </p:stCondLst>
                                  <p:childTnLst>
                                    <p:set>
                                      <p:cBhvr>
                                        <p:cTn id="154" dur="1" fill="hold">
                                          <p:stCondLst>
                                            <p:cond delay="0"/>
                                          </p:stCondLst>
                                        </p:cTn>
                                        <p:tgtEl>
                                          <p:spTgt spid="42"/>
                                        </p:tgtEl>
                                        <p:attrNameLst>
                                          <p:attrName>style.visibility</p:attrName>
                                        </p:attrNameLst>
                                      </p:cBhvr>
                                      <p:to>
                                        <p:strVal val="visible"/>
                                      </p:to>
                                    </p:set>
                                    <p:animEffect transition="in" filter="fade">
                                      <p:cBhvr>
                                        <p:cTn id="155" dur="400"/>
                                        <p:tgtEl>
                                          <p:spTgt spid="42"/>
                                        </p:tgtEl>
                                      </p:cBhvr>
                                    </p:animEffect>
                                  </p:childTnLst>
                                </p:cTn>
                              </p:par>
                            </p:childTnLst>
                          </p:cTn>
                        </p:par>
                        <p:par>
                          <p:cTn id="156" fill="hold">
                            <p:stCondLst>
                              <p:cond delay="750"/>
                            </p:stCondLst>
                            <p:childTnLst>
                              <p:par>
                                <p:cTn id="157" presetID="10" presetClass="entr" presetSubtype="0" fill="hold" grpId="0" nodeType="withEffect">
                                  <p:stCondLst>
                                    <p:cond delay="0"/>
                                  </p:stCondLst>
                                  <p:childTnLst>
                                    <p:set>
                                      <p:cBhvr>
                                        <p:cTn id="158" dur="1" fill="hold">
                                          <p:stCondLst>
                                            <p:cond delay="0"/>
                                          </p:stCondLst>
                                        </p:cTn>
                                        <p:tgtEl>
                                          <p:spTgt spid="43"/>
                                        </p:tgtEl>
                                        <p:attrNameLst>
                                          <p:attrName>style.visibility</p:attrName>
                                        </p:attrNameLst>
                                      </p:cBhvr>
                                      <p:to>
                                        <p:strVal val="visible"/>
                                      </p:to>
                                    </p:set>
                                    <p:animEffect transition="in" filter="fade">
                                      <p:cBhvr>
                                        <p:cTn id="159" dur="400"/>
                                        <p:tgtEl>
                                          <p:spTgt spid="43"/>
                                        </p:tgtEl>
                                      </p:cBhvr>
                                    </p:animEffect>
                                  </p:childTnLst>
                                </p:cTn>
                              </p:par>
                            </p:childTnLst>
                          </p:cTn>
                        </p:par>
                        <p:par>
                          <p:cTn id="160" fill="hold">
                            <p:stCondLst>
                              <p:cond delay="750"/>
                            </p:stCondLst>
                            <p:childTnLst>
                              <p:par>
                                <p:cTn id="161" presetID="10" presetClass="entr" presetSubtype="0" fill="hold" grpId="0" nodeType="withEffect">
                                  <p:stCondLst>
                                    <p:cond delay="0"/>
                                  </p:stCondLst>
                                  <p:childTnLst>
                                    <p:set>
                                      <p:cBhvr>
                                        <p:cTn id="162" dur="1" fill="hold">
                                          <p:stCondLst>
                                            <p:cond delay="0"/>
                                          </p:stCondLst>
                                        </p:cTn>
                                        <p:tgtEl>
                                          <p:spTgt spid="44"/>
                                        </p:tgtEl>
                                        <p:attrNameLst>
                                          <p:attrName>style.visibility</p:attrName>
                                        </p:attrNameLst>
                                      </p:cBhvr>
                                      <p:to>
                                        <p:strVal val="visible"/>
                                      </p:to>
                                    </p:set>
                                    <p:animEffect transition="in" filter="fade">
                                      <p:cBhvr>
                                        <p:cTn id="163" dur="400"/>
                                        <p:tgtEl>
                                          <p:spTgt spid="44"/>
                                        </p:tgtEl>
                                      </p:cBhvr>
                                    </p:animEffect>
                                  </p:childTnLst>
                                </p:cTn>
                              </p:par>
                            </p:childTnLst>
                          </p:cTn>
                        </p:par>
                        <p:par>
                          <p:cTn id="164" fill="hold">
                            <p:stCondLst>
                              <p:cond delay="750"/>
                            </p:stCondLst>
                            <p:childTnLst>
                              <p:par>
                                <p:cTn id="165" presetID="10" presetClass="entr" presetSubtype="0" fill="hold" grpId="0" nodeType="withEffect">
                                  <p:stCondLst>
                                    <p:cond delay="0"/>
                                  </p:stCondLst>
                                  <p:childTnLst>
                                    <p:set>
                                      <p:cBhvr>
                                        <p:cTn id="166" dur="1" fill="hold">
                                          <p:stCondLst>
                                            <p:cond delay="0"/>
                                          </p:stCondLst>
                                        </p:cTn>
                                        <p:tgtEl>
                                          <p:spTgt spid="45"/>
                                        </p:tgtEl>
                                        <p:attrNameLst>
                                          <p:attrName>style.visibility</p:attrName>
                                        </p:attrNameLst>
                                      </p:cBhvr>
                                      <p:to>
                                        <p:strVal val="visible"/>
                                      </p:to>
                                    </p:set>
                                    <p:animEffect transition="in" filter="fade">
                                      <p:cBhvr>
                                        <p:cTn id="167" dur="400"/>
                                        <p:tgtEl>
                                          <p:spTgt spid="45"/>
                                        </p:tgtEl>
                                      </p:cBhvr>
                                    </p:animEffect>
                                  </p:childTnLst>
                                </p:cTn>
                              </p:par>
                            </p:childTnLst>
                          </p:cTn>
                        </p:par>
                        <p:par>
                          <p:cTn id="168" fill="hold">
                            <p:stCondLst>
                              <p:cond delay="1000"/>
                            </p:stCondLst>
                            <p:childTnLst>
                              <p:par>
                                <p:cTn id="169" presetID="10" presetClass="entr" presetSubtype="0" fill="hold" grpId="0" nodeType="withEffect">
                                  <p:stCondLst>
                                    <p:cond delay="0"/>
                                  </p:stCondLst>
                                  <p:childTnLst>
                                    <p:set>
                                      <p:cBhvr>
                                        <p:cTn id="170" dur="1" fill="hold">
                                          <p:stCondLst>
                                            <p:cond delay="0"/>
                                          </p:stCondLst>
                                        </p:cTn>
                                        <p:tgtEl>
                                          <p:spTgt spid="46"/>
                                        </p:tgtEl>
                                        <p:attrNameLst>
                                          <p:attrName>style.visibility</p:attrName>
                                        </p:attrNameLst>
                                      </p:cBhvr>
                                      <p:to>
                                        <p:strVal val="visible"/>
                                      </p:to>
                                    </p:set>
                                    <p:animEffect transition="in" filter="fade">
                                      <p:cBhvr>
                                        <p:cTn id="171" dur="400"/>
                                        <p:tgtEl>
                                          <p:spTgt spid="46"/>
                                        </p:tgtEl>
                                      </p:cBhvr>
                                    </p:animEffect>
                                  </p:childTnLst>
                                </p:cTn>
                              </p:par>
                            </p:childTnLst>
                          </p:cTn>
                        </p:par>
                        <p:par>
                          <p:cTn id="172" fill="hold">
                            <p:stCondLst>
                              <p:cond delay="1000"/>
                            </p:stCondLst>
                            <p:childTnLst>
                              <p:par>
                                <p:cTn id="173" presetID="10" presetClass="entr" presetSubtype="0" fill="hold" grpId="0" nodeType="withEffect">
                                  <p:stCondLst>
                                    <p:cond delay="0"/>
                                  </p:stCondLst>
                                  <p:childTnLst>
                                    <p:set>
                                      <p:cBhvr>
                                        <p:cTn id="174" dur="1" fill="hold">
                                          <p:stCondLst>
                                            <p:cond delay="0"/>
                                          </p:stCondLst>
                                        </p:cTn>
                                        <p:tgtEl>
                                          <p:spTgt spid="47"/>
                                        </p:tgtEl>
                                        <p:attrNameLst>
                                          <p:attrName>style.visibility</p:attrName>
                                        </p:attrNameLst>
                                      </p:cBhvr>
                                      <p:to>
                                        <p:strVal val="visible"/>
                                      </p:to>
                                    </p:set>
                                    <p:animEffect transition="in" filter="fade">
                                      <p:cBhvr>
                                        <p:cTn id="175" dur="400"/>
                                        <p:tgtEl>
                                          <p:spTgt spid="47"/>
                                        </p:tgtEl>
                                      </p:cBhvr>
                                    </p:animEffect>
                                  </p:childTnLst>
                                </p:cTn>
                              </p:par>
                            </p:childTnLst>
                          </p:cTn>
                        </p:par>
                        <p:par>
                          <p:cTn id="176" fill="hold">
                            <p:stCondLst>
                              <p:cond delay="1000"/>
                            </p:stCondLst>
                            <p:childTnLst>
                              <p:par>
                                <p:cTn id="177" presetID="10" presetClass="entr" presetSubtype="0" fill="hold" grpId="0" nodeType="withEffect">
                                  <p:stCondLst>
                                    <p:cond delay="0"/>
                                  </p:stCondLst>
                                  <p:childTnLst>
                                    <p:set>
                                      <p:cBhvr>
                                        <p:cTn id="178" dur="1" fill="hold">
                                          <p:stCondLst>
                                            <p:cond delay="0"/>
                                          </p:stCondLst>
                                        </p:cTn>
                                        <p:tgtEl>
                                          <p:spTgt spid="48"/>
                                        </p:tgtEl>
                                        <p:attrNameLst>
                                          <p:attrName>style.visibility</p:attrName>
                                        </p:attrNameLst>
                                      </p:cBhvr>
                                      <p:to>
                                        <p:strVal val="visible"/>
                                      </p:to>
                                    </p:set>
                                    <p:animEffect transition="in" filter="fade">
                                      <p:cBhvr>
                                        <p:cTn id="179" dur="400"/>
                                        <p:tgtEl>
                                          <p:spTgt spid="48"/>
                                        </p:tgtEl>
                                      </p:cBhvr>
                                    </p:animEffect>
                                  </p:childTnLst>
                                </p:cTn>
                              </p:par>
                            </p:childTnLst>
                          </p:cTn>
                        </p:par>
                        <p:par>
                          <p:cTn id="180" fill="hold">
                            <p:stCondLst>
                              <p:cond delay="1000"/>
                            </p:stCondLst>
                            <p:childTnLst>
                              <p:par>
                                <p:cTn id="181" presetID="10" presetClass="entr" presetSubtype="0" fill="hold" grpId="0" nodeType="withEffect">
                                  <p:stCondLst>
                                    <p:cond delay="0"/>
                                  </p:stCondLst>
                                  <p:childTnLst>
                                    <p:set>
                                      <p:cBhvr>
                                        <p:cTn id="182" dur="1" fill="hold">
                                          <p:stCondLst>
                                            <p:cond delay="0"/>
                                          </p:stCondLst>
                                        </p:cTn>
                                        <p:tgtEl>
                                          <p:spTgt spid="49"/>
                                        </p:tgtEl>
                                        <p:attrNameLst>
                                          <p:attrName>style.visibility</p:attrName>
                                        </p:attrNameLst>
                                      </p:cBhvr>
                                      <p:to>
                                        <p:strVal val="visible"/>
                                      </p:to>
                                    </p:set>
                                    <p:animEffect transition="in" filter="fade">
                                      <p:cBhvr>
                                        <p:cTn id="183" dur="400"/>
                                        <p:tgtEl>
                                          <p:spTgt spid="4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1 · O PROBLEMA E A PROPOSTA · KEVENN</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Por que São Paulo, e não São Carlos</a:t>
            </a:r>
            <a:endParaRPr lang="en-US" sz="3200" dirty="0"/>
          </a:p>
        </p:txBody>
      </p:sp>
      <p:sp>
        <p:nvSpPr>
          <p:cNvPr id="5" name="anim:1:158"/>
          <p:cNvSpPr/>
          <p:nvPr/>
        </p:nvSpPr>
        <p:spPr>
          <a:xfrm>
            <a:off x="548640" y="1600200"/>
            <a:ext cx="5440680" cy="2880360"/>
          </a:xfrm>
          <a:prstGeom prst="roundRect">
            <a:avLst>
              <a:gd name="adj" fmla="val 3810"/>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6" name="anim:1:159"/>
          <p:cNvSpPr/>
          <p:nvPr/>
        </p:nvSpPr>
        <p:spPr>
          <a:xfrm>
            <a:off x="822960" y="1828800"/>
            <a:ext cx="2011680" cy="310896"/>
          </a:xfrm>
          <a:prstGeom prst="roundRect">
            <a:avLst>
              <a:gd name="adj" fmla="val 50000"/>
            </a:avLst>
          </a:prstGeom>
          <a:solidFill>
            <a:srgbClr val="566175"/>
          </a:solidFill>
          <a:ln w="12700">
            <a:solidFill>
              <a:srgbClr val="566175"/>
            </a:solidFill>
            <a:prstDash val="solid"/>
          </a:ln>
        </p:spPr>
      </p:sp>
      <p:sp>
        <p:nvSpPr>
          <p:cNvPr id="7" name="anim:1:160"/>
          <p:cNvSpPr txBox="1"/>
          <p:nvPr/>
        </p:nvSpPr>
        <p:spPr>
          <a:xfrm>
            <a:off x="822960" y="1828800"/>
            <a:ext cx="2011680"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PRIMEIRA PROPOSTA</a:t>
            </a:r>
            <a:endParaRPr lang="en-US" sz="1200" dirty="0"/>
          </a:p>
        </p:txBody>
      </p:sp>
      <p:sp>
        <p:nvSpPr>
          <p:cNvPr id="8" name="anim:1:161"/>
          <p:cNvSpPr txBox="1"/>
          <p:nvPr/>
        </p:nvSpPr>
        <p:spPr>
          <a:xfrm>
            <a:off x="822960" y="2286000"/>
            <a:ext cx="4846320" cy="502920"/>
          </a:xfrm>
          <a:prstGeom prst="rect">
            <a:avLst/>
          </a:prstGeom>
          <a:noFill/>
          <a:ln/>
        </p:spPr>
        <p:txBody>
          <a:bodyPr wrap="square" lIns="0" tIns="0" rIns="0" bIns="0" rtlCol="0" anchor="t"/>
          <a:lstStyle/>
          <a:p>
            <a:pPr algn="l" indent="0" marL="0">
              <a:buNone/>
            </a:pPr>
            <a:r>
              <a:rPr lang="en-US" sz="2400" b="1" dirty="0">
                <a:solidFill>
                  <a:srgbClr val="1B2A4A"/>
                </a:solidFill>
                <a:latin typeface="Calibri" pitchFamily="34" charset="0"/>
                <a:ea typeface="Calibri" pitchFamily="34" charset="-122"/>
                <a:cs typeface="Calibri" pitchFamily="34" charset="-120"/>
              </a:rPr>
              <a:t>São Carlos</a:t>
            </a:r>
            <a:endParaRPr lang="en-US" sz="2400" dirty="0"/>
          </a:p>
        </p:txBody>
      </p:sp>
      <p:sp>
        <p:nvSpPr>
          <p:cNvPr id="9" name="anim:1:162"/>
          <p:cNvSpPr txBox="1"/>
          <p:nvPr/>
        </p:nvSpPr>
        <p:spPr>
          <a:xfrm>
            <a:off x="822960" y="2880360"/>
            <a:ext cx="4846320" cy="1371600"/>
          </a:xfrm>
          <a:prstGeom prst="rect">
            <a:avLst/>
          </a:prstGeom>
          <a:noFill/>
          <a:ln/>
        </p:spPr>
        <p:txBody>
          <a:bodyPr wrap="square" lIns="0" tIns="0" rIns="0" bIns="0" rtlCol="0" anchor="t"/>
          <a:lstStyle/>
          <a:p>
            <a:pPr algn="l" indent="0" marL="0">
              <a:buNone/>
            </a:pPr>
            <a:r>
              <a:rPr lang="en-US" sz="1600" dirty="0">
                <a:solidFill>
                  <a:srgbClr val="1F2937"/>
                </a:solidFill>
                <a:latin typeface="Calibri" pitchFamily="34" charset="0"/>
                <a:ea typeface="Calibri" pitchFamily="34" charset="-122"/>
                <a:cs typeface="Calibri" pitchFamily="34" charset="-120"/>
              </a:rPr>
              <a:t>Oferta escolar por setor censitário. Sem dado aberto de vaga nem de fila, a demanda não atendida teria de ser estimada.</a:t>
            </a:r>
            <a:endParaRPr lang="en-US" sz="1600" dirty="0"/>
          </a:p>
        </p:txBody>
      </p:sp>
      <p:sp>
        <p:nvSpPr>
          <p:cNvPr id="10" name="anim:2:163"/>
          <p:cNvSpPr/>
          <p:nvPr/>
        </p:nvSpPr>
        <p:spPr>
          <a:xfrm>
            <a:off x="6172200" y="1600200"/>
            <a:ext cx="5440680" cy="2880360"/>
          </a:xfrm>
          <a:prstGeom prst="roundRect">
            <a:avLst>
              <a:gd name="adj" fmla="val 3810"/>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11" name="anim:2:164"/>
          <p:cNvSpPr/>
          <p:nvPr/>
        </p:nvSpPr>
        <p:spPr>
          <a:xfrm>
            <a:off x="6446520" y="1828800"/>
            <a:ext cx="1188720" cy="310896"/>
          </a:xfrm>
          <a:prstGeom prst="roundRect">
            <a:avLst>
              <a:gd name="adj" fmla="val 50000"/>
            </a:avLst>
          </a:prstGeom>
          <a:solidFill>
            <a:srgbClr val="2E5EAA"/>
          </a:solidFill>
          <a:ln w="12700">
            <a:solidFill>
              <a:srgbClr val="2E5EAA"/>
            </a:solidFill>
            <a:prstDash val="solid"/>
          </a:ln>
        </p:spPr>
      </p:sp>
      <p:sp>
        <p:nvSpPr>
          <p:cNvPr id="12" name="anim:2:165"/>
          <p:cNvSpPr txBox="1"/>
          <p:nvPr/>
        </p:nvSpPr>
        <p:spPr>
          <a:xfrm>
            <a:off x="6446520" y="1828800"/>
            <a:ext cx="1188720"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ESCOLHA</a:t>
            </a:r>
            <a:endParaRPr lang="en-US" sz="1200" dirty="0"/>
          </a:p>
        </p:txBody>
      </p:sp>
      <p:sp>
        <p:nvSpPr>
          <p:cNvPr id="13" name="anim:2:166"/>
          <p:cNvSpPr txBox="1"/>
          <p:nvPr/>
        </p:nvSpPr>
        <p:spPr>
          <a:xfrm>
            <a:off x="6446520" y="2286000"/>
            <a:ext cx="4846320" cy="502920"/>
          </a:xfrm>
          <a:prstGeom prst="rect">
            <a:avLst/>
          </a:prstGeom>
          <a:noFill/>
          <a:ln/>
        </p:spPr>
        <p:txBody>
          <a:bodyPr wrap="square" lIns="0" tIns="0" rIns="0" bIns="0" rtlCol="0" anchor="t"/>
          <a:lstStyle/>
          <a:p>
            <a:pPr algn="l" indent="0" marL="0">
              <a:buNone/>
            </a:pPr>
            <a:r>
              <a:rPr lang="en-US" sz="2400" b="1" dirty="0">
                <a:solidFill>
                  <a:srgbClr val="1B2A4A"/>
                </a:solidFill>
                <a:latin typeface="Calibri" pitchFamily="34" charset="0"/>
                <a:ea typeface="Calibri" pitchFamily="34" charset="-122"/>
                <a:cs typeface="Calibri" pitchFamily="34" charset="-120"/>
              </a:rPr>
              <a:t>São Paulo</a:t>
            </a:r>
            <a:endParaRPr lang="en-US" sz="2400" dirty="0"/>
          </a:p>
        </p:txBody>
      </p:sp>
      <p:sp>
        <p:nvSpPr>
          <p:cNvPr id="14" name="anim:2:167"/>
          <p:cNvSpPr txBox="1"/>
          <p:nvPr/>
        </p:nvSpPr>
        <p:spPr>
          <a:xfrm>
            <a:off x="6446520" y="2880360"/>
            <a:ext cx="4846320" cy="1371600"/>
          </a:xfrm>
          <a:prstGeom prst="rect">
            <a:avLst/>
          </a:prstGeom>
          <a:noFill/>
          <a:ln/>
        </p:spPr>
        <p:txBody>
          <a:bodyPr wrap="square" lIns="0" tIns="0" rIns="0" bIns="0" rtlCol="0" anchor="t"/>
          <a:lstStyle/>
          <a:p>
            <a:pPr algn="l" indent="0" marL="0">
              <a:buNone/>
            </a:pPr>
            <a:r>
              <a:rPr lang="en-US" sz="1600" dirty="0">
                <a:solidFill>
                  <a:srgbClr val="1F2937"/>
                </a:solidFill>
                <a:latin typeface="Calibri" pitchFamily="34" charset="0"/>
                <a:ea typeface="Calibri" pitchFamily="34" charset="-122"/>
                <a:cs typeface="Calibri" pitchFamily="34" charset="-120"/>
              </a:rPr>
              <a:t>A SME publica o microdado de cada matrícula e a fila de espera por distrito: demanda medida, não estimada. 13,4 milhões de matrículas de 2015 a 2024.</a:t>
            </a:r>
            <a:endParaRPr lang="en-US" sz="1600" dirty="0"/>
          </a:p>
        </p:txBody>
      </p:sp>
      <p:sp>
        <p:nvSpPr>
          <p:cNvPr id="15" name="anim:3:168"/>
          <p:cNvSpPr/>
          <p:nvPr/>
        </p:nvSpPr>
        <p:spPr>
          <a:xfrm>
            <a:off x="548640" y="4709160"/>
            <a:ext cx="11064240" cy="1234440"/>
          </a:xfrm>
          <a:prstGeom prst="roundRect">
            <a:avLst>
              <a:gd name="adj" fmla="val 8889"/>
            </a:avLst>
          </a:prstGeom>
          <a:solidFill>
            <a:srgbClr val="EEF2F8"/>
          </a:solidFill>
          <a:ln w="9525">
            <a:solidFill>
              <a:srgbClr val="EEF2F8"/>
            </a:solidFill>
            <a:prstDash val="solid"/>
          </a:ln>
        </p:spPr>
      </p:sp>
      <p:sp>
        <p:nvSpPr>
          <p:cNvPr id="16" name="anim:3:169"/>
          <p:cNvSpPr/>
          <p:nvPr/>
        </p:nvSpPr>
        <p:spPr>
          <a:xfrm>
            <a:off x="822960" y="5047488"/>
            <a:ext cx="548640" cy="548640"/>
          </a:xfrm>
          <a:prstGeom prst="ellipse">
            <a:avLst/>
          </a:prstGeom>
          <a:solidFill>
            <a:srgbClr val="F2A541"/>
          </a:solidFill>
          <a:ln w="12700">
            <a:solidFill>
              <a:srgbClr val="F2A541"/>
            </a:solidFill>
            <a:prstDash val="solid"/>
          </a:ln>
        </p:spPr>
      </p:sp>
      <p:sp>
        <p:nvSpPr>
          <p:cNvPr id="17" name="anim:3:170"/>
          <p:cNvSpPr txBox="1"/>
          <p:nvPr/>
        </p:nvSpPr>
        <p:spPr>
          <a:xfrm>
            <a:off x="822960" y="5047488"/>
            <a:ext cx="548640" cy="548640"/>
          </a:xfrm>
          <a:prstGeom prst="rect">
            <a:avLst/>
          </a:prstGeom>
          <a:noFill/>
          <a:ln/>
        </p:spPr>
        <p:txBody>
          <a:bodyPr wrap="square" lIns="0" tIns="0" rIns="0" bIns="0" rtlCol="0" anchor="ctr"/>
          <a:lstStyle/>
          <a:p>
            <a:pPr algn="ctr" indent="0" marL="0">
              <a:buNone/>
            </a:pPr>
            <a:r>
              <a:rPr lang="en-US" sz="1800" b="1" dirty="0">
                <a:solidFill>
                  <a:srgbClr val="1B2A4A"/>
                </a:solidFill>
                <a:latin typeface="Calibri" pitchFamily="34" charset="0"/>
                <a:ea typeface="Calibri" pitchFamily="34" charset="-122"/>
                <a:cs typeface="Calibri" pitchFamily="34" charset="-120"/>
              </a:rPr>
              <a:t>✓</a:t>
            </a:r>
            <a:endParaRPr lang="en-US" sz="1800" dirty="0"/>
          </a:p>
        </p:txBody>
      </p:sp>
      <p:sp>
        <p:nvSpPr>
          <p:cNvPr id="18" name="anim:3:171"/>
          <p:cNvSpPr txBox="1"/>
          <p:nvPr/>
        </p:nvSpPr>
        <p:spPr>
          <a:xfrm>
            <a:off x="1600200" y="4818888"/>
            <a:ext cx="9784080" cy="1005840"/>
          </a:xfrm>
          <a:prstGeom prst="rect">
            <a:avLst/>
          </a:prstGeom>
          <a:noFill/>
          <a:ln/>
        </p:spPr>
        <p:txBody>
          <a:bodyPr wrap="square" lIns="0" tIns="0" rIns="0" bIns="0" rtlCol="0" anchor="ctr"/>
          <a:lstStyle/>
          <a:p>
            <a:pPr indent="0" marL="0">
              <a:buNone/>
            </a:pPr>
            <a:r>
              <a:rPr lang="en-US" sz="1500" b="1" dirty="0">
                <a:solidFill>
                  <a:srgbClr val="1B2A4A"/>
                </a:solidFill>
                <a:latin typeface="Calibri" pitchFamily="34" charset="0"/>
                <a:ea typeface="Calibri" pitchFamily="34" charset="-122"/>
                <a:cs typeface="Calibri" pitchFamily="34" charset="-120"/>
              </a:rPr>
              <a:t>O modelo vale para São Carlos: </a:t>
            </a:r>
            <a:pPr indent="0" marL="0">
              <a:buNone/>
            </a:pPr>
            <a:r>
              <a:rPr lang="en-US" sz="1500" dirty="0">
                <a:solidFill>
                  <a:srgbClr val="1F2937"/>
                </a:solidFill>
                <a:latin typeface="Calibri" pitchFamily="34" charset="0"/>
                <a:ea typeface="Calibri" pitchFamily="34" charset="-122"/>
                <a:cs typeface="Calibri" pitchFamily="34" charset="-120"/>
              </a:rPr>
              <a:t>matrícula, turma e desfecho vêm do registro que todo sistema de gestão escolar mantém, e o Censo 2022 já tem a população por setor censitário do município. Falta só a rede registrar e publicar a fila.</a:t>
            </a:r>
            <a:endParaRPr lang="en-US" sz="15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9</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childTnLst>
                          </p:cTn>
                        </p:par>
                        <p:par>
                          <p:cTn id="12" fill="hold">
                            <p:stCondLst>
                              <p:cond delay="0"/>
                            </p:stCondLst>
                            <p:childTnLst>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childTnLst>
                          </p:cTn>
                        </p:par>
                        <p:par>
                          <p:cTn id="16" fill="hold">
                            <p:stCondLst>
                              <p:cond delay="0"/>
                            </p:stCondLst>
                            <p:childTnLst>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00"/>
                                        <p:tgtEl>
                                          <p:spTgt spid="8"/>
                                        </p:tgtEl>
                                      </p:cBhvr>
                                    </p:animEffect>
                                  </p:childTnLst>
                                </p:cTn>
                              </p:par>
                            </p:childTnLst>
                          </p:cTn>
                        </p:par>
                        <p:par>
                          <p:cTn id="20" fill="hold">
                            <p:stCondLst>
                              <p:cond delay="0"/>
                            </p:stCondLst>
                            <p:childTnLst>
                              <p:par>
                                <p:cTn id="21" presetID="10" presetClass="entr" presetSubtype="0"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400"/>
                                        <p:tgtEl>
                                          <p:spTgt spid="9"/>
                                        </p:tgtEl>
                                      </p:cBhvr>
                                    </p:animEffect>
                                  </p:childTnLst>
                                </p:cTn>
                              </p:par>
                            </p:childTnLst>
                          </p:cTn>
                        </p:par>
                        <p:par>
                          <p:cTn id="24" fill="hold">
                            <p:stCondLst>
                              <p:cond delay="250"/>
                            </p:stCondLst>
                            <p:childTnLst>
                              <p:par>
                                <p:cTn id="25" presetID="10"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400"/>
                                        <p:tgtEl>
                                          <p:spTgt spid="10"/>
                                        </p:tgtEl>
                                      </p:cBhvr>
                                    </p:animEffect>
                                  </p:childTnLst>
                                </p:cTn>
                              </p:par>
                            </p:childTnLst>
                          </p:cTn>
                        </p:par>
                        <p:par>
                          <p:cTn id="28" fill="hold">
                            <p:stCondLst>
                              <p:cond delay="250"/>
                            </p:stCondLst>
                            <p:childTnLst>
                              <p:par>
                                <p:cTn id="29" presetID="10" presetClass="entr" presetSubtype="0"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00"/>
                                        <p:tgtEl>
                                          <p:spTgt spid="11"/>
                                        </p:tgtEl>
                                      </p:cBhvr>
                                    </p:animEffect>
                                  </p:childTnLst>
                                </p:cTn>
                              </p:par>
                            </p:childTnLst>
                          </p:cTn>
                        </p:par>
                        <p:par>
                          <p:cTn id="32" fill="hold">
                            <p:stCondLst>
                              <p:cond delay="250"/>
                            </p:stCondLst>
                            <p:childTnLst>
                              <p:par>
                                <p:cTn id="33" presetID="10" presetClass="entr" presetSubtype="0" fill="hold" grpId="0" nodeType="with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400"/>
                                        <p:tgtEl>
                                          <p:spTgt spid="12"/>
                                        </p:tgtEl>
                                      </p:cBhvr>
                                    </p:animEffect>
                                  </p:childTnLst>
                                </p:cTn>
                              </p:par>
                            </p:childTnLst>
                          </p:cTn>
                        </p:par>
                        <p:par>
                          <p:cTn id="36" fill="hold">
                            <p:stCondLst>
                              <p:cond delay="250"/>
                            </p:stCondLst>
                            <p:childTnLst>
                              <p:par>
                                <p:cTn id="37" presetID="10" presetClass="entr" presetSubtype="0" fill="hold" grpId="0" nodeType="withEffect">
                                  <p:stCondLst>
                                    <p:cond delay="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400"/>
                                        <p:tgtEl>
                                          <p:spTgt spid="13"/>
                                        </p:tgtEl>
                                      </p:cBhvr>
                                    </p:animEffect>
                                  </p:childTnLst>
                                </p:cTn>
                              </p:par>
                            </p:childTnLst>
                          </p:cTn>
                        </p:par>
                        <p:par>
                          <p:cTn id="40" fill="hold">
                            <p:stCondLst>
                              <p:cond delay="250"/>
                            </p:stCondLst>
                            <p:childTnLst>
                              <p:par>
                                <p:cTn id="41" presetID="10" presetClass="entr" presetSubtype="0" fill="hold" grpId="0" nodeType="withEffect">
                                  <p:stCondLst>
                                    <p:cond delay="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400"/>
                                        <p:tgtEl>
                                          <p:spTgt spid="14"/>
                                        </p:tgtEl>
                                      </p:cBhvr>
                                    </p:animEffect>
                                  </p:childTnLst>
                                </p:cTn>
                              </p:par>
                            </p:childTnLst>
                          </p:cTn>
                        </p:par>
                        <p:par>
                          <p:cTn id="44" fill="hold">
                            <p:stCondLst>
                              <p:cond delay="500"/>
                            </p:stCondLst>
                            <p:childTnLst>
                              <p:par>
                                <p:cTn id="45" presetID="10" presetClass="entr" presetSubtype="0" fill="hold" grpId="0" nodeType="withEffect">
                                  <p:stCondLst>
                                    <p:cond delay="0"/>
                                  </p:stCondLst>
                                  <p:childTnLst>
                                    <p:set>
                                      <p:cBhvr>
                                        <p:cTn id="46" dur="1" fill="hold">
                                          <p:stCondLst>
                                            <p:cond delay="0"/>
                                          </p:stCondLst>
                                        </p:cTn>
                                        <p:tgtEl>
                                          <p:spTgt spid="15"/>
                                        </p:tgtEl>
                                        <p:attrNameLst>
                                          <p:attrName>style.visibility</p:attrName>
                                        </p:attrNameLst>
                                      </p:cBhvr>
                                      <p:to>
                                        <p:strVal val="visible"/>
                                      </p:to>
                                    </p:set>
                                    <p:animEffect transition="in" filter="fade">
                                      <p:cBhvr>
                                        <p:cTn id="47" dur="400"/>
                                        <p:tgtEl>
                                          <p:spTgt spid="15"/>
                                        </p:tgtEl>
                                      </p:cBhvr>
                                    </p:animEffect>
                                  </p:childTnLst>
                                </p:cTn>
                              </p:par>
                            </p:childTnLst>
                          </p:cTn>
                        </p:par>
                        <p:par>
                          <p:cTn id="48" fill="hold">
                            <p:stCondLst>
                              <p:cond delay="500"/>
                            </p:stCondLst>
                            <p:childTnLst>
                              <p:par>
                                <p:cTn id="49" presetID="10" presetClass="entr" presetSubtype="0" fill="hold" grpId="0" nodeType="withEffect">
                                  <p:stCondLst>
                                    <p:cond delay="0"/>
                                  </p:stCondLst>
                                  <p:childTnLst>
                                    <p:set>
                                      <p:cBhvr>
                                        <p:cTn id="50" dur="1" fill="hold">
                                          <p:stCondLst>
                                            <p:cond delay="0"/>
                                          </p:stCondLst>
                                        </p:cTn>
                                        <p:tgtEl>
                                          <p:spTgt spid="16"/>
                                        </p:tgtEl>
                                        <p:attrNameLst>
                                          <p:attrName>style.visibility</p:attrName>
                                        </p:attrNameLst>
                                      </p:cBhvr>
                                      <p:to>
                                        <p:strVal val="visible"/>
                                      </p:to>
                                    </p:set>
                                    <p:animEffect transition="in" filter="fade">
                                      <p:cBhvr>
                                        <p:cTn id="51" dur="400"/>
                                        <p:tgtEl>
                                          <p:spTgt spid="16"/>
                                        </p:tgtEl>
                                      </p:cBhvr>
                                    </p:animEffect>
                                  </p:childTnLst>
                                </p:cTn>
                              </p:par>
                            </p:childTnLst>
                          </p:cTn>
                        </p:par>
                        <p:par>
                          <p:cTn id="52" fill="hold">
                            <p:stCondLst>
                              <p:cond delay="500"/>
                            </p:stCondLst>
                            <p:childTnLst>
                              <p:par>
                                <p:cTn id="53" presetID="10" presetClass="entr" presetSubtype="0" fill="hold" grpId="0" nodeType="withEffect">
                                  <p:stCondLst>
                                    <p:cond delay="0"/>
                                  </p:stCondLst>
                                  <p:childTnLst>
                                    <p:set>
                                      <p:cBhvr>
                                        <p:cTn id="54" dur="1" fill="hold">
                                          <p:stCondLst>
                                            <p:cond delay="0"/>
                                          </p:stCondLst>
                                        </p:cTn>
                                        <p:tgtEl>
                                          <p:spTgt spid="17"/>
                                        </p:tgtEl>
                                        <p:attrNameLst>
                                          <p:attrName>style.visibility</p:attrName>
                                        </p:attrNameLst>
                                      </p:cBhvr>
                                      <p:to>
                                        <p:strVal val="visible"/>
                                      </p:to>
                                    </p:set>
                                    <p:animEffect transition="in" filter="fade">
                                      <p:cBhvr>
                                        <p:cTn id="55" dur="400"/>
                                        <p:tgtEl>
                                          <p:spTgt spid="17"/>
                                        </p:tgtEl>
                                      </p:cBhvr>
                                    </p:animEffect>
                                  </p:childTnLst>
                                </p:cTn>
                              </p:par>
                            </p:childTnLst>
                          </p:cTn>
                        </p:par>
                        <p:par>
                          <p:cTn id="56" fill="hold">
                            <p:stCondLst>
                              <p:cond delay="500"/>
                            </p:stCondLst>
                            <p:childTnLst>
                              <p:par>
                                <p:cTn id="57" presetID="10" presetClass="entr" presetSubtype="0" fill="hold" grpId="0" nodeType="withEffect">
                                  <p:stCondLst>
                                    <p:cond delay="0"/>
                                  </p:stCondLst>
                                  <p:childTnLst>
                                    <p:set>
                                      <p:cBhvr>
                                        <p:cTn id="58" dur="1" fill="hold">
                                          <p:stCondLst>
                                            <p:cond delay="0"/>
                                          </p:stCondLst>
                                        </p:cTn>
                                        <p:tgtEl>
                                          <p:spTgt spid="18"/>
                                        </p:tgtEl>
                                        <p:attrNameLst>
                                          <p:attrName>style.visibility</p:attrName>
                                        </p:attrNameLst>
                                      </p:cBhvr>
                                      <p:to>
                                        <p:strVal val="visible"/>
                                      </p:to>
                                    </p:set>
                                    <p:animEffect transition="in" filter="fade">
                                      <p:cBhvr>
                                        <p:cTn id="59" dur="4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1 · O PROBLEMA E A PROPOSTA · KEVENN</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Cinco assuntos de interesse e por que importam</a:t>
            </a:r>
            <a:endParaRPr lang="en-US" sz="3200" dirty="0"/>
          </a:p>
        </p:txBody>
      </p:sp>
      <p:sp>
        <p:nvSpPr>
          <p:cNvPr id="5" name="Text 2"/>
          <p:cNvSpPr txBox="1"/>
          <p:nvPr/>
        </p:nvSpPr>
        <p:spPr>
          <a:xfrm>
            <a:off x="685800" y="1463040"/>
            <a:ext cx="2926080" cy="256032"/>
          </a:xfrm>
          <a:prstGeom prst="rect">
            <a:avLst/>
          </a:prstGeom>
          <a:noFill/>
          <a:ln/>
        </p:spPr>
        <p:txBody>
          <a:bodyPr wrap="square" lIns="0" tIns="0" rIns="0" bIns="0" rtlCol="0" anchor="t"/>
          <a:lstStyle/>
          <a:p>
            <a:pPr algn="l" indent="0" marL="0">
              <a:buNone/>
            </a:pPr>
            <a:r>
              <a:rPr lang="en-US" sz="1100" b="1" spc="100" kern="0" dirty="0">
                <a:solidFill>
                  <a:srgbClr val="566175"/>
                </a:solidFill>
                <a:latin typeface="Calibri" pitchFamily="34" charset="0"/>
                <a:ea typeface="Calibri" pitchFamily="34" charset="-122"/>
                <a:cs typeface="Calibri" pitchFamily="34" charset="-120"/>
              </a:rPr>
              <a:t>ASSUNTO</a:t>
            </a:r>
            <a:endParaRPr lang="en-US" sz="1100" dirty="0"/>
          </a:p>
        </p:txBody>
      </p:sp>
      <p:sp>
        <p:nvSpPr>
          <p:cNvPr id="6" name="Text 3"/>
          <p:cNvSpPr txBox="1"/>
          <p:nvPr/>
        </p:nvSpPr>
        <p:spPr>
          <a:xfrm>
            <a:off x="3794760" y="1463040"/>
            <a:ext cx="4572000" cy="256032"/>
          </a:xfrm>
          <a:prstGeom prst="rect">
            <a:avLst/>
          </a:prstGeom>
          <a:noFill/>
          <a:ln/>
        </p:spPr>
        <p:txBody>
          <a:bodyPr wrap="square" lIns="0" tIns="0" rIns="0" bIns="0" rtlCol="0" anchor="t"/>
          <a:lstStyle/>
          <a:p>
            <a:pPr algn="l" indent="0" marL="0">
              <a:buNone/>
            </a:pPr>
            <a:r>
              <a:rPr lang="en-US" sz="1100" b="1" spc="100" kern="0" dirty="0">
                <a:solidFill>
                  <a:srgbClr val="566175"/>
                </a:solidFill>
                <a:latin typeface="Calibri" pitchFamily="34" charset="0"/>
                <a:ea typeface="Calibri" pitchFamily="34" charset="-122"/>
                <a:cs typeface="Calibri" pitchFamily="34" charset="-120"/>
              </a:rPr>
              <a:t>POR QUE IMPORTA</a:t>
            </a:r>
            <a:endParaRPr lang="en-US" sz="1100" dirty="0"/>
          </a:p>
        </p:txBody>
      </p:sp>
      <p:sp>
        <p:nvSpPr>
          <p:cNvPr id="7" name="Text 4"/>
          <p:cNvSpPr txBox="1"/>
          <p:nvPr/>
        </p:nvSpPr>
        <p:spPr>
          <a:xfrm>
            <a:off x="8732520" y="1463040"/>
            <a:ext cx="2743200" cy="256032"/>
          </a:xfrm>
          <a:prstGeom prst="rect">
            <a:avLst/>
          </a:prstGeom>
          <a:noFill/>
          <a:ln/>
        </p:spPr>
        <p:txBody>
          <a:bodyPr wrap="square" lIns="0" tIns="0" rIns="0" bIns="0" rtlCol="0" anchor="t"/>
          <a:lstStyle/>
          <a:p>
            <a:pPr algn="l" indent="0" marL="0">
              <a:buNone/>
            </a:pPr>
            <a:r>
              <a:rPr lang="en-US" sz="1100" b="1" spc="100" kern="0" dirty="0">
                <a:solidFill>
                  <a:srgbClr val="566175"/>
                </a:solidFill>
                <a:latin typeface="Calibri" pitchFamily="34" charset="0"/>
                <a:ea typeface="Calibri" pitchFamily="34" charset="-122"/>
                <a:cs typeface="Calibri" pitchFamily="34" charset="-120"/>
              </a:rPr>
              <a:t>NO MODELO</a:t>
            </a:r>
            <a:endParaRPr lang="en-US" sz="1100" dirty="0"/>
          </a:p>
        </p:txBody>
      </p:sp>
      <p:sp>
        <p:nvSpPr>
          <p:cNvPr id="8" name="anim:1:172"/>
          <p:cNvSpPr/>
          <p:nvPr/>
        </p:nvSpPr>
        <p:spPr>
          <a:xfrm>
            <a:off x="548640" y="1783080"/>
            <a:ext cx="11064240" cy="548640"/>
          </a:xfrm>
          <a:prstGeom prst="roundRect">
            <a:avLst>
              <a:gd name="adj" fmla="val 20000"/>
            </a:avLst>
          </a:prstGeom>
          <a:solidFill>
            <a:srgbClr val="EEF2F8"/>
          </a:solidFill>
          <a:ln w="9525">
            <a:solidFill>
              <a:srgbClr val="D6E0F0"/>
            </a:solidFill>
            <a:prstDash val="solid"/>
          </a:ln>
        </p:spPr>
      </p:sp>
      <p:sp>
        <p:nvSpPr>
          <p:cNvPr id="9" name="anim:1:173"/>
          <p:cNvSpPr/>
          <p:nvPr/>
        </p:nvSpPr>
        <p:spPr>
          <a:xfrm>
            <a:off x="685800" y="1883664"/>
            <a:ext cx="2971800" cy="347472"/>
          </a:xfrm>
          <a:prstGeom prst="roundRect">
            <a:avLst>
              <a:gd name="adj" fmla="val 44737"/>
            </a:avLst>
          </a:prstGeom>
          <a:solidFill>
            <a:srgbClr val="2E5EAA"/>
          </a:solidFill>
          <a:ln w="12700">
            <a:solidFill>
              <a:srgbClr val="2E5EAA"/>
            </a:solidFill>
            <a:prstDash val="solid"/>
          </a:ln>
        </p:spPr>
      </p:sp>
      <p:sp>
        <p:nvSpPr>
          <p:cNvPr id="10" name="anim:1:174"/>
          <p:cNvSpPr txBox="1"/>
          <p:nvPr/>
        </p:nvSpPr>
        <p:spPr>
          <a:xfrm>
            <a:off x="685800" y="1883664"/>
            <a:ext cx="2971800"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Matrículas</a:t>
            </a:r>
            <a:endParaRPr lang="en-US" sz="1200" dirty="0"/>
          </a:p>
        </p:txBody>
      </p:sp>
      <p:sp>
        <p:nvSpPr>
          <p:cNvPr id="11" name="anim:1:175"/>
          <p:cNvSpPr txBox="1"/>
          <p:nvPr/>
        </p:nvSpPr>
        <p:spPr>
          <a:xfrm>
            <a:off x="3794760" y="1783080"/>
            <a:ext cx="4800600" cy="548640"/>
          </a:xfrm>
          <a:prstGeom prst="rect">
            <a:avLst/>
          </a:prstGeom>
          <a:noFill/>
          <a:ln/>
        </p:spPr>
        <p:txBody>
          <a:bodyPr wrap="square" lIns="0" tIns="0" rIns="0" bIns="0" rtlCol="0" anchor="ctr"/>
          <a:lstStyle/>
          <a:p>
            <a:pPr algn="l" indent="0" marL="0">
              <a:buNone/>
            </a:pPr>
            <a:r>
              <a:rPr lang="en-US" sz="1500" dirty="0">
                <a:solidFill>
                  <a:srgbClr val="1F2937"/>
                </a:solidFill>
                <a:latin typeface="Calibri" pitchFamily="34" charset="0"/>
                <a:ea typeface="Calibri" pitchFamily="34" charset="-122"/>
                <a:cs typeface="Calibri" pitchFamily="34" charset="-120"/>
              </a:rPr>
              <a:t>oferta efetivamente usada, com o perfil de cada aluno</a:t>
            </a:r>
            <a:endParaRPr lang="en-US" sz="1500" dirty="0"/>
          </a:p>
        </p:txBody>
      </p:sp>
      <p:sp>
        <p:nvSpPr>
          <p:cNvPr id="12" name="anim:1:176"/>
          <p:cNvSpPr txBox="1"/>
          <p:nvPr/>
        </p:nvSpPr>
        <p:spPr>
          <a:xfrm>
            <a:off x="8732520" y="1783080"/>
            <a:ext cx="2788920" cy="548640"/>
          </a:xfrm>
          <a:prstGeom prst="rect">
            <a:avLst/>
          </a:prstGeom>
          <a:noFill/>
          <a:ln/>
        </p:spPr>
        <p:txBody>
          <a:bodyPr wrap="square" lIns="0" tIns="0" rIns="0" bIns="0" rtlCol="0" anchor="ctr"/>
          <a:lstStyle/>
          <a:p>
            <a:pPr algn="l" indent="0" marL="0">
              <a:buNone/>
            </a:pPr>
            <a:r>
              <a:rPr lang="en-US" sz="1300" b="1" dirty="0">
                <a:solidFill>
                  <a:srgbClr val="2E5EAA"/>
                </a:solidFill>
                <a:latin typeface="Calibri" pitchFamily="34" charset="0"/>
                <a:ea typeface="Calibri" pitchFamily="34" charset="-122"/>
                <a:cs typeface="Calibri" pitchFamily="34" charset="-120"/>
              </a:rPr>
              <a:t>fato Matrícula</a:t>
            </a:r>
            <a:endParaRPr lang="en-US" sz="1300" dirty="0"/>
          </a:p>
        </p:txBody>
      </p:sp>
      <p:sp>
        <p:nvSpPr>
          <p:cNvPr id="13" name="anim:2:177"/>
          <p:cNvSpPr/>
          <p:nvPr/>
        </p:nvSpPr>
        <p:spPr>
          <a:xfrm>
            <a:off x="548640" y="2423160"/>
            <a:ext cx="11064240" cy="548640"/>
          </a:xfrm>
          <a:prstGeom prst="roundRect">
            <a:avLst>
              <a:gd name="adj" fmla="val 20000"/>
            </a:avLst>
          </a:prstGeom>
          <a:solidFill>
            <a:srgbClr val="FFFFFF"/>
          </a:solidFill>
          <a:ln w="9525">
            <a:solidFill>
              <a:srgbClr val="D6E0F0"/>
            </a:solidFill>
            <a:prstDash val="solid"/>
          </a:ln>
        </p:spPr>
      </p:sp>
      <p:sp>
        <p:nvSpPr>
          <p:cNvPr id="14" name="anim:2:178"/>
          <p:cNvSpPr/>
          <p:nvPr/>
        </p:nvSpPr>
        <p:spPr>
          <a:xfrm>
            <a:off x="685800" y="2523744"/>
            <a:ext cx="2971800" cy="347472"/>
          </a:xfrm>
          <a:prstGeom prst="roundRect">
            <a:avLst>
              <a:gd name="adj" fmla="val 44737"/>
            </a:avLst>
          </a:prstGeom>
          <a:solidFill>
            <a:srgbClr val="2E5EAA"/>
          </a:solidFill>
          <a:ln w="12700">
            <a:solidFill>
              <a:srgbClr val="2E5EAA"/>
            </a:solidFill>
            <a:prstDash val="solid"/>
          </a:ln>
        </p:spPr>
      </p:sp>
      <p:sp>
        <p:nvSpPr>
          <p:cNvPr id="15" name="anim:2:179"/>
          <p:cNvSpPr txBox="1"/>
          <p:nvPr/>
        </p:nvSpPr>
        <p:spPr>
          <a:xfrm>
            <a:off x="685800" y="2523744"/>
            <a:ext cx="2971800"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Fila (demanda registrada)</a:t>
            </a:r>
            <a:endParaRPr lang="en-US" sz="1200" dirty="0"/>
          </a:p>
        </p:txBody>
      </p:sp>
      <p:sp>
        <p:nvSpPr>
          <p:cNvPr id="16" name="anim:2:180"/>
          <p:cNvSpPr txBox="1"/>
          <p:nvPr/>
        </p:nvSpPr>
        <p:spPr>
          <a:xfrm>
            <a:off x="3794760" y="2423160"/>
            <a:ext cx="4800600" cy="548640"/>
          </a:xfrm>
          <a:prstGeom prst="rect">
            <a:avLst/>
          </a:prstGeom>
          <a:noFill/>
          <a:ln/>
        </p:spPr>
        <p:txBody>
          <a:bodyPr wrap="square" lIns="0" tIns="0" rIns="0" bIns="0" rtlCol="0" anchor="ctr"/>
          <a:lstStyle/>
          <a:p>
            <a:pPr algn="l" indent="0" marL="0">
              <a:buNone/>
            </a:pPr>
            <a:r>
              <a:rPr lang="en-US" sz="1500" dirty="0">
                <a:solidFill>
                  <a:srgbClr val="1F2937"/>
                </a:solidFill>
                <a:latin typeface="Calibri" pitchFamily="34" charset="0"/>
                <a:ea typeface="Calibri" pitchFamily="34" charset="-122"/>
                <a:cs typeface="Calibri" pitchFamily="34" charset="-120"/>
              </a:rPr>
              <a:t>quem pediu vaga e não foi atendido</a:t>
            </a:r>
            <a:endParaRPr lang="en-US" sz="1500" dirty="0"/>
          </a:p>
        </p:txBody>
      </p:sp>
      <p:sp>
        <p:nvSpPr>
          <p:cNvPr id="17" name="anim:2:181"/>
          <p:cNvSpPr txBox="1"/>
          <p:nvPr/>
        </p:nvSpPr>
        <p:spPr>
          <a:xfrm>
            <a:off x="8732520" y="2423160"/>
            <a:ext cx="2788920" cy="548640"/>
          </a:xfrm>
          <a:prstGeom prst="rect">
            <a:avLst/>
          </a:prstGeom>
          <a:noFill/>
          <a:ln/>
        </p:spPr>
        <p:txBody>
          <a:bodyPr wrap="square" lIns="0" tIns="0" rIns="0" bIns="0" rtlCol="0" anchor="ctr"/>
          <a:lstStyle/>
          <a:p>
            <a:pPr algn="l" indent="0" marL="0">
              <a:buNone/>
            </a:pPr>
            <a:r>
              <a:rPr lang="en-US" sz="1300" b="1" dirty="0">
                <a:solidFill>
                  <a:srgbClr val="2E5EAA"/>
                </a:solidFill>
                <a:latin typeface="Calibri" pitchFamily="34" charset="0"/>
                <a:ea typeface="Calibri" pitchFamily="34" charset="-122"/>
                <a:cs typeface="Calibri" pitchFamily="34" charset="-120"/>
              </a:rPr>
              <a:t>fato Fila</a:t>
            </a:r>
            <a:endParaRPr lang="en-US" sz="1300" dirty="0"/>
          </a:p>
        </p:txBody>
      </p:sp>
      <p:sp>
        <p:nvSpPr>
          <p:cNvPr id="18" name="anim:3:182"/>
          <p:cNvSpPr/>
          <p:nvPr/>
        </p:nvSpPr>
        <p:spPr>
          <a:xfrm>
            <a:off x="548640" y="3063240"/>
            <a:ext cx="11064240" cy="548640"/>
          </a:xfrm>
          <a:prstGeom prst="roundRect">
            <a:avLst>
              <a:gd name="adj" fmla="val 20000"/>
            </a:avLst>
          </a:prstGeom>
          <a:solidFill>
            <a:srgbClr val="EEF2F8"/>
          </a:solidFill>
          <a:ln w="9525">
            <a:solidFill>
              <a:srgbClr val="D6E0F0"/>
            </a:solidFill>
            <a:prstDash val="solid"/>
          </a:ln>
        </p:spPr>
      </p:sp>
      <p:sp>
        <p:nvSpPr>
          <p:cNvPr id="19" name="anim:3:183"/>
          <p:cNvSpPr/>
          <p:nvPr/>
        </p:nvSpPr>
        <p:spPr>
          <a:xfrm>
            <a:off x="685800" y="3163824"/>
            <a:ext cx="2971800" cy="347472"/>
          </a:xfrm>
          <a:prstGeom prst="roundRect">
            <a:avLst>
              <a:gd name="adj" fmla="val 44737"/>
            </a:avLst>
          </a:prstGeom>
          <a:solidFill>
            <a:srgbClr val="2E5EAA"/>
          </a:solidFill>
          <a:ln w="12700">
            <a:solidFill>
              <a:srgbClr val="2E5EAA"/>
            </a:solidFill>
            <a:prstDash val="solid"/>
          </a:ln>
        </p:spPr>
      </p:sp>
      <p:sp>
        <p:nvSpPr>
          <p:cNvPr id="20" name="anim:3:184"/>
          <p:cNvSpPr txBox="1"/>
          <p:nvPr/>
        </p:nvSpPr>
        <p:spPr>
          <a:xfrm>
            <a:off x="685800" y="3163824"/>
            <a:ext cx="2971800"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Capacidade e ocupação das turmas</a:t>
            </a:r>
            <a:endParaRPr lang="en-US" sz="1200" dirty="0"/>
          </a:p>
        </p:txBody>
      </p:sp>
      <p:sp>
        <p:nvSpPr>
          <p:cNvPr id="21" name="anim:3:185"/>
          <p:cNvSpPr txBox="1"/>
          <p:nvPr/>
        </p:nvSpPr>
        <p:spPr>
          <a:xfrm>
            <a:off x="3794760" y="3063240"/>
            <a:ext cx="4800600" cy="548640"/>
          </a:xfrm>
          <a:prstGeom prst="rect">
            <a:avLst/>
          </a:prstGeom>
          <a:noFill/>
          <a:ln/>
        </p:spPr>
        <p:txBody>
          <a:bodyPr wrap="square" lIns="0" tIns="0" rIns="0" bIns="0" rtlCol="0" anchor="ctr"/>
          <a:lstStyle/>
          <a:p>
            <a:pPr algn="l" indent="0" marL="0">
              <a:buNone/>
            </a:pPr>
            <a:r>
              <a:rPr lang="en-US" sz="1500" dirty="0">
                <a:solidFill>
                  <a:srgbClr val="1F2937"/>
                </a:solidFill>
                <a:latin typeface="Calibri" pitchFamily="34" charset="0"/>
                <a:ea typeface="Calibri" pitchFamily="34" charset="-122"/>
                <a:cs typeface="Calibri" pitchFamily="34" charset="-120"/>
              </a:rPr>
              <a:t>se a oferta existente está cheia: turma nova ou lugar ocioso</a:t>
            </a:r>
            <a:endParaRPr lang="en-US" sz="1500" dirty="0"/>
          </a:p>
        </p:txBody>
      </p:sp>
      <p:sp>
        <p:nvSpPr>
          <p:cNvPr id="22" name="anim:3:186"/>
          <p:cNvSpPr txBox="1"/>
          <p:nvPr/>
        </p:nvSpPr>
        <p:spPr>
          <a:xfrm>
            <a:off x="8732520" y="3063240"/>
            <a:ext cx="2788920" cy="548640"/>
          </a:xfrm>
          <a:prstGeom prst="rect">
            <a:avLst/>
          </a:prstGeom>
          <a:noFill/>
          <a:ln/>
        </p:spPr>
        <p:txBody>
          <a:bodyPr wrap="square" lIns="0" tIns="0" rIns="0" bIns="0" rtlCol="0" anchor="ctr"/>
          <a:lstStyle/>
          <a:p>
            <a:pPr algn="l" indent="0" marL="0">
              <a:buNone/>
            </a:pPr>
            <a:r>
              <a:rPr lang="en-US" sz="1300" b="1" dirty="0">
                <a:solidFill>
                  <a:srgbClr val="2E5EAA"/>
                </a:solidFill>
                <a:latin typeface="Calibri" pitchFamily="34" charset="0"/>
                <a:ea typeface="Calibri" pitchFamily="34" charset="-122"/>
                <a:cs typeface="Calibri" pitchFamily="34" charset="-120"/>
              </a:rPr>
              <a:t>fato Ocupação de Turma</a:t>
            </a:r>
            <a:endParaRPr lang="en-US" sz="1300" dirty="0"/>
          </a:p>
        </p:txBody>
      </p:sp>
      <p:sp>
        <p:nvSpPr>
          <p:cNvPr id="23" name="anim:4:187"/>
          <p:cNvSpPr/>
          <p:nvPr/>
        </p:nvSpPr>
        <p:spPr>
          <a:xfrm>
            <a:off x="548640" y="3703320"/>
            <a:ext cx="11064240" cy="548640"/>
          </a:xfrm>
          <a:prstGeom prst="roundRect">
            <a:avLst>
              <a:gd name="adj" fmla="val 20000"/>
            </a:avLst>
          </a:prstGeom>
          <a:solidFill>
            <a:srgbClr val="FFFFFF"/>
          </a:solidFill>
          <a:ln w="9525">
            <a:solidFill>
              <a:srgbClr val="D6E0F0"/>
            </a:solidFill>
            <a:prstDash val="solid"/>
          </a:ln>
        </p:spPr>
      </p:sp>
      <p:sp>
        <p:nvSpPr>
          <p:cNvPr id="24" name="anim:4:188"/>
          <p:cNvSpPr/>
          <p:nvPr/>
        </p:nvSpPr>
        <p:spPr>
          <a:xfrm>
            <a:off x="685800" y="3803904"/>
            <a:ext cx="2971800" cy="347472"/>
          </a:xfrm>
          <a:prstGeom prst="roundRect">
            <a:avLst>
              <a:gd name="adj" fmla="val 44737"/>
            </a:avLst>
          </a:prstGeom>
          <a:solidFill>
            <a:srgbClr val="2E5EAA"/>
          </a:solidFill>
          <a:ln w="12700">
            <a:solidFill>
              <a:srgbClr val="2E5EAA"/>
            </a:solidFill>
            <a:prstDash val="solid"/>
          </a:ln>
        </p:spPr>
      </p:sp>
      <p:sp>
        <p:nvSpPr>
          <p:cNvPr id="25" name="anim:4:189"/>
          <p:cNvSpPr txBox="1"/>
          <p:nvPr/>
        </p:nvSpPr>
        <p:spPr>
          <a:xfrm>
            <a:off x="685800" y="3803904"/>
            <a:ext cx="2971800"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População em idade escolar</a:t>
            </a:r>
            <a:endParaRPr lang="en-US" sz="1200" dirty="0"/>
          </a:p>
        </p:txBody>
      </p:sp>
      <p:sp>
        <p:nvSpPr>
          <p:cNvPr id="26" name="anim:4:190"/>
          <p:cNvSpPr txBox="1"/>
          <p:nvPr/>
        </p:nvSpPr>
        <p:spPr>
          <a:xfrm>
            <a:off x="3794760" y="3703320"/>
            <a:ext cx="4800600" cy="548640"/>
          </a:xfrm>
          <a:prstGeom prst="rect">
            <a:avLst/>
          </a:prstGeom>
          <a:noFill/>
          <a:ln/>
        </p:spPr>
        <p:txBody>
          <a:bodyPr wrap="square" lIns="0" tIns="0" rIns="0" bIns="0" rtlCol="0" anchor="ctr"/>
          <a:lstStyle/>
          <a:p>
            <a:pPr algn="l" indent="0" marL="0">
              <a:buNone/>
            </a:pPr>
            <a:r>
              <a:rPr lang="en-US" sz="1500" dirty="0">
                <a:solidFill>
                  <a:srgbClr val="1F2937"/>
                </a:solidFill>
                <a:latin typeface="Calibri" pitchFamily="34" charset="0"/>
                <a:ea typeface="Calibri" pitchFamily="34" charset="-122"/>
                <a:cs typeface="Calibri" pitchFamily="34" charset="-120"/>
              </a:rPr>
              <a:t>demanda potencial, mesmo sem pedido de vaga</a:t>
            </a:r>
            <a:endParaRPr lang="en-US" sz="1500" dirty="0"/>
          </a:p>
        </p:txBody>
      </p:sp>
      <p:sp>
        <p:nvSpPr>
          <p:cNvPr id="27" name="anim:4:191"/>
          <p:cNvSpPr txBox="1"/>
          <p:nvPr/>
        </p:nvSpPr>
        <p:spPr>
          <a:xfrm>
            <a:off x="8732520" y="3703320"/>
            <a:ext cx="2788920" cy="548640"/>
          </a:xfrm>
          <a:prstGeom prst="rect">
            <a:avLst/>
          </a:prstGeom>
          <a:noFill/>
          <a:ln/>
        </p:spPr>
        <p:txBody>
          <a:bodyPr wrap="square" lIns="0" tIns="0" rIns="0" bIns="0" rtlCol="0" anchor="ctr"/>
          <a:lstStyle/>
          <a:p>
            <a:pPr algn="l" indent="0" marL="0">
              <a:buNone/>
            </a:pPr>
            <a:r>
              <a:rPr lang="en-US" sz="1300" b="1" dirty="0">
                <a:solidFill>
                  <a:srgbClr val="2E5EAA"/>
                </a:solidFill>
                <a:latin typeface="Calibri" pitchFamily="34" charset="0"/>
                <a:ea typeface="Calibri" pitchFamily="34" charset="-122"/>
                <a:cs typeface="Calibri" pitchFamily="34" charset="-120"/>
              </a:rPr>
              <a:t>fato População</a:t>
            </a:r>
            <a:endParaRPr lang="en-US" sz="1300" dirty="0"/>
          </a:p>
        </p:txBody>
      </p:sp>
      <p:sp>
        <p:nvSpPr>
          <p:cNvPr id="28" name="anim:5:192"/>
          <p:cNvSpPr/>
          <p:nvPr/>
        </p:nvSpPr>
        <p:spPr>
          <a:xfrm>
            <a:off x="548640" y="4343400"/>
            <a:ext cx="11064240" cy="548640"/>
          </a:xfrm>
          <a:prstGeom prst="roundRect">
            <a:avLst>
              <a:gd name="adj" fmla="val 20000"/>
            </a:avLst>
          </a:prstGeom>
          <a:solidFill>
            <a:srgbClr val="EEF2F8"/>
          </a:solidFill>
          <a:ln w="9525">
            <a:solidFill>
              <a:srgbClr val="D6E0F0"/>
            </a:solidFill>
            <a:prstDash val="solid"/>
          </a:ln>
        </p:spPr>
      </p:sp>
      <p:sp>
        <p:nvSpPr>
          <p:cNvPr id="29" name="anim:5:193"/>
          <p:cNvSpPr/>
          <p:nvPr/>
        </p:nvSpPr>
        <p:spPr>
          <a:xfrm>
            <a:off x="685800" y="4443984"/>
            <a:ext cx="2971800" cy="347472"/>
          </a:xfrm>
          <a:prstGeom prst="roundRect">
            <a:avLst>
              <a:gd name="adj" fmla="val 44737"/>
            </a:avLst>
          </a:prstGeom>
          <a:solidFill>
            <a:srgbClr val="2E5EAA"/>
          </a:solidFill>
          <a:ln w="12700">
            <a:solidFill>
              <a:srgbClr val="2E5EAA"/>
            </a:solidFill>
            <a:prstDash val="solid"/>
          </a:ln>
        </p:spPr>
      </p:sp>
      <p:sp>
        <p:nvSpPr>
          <p:cNvPr id="30" name="anim:5:194"/>
          <p:cNvSpPr txBox="1"/>
          <p:nvPr/>
        </p:nvSpPr>
        <p:spPr>
          <a:xfrm>
            <a:off x="685800" y="4443984"/>
            <a:ext cx="2971800"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Oferta escolar por setor</a:t>
            </a:r>
            <a:endParaRPr lang="en-US" sz="1200" dirty="0"/>
          </a:p>
        </p:txBody>
      </p:sp>
      <p:sp>
        <p:nvSpPr>
          <p:cNvPr id="31" name="anim:5:195"/>
          <p:cNvSpPr txBox="1"/>
          <p:nvPr/>
        </p:nvSpPr>
        <p:spPr>
          <a:xfrm>
            <a:off x="3794760" y="4343400"/>
            <a:ext cx="4800600" cy="548640"/>
          </a:xfrm>
          <a:prstGeom prst="rect">
            <a:avLst/>
          </a:prstGeom>
          <a:noFill/>
          <a:ln/>
        </p:spPr>
        <p:txBody>
          <a:bodyPr wrap="square" lIns="0" tIns="0" rIns="0" bIns="0" rtlCol="0" anchor="ctr"/>
          <a:lstStyle/>
          <a:p>
            <a:pPr algn="l" indent="0" marL="0">
              <a:buNone/>
            </a:pPr>
            <a:r>
              <a:rPr lang="en-US" sz="1500" dirty="0">
                <a:solidFill>
                  <a:srgbClr val="1F2937"/>
                </a:solidFill>
                <a:latin typeface="Calibri" pitchFamily="34" charset="0"/>
                <a:ea typeface="Calibri" pitchFamily="34" charset="-122"/>
                <a:cs typeface="Calibri" pitchFamily="34" charset="-120"/>
              </a:rPr>
              <a:t>onde e por qual rede (direta ou conveniada) a vaga é oferecida</a:t>
            </a:r>
            <a:endParaRPr lang="en-US" sz="1500" dirty="0"/>
          </a:p>
        </p:txBody>
      </p:sp>
      <p:sp>
        <p:nvSpPr>
          <p:cNvPr id="32" name="anim:5:196"/>
          <p:cNvSpPr txBox="1"/>
          <p:nvPr/>
        </p:nvSpPr>
        <p:spPr>
          <a:xfrm>
            <a:off x="8732520" y="4343400"/>
            <a:ext cx="2788920" cy="548640"/>
          </a:xfrm>
          <a:prstGeom prst="rect">
            <a:avLst/>
          </a:prstGeom>
          <a:noFill/>
          <a:ln/>
        </p:spPr>
        <p:txBody>
          <a:bodyPr wrap="square" lIns="0" tIns="0" rIns="0" bIns="0" rtlCol="0" anchor="ctr"/>
          <a:lstStyle/>
          <a:p>
            <a:pPr algn="l" indent="0" marL="0">
              <a:buNone/>
            </a:pPr>
            <a:r>
              <a:rPr lang="en-US" sz="1300" b="1" dirty="0">
                <a:solidFill>
                  <a:srgbClr val="2E5EAA"/>
                </a:solidFill>
                <a:latin typeface="Calibri" pitchFamily="34" charset="0"/>
                <a:ea typeface="Calibri" pitchFamily="34" charset="-122"/>
                <a:cs typeface="Calibri" pitchFamily="34" charset="-120"/>
              </a:rPr>
              <a:t>dimensões Escola, Território, Setor</a:t>
            </a:r>
            <a:endParaRPr lang="en-US" sz="1300" dirty="0"/>
          </a:p>
        </p:txBody>
      </p:sp>
      <p:sp>
        <p:nvSpPr>
          <p:cNvPr id="33" name="anim:6:197"/>
          <p:cNvSpPr/>
          <p:nvPr/>
        </p:nvSpPr>
        <p:spPr>
          <a:xfrm>
            <a:off x="548640" y="5166360"/>
            <a:ext cx="11064240" cy="822960"/>
          </a:xfrm>
          <a:prstGeom prst="roundRect">
            <a:avLst>
              <a:gd name="adj" fmla="val 13333"/>
            </a:avLst>
          </a:prstGeom>
          <a:solidFill>
            <a:srgbClr val="EEF2F8"/>
          </a:solidFill>
          <a:ln w="9525">
            <a:solidFill>
              <a:srgbClr val="EEF2F8"/>
            </a:solidFill>
            <a:prstDash val="solid"/>
          </a:ln>
        </p:spPr>
      </p:sp>
      <p:sp>
        <p:nvSpPr>
          <p:cNvPr id="34" name="anim:6:198"/>
          <p:cNvSpPr/>
          <p:nvPr/>
        </p:nvSpPr>
        <p:spPr>
          <a:xfrm>
            <a:off x="777240" y="5321808"/>
            <a:ext cx="512064" cy="512064"/>
          </a:xfrm>
          <a:prstGeom prst="ellipse">
            <a:avLst/>
          </a:prstGeom>
          <a:solidFill>
            <a:srgbClr val="F2A541"/>
          </a:solidFill>
          <a:ln w="12700">
            <a:solidFill>
              <a:srgbClr val="F2A541"/>
            </a:solidFill>
            <a:prstDash val="solid"/>
          </a:ln>
        </p:spPr>
      </p:sp>
      <p:sp>
        <p:nvSpPr>
          <p:cNvPr id="35" name="anim:6:199"/>
          <p:cNvSpPr txBox="1"/>
          <p:nvPr/>
        </p:nvSpPr>
        <p:spPr>
          <a:xfrm>
            <a:off x="777240" y="5321808"/>
            <a:ext cx="512064" cy="512064"/>
          </a:xfrm>
          <a:prstGeom prst="rect">
            <a:avLst/>
          </a:prstGeom>
          <a:noFill/>
          <a:ln/>
        </p:spPr>
        <p:txBody>
          <a:bodyPr wrap="square" lIns="0" tIns="0" rIns="0" bIns="0" rtlCol="0" anchor="ctr"/>
          <a:lstStyle/>
          <a:p>
            <a:pPr algn="ctr" indent="0" marL="0">
              <a:buNone/>
            </a:pPr>
            <a:r>
              <a:rPr lang="en-US" sz="1500" b="1" dirty="0">
                <a:solidFill>
                  <a:srgbClr val="1B2A4A"/>
                </a:solidFill>
                <a:latin typeface="Calibri" pitchFamily="34" charset="0"/>
                <a:ea typeface="Calibri" pitchFamily="34" charset="-122"/>
                <a:cs typeface="Calibri" pitchFamily="34" charset="-120"/>
              </a:rPr>
              <a:t>5</a:t>
            </a:r>
            <a:endParaRPr lang="en-US" sz="1500" dirty="0"/>
          </a:p>
        </p:txBody>
      </p:sp>
      <p:sp>
        <p:nvSpPr>
          <p:cNvPr id="36" name="anim:6:200"/>
          <p:cNvSpPr txBox="1"/>
          <p:nvPr/>
        </p:nvSpPr>
        <p:spPr>
          <a:xfrm>
            <a:off x="1508760" y="5212080"/>
            <a:ext cx="9966960" cy="731520"/>
          </a:xfrm>
          <a:prstGeom prst="rect">
            <a:avLst/>
          </a:prstGeom>
          <a:noFill/>
          <a:ln/>
        </p:spPr>
        <p:txBody>
          <a:bodyPr wrap="square" lIns="0" tIns="0" rIns="0" bIns="0" rtlCol="0" anchor="ctr"/>
          <a:lstStyle/>
          <a:p>
            <a:pPr indent="0" marL="0">
              <a:buNone/>
            </a:pPr>
            <a:r>
              <a:rPr lang="en-US" sz="1500" b="1" dirty="0">
                <a:solidFill>
                  <a:srgbClr val="1B2A4A"/>
                </a:solidFill>
                <a:latin typeface="Calibri" pitchFamily="34" charset="0"/>
                <a:ea typeface="Calibri" pitchFamily="34" charset="-122"/>
                <a:cs typeface="Calibri" pitchFamily="34" charset="-120"/>
              </a:rPr>
              <a:t>Quinto processo: desfecho da matrícula. </a:t>
            </a:r>
            <a:pPr indent="0" marL="0">
              <a:buNone/>
            </a:pPr>
            <a:r>
              <a:rPr lang="en-US" sz="1500" dirty="0">
                <a:solidFill>
                  <a:srgbClr val="1F2937"/>
                </a:solidFill>
                <a:latin typeface="Calibri" pitchFamily="34" charset="0"/>
                <a:ea typeface="Calibri" pitchFamily="34" charset="-122"/>
                <a:cs typeface="Calibri" pitchFamily="34" charset="-120"/>
              </a:rPr>
              <a:t>Acompanha o que acontece depois do acesso: aprovação, reprovação, abandono e transferência.</a:t>
            </a:r>
            <a:endParaRPr lang="en-US" sz="15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10</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00"/>
                                        <p:tgtEl>
                                          <p:spTgt spid="8"/>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animEffect transition="in" filter="fade">
                                      <p:cBhvr>
                                        <p:cTn id="11" dur="400"/>
                                        <p:tgtEl>
                                          <p:spTgt spid="9"/>
                                        </p:tgtEl>
                                      </p:cBhvr>
                                    </p:animEffect>
                                  </p:childTnLst>
                                </p:cTn>
                              </p:par>
                            </p:childTnLst>
                          </p:cTn>
                        </p:par>
                        <p:par>
                          <p:cTn id="12" fill="hold">
                            <p:stCondLst>
                              <p:cond delay="0"/>
                            </p:stCondLst>
                            <p:childTnLst>
                              <p:par>
                                <p:cTn id="13" presetID="10" presetClass="entr" presetSubtype="0" fill="hold" grpId="0" nodeType="withEffect">
                                  <p:stCondLst>
                                    <p:cond delay="0"/>
                                  </p:stCondLst>
                                  <p:childTnLst>
                                    <p:set>
                                      <p:cBhvr>
                                        <p:cTn id="14" dur="1" fill="hold">
                                          <p:stCondLst>
                                            <p:cond delay="0"/>
                                          </p:stCondLst>
                                        </p:cTn>
                                        <p:tgtEl>
                                          <p:spTgt spid="10"/>
                                        </p:tgtEl>
                                        <p:attrNameLst>
                                          <p:attrName>style.visibility</p:attrName>
                                        </p:attrNameLst>
                                      </p:cBhvr>
                                      <p:to>
                                        <p:strVal val="visible"/>
                                      </p:to>
                                    </p:set>
                                    <p:animEffect transition="in" filter="fade">
                                      <p:cBhvr>
                                        <p:cTn id="15" dur="400"/>
                                        <p:tgtEl>
                                          <p:spTgt spid="10"/>
                                        </p:tgtEl>
                                      </p:cBhvr>
                                    </p:animEffect>
                                  </p:childTnLst>
                                </p:cTn>
                              </p:par>
                            </p:childTnLst>
                          </p:cTn>
                        </p:par>
                        <p:par>
                          <p:cTn id="16" fill="hold">
                            <p:stCondLst>
                              <p:cond delay="0"/>
                            </p:stCondLst>
                            <p:childTnLst>
                              <p:par>
                                <p:cTn id="17" presetID="10" presetClass="entr" presetSubtype="0" fill="hold" grpId="0" nodeType="with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400"/>
                                        <p:tgtEl>
                                          <p:spTgt spid="11"/>
                                        </p:tgtEl>
                                      </p:cBhvr>
                                    </p:animEffect>
                                  </p:childTnLst>
                                </p:cTn>
                              </p:par>
                            </p:childTnLst>
                          </p:cTn>
                        </p:par>
                        <p:par>
                          <p:cTn id="20" fill="hold">
                            <p:stCondLst>
                              <p:cond delay="0"/>
                            </p:stCondLst>
                            <p:childTnLst>
                              <p:par>
                                <p:cTn id="21" presetID="10" presetClass="entr" presetSubtype="0" fill="hold" grpId="0" nodeType="withEffect">
                                  <p:stCondLst>
                                    <p:cond delay="0"/>
                                  </p:stCondLst>
                                  <p:childTnLst>
                                    <p:set>
                                      <p:cBhvr>
                                        <p:cTn id="22" dur="1" fill="hold">
                                          <p:stCondLst>
                                            <p:cond delay="0"/>
                                          </p:stCondLst>
                                        </p:cTn>
                                        <p:tgtEl>
                                          <p:spTgt spid="12"/>
                                        </p:tgtEl>
                                        <p:attrNameLst>
                                          <p:attrName>style.visibility</p:attrName>
                                        </p:attrNameLst>
                                      </p:cBhvr>
                                      <p:to>
                                        <p:strVal val="visible"/>
                                      </p:to>
                                    </p:set>
                                    <p:animEffect transition="in" filter="fade">
                                      <p:cBhvr>
                                        <p:cTn id="23" dur="400"/>
                                        <p:tgtEl>
                                          <p:spTgt spid="12"/>
                                        </p:tgtEl>
                                      </p:cBhvr>
                                    </p:animEffect>
                                  </p:childTnLst>
                                </p:cTn>
                              </p:par>
                            </p:childTnLst>
                          </p:cTn>
                        </p:par>
                        <p:par>
                          <p:cTn id="24" fill="hold">
                            <p:stCondLst>
                              <p:cond delay="250"/>
                            </p:stCondLst>
                            <p:childTnLst>
                              <p:par>
                                <p:cTn id="25" presetID="10" presetClass="entr" presetSubtype="0" fill="hold" grpId="0" nodeType="withEffect">
                                  <p:stCondLst>
                                    <p:cond delay="0"/>
                                  </p:stCondLst>
                                  <p:childTnLst>
                                    <p:set>
                                      <p:cBhvr>
                                        <p:cTn id="26" dur="1" fill="hold">
                                          <p:stCondLst>
                                            <p:cond delay="0"/>
                                          </p:stCondLst>
                                        </p:cTn>
                                        <p:tgtEl>
                                          <p:spTgt spid="13"/>
                                        </p:tgtEl>
                                        <p:attrNameLst>
                                          <p:attrName>style.visibility</p:attrName>
                                        </p:attrNameLst>
                                      </p:cBhvr>
                                      <p:to>
                                        <p:strVal val="visible"/>
                                      </p:to>
                                    </p:set>
                                    <p:animEffect transition="in" filter="fade">
                                      <p:cBhvr>
                                        <p:cTn id="27" dur="400"/>
                                        <p:tgtEl>
                                          <p:spTgt spid="13"/>
                                        </p:tgtEl>
                                      </p:cBhvr>
                                    </p:animEffect>
                                  </p:childTnLst>
                                </p:cTn>
                              </p:par>
                            </p:childTnLst>
                          </p:cTn>
                        </p:par>
                        <p:par>
                          <p:cTn id="28" fill="hold">
                            <p:stCondLst>
                              <p:cond delay="250"/>
                            </p:stCondLst>
                            <p:childTnLst>
                              <p:par>
                                <p:cTn id="29" presetID="10" presetClass="entr" presetSubtype="0" fill="hold" grpId="0" nodeType="withEffect">
                                  <p:stCondLst>
                                    <p:cond delay="0"/>
                                  </p:stCondLst>
                                  <p:childTnLst>
                                    <p:set>
                                      <p:cBhvr>
                                        <p:cTn id="30" dur="1" fill="hold">
                                          <p:stCondLst>
                                            <p:cond delay="0"/>
                                          </p:stCondLst>
                                        </p:cTn>
                                        <p:tgtEl>
                                          <p:spTgt spid="14"/>
                                        </p:tgtEl>
                                        <p:attrNameLst>
                                          <p:attrName>style.visibility</p:attrName>
                                        </p:attrNameLst>
                                      </p:cBhvr>
                                      <p:to>
                                        <p:strVal val="visible"/>
                                      </p:to>
                                    </p:set>
                                    <p:animEffect transition="in" filter="fade">
                                      <p:cBhvr>
                                        <p:cTn id="31" dur="400"/>
                                        <p:tgtEl>
                                          <p:spTgt spid="14"/>
                                        </p:tgtEl>
                                      </p:cBhvr>
                                    </p:animEffect>
                                  </p:childTnLst>
                                </p:cTn>
                              </p:par>
                            </p:childTnLst>
                          </p:cTn>
                        </p:par>
                        <p:par>
                          <p:cTn id="32" fill="hold">
                            <p:stCondLst>
                              <p:cond delay="250"/>
                            </p:stCondLst>
                            <p:childTnLst>
                              <p:par>
                                <p:cTn id="33" presetID="10" presetClass="entr" presetSubtype="0" fill="hold" grpId="0" nodeType="withEffect">
                                  <p:stCondLst>
                                    <p:cond delay="0"/>
                                  </p:stCondLst>
                                  <p:childTnLst>
                                    <p:set>
                                      <p:cBhvr>
                                        <p:cTn id="34" dur="1" fill="hold">
                                          <p:stCondLst>
                                            <p:cond delay="0"/>
                                          </p:stCondLst>
                                        </p:cTn>
                                        <p:tgtEl>
                                          <p:spTgt spid="15"/>
                                        </p:tgtEl>
                                        <p:attrNameLst>
                                          <p:attrName>style.visibility</p:attrName>
                                        </p:attrNameLst>
                                      </p:cBhvr>
                                      <p:to>
                                        <p:strVal val="visible"/>
                                      </p:to>
                                    </p:set>
                                    <p:animEffect transition="in" filter="fade">
                                      <p:cBhvr>
                                        <p:cTn id="35" dur="400"/>
                                        <p:tgtEl>
                                          <p:spTgt spid="15"/>
                                        </p:tgtEl>
                                      </p:cBhvr>
                                    </p:animEffect>
                                  </p:childTnLst>
                                </p:cTn>
                              </p:par>
                            </p:childTnLst>
                          </p:cTn>
                        </p:par>
                        <p:par>
                          <p:cTn id="36" fill="hold">
                            <p:stCondLst>
                              <p:cond delay="250"/>
                            </p:stCondLst>
                            <p:childTnLst>
                              <p:par>
                                <p:cTn id="37" presetID="10" presetClass="entr" presetSubtype="0" fill="hold" grpId="0" nodeType="withEffect">
                                  <p:stCondLst>
                                    <p:cond delay="0"/>
                                  </p:stCondLst>
                                  <p:childTnLst>
                                    <p:set>
                                      <p:cBhvr>
                                        <p:cTn id="38" dur="1" fill="hold">
                                          <p:stCondLst>
                                            <p:cond delay="0"/>
                                          </p:stCondLst>
                                        </p:cTn>
                                        <p:tgtEl>
                                          <p:spTgt spid="16"/>
                                        </p:tgtEl>
                                        <p:attrNameLst>
                                          <p:attrName>style.visibility</p:attrName>
                                        </p:attrNameLst>
                                      </p:cBhvr>
                                      <p:to>
                                        <p:strVal val="visible"/>
                                      </p:to>
                                    </p:set>
                                    <p:animEffect transition="in" filter="fade">
                                      <p:cBhvr>
                                        <p:cTn id="39" dur="400"/>
                                        <p:tgtEl>
                                          <p:spTgt spid="16"/>
                                        </p:tgtEl>
                                      </p:cBhvr>
                                    </p:animEffect>
                                  </p:childTnLst>
                                </p:cTn>
                              </p:par>
                            </p:childTnLst>
                          </p:cTn>
                        </p:par>
                        <p:par>
                          <p:cTn id="40" fill="hold">
                            <p:stCondLst>
                              <p:cond delay="250"/>
                            </p:stCondLst>
                            <p:childTnLst>
                              <p:par>
                                <p:cTn id="41" presetID="10" presetClass="entr" presetSubtype="0" fill="hold" grpId="0" nodeType="withEffect">
                                  <p:stCondLst>
                                    <p:cond delay="0"/>
                                  </p:stCondLst>
                                  <p:childTnLst>
                                    <p:set>
                                      <p:cBhvr>
                                        <p:cTn id="42" dur="1" fill="hold">
                                          <p:stCondLst>
                                            <p:cond delay="0"/>
                                          </p:stCondLst>
                                        </p:cTn>
                                        <p:tgtEl>
                                          <p:spTgt spid="17"/>
                                        </p:tgtEl>
                                        <p:attrNameLst>
                                          <p:attrName>style.visibility</p:attrName>
                                        </p:attrNameLst>
                                      </p:cBhvr>
                                      <p:to>
                                        <p:strVal val="visible"/>
                                      </p:to>
                                    </p:set>
                                    <p:animEffect transition="in" filter="fade">
                                      <p:cBhvr>
                                        <p:cTn id="43" dur="400"/>
                                        <p:tgtEl>
                                          <p:spTgt spid="17"/>
                                        </p:tgtEl>
                                      </p:cBhvr>
                                    </p:animEffect>
                                  </p:childTnLst>
                                </p:cTn>
                              </p:par>
                            </p:childTnLst>
                          </p:cTn>
                        </p:par>
                        <p:par>
                          <p:cTn id="44" fill="hold">
                            <p:stCondLst>
                              <p:cond delay="500"/>
                            </p:stCondLst>
                            <p:childTnLst>
                              <p:par>
                                <p:cTn id="45" presetID="10" presetClass="entr" presetSubtype="0" fill="hold" grpId="0" nodeType="withEffect">
                                  <p:stCondLst>
                                    <p:cond delay="0"/>
                                  </p:stCondLst>
                                  <p:childTnLst>
                                    <p:set>
                                      <p:cBhvr>
                                        <p:cTn id="46" dur="1" fill="hold">
                                          <p:stCondLst>
                                            <p:cond delay="0"/>
                                          </p:stCondLst>
                                        </p:cTn>
                                        <p:tgtEl>
                                          <p:spTgt spid="18"/>
                                        </p:tgtEl>
                                        <p:attrNameLst>
                                          <p:attrName>style.visibility</p:attrName>
                                        </p:attrNameLst>
                                      </p:cBhvr>
                                      <p:to>
                                        <p:strVal val="visible"/>
                                      </p:to>
                                    </p:set>
                                    <p:animEffect transition="in" filter="fade">
                                      <p:cBhvr>
                                        <p:cTn id="47" dur="400"/>
                                        <p:tgtEl>
                                          <p:spTgt spid="18"/>
                                        </p:tgtEl>
                                      </p:cBhvr>
                                    </p:animEffect>
                                  </p:childTnLst>
                                </p:cTn>
                              </p:par>
                            </p:childTnLst>
                          </p:cTn>
                        </p:par>
                        <p:par>
                          <p:cTn id="48" fill="hold">
                            <p:stCondLst>
                              <p:cond delay="500"/>
                            </p:stCondLst>
                            <p:childTnLst>
                              <p:par>
                                <p:cTn id="49" presetID="10" presetClass="entr" presetSubtype="0" fill="hold" grpId="0" nodeType="withEffect">
                                  <p:stCondLst>
                                    <p:cond delay="0"/>
                                  </p:stCondLst>
                                  <p:childTnLst>
                                    <p:set>
                                      <p:cBhvr>
                                        <p:cTn id="50" dur="1" fill="hold">
                                          <p:stCondLst>
                                            <p:cond delay="0"/>
                                          </p:stCondLst>
                                        </p:cTn>
                                        <p:tgtEl>
                                          <p:spTgt spid="19"/>
                                        </p:tgtEl>
                                        <p:attrNameLst>
                                          <p:attrName>style.visibility</p:attrName>
                                        </p:attrNameLst>
                                      </p:cBhvr>
                                      <p:to>
                                        <p:strVal val="visible"/>
                                      </p:to>
                                    </p:set>
                                    <p:animEffect transition="in" filter="fade">
                                      <p:cBhvr>
                                        <p:cTn id="51" dur="400"/>
                                        <p:tgtEl>
                                          <p:spTgt spid="19"/>
                                        </p:tgtEl>
                                      </p:cBhvr>
                                    </p:animEffect>
                                  </p:childTnLst>
                                </p:cTn>
                              </p:par>
                            </p:childTnLst>
                          </p:cTn>
                        </p:par>
                        <p:par>
                          <p:cTn id="52" fill="hold">
                            <p:stCondLst>
                              <p:cond delay="500"/>
                            </p:stCondLst>
                            <p:childTnLst>
                              <p:par>
                                <p:cTn id="53" presetID="10" presetClass="entr" presetSubtype="0" fill="hold" grpId="0" nodeType="withEffect">
                                  <p:stCondLst>
                                    <p:cond delay="0"/>
                                  </p:stCondLst>
                                  <p:childTnLst>
                                    <p:set>
                                      <p:cBhvr>
                                        <p:cTn id="54" dur="1" fill="hold">
                                          <p:stCondLst>
                                            <p:cond delay="0"/>
                                          </p:stCondLst>
                                        </p:cTn>
                                        <p:tgtEl>
                                          <p:spTgt spid="20"/>
                                        </p:tgtEl>
                                        <p:attrNameLst>
                                          <p:attrName>style.visibility</p:attrName>
                                        </p:attrNameLst>
                                      </p:cBhvr>
                                      <p:to>
                                        <p:strVal val="visible"/>
                                      </p:to>
                                    </p:set>
                                    <p:animEffect transition="in" filter="fade">
                                      <p:cBhvr>
                                        <p:cTn id="55" dur="400"/>
                                        <p:tgtEl>
                                          <p:spTgt spid="20"/>
                                        </p:tgtEl>
                                      </p:cBhvr>
                                    </p:animEffect>
                                  </p:childTnLst>
                                </p:cTn>
                              </p:par>
                            </p:childTnLst>
                          </p:cTn>
                        </p:par>
                        <p:par>
                          <p:cTn id="56" fill="hold">
                            <p:stCondLst>
                              <p:cond delay="500"/>
                            </p:stCondLst>
                            <p:childTnLst>
                              <p:par>
                                <p:cTn id="57" presetID="10" presetClass="entr" presetSubtype="0" fill="hold" grpId="0" nodeType="withEffect">
                                  <p:stCondLst>
                                    <p:cond delay="0"/>
                                  </p:stCondLst>
                                  <p:childTnLst>
                                    <p:set>
                                      <p:cBhvr>
                                        <p:cTn id="58" dur="1" fill="hold">
                                          <p:stCondLst>
                                            <p:cond delay="0"/>
                                          </p:stCondLst>
                                        </p:cTn>
                                        <p:tgtEl>
                                          <p:spTgt spid="21"/>
                                        </p:tgtEl>
                                        <p:attrNameLst>
                                          <p:attrName>style.visibility</p:attrName>
                                        </p:attrNameLst>
                                      </p:cBhvr>
                                      <p:to>
                                        <p:strVal val="visible"/>
                                      </p:to>
                                    </p:set>
                                    <p:animEffect transition="in" filter="fade">
                                      <p:cBhvr>
                                        <p:cTn id="59" dur="400"/>
                                        <p:tgtEl>
                                          <p:spTgt spid="21"/>
                                        </p:tgtEl>
                                      </p:cBhvr>
                                    </p:animEffect>
                                  </p:childTnLst>
                                </p:cTn>
                              </p:par>
                            </p:childTnLst>
                          </p:cTn>
                        </p:par>
                        <p:par>
                          <p:cTn id="60" fill="hold">
                            <p:stCondLst>
                              <p:cond delay="500"/>
                            </p:stCondLst>
                            <p:childTnLst>
                              <p:par>
                                <p:cTn id="61" presetID="10" presetClass="entr" presetSubtype="0" fill="hold" grpId="0" nodeType="withEffect">
                                  <p:stCondLst>
                                    <p:cond delay="0"/>
                                  </p:stCondLst>
                                  <p:childTnLst>
                                    <p:set>
                                      <p:cBhvr>
                                        <p:cTn id="62" dur="1" fill="hold">
                                          <p:stCondLst>
                                            <p:cond delay="0"/>
                                          </p:stCondLst>
                                        </p:cTn>
                                        <p:tgtEl>
                                          <p:spTgt spid="22"/>
                                        </p:tgtEl>
                                        <p:attrNameLst>
                                          <p:attrName>style.visibility</p:attrName>
                                        </p:attrNameLst>
                                      </p:cBhvr>
                                      <p:to>
                                        <p:strVal val="visible"/>
                                      </p:to>
                                    </p:set>
                                    <p:animEffect transition="in" filter="fade">
                                      <p:cBhvr>
                                        <p:cTn id="63" dur="400"/>
                                        <p:tgtEl>
                                          <p:spTgt spid="22"/>
                                        </p:tgtEl>
                                      </p:cBhvr>
                                    </p:animEffect>
                                  </p:childTnLst>
                                </p:cTn>
                              </p:par>
                            </p:childTnLst>
                          </p:cTn>
                        </p:par>
                        <p:par>
                          <p:cTn id="64" fill="hold">
                            <p:stCondLst>
                              <p:cond delay="750"/>
                            </p:stCondLst>
                            <p:childTnLst>
                              <p:par>
                                <p:cTn id="65" presetID="10" presetClass="entr" presetSubtype="0" fill="hold" grpId="0" nodeType="withEffect">
                                  <p:stCondLst>
                                    <p:cond delay="0"/>
                                  </p:stCondLst>
                                  <p:childTnLst>
                                    <p:set>
                                      <p:cBhvr>
                                        <p:cTn id="66" dur="1" fill="hold">
                                          <p:stCondLst>
                                            <p:cond delay="0"/>
                                          </p:stCondLst>
                                        </p:cTn>
                                        <p:tgtEl>
                                          <p:spTgt spid="23"/>
                                        </p:tgtEl>
                                        <p:attrNameLst>
                                          <p:attrName>style.visibility</p:attrName>
                                        </p:attrNameLst>
                                      </p:cBhvr>
                                      <p:to>
                                        <p:strVal val="visible"/>
                                      </p:to>
                                    </p:set>
                                    <p:animEffect transition="in" filter="fade">
                                      <p:cBhvr>
                                        <p:cTn id="67" dur="400"/>
                                        <p:tgtEl>
                                          <p:spTgt spid="23"/>
                                        </p:tgtEl>
                                      </p:cBhvr>
                                    </p:animEffect>
                                  </p:childTnLst>
                                </p:cTn>
                              </p:par>
                            </p:childTnLst>
                          </p:cTn>
                        </p:par>
                        <p:par>
                          <p:cTn id="68" fill="hold">
                            <p:stCondLst>
                              <p:cond delay="750"/>
                            </p:stCondLst>
                            <p:childTnLst>
                              <p:par>
                                <p:cTn id="69" presetID="10" presetClass="entr" presetSubtype="0" fill="hold" grpId="0" nodeType="withEffect">
                                  <p:stCondLst>
                                    <p:cond delay="0"/>
                                  </p:stCondLst>
                                  <p:childTnLst>
                                    <p:set>
                                      <p:cBhvr>
                                        <p:cTn id="70" dur="1" fill="hold">
                                          <p:stCondLst>
                                            <p:cond delay="0"/>
                                          </p:stCondLst>
                                        </p:cTn>
                                        <p:tgtEl>
                                          <p:spTgt spid="24"/>
                                        </p:tgtEl>
                                        <p:attrNameLst>
                                          <p:attrName>style.visibility</p:attrName>
                                        </p:attrNameLst>
                                      </p:cBhvr>
                                      <p:to>
                                        <p:strVal val="visible"/>
                                      </p:to>
                                    </p:set>
                                    <p:animEffect transition="in" filter="fade">
                                      <p:cBhvr>
                                        <p:cTn id="71" dur="400"/>
                                        <p:tgtEl>
                                          <p:spTgt spid="24"/>
                                        </p:tgtEl>
                                      </p:cBhvr>
                                    </p:animEffect>
                                  </p:childTnLst>
                                </p:cTn>
                              </p:par>
                            </p:childTnLst>
                          </p:cTn>
                        </p:par>
                        <p:par>
                          <p:cTn id="72" fill="hold">
                            <p:stCondLst>
                              <p:cond delay="750"/>
                            </p:stCondLst>
                            <p:childTnLst>
                              <p:par>
                                <p:cTn id="73" presetID="10" presetClass="entr" presetSubtype="0" fill="hold" grpId="0" nodeType="withEffect">
                                  <p:stCondLst>
                                    <p:cond delay="0"/>
                                  </p:stCondLst>
                                  <p:childTnLst>
                                    <p:set>
                                      <p:cBhvr>
                                        <p:cTn id="74" dur="1" fill="hold">
                                          <p:stCondLst>
                                            <p:cond delay="0"/>
                                          </p:stCondLst>
                                        </p:cTn>
                                        <p:tgtEl>
                                          <p:spTgt spid="25"/>
                                        </p:tgtEl>
                                        <p:attrNameLst>
                                          <p:attrName>style.visibility</p:attrName>
                                        </p:attrNameLst>
                                      </p:cBhvr>
                                      <p:to>
                                        <p:strVal val="visible"/>
                                      </p:to>
                                    </p:set>
                                    <p:animEffect transition="in" filter="fade">
                                      <p:cBhvr>
                                        <p:cTn id="75" dur="400"/>
                                        <p:tgtEl>
                                          <p:spTgt spid="25"/>
                                        </p:tgtEl>
                                      </p:cBhvr>
                                    </p:animEffect>
                                  </p:childTnLst>
                                </p:cTn>
                              </p:par>
                            </p:childTnLst>
                          </p:cTn>
                        </p:par>
                        <p:par>
                          <p:cTn id="76" fill="hold">
                            <p:stCondLst>
                              <p:cond delay="750"/>
                            </p:stCondLst>
                            <p:childTnLst>
                              <p:par>
                                <p:cTn id="77" presetID="10" presetClass="entr" presetSubtype="0" fill="hold" grpId="0" nodeType="withEffect">
                                  <p:stCondLst>
                                    <p:cond delay="0"/>
                                  </p:stCondLst>
                                  <p:childTnLst>
                                    <p:set>
                                      <p:cBhvr>
                                        <p:cTn id="78" dur="1" fill="hold">
                                          <p:stCondLst>
                                            <p:cond delay="0"/>
                                          </p:stCondLst>
                                        </p:cTn>
                                        <p:tgtEl>
                                          <p:spTgt spid="26"/>
                                        </p:tgtEl>
                                        <p:attrNameLst>
                                          <p:attrName>style.visibility</p:attrName>
                                        </p:attrNameLst>
                                      </p:cBhvr>
                                      <p:to>
                                        <p:strVal val="visible"/>
                                      </p:to>
                                    </p:set>
                                    <p:animEffect transition="in" filter="fade">
                                      <p:cBhvr>
                                        <p:cTn id="79" dur="400"/>
                                        <p:tgtEl>
                                          <p:spTgt spid="26"/>
                                        </p:tgtEl>
                                      </p:cBhvr>
                                    </p:animEffect>
                                  </p:childTnLst>
                                </p:cTn>
                              </p:par>
                            </p:childTnLst>
                          </p:cTn>
                        </p:par>
                        <p:par>
                          <p:cTn id="80" fill="hold">
                            <p:stCondLst>
                              <p:cond delay="750"/>
                            </p:stCondLst>
                            <p:childTnLst>
                              <p:par>
                                <p:cTn id="81" presetID="10" presetClass="entr" presetSubtype="0" fill="hold" grpId="0" nodeType="withEffect">
                                  <p:stCondLst>
                                    <p:cond delay="0"/>
                                  </p:stCondLst>
                                  <p:childTnLst>
                                    <p:set>
                                      <p:cBhvr>
                                        <p:cTn id="82" dur="1" fill="hold">
                                          <p:stCondLst>
                                            <p:cond delay="0"/>
                                          </p:stCondLst>
                                        </p:cTn>
                                        <p:tgtEl>
                                          <p:spTgt spid="27"/>
                                        </p:tgtEl>
                                        <p:attrNameLst>
                                          <p:attrName>style.visibility</p:attrName>
                                        </p:attrNameLst>
                                      </p:cBhvr>
                                      <p:to>
                                        <p:strVal val="visible"/>
                                      </p:to>
                                    </p:set>
                                    <p:animEffect transition="in" filter="fade">
                                      <p:cBhvr>
                                        <p:cTn id="83" dur="400"/>
                                        <p:tgtEl>
                                          <p:spTgt spid="27"/>
                                        </p:tgtEl>
                                      </p:cBhvr>
                                    </p:animEffect>
                                  </p:childTnLst>
                                </p:cTn>
                              </p:par>
                            </p:childTnLst>
                          </p:cTn>
                        </p:par>
                        <p:par>
                          <p:cTn id="84" fill="hold">
                            <p:stCondLst>
                              <p:cond delay="1000"/>
                            </p:stCondLst>
                            <p:childTnLst>
                              <p:par>
                                <p:cTn id="85" presetID="10" presetClass="entr" presetSubtype="0" fill="hold" grpId="0" nodeType="withEffect">
                                  <p:stCondLst>
                                    <p:cond delay="0"/>
                                  </p:stCondLst>
                                  <p:childTnLst>
                                    <p:set>
                                      <p:cBhvr>
                                        <p:cTn id="86" dur="1" fill="hold">
                                          <p:stCondLst>
                                            <p:cond delay="0"/>
                                          </p:stCondLst>
                                        </p:cTn>
                                        <p:tgtEl>
                                          <p:spTgt spid="28"/>
                                        </p:tgtEl>
                                        <p:attrNameLst>
                                          <p:attrName>style.visibility</p:attrName>
                                        </p:attrNameLst>
                                      </p:cBhvr>
                                      <p:to>
                                        <p:strVal val="visible"/>
                                      </p:to>
                                    </p:set>
                                    <p:animEffect transition="in" filter="fade">
                                      <p:cBhvr>
                                        <p:cTn id="87" dur="400"/>
                                        <p:tgtEl>
                                          <p:spTgt spid="28"/>
                                        </p:tgtEl>
                                      </p:cBhvr>
                                    </p:animEffect>
                                  </p:childTnLst>
                                </p:cTn>
                              </p:par>
                            </p:childTnLst>
                          </p:cTn>
                        </p:par>
                        <p:par>
                          <p:cTn id="88" fill="hold">
                            <p:stCondLst>
                              <p:cond delay="1000"/>
                            </p:stCondLst>
                            <p:childTnLst>
                              <p:par>
                                <p:cTn id="89" presetID="10" presetClass="entr" presetSubtype="0" fill="hold" grpId="0" nodeType="withEffect">
                                  <p:stCondLst>
                                    <p:cond delay="0"/>
                                  </p:stCondLst>
                                  <p:childTnLst>
                                    <p:set>
                                      <p:cBhvr>
                                        <p:cTn id="90" dur="1" fill="hold">
                                          <p:stCondLst>
                                            <p:cond delay="0"/>
                                          </p:stCondLst>
                                        </p:cTn>
                                        <p:tgtEl>
                                          <p:spTgt spid="29"/>
                                        </p:tgtEl>
                                        <p:attrNameLst>
                                          <p:attrName>style.visibility</p:attrName>
                                        </p:attrNameLst>
                                      </p:cBhvr>
                                      <p:to>
                                        <p:strVal val="visible"/>
                                      </p:to>
                                    </p:set>
                                    <p:animEffect transition="in" filter="fade">
                                      <p:cBhvr>
                                        <p:cTn id="91" dur="400"/>
                                        <p:tgtEl>
                                          <p:spTgt spid="29"/>
                                        </p:tgtEl>
                                      </p:cBhvr>
                                    </p:animEffect>
                                  </p:childTnLst>
                                </p:cTn>
                              </p:par>
                            </p:childTnLst>
                          </p:cTn>
                        </p:par>
                        <p:par>
                          <p:cTn id="92" fill="hold">
                            <p:stCondLst>
                              <p:cond delay="1000"/>
                            </p:stCondLst>
                            <p:childTnLst>
                              <p:par>
                                <p:cTn id="93" presetID="10" presetClass="entr" presetSubtype="0" fill="hold" grpId="0" nodeType="withEffect">
                                  <p:stCondLst>
                                    <p:cond delay="0"/>
                                  </p:stCondLst>
                                  <p:childTnLst>
                                    <p:set>
                                      <p:cBhvr>
                                        <p:cTn id="94" dur="1" fill="hold">
                                          <p:stCondLst>
                                            <p:cond delay="0"/>
                                          </p:stCondLst>
                                        </p:cTn>
                                        <p:tgtEl>
                                          <p:spTgt spid="30"/>
                                        </p:tgtEl>
                                        <p:attrNameLst>
                                          <p:attrName>style.visibility</p:attrName>
                                        </p:attrNameLst>
                                      </p:cBhvr>
                                      <p:to>
                                        <p:strVal val="visible"/>
                                      </p:to>
                                    </p:set>
                                    <p:animEffect transition="in" filter="fade">
                                      <p:cBhvr>
                                        <p:cTn id="95" dur="400"/>
                                        <p:tgtEl>
                                          <p:spTgt spid="30"/>
                                        </p:tgtEl>
                                      </p:cBhvr>
                                    </p:animEffect>
                                  </p:childTnLst>
                                </p:cTn>
                              </p:par>
                            </p:childTnLst>
                          </p:cTn>
                        </p:par>
                        <p:par>
                          <p:cTn id="96" fill="hold">
                            <p:stCondLst>
                              <p:cond delay="1000"/>
                            </p:stCondLst>
                            <p:childTnLst>
                              <p:par>
                                <p:cTn id="97" presetID="10" presetClass="entr" presetSubtype="0" fill="hold" grpId="0" nodeType="withEffect">
                                  <p:stCondLst>
                                    <p:cond delay="0"/>
                                  </p:stCondLst>
                                  <p:childTnLst>
                                    <p:set>
                                      <p:cBhvr>
                                        <p:cTn id="98" dur="1" fill="hold">
                                          <p:stCondLst>
                                            <p:cond delay="0"/>
                                          </p:stCondLst>
                                        </p:cTn>
                                        <p:tgtEl>
                                          <p:spTgt spid="31"/>
                                        </p:tgtEl>
                                        <p:attrNameLst>
                                          <p:attrName>style.visibility</p:attrName>
                                        </p:attrNameLst>
                                      </p:cBhvr>
                                      <p:to>
                                        <p:strVal val="visible"/>
                                      </p:to>
                                    </p:set>
                                    <p:animEffect transition="in" filter="fade">
                                      <p:cBhvr>
                                        <p:cTn id="99" dur="400"/>
                                        <p:tgtEl>
                                          <p:spTgt spid="31"/>
                                        </p:tgtEl>
                                      </p:cBhvr>
                                    </p:animEffect>
                                  </p:childTnLst>
                                </p:cTn>
                              </p:par>
                            </p:childTnLst>
                          </p:cTn>
                        </p:par>
                        <p:par>
                          <p:cTn id="100" fill="hold">
                            <p:stCondLst>
                              <p:cond delay="1000"/>
                            </p:stCondLst>
                            <p:childTnLst>
                              <p:par>
                                <p:cTn id="101" presetID="10" presetClass="entr" presetSubtype="0" fill="hold" grpId="0" nodeType="withEffect">
                                  <p:stCondLst>
                                    <p:cond delay="0"/>
                                  </p:stCondLst>
                                  <p:childTnLst>
                                    <p:set>
                                      <p:cBhvr>
                                        <p:cTn id="102" dur="1" fill="hold">
                                          <p:stCondLst>
                                            <p:cond delay="0"/>
                                          </p:stCondLst>
                                        </p:cTn>
                                        <p:tgtEl>
                                          <p:spTgt spid="32"/>
                                        </p:tgtEl>
                                        <p:attrNameLst>
                                          <p:attrName>style.visibility</p:attrName>
                                        </p:attrNameLst>
                                      </p:cBhvr>
                                      <p:to>
                                        <p:strVal val="visible"/>
                                      </p:to>
                                    </p:set>
                                    <p:animEffect transition="in" filter="fade">
                                      <p:cBhvr>
                                        <p:cTn id="103" dur="400"/>
                                        <p:tgtEl>
                                          <p:spTgt spid="32"/>
                                        </p:tgtEl>
                                      </p:cBhvr>
                                    </p:animEffect>
                                  </p:childTnLst>
                                </p:cTn>
                              </p:par>
                            </p:childTnLst>
                          </p:cTn>
                        </p:par>
                        <p:par>
                          <p:cTn id="104" fill="hold">
                            <p:stCondLst>
                              <p:cond delay="1250"/>
                            </p:stCondLst>
                            <p:childTnLst>
                              <p:par>
                                <p:cTn id="105" presetID="10" presetClass="entr" presetSubtype="0" fill="hold" grpId="0" nodeType="withEffect">
                                  <p:stCondLst>
                                    <p:cond delay="0"/>
                                  </p:stCondLst>
                                  <p:childTnLst>
                                    <p:set>
                                      <p:cBhvr>
                                        <p:cTn id="106" dur="1" fill="hold">
                                          <p:stCondLst>
                                            <p:cond delay="0"/>
                                          </p:stCondLst>
                                        </p:cTn>
                                        <p:tgtEl>
                                          <p:spTgt spid="33"/>
                                        </p:tgtEl>
                                        <p:attrNameLst>
                                          <p:attrName>style.visibility</p:attrName>
                                        </p:attrNameLst>
                                      </p:cBhvr>
                                      <p:to>
                                        <p:strVal val="visible"/>
                                      </p:to>
                                    </p:set>
                                    <p:animEffect transition="in" filter="fade">
                                      <p:cBhvr>
                                        <p:cTn id="107" dur="400"/>
                                        <p:tgtEl>
                                          <p:spTgt spid="33"/>
                                        </p:tgtEl>
                                      </p:cBhvr>
                                    </p:animEffect>
                                  </p:childTnLst>
                                </p:cTn>
                              </p:par>
                            </p:childTnLst>
                          </p:cTn>
                        </p:par>
                        <p:par>
                          <p:cTn id="108" fill="hold">
                            <p:stCondLst>
                              <p:cond delay="1250"/>
                            </p:stCondLst>
                            <p:childTnLst>
                              <p:par>
                                <p:cTn id="109" presetID="10" presetClass="entr" presetSubtype="0" fill="hold" grpId="0" nodeType="withEffect">
                                  <p:stCondLst>
                                    <p:cond delay="0"/>
                                  </p:stCondLst>
                                  <p:childTnLst>
                                    <p:set>
                                      <p:cBhvr>
                                        <p:cTn id="110" dur="1" fill="hold">
                                          <p:stCondLst>
                                            <p:cond delay="0"/>
                                          </p:stCondLst>
                                        </p:cTn>
                                        <p:tgtEl>
                                          <p:spTgt spid="34"/>
                                        </p:tgtEl>
                                        <p:attrNameLst>
                                          <p:attrName>style.visibility</p:attrName>
                                        </p:attrNameLst>
                                      </p:cBhvr>
                                      <p:to>
                                        <p:strVal val="visible"/>
                                      </p:to>
                                    </p:set>
                                    <p:animEffect transition="in" filter="fade">
                                      <p:cBhvr>
                                        <p:cTn id="111" dur="400"/>
                                        <p:tgtEl>
                                          <p:spTgt spid="34"/>
                                        </p:tgtEl>
                                      </p:cBhvr>
                                    </p:animEffect>
                                  </p:childTnLst>
                                </p:cTn>
                              </p:par>
                            </p:childTnLst>
                          </p:cTn>
                        </p:par>
                        <p:par>
                          <p:cTn id="112" fill="hold">
                            <p:stCondLst>
                              <p:cond delay="1250"/>
                            </p:stCondLst>
                            <p:childTnLst>
                              <p:par>
                                <p:cTn id="113" presetID="10" presetClass="entr" presetSubtype="0" fill="hold" grpId="0" nodeType="withEffect">
                                  <p:stCondLst>
                                    <p:cond delay="0"/>
                                  </p:stCondLst>
                                  <p:childTnLst>
                                    <p:set>
                                      <p:cBhvr>
                                        <p:cTn id="114" dur="1" fill="hold">
                                          <p:stCondLst>
                                            <p:cond delay="0"/>
                                          </p:stCondLst>
                                        </p:cTn>
                                        <p:tgtEl>
                                          <p:spTgt spid="35"/>
                                        </p:tgtEl>
                                        <p:attrNameLst>
                                          <p:attrName>style.visibility</p:attrName>
                                        </p:attrNameLst>
                                      </p:cBhvr>
                                      <p:to>
                                        <p:strVal val="visible"/>
                                      </p:to>
                                    </p:set>
                                    <p:animEffect transition="in" filter="fade">
                                      <p:cBhvr>
                                        <p:cTn id="115" dur="400"/>
                                        <p:tgtEl>
                                          <p:spTgt spid="35"/>
                                        </p:tgtEl>
                                      </p:cBhvr>
                                    </p:animEffect>
                                  </p:childTnLst>
                                </p:cTn>
                              </p:par>
                            </p:childTnLst>
                          </p:cTn>
                        </p:par>
                        <p:par>
                          <p:cTn id="116" fill="hold">
                            <p:stCondLst>
                              <p:cond delay="1250"/>
                            </p:stCondLst>
                            <p:childTnLst>
                              <p:par>
                                <p:cTn id="117" presetID="10" presetClass="entr" presetSubtype="0" fill="hold" grpId="0" nodeType="withEffect">
                                  <p:stCondLst>
                                    <p:cond delay="0"/>
                                  </p:stCondLst>
                                  <p:childTnLst>
                                    <p:set>
                                      <p:cBhvr>
                                        <p:cTn id="118" dur="1" fill="hold">
                                          <p:stCondLst>
                                            <p:cond delay="0"/>
                                          </p:stCondLst>
                                        </p:cTn>
                                        <p:tgtEl>
                                          <p:spTgt spid="36"/>
                                        </p:tgtEl>
                                        <p:attrNameLst>
                                          <p:attrName>style.visibility</p:attrName>
                                        </p:attrNameLst>
                                      </p:cBhvr>
                                      <p:to>
                                        <p:strVal val="visible"/>
                                      </p:to>
                                    </p:set>
                                    <p:animEffect transition="in" filter="fade">
                                      <p:cBhvr>
                                        <p:cTn id="119"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1 · O PROBLEMA E A PROPOSTA · KEVENN</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Imagine que a prefeitura adote a nossa proposta</a:t>
            </a:r>
            <a:endParaRPr lang="en-US" sz="3200" dirty="0"/>
          </a:p>
        </p:txBody>
      </p:sp>
      <p:sp>
        <p:nvSpPr>
          <p:cNvPr id="5" name="anim:1:456"/>
          <p:cNvSpPr/>
          <p:nvPr/>
        </p:nvSpPr>
        <p:spPr>
          <a:xfrm>
            <a:off x="548640" y="1600200"/>
            <a:ext cx="2542032" cy="3474720"/>
          </a:xfrm>
          <a:prstGeom prst="roundRect">
            <a:avLst>
              <a:gd name="adj" fmla="val 4317"/>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6" name="anim:1:457"/>
          <p:cNvSpPr/>
          <p:nvPr/>
        </p:nvSpPr>
        <p:spPr>
          <a:xfrm>
            <a:off x="777240" y="1810512"/>
            <a:ext cx="502920" cy="502920"/>
          </a:xfrm>
          <a:prstGeom prst="ellipse">
            <a:avLst/>
          </a:prstGeom>
          <a:solidFill>
            <a:srgbClr val="F2A541"/>
          </a:solidFill>
          <a:ln w="12700">
            <a:solidFill>
              <a:srgbClr val="F2A541"/>
            </a:solidFill>
            <a:prstDash val="solid"/>
          </a:ln>
        </p:spPr>
      </p:sp>
      <p:sp>
        <p:nvSpPr>
          <p:cNvPr id="7" name="anim:1:458"/>
          <p:cNvSpPr txBox="1"/>
          <p:nvPr/>
        </p:nvSpPr>
        <p:spPr>
          <a:xfrm>
            <a:off x="777240" y="1810512"/>
            <a:ext cx="502920" cy="502920"/>
          </a:xfrm>
          <a:prstGeom prst="rect">
            <a:avLst/>
          </a:prstGeom>
          <a:noFill/>
          <a:ln/>
        </p:spPr>
        <p:txBody>
          <a:bodyPr wrap="square" lIns="0" tIns="0" rIns="0" bIns="0" rtlCol="0" anchor="ctr"/>
          <a:lstStyle/>
          <a:p>
            <a:pPr algn="ctr" indent="0" marL="0">
              <a:buNone/>
            </a:pPr>
            <a:r>
              <a:rPr lang="en-US" sz="1500" b="1" dirty="0">
                <a:solidFill>
                  <a:srgbClr val="1B2A4A"/>
                </a:solidFill>
                <a:latin typeface="Calibri" pitchFamily="34" charset="0"/>
                <a:ea typeface="Calibri" pitchFamily="34" charset="-122"/>
                <a:cs typeface="Calibri" pitchFamily="34" charset="-120"/>
              </a:rPr>
              <a:t>1</a:t>
            </a:r>
            <a:endParaRPr lang="en-US" sz="1500" dirty="0"/>
          </a:p>
        </p:txBody>
      </p:sp>
      <p:sp>
        <p:nvSpPr>
          <p:cNvPr id="8" name="anim:1:459"/>
          <p:cNvSpPr txBox="1"/>
          <p:nvPr/>
        </p:nvSpPr>
        <p:spPr>
          <a:xfrm>
            <a:off x="777240" y="2423160"/>
            <a:ext cx="2148840" cy="548640"/>
          </a:xfrm>
          <a:prstGeom prst="rect">
            <a:avLst/>
          </a:prstGeom>
          <a:noFill/>
          <a:ln/>
        </p:spPr>
        <p:txBody>
          <a:bodyPr wrap="square" lIns="0" tIns="0" rIns="0" bIns="0" rtlCol="0" anchor="t"/>
          <a:lstStyle/>
          <a:p>
            <a:pPr algn="l" indent="0" marL="0">
              <a:buNone/>
            </a:pPr>
            <a:r>
              <a:rPr lang="en-US" sz="1500" b="1" dirty="0">
                <a:solidFill>
                  <a:srgbClr val="1B2A4A"/>
                </a:solidFill>
                <a:latin typeface="Calibri" pitchFamily="34" charset="0"/>
                <a:ea typeface="Calibri" pitchFamily="34" charset="-122"/>
                <a:cs typeface="Calibri" pitchFamily="34" charset="-120"/>
              </a:rPr>
              <a:t>Kevenn Laranjeira de Oliveira</a:t>
            </a:r>
            <a:endParaRPr lang="en-US" sz="1500" dirty="0"/>
          </a:p>
        </p:txBody>
      </p:sp>
      <p:sp>
        <p:nvSpPr>
          <p:cNvPr id="9" name="anim:1:460"/>
          <p:cNvSpPr txBox="1"/>
          <p:nvPr/>
        </p:nvSpPr>
        <p:spPr>
          <a:xfrm>
            <a:off x="777240" y="2990088"/>
            <a:ext cx="2148840" cy="274320"/>
          </a:xfrm>
          <a:prstGeom prst="rect">
            <a:avLst/>
          </a:prstGeom>
          <a:noFill/>
          <a:ln/>
        </p:spPr>
        <p:txBody>
          <a:bodyPr wrap="square" lIns="0" tIns="0" rIns="0" bIns="0" rtlCol="0" anchor="t"/>
          <a:lstStyle/>
          <a:p>
            <a:pPr algn="l" indent="0" marL="0">
              <a:buNone/>
            </a:pPr>
            <a:r>
              <a:rPr lang="en-US" sz="1200" b="1" dirty="0">
                <a:solidFill>
                  <a:srgbClr val="2E5EAA"/>
                </a:solidFill>
                <a:latin typeface="Calibri" pitchFamily="34" charset="0"/>
                <a:ea typeface="Calibri" pitchFamily="34" charset="-122"/>
                <a:cs typeface="Calibri" pitchFamily="34" charset="-120"/>
              </a:rPr>
              <a:t>slides 1 a 11</a:t>
            </a:r>
            <a:endParaRPr lang="en-US" sz="1200" dirty="0"/>
          </a:p>
        </p:txBody>
      </p:sp>
      <p:sp>
        <p:nvSpPr>
          <p:cNvPr id="10" name="anim:1:461"/>
          <p:cNvSpPr txBox="1"/>
          <p:nvPr/>
        </p:nvSpPr>
        <p:spPr>
          <a:xfrm>
            <a:off x="777240" y="3337560"/>
            <a:ext cx="2148840" cy="502920"/>
          </a:xfrm>
          <a:prstGeom prst="rect">
            <a:avLst/>
          </a:prstGeom>
          <a:noFill/>
          <a:ln/>
        </p:spPr>
        <p:txBody>
          <a:bodyPr wrap="square" lIns="0" tIns="0" rIns="0" bIns="0" rtlCol="0" anchor="t"/>
          <a:lstStyle/>
          <a:p>
            <a:pPr algn="l" indent="0" marL="0">
              <a:buNone/>
            </a:pPr>
            <a:r>
              <a:rPr lang="en-US" sz="1500" b="1" dirty="0">
                <a:solidFill>
                  <a:srgbClr val="1B2A4A"/>
                </a:solidFill>
                <a:latin typeface="Calibri" pitchFamily="34" charset="0"/>
                <a:ea typeface="Calibri" pitchFamily="34" charset="-122"/>
                <a:cs typeface="Calibri" pitchFamily="34" charset="-120"/>
              </a:rPr>
              <a:t>O problema e a proposta</a:t>
            </a:r>
            <a:endParaRPr lang="en-US" sz="1500" dirty="0"/>
          </a:p>
        </p:txBody>
      </p:sp>
      <p:sp>
        <p:nvSpPr>
          <p:cNvPr id="11" name="anim:1:462"/>
          <p:cNvSpPr txBox="1"/>
          <p:nvPr/>
        </p:nvSpPr>
        <p:spPr>
          <a:xfrm>
            <a:off x="777240" y="3886200"/>
            <a:ext cx="2148840" cy="1097280"/>
          </a:xfrm>
          <a:prstGeom prst="rect">
            <a:avLst/>
          </a:prstGeom>
          <a:noFill/>
          <a:ln/>
        </p:spPr>
        <p:txBody>
          <a:bodyPr wrap="square" lIns="0" tIns="0" rIns="0" bIns="0" rtlCol="0" anchor="t"/>
          <a:lstStyle/>
          <a:p>
            <a:pPr algn="l" indent="0" marL="0">
              <a:buNone/>
            </a:pPr>
            <a:r>
              <a:rPr lang="en-US" sz="1300" dirty="0">
                <a:solidFill>
                  <a:srgbClr val="566175"/>
                </a:solidFill>
                <a:latin typeface="Calibri" pitchFamily="34" charset="0"/>
                <a:ea typeface="Calibri" pitchFamily="34" charset="-122"/>
                <a:cs typeface="Calibri" pitchFamily="34" charset="-120"/>
              </a:rPr>
              <a:t>A fila que ainda existe, a proposta, os ganhos, São Paulo e os assuntos.</a:t>
            </a:r>
            <a:endParaRPr lang="en-US" sz="1300" dirty="0"/>
          </a:p>
        </p:txBody>
      </p:sp>
      <p:sp>
        <p:nvSpPr>
          <p:cNvPr id="12" name="anim:1:463"/>
          <p:cNvSpPr/>
          <p:nvPr/>
        </p:nvSpPr>
        <p:spPr>
          <a:xfrm>
            <a:off x="3118104" y="3200400"/>
            <a:ext cx="219456" cy="274320"/>
          </a:xfrm>
          <a:prstGeom prst="rightArrow">
            <a:avLst/>
          </a:prstGeom>
          <a:solidFill>
            <a:srgbClr val="F2A541"/>
          </a:solidFill>
          <a:ln w="12700">
            <a:solidFill>
              <a:srgbClr val="F2A541"/>
            </a:solidFill>
            <a:prstDash val="solid"/>
          </a:ln>
        </p:spPr>
      </p:sp>
      <p:sp>
        <p:nvSpPr>
          <p:cNvPr id="13" name="anim:2:464"/>
          <p:cNvSpPr/>
          <p:nvPr/>
        </p:nvSpPr>
        <p:spPr>
          <a:xfrm>
            <a:off x="3364992" y="1600200"/>
            <a:ext cx="2542032" cy="3474720"/>
          </a:xfrm>
          <a:prstGeom prst="roundRect">
            <a:avLst>
              <a:gd name="adj" fmla="val 4317"/>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14" name="anim:2:465"/>
          <p:cNvSpPr/>
          <p:nvPr/>
        </p:nvSpPr>
        <p:spPr>
          <a:xfrm>
            <a:off x="3593592" y="1810512"/>
            <a:ext cx="502920" cy="502920"/>
          </a:xfrm>
          <a:prstGeom prst="ellipse">
            <a:avLst/>
          </a:prstGeom>
          <a:solidFill>
            <a:srgbClr val="F2A541"/>
          </a:solidFill>
          <a:ln w="12700">
            <a:solidFill>
              <a:srgbClr val="F2A541"/>
            </a:solidFill>
            <a:prstDash val="solid"/>
          </a:ln>
        </p:spPr>
      </p:sp>
      <p:sp>
        <p:nvSpPr>
          <p:cNvPr id="15" name="anim:2:466"/>
          <p:cNvSpPr txBox="1"/>
          <p:nvPr/>
        </p:nvSpPr>
        <p:spPr>
          <a:xfrm>
            <a:off x="3593592" y="1810512"/>
            <a:ext cx="502920" cy="502920"/>
          </a:xfrm>
          <a:prstGeom prst="rect">
            <a:avLst/>
          </a:prstGeom>
          <a:noFill/>
          <a:ln/>
        </p:spPr>
        <p:txBody>
          <a:bodyPr wrap="square" lIns="0" tIns="0" rIns="0" bIns="0" rtlCol="0" anchor="ctr"/>
          <a:lstStyle/>
          <a:p>
            <a:pPr algn="ctr" indent="0" marL="0">
              <a:buNone/>
            </a:pPr>
            <a:r>
              <a:rPr lang="en-US" sz="1500" b="1" dirty="0">
                <a:solidFill>
                  <a:srgbClr val="1B2A4A"/>
                </a:solidFill>
                <a:latin typeface="Calibri" pitchFamily="34" charset="0"/>
                <a:ea typeface="Calibri" pitchFamily="34" charset="-122"/>
                <a:cs typeface="Calibri" pitchFamily="34" charset="-120"/>
              </a:rPr>
              <a:t>2</a:t>
            </a:r>
            <a:endParaRPr lang="en-US" sz="1500" dirty="0"/>
          </a:p>
        </p:txBody>
      </p:sp>
      <p:sp>
        <p:nvSpPr>
          <p:cNvPr id="16" name="anim:2:467"/>
          <p:cNvSpPr txBox="1"/>
          <p:nvPr/>
        </p:nvSpPr>
        <p:spPr>
          <a:xfrm>
            <a:off x="3593592" y="2423160"/>
            <a:ext cx="2148840" cy="548640"/>
          </a:xfrm>
          <a:prstGeom prst="rect">
            <a:avLst/>
          </a:prstGeom>
          <a:noFill/>
          <a:ln/>
        </p:spPr>
        <p:txBody>
          <a:bodyPr wrap="square" lIns="0" tIns="0" rIns="0" bIns="0" rtlCol="0" anchor="t"/>
          <a:lstStyle/>
          <a:p>
            <a:pPr algn="l" indent="0" marL="0">
              <a:buNone/>
            </a:pPr>
            <a:r>
              <a:rPr lang="en-US" sz="1500" b="1" dirty="0">
                <a:solidFill>
                  <a:srgbClr val="1B2A4A"/>
                </a:solidFill>
                <a:latin typeface="Calibri" pitchFamily="34" charset="0"/>
                <a:ea typeface="Calibri" pitchFamily="34" charset="-122"/>
                <a:cs typeface="Calibri" pitchFamily="34" charset="-120"/>
              </a:rPr>
              <a:t>Thiago Rodrigues Gouveia da Silva</a:t>
            </a:r>
            <a:endParaRPr lang="en-US" sz="1500" dirty="0"/>
          </a:p>
        </p:txBody>
      </p:sp>
      <p:sp>
        <p:nvSpPr>
          <p:cNvPr id="17" name="anim:2:468"/>
          <p:cNvSpPr txBox="1"/>
          <p:nvPr/>
        </p:nvSpPr>
        <p:spPr>
          <a:xfrm>
            <a:off x="3593592" y="2990088"/>
            <a:ext cx="2148840" cy="274320"/>
          </a:xfrm>
          <a:prstGeom prst="rect">
            <a:avLst/>
          </a:prstGeom>
          <a:noFill/>
          <a:ln/>
        </p:spPr>
        <p:txBody>
          <a:bodyPr wrap="square" lIns="0" tIns="0" rIns="0" bIns="0" rtlCol="0" anchor="t"/>
          <a:lstStyle/>
          <a:p>
            <a:pPr algn="l" indent="0" marL="0">
              <a:buNone/>
            </a:pPr>
            <a:r>
              <a:rPr lang="en-US" sz="1200" b="1" dirty="0">
                <a:solidFill>
                  <a:srgbClr val="2E5EAA"/>
                </a:solidFill>
                <a:latin typeface="Calibri" pitchFamily="34" charset="0"/>
                <a:ea typeface="Calibri" pitchFamily="34" charset="-122"/>
                <a:cs typeface="Calibri" pitchFamily="34" charset="-120"/>
              </a:rPr>
              <a:t>slides 12 a 16</a:t>
            </a:r>
            <a:endParaRPr lang="en-US" sz="1200" dirty="0"/>
          </a:p>
        </p:txBody>
      </p:sp>
      <p:sp>
        <p:nvSpPr>
          <p:cNvPr id="18" name="anim:2:469"/>
          <p:cNvSpPr txBox="1"/>
          <p:nvPr/>
        </p:nvSpPr>
        <p:spPr>
          <a:xfrm>
            <a:off x="3593592" y="3337560"/>
            <a:ext cx="2148840" cy="502920"/>
          </a:xfrm>
          <a:prstGeom prst="rect">
            <a:avLst/>
          </a:prstGeom>
          <a:noFill/>
          <a:ln/>
        </p:spPr>
        <p:txBody>
          <a:bodyPr wrap="square" lIns="0" tIns="0" rIns="0" bIns="0" rtlCol="0" anchor="t"/>
          <a:lstStyle/>
          <a:p>
            <a:pPr algn="l" indent="0" marL="0">
              <a:buNone/>
            </a:pPr>
            <a:r>
              <a:rPr lang="en-US" sz="1500" b="1" dirty="0">
                <a:solidFill>
                  <a:srgbClr val="1B2A4A"/>
                </a:solidFill>
                <a:latin typeface="Calibri" pitchFamily="34" charset="0"/>
                <a:ea typeface="Calibri" pitchFamily="34" charset="-122"/>
                <a:cs typeface="Calibri" pitchFamily="34" charset="-120"/>
              </a:rPr>
              <a:t>Passo 1: os dados</a:t>
            </a:r>
            <a:endParaRPr lang="en-US" sz="1500" dirty="0"/>
          </a:p>
        </p:txBody>
      </p:sp>
      <p:sp>
        <p:nvSpPr>
          <p:cNvPr id="19" name="anim:2:470"/>
          <p:cNvSpPr txBox="1"/>
          <p:nvPr/>
        </p:nvSpPr>
        <p:spPr>
          <a:xfrm>
            <a:off x="3593592" y="3886200"/>
            <a:ext cx="2148840" cy="1097280"/>
          </a:xfrm>
          <a:prstGeom prst="rect">
            <a:avLst/>
          </a:prstGeom>
          <a:noFill/>
          <a:ln/>
        </p:spPr>
        <p:txBody>
          <a:bodyPr wrap="square" lIns="0" tIns="0" rIns="0" bIns="0" rtlCol="0" anchor="t"/>
          <a:lstStyle/>
          <a:p>
            <a:pPr algn="l" indent="0" marL="0">
              <a:buNone/>
            </a:pPr>
            <a:r>
              <a:rPr lang="en-US" sz="1300" dirty="0">
                <a:solidFill>
                  <a:srgbClr val="566175"/>
                </a:solidFill>
                <a:latin typeface="Calibri" pitchFamily="34" charset="0"/>
                <a:ea typeface="Calibri" pitchFamily="34" charset="-122"/>
                <a:cs typeface="Calibri" pitchFamily="34" charset="-120"/>
              </a:rPr>
              <a:t>Fontes, integração, problemas nos dados, grão e a estrela Matrícula.</a:t>
            </a:r>
            <a:endParaRPr lang="en-US" sz="1300" dirty="0"/>
          </a:p>
        </p:txBody>
      </p:sp>
      <p:sp>
        <p:nvSpPr>
          <p:cNvPr id="20" name="anim:2:471"/>
          <p:cNvSpPr/>
          <p:nvPr/>
        </p:nvSpPr>
        <p:spPr>
          <a:xfrm>
            <a:off x="5934456" y="3200400"/>
            <a:ext cx="219456" cy="274320"/>
          </a:xfrm>
          <a:prstGeom prst="rightArrow">
            <a:avLst/>
          </a:prstGeom>
          <a:solidFill>
            <a:srgbClr val="F2A541"/>
          </a:solidFill>
          <a:ln w="12700">
            <a:solidFill>
              <a:srgbClr val="F2A541"/>
            </a:solidFill>
            <a:prstDash val="solid"/>
          </a:ln>
        </p:spPr>
      </p:sp>
      <p:sp>
        <p:nvSpPr>
          <p:cNvPr id="21" name="anim:3:472"/>
          <p:cNvSpPr/>
          <p:nvPr/>
        </p:nvSpPr>
        <p:spPr>
          <a:xfrm>
            <a:off x="6181344" y="1600200"/>
            <a:ext cx="2542032" cy="3474720"/>
          </a:xfrm>
          <a:prstGeom prst="roundRect">
            <a:avLst>
              <a:gd name="adj" fmla="val 4317"/>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22" name="anim:3:473"/>
          <p:cNvSpPr/>
          <p:nvPr/>
        </p:nvSpPr>
        <p:spPr>
          <a:xfrm>
            <a:off x="6409944" y="1810512"/>
            <a:ext cx="502920" cy="502920"/>
          </a:xfrm>
          <a:prstGeom prst="ellipse">
            <a:avLst/>
          </a:prstGeom>
          <a:solidFill>
            <a:srgbClr val="F2A541"/>
          </a:solidFill>
          <a:ln w="12700">
            <a:solidFill>
              <a:srgbClr val="F2A541"/>
            </a:solidFill>
            <a:prstDash val="solid"/>
          </a:ln>
        </p:spPr>
      </p:sp>
      <p:sp>
        <p:nvSpPr>
          <p:cNvPr id="23" name="anim:3:474"/>
          <p:cNvSpPr txBox="1"/>
          <p:nvPr/>
        </p:nvSpPr>
        <p:spPr>
          <a:xfrm>
            <a:off x="6409944" y="1810512"/>
            <a:ext cx="502920" cy="502920"/>
          </a:xfrm>
          <a:prstGeom prst="rect">
            <a:avLst/>
          </a:prstGeom>
          <a:noFill/>
          <a:ln/>
        </p:spPr>
        <p:txBody>
          <a:bodyPr wrap="square" lIns="0" tIns="0" rIns="0" bIns="0" rtlCol="0" anchor="ctr"/>
          <a:lstStyle/>
          <a:p>
            <a:pPr algn="ctr" indent="0" marL="0">
              <a:buNone/>
            </a:pPr>
            <a:r>
              <a:rPr lang="en-US" sz="1500" b="1" dirty="0">
                <a:solidFill>
                  <a:srgbClr val="1B2A4A"/>
                </a:solidFill>
                <a:latin typeface="Calibri" pitchFamily="34" charset="0"/>
                <a:ea typeface="Calibri" pitchFamily="34" charset="-122"/>
                <a:cs typeface="Calibri" pitchFamily="34" charset="-120"/>
              </a:rPr>
              <a:t>3</a:t>
            </a:r>
            <a:endParaRPr lang="en-US" sz="1500" dirty="0"/>
          </a:p>
        </p:txBody>
      </p:sp>
      <p:sp>
        <p:nvSpPr>
          <p:cNvPr id="24" name="anim:3:475"/>
          <p:cNvSpPr txBox="1"/>
          <p:nvPr/>
        </p:nvSpPr>
        <p:spPr>
          <a:xfrm>
            <a:off x="6409944" y="2423160"/>
            <a:ext cx="2148840" cy="548640"/>
          </a:xfrm>
          <a:prstGeom prst="rect">
            <a:avLst/>
          </a:prstGeom>
          <a:noFill/>
          <a:ln/>
        </p:spPr>
        <p:txBody>
          <a:bodyPr wrap="square" lIns="0" tIns="0" rIns="0" bIns="0" rtlCol="0" anchor="t"/>
          <a:lstStyle/>
          <a:p>
            <a:pPr algn="l" indent="0" marL="0">
              <a:buNone/>
            </a:pPr>
            <a:r>
              <a:rPr lang="en-US" sz="1500" b="1" dirty="0">
                <a:solidFill>
                  <a:srgbClr val="1B2A4A"/>
                </a:solidFill>
                <a:latin typeface="Calibri" pitchFamily="34" charset="0"/>
                <a:ea typeface="Calibri" pitchFamily="34" charset="-122"/>
                <a:cs typeface="Calibri" pitchFamily="34" charset="-120"/>
              </a:rPr>
              <a:t>Daniel Afonso Borges dos Santos</a:t>
            </a:r>
            <a:endParaRPr lang="en-US" sz="1500" dirty="0"/>
          </a:p>
        </p:txBody>
      </p:sp>
      <p:sp>
        <p:nvSpPr>
          <p:cNvPr id="25" name="anim:3:476"/>
          <p:cNvSpPr txBox="1"/>
          <p:nvPr/>
        </p:nvSpPr>
        <p:spPr>
          <a:xfrm>
            <a:off x="6409944" y="2990088"/>
            <a:ext cx="2148840" cy="274320"/>
          </a:xfrm>
          <a:prstGeom prst="rect">
            <a:avLst/>
          </a:prstGeom>
          <a:noFill/>
          <a:ln/>
        </p:spPr>
        <p:txBody>
          <a:bodyPr wrap="square" lIns="0" tIns="0" rIns="0" bIns="0" rtlCol="0" anchor="t"/>
          <a:lstStyle/>
          <a:p>
            <a:pPr algn="l" indent="0" marL="0">
              <a:buNone/>
            </a:pPr>
            <a:r>
              <a:rPr lang="en-US" sz="1200" b="1" dirty="0">
                <a:solidFill>
                  <a:srgbClr val="2E5EAA"/>
                </a:solidFill>
                <a:latin typeface="Calibri" pitchFamily="34" charset="0"/>
                <a:ea typeface="Calibri" pitchFamily="34" charset="-122"/>
                <a:cs typeface="Calibri" pitchFamily="34" charset="-120"/>
              </a:rPr>
              <a:t>slides 17 a 21</a:t>
            </a:r>
            <a:endParaRPr lang="en-US" sz="1200" dirty="0"/>
          </a:p>
        </p:txBody>
      </p:sp>
      <p:sp>
        <p:nvSpPr>
          <p:cNvPr id="26" name="anim:3:477"/>
          <p:cNvSpPr txBox="1"/>
          <p:nvPr/>
        </p:nvSpPr>
        <p:spPr>
          <a:xfrm>
            <a:off x="6409944" y="3337560"/>
            <a:ext cx="2148840" cy="502920"/>
          </a:xfrm>
          <a:prstGeom prst="rect">
            <a:avLst/>
          </a:prstGeom>
          <a:noFill/>
          <a:ln/>
        </p:spPr>
        <p:txBody>
          <a:bodyPr wrap="square" lIns="0" tIns="0" rIns="0" bIns="0" rtlCol="0" anchor="t"/>
          <a:lstStyle/>
          <a:p>
            <a:pPr algn="l" indent="0" marL="0">
              <a:buNone/>
            </a:pPr>
            <a:r>
              <a:rPr lang="en-US" sz="1500" b="1" dirty="0">
                <a:solidFill>
                  <a:srgbClr val="1B2A4A"/>
                </a:solidFill>
                <a:latin typeface="Calibri" pitchFamily="34" charset="0"/>
                <a:ea typeface="Calibri" pitchFamily="34" charset="-122"/>
                <a:cs typeface="Calibri" pitchFamily="34" charset="-120"/>
              </a:rPr>
              <a:t>Passo 2: o modelo</a:t>
            </a:r>
            <a:endParaRPr lang="en-US" sz="1500" dirty="0"/>
          </a:p>
        </p:txBody>
      </p:sp>
      <p:sp>
        <p:nvSpPr>
          <p:cNvPr id="27" name="anim:3:478"/>
          <p:cNvSpPr txBox="1"/>
          <p:nvPr/>
        </p:nvSpPr>
        <p:spPr>
          <a:xfrm>
            <a:off x="6409944" y="3886200"/>
            <a:ext cx="2148840" cy="1097280"/>
          </a:xfrm>
          <a:prstGeom prst="rect">
            <a:avLst/>
          </a:prstGeom>
          <a:noFill/>
          <a:ln/>
        </p:spPr>
        <p:txBody>
          <a:bodyPr wrap="square" lIns="0" tIns="0" rIns="0" bIns="0" rtlCol="0" anchor="t"/>
          <a:lstStyle/>
          <a:p>
            <a:pPr algn="l" indent="0" marL="0">
              <a:buNone/>
            </a:pPr>
            <a:r>
              <a:rPr lang="en-US" sz="1300" dirty="0">
                <a:solidFill>
                  <a:srgbClr val="566175"/>
                </a:solidFill>
                <a:latin typeface="Calibri" pitchFamily="34" charset="0"/>
                <a:ea typeface="Calibri" pitchFamily="34" charset="-122"/>
                <a:cs typeface="Calibri" pitchFamily="34" charset="-120"/>
              </a:rPr>
              <a:t>Estrelas Fila, Desfecho, Ocupação de Turma e População; constelação.</a:t>
            </a:r>
            <a:endParaRPr lang="en-US" sz="1300" dirty="0"/>
          </a:p>
        </p:txBody>
      </p:sp>
      <p:sp>
        <p:nvSpPr>
          <p:cNvPr id="28" name="anim:3:479"/>
          <p:cNvSpPr/>
          <p:nvPr/>
        </p:nvSpPr>
        <p:spPr>
          <a:xfrm>
            <a:off x="8750808" y="3200400"/>
            <a:ext cx="219456" cy="274320"/>
          </a:xfrm>
          <a:prstGeom prst="rightArrow">
            <a:avLst/>
          </a:prstGeom>
          <a:solidFill>
            <a:srgbClr val="F2A541"/>
          </a:solidFill>
          <a:ln w="12700">
            <a:solidFill>
              <a:srgbClr val="F2A541"/>
            </a:solidFill>
            <a:prstDash val="solid"/>
          </a:ln>
        </p:spPr>
      </p:sp>
      <p:sp>
        <p:nvSpPr>
          <p:cNvPr id="29" name="anim:4:480"/>
          <p:cNvSpPr/>
          <p:nvPr/>
        </p:nvSpPr>
        <p:spPr>
          <a:xfrm>
            <a:off x="8997696" y="1600200"/>
            <a:ext cx="2542032" cy="3474720"/>
          </a:xfrm>
          <a:prstGeom prst="roundRect">
            <a:avLst>
              <a:gd name="adj" fmla="val 4317"/>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30" name="anim:4:481"/>
          <p:cNvSpPr/>
          <p:nvPr/>
        </p:nvSpPr>
        <p:spPr>
          <a:xfrm>
            <a:off x="9226296" y="1810512"/>
            <a:ext cx="502920" cy="502920"/>
          </a:xfrm>
          <a:prstGeom prst="ellipse">
            <a:avLst/>
          </a:prstGeom>
          <a:solidFill>
            <a:srgbClr val="F2A541"/>
          </a:solidFill>
          <a:ln w="12700">
            <a:solidFill>
              <a:srgbClr val="F2A541"/>
            </a:solidFill>
            <a:prstDash val="solid"/>
          </a:ln>
        </p:spPr>
      </p:sp>
      <p:sp>
        <p:nvSpPr>
          <p:cNvPr id="31" name="anim:4:482"/>
          <p:cNvSpPr txBox="1"/>
          <p:nvPr/>
        </p:nvSpPr>
        <p:spPr>
          <a:xfrm>
            <a:off x="9226296" y="1810512"/>
            <a:ext cx="502920" cy="502920"/>
          </a:xfrm>
          <a:prstGeom prst="rect">
            <a:avLst/>
          </a:prstGeom>
          <a:noFill/>
          <a:ln/>
        </p:spPr>
        <p:txBody>
          <a:bodyPr wrap="square" lIns="0" tIns="0" rIns="0" bIns="0" rtlCol="0" anchor="ctr"/>
          <a:lstStyle/>
          <a:p>
            <a:pPr algn="ctr" indent="0" marL="0">
              <a:buNone/>
            </a:pPr>
            <a:r>
              <a:rPr lang="en-US" sz="1500" b="1" dirty="0">
                <a:solidFill>
                  <a:srgbClr val="1B2A4A"/>
                </a:solidFill>
                <a:latin typeface="Calibri" pitchFamily="34" charset="0"/>
                <a:ea typeface="Calibri" pitchFamily="34" charset="-122"/>
                <a:cs typeface="Calibri" pitchFamily="34" charset="-120"/>
              </a:rPr>
              <a:t>4</a:t>
            </a:r>
            <a:endParaRPr lang="en-US" sz="1500" dirty="0"/>
          </a:p>
        </p:txBody>
      </p:sp>
      <p:sp>
        <p:nvSpPr>
          <p:cNvPr id="32" name="anim:4:483"/>
          <p:cNvSpPr txBox="1"/>
          <p:nvPr/>
        </p:nvSpPr>
        <p:spPr>
          <a:xfrm>
            <a:off x="9226296" y="2423160"/>
            <a:ext cx="2148840" cy="548640"/>
          </a:xfrm>
          <a:prstGeom prst="rect">
            <a:avLst/>
          </a:prstGeom>
          <a:noFill/>
          <a:ln/>
        </p:spPr>
        <p:txBody>
          <a:bodyPr wrap="square" lIns="0" tIns="0" rIns="0" bIns="0" rtlCol="0" anchor="t"/>
          <a:lstStyle/>
          <a:p>
            <a:pPr algn="l" indent="0" marL="0">
              <a:buNone/>
            </a:pPr>
            <a:r>
              <a:rPr lang="en-US" sz="1500" b="1" dirty="0">
                <a:solidFill>
                  <a:srgbClr val="1B2A4A"/>
                </a:solidFill>
                <a:latin typeface="Calibri" pitchFamily="34" charset="0"/>
                <a:ea typeface="Calibri" pitchFamily="34" charset="-122"/>
                <a:cs typeface="Calibri" pitchFamily="34" charset="-120"/>
              </a:rPr>
              <a:t>Luís Antônio Arruda Soares</a:t>
            </a:r>
            <a:endParaRPr lang="en-US" sz="1500" dirty="0"/>
          </a:p>
        </p:txBody>
      </p:sp>
      <p:sp>
        <p:nvSpPr>
          <p:cNvPr id="33" name="anim:4:484"/>
          <p:cNvSpPr txBox="1"/>
          <p:nvPr/>
        </p:nvSpPr>
        <p:spPr>
          <a:xfrm>
            <a:off x="9226296" y="2990088"/>
            <a:ext cx="2148840" cy="274320"/>
          </a:xfrm>
          <a:prstGeom prst="rect">
            <a:avLst/>
          </a:prstGeom>
          <a:noFill/>
          <a:ln/>
        </p:spPr>
        <p:txBody>
          <a:bodyPr wrap="square" lIns="0" tIns="0" rIns="0" bIns="0" rtlCol="0" anchor="t"/>
          <a:lstStyle/>
          <a:p>
            <a:pPr algn="l" indent="0" marL="0">
              <a:buNone/>
            </a:pPr>
            <a:r>
              <a:rPr lang="en-US" sz="1200" b="1" dirty="0">
                <a:solidFill>
                  <a:srgbClr val="2E5EAA"/>
                </a:solidFill>
                <a:latin typeface="Calibri" pitchFamily="34" charset="0"/>
                <a:ea typeface="Calibri" pitchFamily="34" charset="-122"/>
                <a:cs typeface="Calibri" pitchFamily="34" charset="-120"/>
              </a:rPr>
              <a:t>slides 22 a 28</a:t>
            </a:r>
            <a:endParaRPr lang="en-US" sz="1200" dirty="0"/>
          </a:p>
        </p:txBody>
      </p:sp>
      <p:sp>
        <p:nvSpPr>
          <p:cNvPr id="34" name="anim:4:485"/>
          <p:cNvSpPr txBox="1"/>
          <p:nvPr/>
        </p:nvSpPr>
        <p:spPr>
          <a:xfrm>
            <a:off x="9226296" y="3337560"/>
            <a:ext cx="2148840" cy="502920"/>
          </a:xfrm>
          <a:prstGeom prst="rect">
            <a:avLst/>
          </a:prstGeom>
          <a:noFill/>
          <a:ln/>
        </p:spPr>
        <p:txBody>
          <a:bodyPr wrap="square" lIns="0" tIns="0" rIns="0" bIns="0" rtlCol="0" anchor="t"/>
          <a:lstStyle/>
          <a:p>
            <a:pPr algn="l" indent="0" marL="0">
              <a:buNone/>
            </a:pPr>
            <a:r>
              <a:rPr lang="en-US" sz="1500" b="1" dirty="0">
                <a:solidFill>
                  <a:srgbClr val="1B2A4A"/>
                </a:solidFill>
                <a:latin typeface="Calibri" pitchFamily="34" charset="0"/>
                <a:ea typeface="Calibri" pitchFamily="34" charset="-122"/>
                <a:cs typeface="Calibri" pitchFamily="34" charset="-120"/>
              </a:rPr>
              <a:t>Passo 3: as respostas</a:t>
            </a:r>
            <a:endParaRPr lang="en-US" sz="1500" dirty="0"/>
          </a:p>
        </p:txBody>
      </p:sp>
      <p:sp>
        <p:nvSpPr>
          <p:cNvPr id="35" name="anim:4:486"/>
          <p:cNvSpPr txBox="1"/>
          <p:nvPr/>
        </p:nvSpPr>
        <p:spPr>
          <a:xfrm>
            <a:off x="9226296" y="3886200"/>
            <a:ext cx="2148840" cy="1097280"/>
          </a:xfrm>
          <a:prstGeom prst="rect">
            <a:avLst/>
          </a:prstGeom>
          <a:noFill/>
          <a:ln/>
        </p:spPr>
        <p:txBody>
          <a:bodyPr wrap="square" lIns="0" tIns="0" rIns="0" bIns="0" rtlCol="0" anchor="t"/>
          <a:lstStyle/>
          <a:p>
            <a:pPr algn="l" indent="0" marL="0">
              <a:buNone/>
            </a:pPr>
            <a:r>
              <a:rPr lang="en-US" sz="1300" dirty="0">
                <a:solidFill>
                  <a:srgbClr val="566175"/>
                </a:solidFill>
                <a:latin typeface="Calibri" pitchFamily="34" charset="0"/>
                <a:ea typeface="Calibri" pitchFamily="34" charset="-122"/>
                <a:cs typeface="Calibri" pitchFamily="34" charset="-120"/>
              </a:rPr>
              <a:t>Consultas, resultados, decisões e um exemplo de onde abrir vaga.</a:t>
            </a:r>
            <a:endParaRPr lang="en-US" sz="1300" dirty="0"/>
          </a:p>
        </p:txBody>
      </p:sp>
      <p:sp>
        <p:nvSpPr>
          <p:cNvPr id="36" name="anim:5:487"/>
          <p:cNvSpPr/>
          <p:nvPr/>
        </p:nvSpPr>
        <p:spPr>
          <a:xfrm>
            <a:off x="548640" y="5303520"/>
            <a:ext cx="11064240" cy="685800"/>
          </a:xfrm>
          <a:prstGeom prst="roundRect">
            <a:avLst>
              <a:gd name="adj" fmla="val 16000"/>
            </a:avLst>
          </a:prstGeom>
          <a:solidFill>
            <a:srgbClr val="EEF2F8"/>
          </a:solidFill>
          <a:ln w="9525">
            <a:solidFill>
              <a:srgbClr val="EEF2F8"/>
            </a:solidFill>
            <a:prstDash val="solid"/>
          </a:ln>
        </p:spPr>
      </p:sp>
      <p:sp>
        <p:nvSpPr>
          <p:cNvPr id="37" name="anim:5:488"/>
          <p:cNvSpPr/>
          <p:nvPr/>
        </p:nvSpPr>
        <p:spPr>
          <a:xfrm>
            <a:off x="777240" y="5394960"/>
            <a:ext cx="493776" cy="493776"/>
          </a:xfrm>
          <a:prstGeom prst="ellipse">
            <a:avLst/>
          </a:prstGeom>
          <a:solidFill>
            <a:srgbClr val="F2A541"/>
          </a:solidFill>
          <a:ln w="12700">
            <a:solidFill>
              <a:srgbClr val="F2A541"/>
            </a:solidFill>
            <a:prstDash val="solid"/>
          </a:ln>
        </p:spPr>
      </p:sp>
      <p:sp>
        <p:nvSpPr>
          <p:cNvPr id="38" name="anim:5:489"/>
          <p:cNvSpPr txBox="1"/>
          <p:nvPr/>
        </p:nvSpPr>
        <p:spPr>
          <a:xfrm>
            <a:off x="777240" y="5394960"/>
            <a:ext cx="493776" cy="493776"/>
          </a:xfrm>
          <a:prstGeom prst="rect">
            <a:avLst/>
          </a:prstGeom>
          <a:noFill/>
          <a:ln/>
        </p:spPr>
        <p:txBody>
          <a:bodyPr wrap="square" lIns="0" tIns="0" rIns="0" bIns="0" rtlCol="0" anchor="ctr"/>
          <a:lstStyle/>
          <a:p>
            <a:pPr algn="ctr" indent="0" marL="0">
              <a:buNone/>
            </a:pPr>
            <a:r>
              <a:rPr lang="en-US" sz="1600" b="1" dirty="0">
                <a:solidFill>
                  <a:srgbClr val="1B2A4A"/>
                </a:solidFill>
                <a:latin typeface="Calibri" pitchFamily="34" charset="0"/>
                <a:ea typeface="Calibri" pitchFamily="34" charset="-122"/>
                <a:cs typeface="Calibri" pitchFamily="34" charset="-120"/>
              </a:rPr>
              <a:t>!</a:t>
            </a:r>
            <a:endParaRPr lang="en-US" sz="1600" dirty="0"/>
          </a:p>
        </p:txBody>
      </p:sp>
      <p:sp>
        <p:nvSpPr>
          <p:cNvPr id="39" name="anim:5:490"/>
          <p:cNvSpPr txBox="1"/>
          <p:nvPr/>
        </p:nvSpPr>
        <p:spPr>
          <a:xfrm>
            <a:off x="1463040" y="5303520"/>
            <a:ext cx="9966960" cy="685800"/>
          </a:xfrm>
          <a:prstGeom prst="rect">
            <a:avLst/>
          </a:prstGeom>
          <a:noFill/>
          <a:ln/>
        </p:spPr>
        <p:txBody>
          <a:bodyPr wrap="square" lIns="0" tIns="0" rIns="0" bIns="0" rtlCol="0" anchor="ctr"/>
          <a:lstStyle/>
          <a:p>
            <a:pPr algn="l" indent="0" marL="0">
              <a:buNone/>
            </a:pPr>
            <a:r>
              <a:rPr lang="en-US" sz="1500" dirty="0">
                <a:solidFill>
                  <a:srgbClr val="1F2937"/>
                </a:solidFill>
                <a:latin typeface="Calibri" pitchFamily="34" charset="0"/>
                <a:ea typeface="Calibri" pitchFamily="34" charset="-122"/>
                <a:cs typeface="Calibri" pitchFamily="34" charset="-120"/>
              </a:rPr>
              <a:t>A adoção é um cenário hipotético; os números vêm da nossa carga com os dados reais.</a:t>
            </a:r>
            <a:endParaRPr lang="en-US" sz="15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11</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childTnLst>
                          </p:cTn>
                        </p:par>
                        <p:par>
                          <p:cTn id="12" fill="hold">
                            <p:stCondLst>
                              <p:cond delay="0"/>
                            </p:stCondLst>
                            <p:childTnLst>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childTnLst>
                          </p:cTn>
                        </p:par>
                        <p:par>
                          <p:cTn id="16" fill="hold">
                            <p:stCondLst>
                              <p:cond delay="0"/>
                            </p:stCondLst>
                            <p:childTnLst>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00"/>
                                        <p:tgtEl>
                                          <p:spTgt spid="8"/>
                                        </p:tgtEl>
                                      </p:cBhvr>
                                    </p:animEffect>
                                  </p:childTnLst>
                                </p:cTn>
                              </p:par>
                            </p:childTnLst>
                          </p:cTn>
                        </p:par>
                        <p:par>
                          <p:cTn id="20" fill="hold">
                            <p:stCondLst>
                              <p:cond delay="0"/>
                            </p:stCondLst>
                            <p:childTnLst>
                              <p:par>
                                <p:cTn id="21" presetID="10" presetClass="entr" presetSubtype="0"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400"/>
                                        <p:tgtEl>
                                          <p:spTgt spid="9"/>
                                        </p:tgtEl>
                                      </p:cBhvr>
                                    </p:animEffect>
                                  </p:childTnLst>
                                </p:cTn>
                              </p:par>
                            </p:childTnLst>
                          </p:cTn>
                        </p:par>
                        <p:par>
                          <p:cTn id="24" fill="hold">
                            <p:stCondLst>
                              <p:cond delay="0"/>
                            </p:stCondLst>
                            <p:childTnLst>
                              <p:par>
                                <p:cTn id="25" presetID="10"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400"/>
                                        <p:tgtEl>
                                          <p:spTgt spid="10"/>
                                        </p:tgtEl>
                                      </p:cBhvr>
                                    </p:animEffect>
                                  </p:childTnLst>
                                </p:cTn>
                              </p:par>
                            </p:childTnLst>
                          </p:cTn>
                        </p:par>
                        <p:par>
                          <p:cTn id="28" fill="hold">
                            <p:stCondLst>
                              <p:cond delay="0"/>
                            </p:stCondLst>
                            <p:childTnLst>
                              <p:par>
                                <p:cTn id="29" presetID="10" presetClass="entr" presetSubtype="0"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00"/>
                                        <p:tgtEl>
                                          <p:spTgt spid="11"/>
                                        </p:tgtEl>
                                      </p:cBhvr>
                                    </p:animEffect>
                                  </p:childTnLst>
                                </p:cTn>
                              </p:par>
                            </p:childTnLst>
                          </p:cTn>
                        </p:par>
                        <p:par>
                          <p:cTn id="32" fill="hold">
                            <p:stCondLst>
                              <p:cond delay="0"/>
                            </p:stCondLst>
                            <p:childTnLst>
                              <p:par>
                                <p:cTn id="33" presetID="10" presetClass="entr" presetSubtype="0" fill="hold" grpId="0" nodeType="with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400"/>
                                        <p:tgtEl>
                                          <p:spTgt spid="12"/>
                                        </p:tgtEl>
                                      </p:cBhvr>
                                    </p:animEffect>
                                  </p:childTnLst>
                                </p:cTn>
                              </p:par>
                            </p:childTnLst>
                          </p:cTn>
                        </p:par>
                        <p:par>
                          <p:cTn id="36" fill="hold">
                            <p:stCondLst>
                              <p:cond delay="250"/>
                            </p:stCondLst>
                            <p:childTnLst>
                              <p:par>
                                <p:cTn id="37" presetID="10" presetClass="entr" presetSubtype="0" fill="hold" grpId="0" nodeType="withEffect">
                                  <p:stCondLst>
                                    <p:cond delay="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400"/>
                                        <p:tgtEl>
                                          <p:spTgt spid="13"/>
                                        </p:tgtEl>
                                      </p:cBhvr>
                                    </p:animEffect>
                                  </p:childTnLst>
                                </p:cTn>
                              </p:par>
                            </p:childTnLst>
                          </p:cTn>
                        </p:par>
                        <p:par>
                          <p:cTn id="40" fill="hold">
                            <p:stCondLst>
                              <p:cond delay="250"/>
                            </p:stCondLst>
                            <p:childTnLst>
                              <p:par>
                                <p:cTn id="41" presetID="10" presetClass="entr" presetSubtype="0" fill="hold" grpId="0" nodeType="withEffect">
                                  <p:stCondLst>
                                    <p:cond delay="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400"/>
                                        <p:tgtEl>
                                          <p:spTgt spid="14"/>
                                        </p:tgtEl>
                                      </p:cBhvr>
                                    </p:animEffect>
                                  </p:childTnLst>
                                </p:cTn>
                              </p:par>
                            </p:childTnLst>
                          </p:cTn>
                        </p:par>
                        <p:par>
                          <p:cTn id="44" fill="hold">
                            <p:stCondLst>
                              <p:cond delay="250"/>
                            </p:stCondLst>
                            <p:childTnLst>
                              <p:par>
                                <p:cTn id="45" presetID="10" presetClass="entr" presetSubtype="0" fill="hold" grpId="0" nodeType="withEffect">
                                  <p:stCondLst>
                                    <p:cond delay="0"/>
                                  </p:stCondLst>
                                  <p:childTnLst>
                                    <p:set>
                                      <p:cBhvr>
                                        <p:cTn id="46" dur="1" fill="hold">
                                          <p:stCondLst>
                                            <p:cond delay="0"/>
                                          </p:stCondLst>
                                        </p:cTn>
                                        <p:tgtEl>
                                          <p:spTgt spid="15"/>
                                        </p:tgtEl>
                                        <p:attrNameLst>
                                          <p:attrName>style.visibility</p:attrName>
                                        </p:attrNameLst>
                                      </p:cBhvr>
                                      <p:to>
                                        <p:strVal val="visible"/>
                                      </p:to>
                                    </p:set>
                                    <p:animEffect transition="in" filter="fade">
                                      <p:cBhvr>
                                        <p:cTn id="47" dur="400"/>
                                        <p:tgtEl>
                                          <p:spTgt spid="15"/>
                                        </p:tgtEl>
                                      </p:cBhvr>
                                    </p:animEffect>
                                  </p:childTnLst>
                                </p:cTn>
                              </p:par>
                            </p:childTnLst>
                          </p:cTn>
                        </p:par>
                        <p:par>
                          <p:cTn id="48" fill="hold">
                            <p:stCondLst>
                              <p:cond delay="250"/>
                            </p:stCondLst>
                            <p:childTnLst>
                              <p:par>
                                <p:cTn id="49" presetID="10" presetClass="entr" presetSubtype="0" fill="hold" grpId="0" nodeType="withEffect">
                                  <p:stCondLst>
                                    <p:cond delay="0"/>
                                  </p:stCondLst>
                                  <p:childTnLst>
                                    <p:set>
                                      <p:cBhvr>
                                        <p:cTn id="50" dur="1" fill="hold">
                                          <p:stCondLst>
                                            <p:cond delay="0"/>
                                          </p:stCondLst>
                                        </p:cTn>
                                        <p:tgtEl>
                                          <p:spTgt spid="16"/>
                                        </p:tgtEl>
                                        <p:attrNameLst>
                                          <p:attrName>style.visibility</p:attrName>
                                        </p:attrNameLst>
                                      </p:cBhvr>
                                      <p:to>
                                        <p:strVal val="visible"/>
                                      </p:to>
                                    </p:set>
                                    <p:animEffect transition="in" filter="fade">
                                      <p:cBhvr>
                                        <p:cTn id="51" dur="400"/>
                                        <p:tgtEl>
                                          <p:spTgt spid="16"/>
                                        </p:tgtEl>
                                      </p:cBhvr>
                                    </p:animEffect>
                                  </p:childTnLst>
                                </p:cTn>
                              </p:par>
                            </p:childTnLst>
                          </p:cTn>
                        </p:par>
                        <p:par>
                          <p:cTn id="52" fill="hold">
                            <p:stCondLst>
                              <p:cond delay="250"/>
                            </p:stCondLst>
                            <p:childTnLst>
                              <p:par>
                                <p:cTn id="53" presetID="10" presetClass="entr" presetSubtype="0" fill="hold" grpId="0" nodeType="withEffect">
                                  <p:stCondLst>
                                    <p:cond delay="0"/>
                                  </p:stCondLst>
                                  <p:childTnLst>
                                    <p:set>
                                      <p:cBhvr>
                                        <p:cTn id="54" dur="1" fill="hold">
                                          <p:stCondLst>
                                            <p:cond delay="0"/>
                                          </p:stCondLst>
                                        </p:cTn>
                                        <p:tgtEl>
                                          <p:spTgt spid="17"/>
                                        </p:tgtEl>
                                        <p:attrNameLst>
                                          <p:attrName>style.visibility</p:attrName>
                                        </p:attrNameLst>
                                      </p:cBhvr>
                                      <p:to>
                                        <p:strVal val="visible"/>
                                      </p:to>
                                    </p:set>
                                    <p:animEffect transition="in" filter="fade">
                                      <p:cBhvr>
                                        <p:cTn id="55" dur="400"/>
                                        <p:tgtEl>
                                          <p:spTgt spid="17"/>
                                        </p:tgtEl>
                                      </p:cBhvr>
                                    </p:animEffect>
                                  </p:childTnLst>
                                </p:cTn>
                              </p:par>
                            </p:childTnLst>
                          </p:cTn>
                        </p:par>
                        <p:par>
                          <p:cTn id="56" fill="hold">
                            <p:stCondLst>
                              <p:cond delay="250"/>
                            </p:stCondLst>
                            <p:childTnLst>
                              <p:par>
                                <p:cTn id="57" presetID="10" presetClass="entr" presetSubtype="0" fill="hold" grpId="0" nodeType="withEffect">
                                  <p:stCondLst>
                                    <p:cond delay="0"/>
                                  </p:stCondLst>
                                  <p:childTnLst>
                                    <p:set>
                                      <p:cBhvr>
                                        <p:cTn id="58" dur="1" fill="hold">
                                          <p:stCondLst>
                                            <p:cond delay="0"/>
                                          </p:stCondLst>
                                        </p:cTn>
                                        <p:tgtEl>
                                          <p:spTgt spid="18"/>
                                        </p:tgtEl>
                                        <p:attrNameLst>
                                          <p:attrName>style.visibility</p:attrName>
                                        </p:attrNameLst>
                                      </p:cBhvr>
                                      <p:to>
                                        <p:strVal val="visible"/>
                                      </p:to>
                                    </p:set>
                                    <p:animEffect transition="in" filter="fade">
                                      <p:cBhvr>
                                        <p:cTn id="59" dur="400"/>
                                        <p:tgtEl>
                                          <p:spTgt spid="18"/>
                                        </p:tgtEl>
                                      </p:cBhvr>
                                    </p:animEffect>
                                  </p:childTnLst>
                                </p:cTn>
                              </p:par>
                            </p:childTnLst>
                          </p:cTn>
                        </p:par>
                        <p:par>
                          <p:cTn id="60" fill="hold">
                            <p:stCondLst>
                              <p:cond delay="250"/>
                            </p:stCondLst>
                            <p:childTnLst>
                              <p:par>
                                <p:cTn id="61" presetID="10" presetClass="entr" presetSubtype="0" fill="hold" grpId="0" nodeType="withEffect">
                                  <p:stCondLst>
                                    <p:cond delay="0"/>
                                  </p:stCondLst>
                                  <p:childTnLst>
                                    <p:set>
                                      <p:cBhvr>
                                        <p:cTn id="62" dur="1" fill="hold">
                                          <p:stCondLst>
                                            <p:cond delay="0"/>
                                          </p:stCondLst>
                                        </p:cTn>
                                        <p:tgtEl>
                                          <p:spTgt spid="19"/>
                                        </p:tgtEl>
                                        <p:attrNameLst>
                                          <p:attrName>style.visibility</p:attrName>
                                        </p:attrNameLst>
                                      </p:cBhvr>
                                      <p:to>
                                        <p:strVal val="visible"/>
                                      </p:to>
                                    </p:set>
                                    <p:animEffect transition="in" filter="fade">
                                      <p:cBhvr>
                                        <p:cTn id="63" dur="400"/>
                                        <p:tgtEl>
                                          <p:spTgt spid="19"/>
                                        </p:tgtEl>
                                      </p:cBhvr>
                                    </p:animEffect>
                                  </p:childTnLst>
                                </p:cTn>
                              </p:par>
                            </p:childTnLst>
                          </p:cTn>
                        </p:par>
                        <p:par>
                          <p:cTn id="64" fill="hold">
                            <p:stCondLst>
                              <p:cond delay="250"/>
                            </p:stCondLst>
                            <p:childTnLst>
                              <p:par>
                                <p:cTn id="65" presetID="10" presetClass="entr" presetSubtype="0" fill="hold" grpId="0" nodeType="withEffect">
                                  <p:stCondLst>
                                    <p:cond delay="0"/>
                                  </p:stCondLst>
                                  <p:childTnLst>
                                    <p:set>
                                      <p:cBhvr>
                                        <p:cTn id="66" dur="1" fill="hold">
                                          <p:stCondLst>
                                            <p:cond delay="0"/>
                                          </p:stCondLst>
                                        </p:cTn>
                                        <p:tgtEl>
                                          <p:spTgt spid="20"/>
                                        </p:tgtEl>
                                        <p:attrNameLst>
                                          <p:attrName>style.visibility</p:attrName>
                                        </p:attrNameLst>
                                      </p:cBhvr>
                                      <p:to>
                                        <p:strVal val="visible"/>
                                      </p:to>
                                    </p:set>
                                    <p:animEffect transition="in" filter="fade">
                                      <p:cBhvr>
                                        <p:cTn id="67" dur="400"/>
                                        <p:tgtEl>
                                          <p:spTgt spid="20"/>
                                        </p:tgtEl>
                                      </p:cBhvr>
                                    </p:animEffect>
                                  </p:childTnLst>
                                </p:cTn>
                              </p:par>
                            </p:childTnLst>
                          </p:cTn>
                        </p:par>
                        <p:par>
                          <p:cTn id="68" fill="hold">
                            <p:stCondLst>
                              <p:cond delay="500"/>
                            </p:stCondLst>
                            <p:childTnLst>
                              <p:par>
                                <p:cTn id="69" presetID="10" presetClass="entr" presetSubtype="0" fill="hold" grpId="0" nodeType="withEffect">
                                  <p:stCondLst>
                                    <p:cond delay="0"/>
                                  </p:stCondLst>
                                  <p:childTnLst>
                                    <p:set>
                                      <p:cBhvr>
                                        <p:cTn id="70" dur="1" fill="hold">
                                          <p:stCondLst>
                                            <p:cond delay="0"/>
                                          </p:stCondLst>
                                        </p:cTn>
                                        <p:tgtEl>
                                          <p:spTgt spid="21"/>
                                        </p:tgtEl>
                                        <p:attrNameLst>
                                          <p:attrName>style.visibility</p:attrName>
                                        </p:attrNameLst>
                                      </p:cBhvr>
                                      <p:to>
                                        <p:strVal val="visible"/>
                                      </p:to>
                                    </p:set>
                                    <p:animEffect transition="in" filter="fade">
                                      <p:cBhvr>
                                        <p:cTn id="71" dur="400"/>
                                        <p:tgtEl>
                                          <p:spTgt spid="21"/>
                                        </p:tgtEl>
                                      </p:cBhvr>
                                    </p:animEffect>
                                  </p:childTnLst>
                                </p:cTn>
                              </p:par>
                            </p:childTnLst>
                          </p:cTn>
                        </p:par>
                        <p:par>
                          <p:cTn id="72" fill="hold">
                            <p:stCondLst>
                              <p:cond delay="500"/>
                            </p:stCondLst>
                            <p:childTnLst>
                              <p:par>
                                <p:cTn id="73" presetID="10" presetClass="entr" presetSubtype="0" fill="hold" grpId="0" nodeType="withEffect">
                                  <p:stCondLst>
                                    <p:cond delay="0"/>
                                  </p:stCondLst>
                                  <p:childTnLst>
                                    <p:set>
                                      <p:cBhvr>
                                        <p:cTn id="74" dur="1" fill="hold">
                                          <p:stCondLst>
                                            <p:cond delay="0"/>
                                          </p:stCondLst>
                                        </p:cTn>
                                        <p:tgtEl>
                                          <p:spTgt spid="22"/>
                                        </p:tgtEl>
                                        <p:attrNameLst>
                                          <p:attrName>style.visibility</p:attrName>
                                        </p:attrNameLst>
                                      </p:cBhvr>
                                      <p:to>
                                        <p:strVal val="visible"/>
                                      </p:to>
                                    </p:set>
                                    <p:animEffect transition="in" filter="fade">
                                      <p:cBhvr>
                                        <p:cTn id="75" dur="400"/>
                                        <p:tgtEl>
                                          <p:spTgt spid="22"/>
                                        </p:tgtEl>
                                      </p:cBhvr>
                                    </p:animEffect>
                                  </p:childTnLst>
                                </p:cTn>
                              </p:par>
                            </p:childTnLst>
                          </p:cTn>
                        </p:par>
                        <p:par>
                          <p:cTn id="76" fill="hold">
                            <p:stCondLst>
                              <p:cond delay="500"/>
                            </p:stCondLst>
                            <p:childTnLst>
                              <p:par>
                                <p:cTn id="77" presetID="10" presetClass="entr" presetSubtype="0" fill="hold" grpId="0" nodeType="withEffect">
                                  <p:stCondLst>
                                    <p:cond delay="0"/>
                                  </p:stCondLst>
                                  <p:childTnLst>
                                    <p:set>
                                      <p:cBhvr>
                                        <p:cTn id="78" dur="1" fill="hold">
                                          <p:stCondLst>
                                            <p:cond delay="0"/>
                                          </p:stCondLst>
                                        </p:cTn>
                                        <p:tgtEl>
                                          <p:spTgt spid="23"/>
                                        </p:tgtEl>
                                        <p:attrNameLst>
                                          <p:attrName>style.visibility</p:attrName>
                                        </p:attrNameLst>
                                      </p:cBhvr>
                                      <p:to>
                                        <p:strVal val="visible"/>
                                      </p:to>
                                    </p:set>
                                    <p:animEffect transition="in" filter="fade">
                                      <p:cBhvr>
                                        <p:cTn id="79" dur="400"/>
                                        <p:tgtEl>
                                          <p:spTgt spid="23"/>
                                        </p:tgtEl>
                                      </p:cBhvr>
                                    </p:animEffect>
                                  </p:childTnLst>
                                </p:cTn>
                              </p:par>
                            </p:childTnLst>
                          </p:cTn>
                        </p:par>
                        <p:par>
                          <p:cTn id="80" fill="hold">
                            <p:stCondLst>
                              <p:cond delay="500"/>
                            </p:stCondLst>
                            <p:childTnLst>
                              <p:par>
                                <p:cTn id="81" presetID="10" presetClass="entr" presetSubtype="0" fill="hold" grpId="0" nodeType="withEffect">
                                  <p:stCondLst>
                                    <p:cond delay="0"/>
                                  </p:stCondLst>
                                  <p:childTnLst>
                                    <p:set>
                                      <p:cBhvr>
                                        <p:cTn id="82" dur="1" fill="hold">
                                          <p:stCondLst>
                                            <p:cond delay="0"/>
                                          </p:stCondLst>
                                        </p:cTn>
                                        <p:tgtEl>
                                          <p:spTgt spid="24"/>
                                        </p:tgtEl>
                                        <p:attrNameLst>
                                          <p:attrName>style.visibility</p:attrName>
                                        </p:attrNameLst>
                                      </p:cBhvr>
                                      <p:to>
                                        <p:strVal val="visible"/>
                                      </p:to>
                                    </p:set>
                                    <p:animEffect transition="in" filter="fade">
                                      <p:cBhvr>
                                        <p:cTn id="83" dur="400"/>
                                        <p:tgtEl>
                                          <p:spTgt spid="24"/>
                                        </p:tgtEl>
                                      </p:cBhvr>
                                    </p:animEffect>
                                  </p:childTnLst>
                                </p:cTn>
                              </p:par>
                            </p:childTnLst>
                          </p:cTn>
                        </p:par>
                        <p:par>
                          <p:cTn id="84" fill="hold">
                            <p:stCondLst>
                              <p:cond delay="500"/>
                            </p:stCondLst>
                            <p:childTnLst>
                              <p:par>
                                <p:cTn id="85" presetID="10" presetClass="entr" presetSubtype="0" fill="hold" grpId="0" nodeType="withEffect">
                                  <p:stCondLst>
                                    <p:cond delay="0"/>
                                  </p:stCondLst>
                                  <p:childTnLst>
                                    <p:set>
                                      <p:cBhvr>
                                        <p:cTn id="86" dur="1" fill="hold">
                                          <p:stCondLst>
                                            <p:cond delay="0"/>
                                          </p:stCondLst>
                                        </p:cTn>
                                        <p:tgtEl>
                                          <p:spTgt spid="25"/>
                                        </p:tgtEl>
                                        <p:attrNameLst>
                                          <p:attrName>style.visibility</p:attrName>
                                        </p:attrNameLst>
                                      </p:cBhvr>
                                      <p:to>
                                        <p:strVal val="visible"/>
                                      </p:to>
                                    </p:set>
                                    <p:animEffect transition="in" filter="fade">
                                      <p:cBhvr>
                                        <p:cTn id="87" dur="400"/>
                                        <p:tgtEl>
                                          <p:spTgt spid="25"/>
                                        </p:tgtEl>
                                      </p:cBhvr>
                                    </p:animEffect>
                                  </p:childTnLst>
                                </p:cTn>
                              </p:par>
                            </p:childTnLst>
                          </p:cTn>
                        </p:par>
                        <p:par>
                          <p:cTn id="88" fill="hold">
                            <p:stCondLst>
                              <p:cond delay="500"/>
                            </p:stCondLst>
                            <p:childTnLst>
                              <p:par>
                                <p:cTn id="89" presetID="10" presetClass="entr" presetSubtype="0" fill="hold" grpId="0" nodeType="withEffect">
                                  <p:stCondLst>
                                    <p:cond delay="0"/>
                                  </p:stCondLst>
                                  <p:childTnLst>
                                    <p:set>
                                      <p:cBhvr>
                                        <p:cTn id="90" dur="1" fill="hold">
                                          <p:stCondLst>
                                            <p:cond delay="0"/>
                                          </p:stCondLst>
                                        </p:cTn>
                                        <p:tgtEl>
                                          <p:spTgt spid="26"/>
                                        </p:tgtEl>
                                        <p:attrNameLst>
                                          <p:attrName>style.visibility</p:attrName>
                                        </p:attrNameLst>
                                      </p:cBhvr>
                                      <p:to>
                                        <p:strVal val="visible"/>
                                      </p:to>
                                    </p:set>
                                    <p:animEffect transition="in" filter="fade">
                                      <p:cBhvr>
                                        <p:cTn id="91" dur="400"/>
                                        <p:tgtEl>
                                          <p:spTgt spid="26"/>
                                        </p:tgtEl>
                                      </p:cBhvr>
                                    </p:animEffect>
                                  </p:childTnLst>
                                </p:cTn>
                              </p:par>
                            </p:childTnLst>
                          </p:cTn>
                        </p:par>
                        <p:par>
                          <p:cTn id="92" fill="hold">
                            <p:stCondLst>
                              <p:cond delay="500"/>
                            </p:stCondLst>
                            <p:childTnLst>
                              <p:par>
                                <p:cTn id="93" presetID="10" presetClass="entr" presetSubtype="0" fill="hold" grpId="0" nodeType="withEffect">
                                  <p:stCondLst>
                                    <p:cond delay="0"/>
                                  </p:stCondLst>
                                  <p:childTnLst>
                                    <p:set>
                                      <p:cBhvr>
                                        <p:cTn id="94" dur="1" fill="hold">
                                          <p:stCondLst>
                                            <p:cond delay="0"/>
                                          </p:stCondLst>
                                        </p:cTn>
                                        <p:tgtEl>
                                          <p:spTgt spid="27"/>
                                        </p:tgtEl>
                                        <p:attrNameLst>
                                          <p:attrName>style.visibility</p:attrName>
                                        </p:attrNameLst>
                                      </p:cBhvr>
                                      <p:to>
                                        <p:strVal val="visible"/>
                                      </p:to>
                                    </p:set>
                                    <p:animEffect transition="in" filter="fade">
                                      <p:cBhvr>
                                        <p:cTn id="95" dur="400"/>
                                        <p:tgtEl>
                                          <p:spTgt spid="27"/>
                                        </p:tgtEl>
                                      </p:cBhvr>
                                    </p:animEffect>
                                  </p:childTnLst>
                                </p:cTn>
                              </p:par>
                            </p:childTnLst>
                          </p:cTn>
                        </p:par>
                        <p:par>
                          <p:cTn id="96" fill="hold">
                            <p:stCondLst>
                              <p:cond delay="500"/>
                            </p:stCondLst>
                            <p:childTnLst>
                              <p:par>
                                <p:cTn id="97" presetID="10" presetClass="entr" presetSubtype="0" fill="hold" grpId="0" nodeType="withEffect">
                                  <p:stCondLst>
                                    <p:cond delay="0"/>
                                  </p:stCondLst>
                                  <p:childTnLst>
                                    <p:set>
                                      <p:cBhvr>
                                        <p:cTn id="98" dur="1" fill="hold">
                                          <p:stCondLst>
                                            <p:cond delay="0"/>
                                          </p:stCondLst>
                                        </p:cTn>
                                        <p:tgtEl>
                                          <p:spTgt spid="28"/>
                                        </p:tgtEl>
                                        <p:attrNameLst>
                                          <p:attrName>style.visibility</p:attrName>
                                        </p:attrNameLst>
                                      </p:cBhvr>
                                      <p:to>
                                        <p:strVal val="visible"/>
                                      </p:to>
                                    </p:set>
                                    <p:animEffect transition="in" filter="fade">
                                      <p:cBhvr>
                                        <p:cTn id="99" dur="400"/>
                                        <p:tgtEl>
                                          <p:spTgt spid="28"/>
                                        </p:tgtEl>
                                      </p:cBhvr>
                                    </p:animEffect>
                                  </p:childTnLst>
                                </p:cTn>
                              </p:par>
                            </p:childTnLst>
                          </p:cTn>
                        </p:par>
                        <p:par>
                          <p:cTn id="100" fill="hold">
                            <p:stCondLst>
                              <p:cond delay="750"/>
                            </p:stCondLst>
                            <p:childTnLst>
                              <p:par>
                                <p:cTn id="101" presetID="10" presetClass="entr" presetSubtype="0" fill="hold" grpId="0" nodeType="withEffect">
                                  <p:stCondLst>
                                    <p:cond delay="0"/>
                                  </p:stCondLst>
                                  <p:childTnLst>
                                    <p:set>
                                      <p:cBhvr>
                                        <p:cTn id="102" dur="1" fill="hold">
                                          <p:stCondLst>
                                            <p:cond delay="0"/>
                                          </p:stCondLst>
                                        </p:cTn>
                                        <p:tgtEl>
                                          <p:spTgt spid="29"/>
                                        </p:tgtEl>
                                        <p:attrNameLst>
                                          <p:attrName>style.visibility</p:attrName>
                                        </p:attrNameLst>
                                      </p:cBhvr>
                                      <p:to>
                                        <p:strVal val="visible"/>
                                      </p:to>
                                    </p:set>
                                    <p:animEffect transition="in" filter="fade">
                                      <p:cBhvr>
                                        <p:cTn id="103" dur="400"/>
                                        <p:tgtEl>
                                          <p:spTgt spid="29"/>
                                        </p:tgtEl>
                                      </p:cBhvr>
                                    </p:animEffect>
                                  </p:childTnLst>
                                </p:cTn>
                              </p:par>
                            </p:childTnLst>
                          </p:cTn>
                        </p:par>
                        <p:par>
                          <p:cTn id="104" fill="hold">
                            <p:stCondLst>
                              <p:cond delay="750"/>
                            </p:stCondLst>
                            <p:childTnLst>
                              <p:par>
                                <p:cTn id="105" presetID="10" presetClass="entr" presetSubtype="0" fill="hold" grpId="0" nodeType="withEffect">
                                  <p:stCondLst>
                                    <p:cond delay="0"/>
                                  </p:stCondLst>
                                  <p:childTnLst>
                                    <p:set>
                                      <p:cBhvr>
                                        <p:cTn id="106" dur="1" fill="hold">
                                          <p:stCondLst>
                                            <p:cond delay="0"/>
                                          </p:stCondLst>
                                        </p:cTn>
                                        <p:tgtEl>
                                          <p:spTgt spid="30"/>
                                        </p:tgtEl>
                                        <p:attrNameLst>
                                          <p:attrName>style.visibility</p:attrName>
                                        </p:attrNameLst>
                                      </p:cBhvr>
                                      <p:to>
                                        <p:strVal val="visible"/>
                                      </p:to>
                                    </p:set>
                                    <p:animEffect transition="in" filter="fade">
                                      <p:cBhvr>
                                        <p:cTn id="107" dur="400"/>
                                        <p:tgtEl>
                                          <p:spTgt spid="30"/>
                                        </p:tgtEl>
                                      </p:cBhvr>
                                    </p:animEffect>
                                  </p:childTnLst>
                                </p:cTn>
                              </p:par>
                            </p:childTnLst>
                          </p:cTn>
                        </p:par>
                        <p:par>
                          <p:cTn id="108" fill="hold">
                            <p:stCondLst>
                              <p:cond delay="750"/>
                            </p:stCondLst>
                            <p:childTnLst>
                              <p:par>
                                <p:cTn id="109" presetID="10" presetClass="entr" presetSubtype="0" fill="hold" grpId="0" nodeType="withEffect">
                                  <p:stCondLst>
                                    <p:cond delay="0"/>
                                  </p:stCondLst>
                                  <p:childTnLst>
                                    <p:set>
                                      <p:cBhvr>
                                        <p:cTn id="110" dur="1" fill="hold">
                                          <p:stCondLst>
                                            <p:cond delay="0"/>
                                          </p:stCondLst>
                                        </p:cTn>
                                        <p:tgtEl>
                                          <p:spTgt spid="31"/>
                                        </p:tgtEl>
                                        <p:attrNameLst>
                                          <p:attrName>style.visibility</p:attrName>
                                        </p:attrNameLst>
                                      </p:cBhvr>
                                      <p:to>
                                        <p:strVal val="visible"/>
                                      </p:to>
                                    </p:set>
                                    <p:animEffect transition="in" filter="fade">
                                      <p:cBhvr>
                                        <p:cTn id="111" dur="400"/>
                                        <p:tgtEl>
                                          <p:spTgt spid="31"/>
                                        </p:tgtEl>
                                      </p:cBhvr>
                                    </p:animEffect>
                                  </p:childTnLst>
                                </p:cTn>
                              </p:par>
                            </p:childTnLst>
                          </p:cTn>
                        </p:par>
                        <p:par>
                          <p:cTn id="112" fill="hold">
                            <p:stCondLst>
                              <p:cond delay="750"/>
                            </p:stCondLst>
                            <p:childTnLst>
                              <p:par>
                                <p:cTn id="113" presetID="10" presetClass="entr" presetSubtype="0" fill="hold" grpId="0" nodeType="withEffect">
                                  <p:stCondLst>
                                    <p:cond delay="0"/>
                                  </p:stCondLst>
                                  <p:childTnLst>
                                    <p:set>
                                      <p:cBhvr>
                                        <p:cTn id="114" dur="1" fill="hold">
                                          <p:stCondLst>
                                            <p:cond delay="0"/>
                                          </p:stCondLst>
                                        </p:cTn>
                                        <p:tgtEl>
                                          <p:spTgt spid="32"/>
                                        </p:tgtEl>
                                        <p:attrNameLst>
                                          <p:attrName>style.visibility</p:attrName>
                                        </p:attrNameLst>
                                      </p:cBhvr>
                                      <p:to>
                                        <p:strVal val="visible"/>
                                      </p:to>
                                    </p:set>
                                    <p:animEffect transition="in" filter="fade">
                                      <p:cBhvr>
                                        <p:cTn id="115" dur="400"/>
                                        <p:tgtEl>
                                          <p:spTgt spid="32"/>
                                        </p:tgtEl>
                                      </p:cBhvr>
                                    </p:animEffect>
                                  </p:childTnLst>
                                </p:cTn>
                              </p:par>
                            </p:childTnLst>
                          </p:cTn>
                        </p:par>
                        <p:par>
                          <p:cTn id="116" fill="hold">
                            <p:stCondLst>
                              <p:cond delay="750"/>
                            </p:stCondLst>
                            <p:childTnLst>
                              <p:par>
                                <p:cTn id="117" presetID="10" presetClass="entr" presetSubtype="0" fill="hold" grpId="0" nodeType="withEffect">
                                  <p:stCondLst>
                                    <p:cond delay="0"/>
                                  </p:stCondLst>
                                  <p:childTnLst>
                                    <p:set>
                                      <p:cBhvr>
                                        <p:cTn id="118" dur="1" fill="hold">
                                          <p:stCondLst>
                                            <p:cond delay="0"/>
                                          </p:stCondLst>
                                        </p:cTn>
                                        <p:tgtEl>
                                          <p:spTgt spid="33"/>
                                        </p:tgtEl>
                                        <p:attrNameLst>
                                          <p:attrName>style.visibility</p:attrName>
                                        </p:attrNameLst>
                                      </p:cBhvr>
                                      <p:to>
                                        <p:strVal val="visible"/>
                                      </p:to>
                                    </p:set>
                                    <p:animEffect transition="in" filter="fade">
                                      <p:cBhvr>
                                        <p:cTn id="119" dur="400"/>
                                        <p:tgtEl>
                                          <p:spTgt spid="33"/>
                                        </p:tgtEl>
                                      </p:cBhvr>
                                    </p:animEffect>
                                  </p:childTnLst>
                                </p:cTn>
                              </p:par>
                            </p:childTnLst>
                          </p:cTn>
                        </p:par>
                        <p:par>
                          <p:cTn id="120" fill="hold">
                            <p:stCondLst>
                              <p:cond delay="750"/>
                            </p:stCondLst>
                            <p:childTnLst>
                              <p:par>
                                <p:cTn id="121" presetID="10" presetClass="entr" presetSubtype="0" fill="hold" grpId="0" nodeType="withEffect">
                                  <p:stCondLst>
                                    <p:cond delay="0"/>
                                  </p:stCondLst>
                                  <p:childTnLst>
                                    <p:set>
                                      <p:cBhvr>
                                        <p:cTn id="122" dur="1" fill="hold">
                                          <p:stCondLst>
                                            <p:cond delay="0"/>
                                          </p:stCondLst>
                                        </p:cTn>
                                        <p:tgtEl>
                                          <p:spTgt spid="34"/>
                                        </p:tgtEl>
                                        <p:attrNameLst>
                                          <p:attrName>style.visibility</p:attrName>
                                        </p:attrNameLst>
                                      </p:cBhvr>
                                      <p:to>
                                        <p:strVal val="visible"/>
                                      </p:to>
                                    </p:set>
                                    <p:animEffect transition="in" filter="fade">
                                      <p:cBhvr>
                                        <p:cTn id="123" dur="400"/>
                                        <p:tgtEl>
                                          <p:spTgt spid="34"/>
                                        </p:tgtEl>
                                      </p:cBhvr>
                                    </p:animEffect>
                                  </p:childTnLst>
                                </p:cTn>
                              </p:par>
                            </p:childTnLst>
                          </p:cTn>
                        </p:par>
                        <p:par>
                          <p:cTn id="124" fill="hold">
                            <p:stCondLst>
                              <p:cond delay="750"/>
                            </p:stCondLst>
                            <p:childTnLst>
                              <p:par>
                                <p:cTn id="125" presetID="10" presetClass="entr" presetSubtype="0" fill="hold" grpId="0" nodeType="withEffect">
                                  <p:stCondLst>
                                    <p:cond delay="0"/>
                                  </p:stCondLst>
                                  <p:childTnLst>
                                    <p:set>
                                      <p:cBhvr>
                                        <p:cTn id="126" dur="1" fill="hold">
                                          <p:stCondLst>
                                            <p:cond delay="0"/>
                                          </p:stCondLst>
                                        </p:cTn>
                                        <p:tgtEl>
                                          <p:spTgt spid="35"/>
                                        </p:tgtEl>
                                        <p:attrNameLst>
                                          <p:attrName>style.visibility</p:attrName>
                                        </p:attrNameLst>
                                      </p:cBhvr>
                                      <p:to>
                                        <p:strVal val="visible"/>
                                      </p:to>
                                    </p:set>
                                    <p:animEffect transition="in" filter="fade">
                                      <p:cBhvr>
                                        <p:cTn id="127" dur="400"/>
                                        <p:tgtEl>
                                          <p:spTgt spid="35"/>
                                        </p:tgtEl>
                                      </p:cBhvr>
                                    </p:animEffect>
                                  </p:childTnLst>
                                </p:cTn>
                              </p:par>
                            </p:childTnLst>
                          </p:cTn>
                        </p:par>
                        <p:par>
                          <p:cTn id="128" fill="hold">
                            <p:stCondLst>
                              <p:cond delay="1000"/>
                            </p:stCondLst>
                            <p:childTnLst>
                              <p:par>
                                <p:cTn id="129" presetID="10" presetClass="entr" presetSubtype="0" fill="hold" grpId="0" nodeType="withEffect">
                                  <p:stCondLst>
                                    <p:cond delay="0"/>
                                  </p:stCondLst>
                                  <p:childTnLst>
                                    <p:set>
                                      <p:cBhvr>
                                        <p:cTn id="130" dur="1" fill="hold">
                                          <p:stCondLst>
                                            <p:cond delay="0"/>
                                          </p:stCondLst>
                                        </p:cTn>
                                        <p:tgtEl>
                                          <p:spTgt spid="36"/>
                                        </p:tgtEl>
                                        <p:attrNameLst>
                                          <p:attrName>style.visibility</p:attrName>
                                        </p:attrNameLst>
                                      </p:cBhvr>
                                      <p:to>
                                        <p:strVal val="visible"/>
                                      </p:to>
                                    </p:set>
                                    <p:animEffect transition="in" filter="fade">
                                      <p:cBhvr>
                                        <p:cTn id="131" dur="400"/>
                                        <p:tgtEl>
                                          <p:spTgt spid="36"/>
                                        </p:tgtEl>
                                      </p:cBhvr>
                                    </p:animEffect>
                                  </p:childTnLst>
                                </p:cTn>
                              </p:par>
                            </p:childTnLst>
                          </p:cTn>
                        </p:par>
                        <p:par>
                          <p:cTn id="132" fill="hold">
                            <p:stCondLst>
                              <p:cond delay="1000"/>
                            </p:stCondLst>
                            <p:childTnLst>
                              <p:par>
                                <p:cTn id="133" presetID="10" presetClass="entr" presetSubtype="0" fill="hold" grpId="0" nodeType="withEffect">
                                  <p:stCondLst>
                                    <p:cond delay="0"/>
                                  </p:stCondLst>
                                  <p:childTnLst>
                                    <p:set>
                                      <p:cBhvr>
                                        <p:cTn id="134" dur="1" fill="hold">
                                          <p:stCondLst>
                                            <p:cond delay="0"/>
                                          </p:stCondLst>
                                        </p:cTn>
                                        <p:tgtEl>
                                          <p:spTgt spid="37"/>
                                        </p:tgtEl>
                                        <p:attrNameLst>
                                          <p:attrName>style.visibility</p:attrName>
                                        </p:attrNameLst>
                                      </p:cBhvr>
                                      <p:to>
                                        <p:strVal val="visible"/>
                                      </p:to>
                                    </p:set>
                                    <p:animEffect transition="in" filter="fade">
                                      <p:cBhvr>
                                        <p:cTn id="135" dur="400"/>
                                        <p:tgtEl>
                                          <p:spTgt spid="37"/>
                                        </p:tgtEl>
                                      </p:cBhvr>
                                    </p:animEffect>
                                  </p:childTnLst>
                                </p:cTn>
                              </p:par>
                            </p:childTnLst>
                          </p:cTn>
                        </p:par>
                        <p:par>
                          <p:cTn id="136" fill="hold">
                            <p:stCondLst>
                              <p:cond delay="1000"/>
                            </p:stCondLst>
                            <p:childTnLst>
                              <p:par>
                                <p:cTn id="137" presetID="10" presetClass="entr" presetSubtype="0" fill="hold" grpId="0" nodeType="withEffect">
                                  <p:stCondLst>
                                    <p:cond delay="0"/>
                                  </p:stCondLst>
                                  <p:childTnLst>
                                    <p:set>
                                      <p:cBhvr>
                                        <p:cTn id="138" dur="1" fill="hold">
                                          <p:stCondLst>
                                            <p:cond delay="0"/>
                                          </p:stCondLst>
                                        </p:cTn>
                                        <p:tgtEl>
                                          <p:spTgt spid="38"/>
                                        </p:tgtEl>
                                        <p:attrNameLst>
                                          <p:attrName>style.visibility</p:attrName>
                                        </p:attrNameLst>
                                      </p:cBhvr>
                                      <p:to>
                                        <p:strVal val="visible"/>
                                      </p:to>
                                    </p:set>
                                    <p:animEffect transition="in" filter="fade">
                                      <p:cBhvr>
                                        <p:cTn id="139" dur="400"/>
                                        <p:tgtEl>
                                          <p:spTgt spid="38"/>
                                        </p:tgtEl>
                                      </p:cBhvr>
                                    </p:animEffect>
                                  </p:childTnLst>
                                </p:cTn>
                              </p:par>
                            </p:childTnLst>
                          </p:cTn>
                        </p:par>
                        <p:par>
                          <p:cTn id="140" fill="hold">
                            <p:stCondLst>
                              <p:cond delay="1000"/>
                            </p:stCondLst>
                            <p:childTnLst>
                              <p:par>
                                <p:cTn id="141" presetID="10" presetClass="entr" presetSubtype="0" fill="hold" grpId="0" nodeType="withEffect">
                                  <p:stCondLst>
                                    <p:cond delay="0"/>
                                  </p:stCondLst>
                                  <p:childTnLst>
                                    <p:set>
                                      <p:cBhvr>
                                        <p:cTn id="142" dur="1" fill="hold">
                                          <p:stCondLst>
                                            <p:cond delay="0"/>
                                          </p:stCondLst>
                                        </p:cTn>
                                        <p:tgtEl>
                                          <p:spTgt spid="39"/>
                                        </p:tgtEl>
                                        <p:attrNameLst>
                                          <p:attrName>style.visibility</p:attrName>
                                        </p:attrNameLst>
                                      </p:cBhvr>
                                      <p:to>
                                        <p:strVal val="visible"/>
                                      </p:to>
                                    </p:set>
                                    <p:animEffect transition="in" filter="fade">
                                      <p:cBhvr>
                                        <p:cTn id="143" dur="4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2 · PASSO 1: OS DADOS · THIAGO</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Três fontes, três perguntas sobre cada distrito</a:t>
            </a:r>
            <a:endParaRPr lang="en-US" sz="3200" dirty="0"/>
          </a:p>
        </p:txBody>
      </p:sp>
      <p:sp>
        <p:nvSpPr>
          <p:cNvPr id="5" name="anim:1:201"/>
          <p:cNvSpPr/>
          <p:nvPr/>
        </p:nvSpPr>
        <p:spPr>
          <a:xfrm>
            <a:off x="548640" y="1463040"/>
            <a:ext cx="3566160" cy="3429000"/>
          </a:xfrm>
          <a:prstGeom prst="roundRect">
            <a:avLst>
              <a:gd name="adj" fmla="val 3200"/>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6" name="anim:1:202"/>
          <p:cNvSpPr txBox="1"/>
          <p:nvPr/>
        </p:nvSpPr>
        <p:spPr>
          <a:xfrm>
            <a:off x="822960" y="1645920"/>
            <a:ext cx="3108960" cy="256032"/>
          </a:xfrm>
          <a:prstGeom prst="rect">
            <a:avLst/>
          </a:prstGeom>
          <a:noFill/>
          <a:ln/>
        </p:spPr>
        <p:txBody>
          <a:bodyPr wrap="square" lIns="0" tIns="0" rIns="0" bIns="0" rtlCol="0" anchor="t"/>
          <a:lstStyle/>
          <a:p>
            <a:pPr algn="l" indent="0" marL="0">
              <a:buNone/>
            </a:pPr>
            <a:r>
              <a:rPr lang="en-US" sz="1000" b="1" spc="100" kern="0" dirty="0">
                <a:solidFill>
                  <a:srgbClr val="8A5300"/>
                </a:solidFill>
                <a:latin typeface="Calibri" pitchFamily="34" charset="0"/>
                <a:ea typeface="Calibri" pitchFamily="34" charset="-122"/>
                <a:cs typeface="Calibri" pitchFamily="34" charset="-120"/>
              </a:rPr>
              <a:t>SME-SP · ANUAL</a:t>
            </a:r>
            <a:endParaRPr lang="en-US" sz="1000" dirty="0"/>
          </a:p>
        </p:txBody>
      </p:sp>
      <p:sp>
        <p:nvSpPr>
          <p:cNvPr id="7" name="anim:1:203"/>
          <p:cNvSpPr txBox="1"/>
          <p:nvPr/>
        </p:nvSpPr>
        <p:spPr>
          <a:xfrm>
            <a:off x="822960" y="1920240"/>
            <a:ext cx="3108960" cy="384048"/>
          </a:xfrm>
          <a:prstGeom prst="rect">
            <a:avLst/>
          </a:prstGeom>
          <a:noFill/>
          <a:ln/>
        </p:spPr>
        <p:txBody>
          <a:bodyPr wrap="square" lIns="0" tIns="0" rIns="0" bIns="0" rtlCol="0" anchor="t"/>
          <a:lstStyle/>
          <a:p>
            <a:pPr algn="l" indent="0" marL="0">
              <a:buNone/>
            </a:pPr>
            <a:r>
              <a:rPr lang="en-US" sz="1900" b="1" dirty="0">
                <a:solidFill>
                  <a:srgbClr val="1B2A4A"/>
                </a:solidFill>
                <a:latin typeface="Calibri" pitchFamily="34" charset="0"/>
                <a:ea typeface="Calibri" pitchFamily="34" charset="-122"/>
                <a:cs typeface="Calibri" pitchFamily="34" charset="-120"/>
              </a:rPr>
              <a:t>Quem já tem vaga?</a:t>
            </a:r>
            <a:endParaRPr lang="en-US" sz="1900" dirty="0"/>
          </a:p>
        </p:txBody>
      </p:sp>
      <p:sp>
        <p:nvSpPr>
          <p:cNvPr id="8" name="anim:1:204"/>
          <p:cNvSpPr txBox="1"/>
          <p:nvPr/>
        </p:nvSpPr>
        <p:spPr>
          <a:xfrm>
            <a:off x="822960" y="2331720"/>
            <a:ext cx="3108960" cy="274320"/>
          </a:xfrm>
          <a:prstGeom prst="rect">
            <a:avLst/>
          </a:prstGeom>
          <a:noFill/>
          <a:ln/>
        </p:spPr>
        <p:txBody>
          <a:bodyPr wrap="square" lIns="0" tIns="0" rIns="0" bIns="0" rtlCol="0" anchor="t"/>
          <a:lstStyle/>
          <a:p>
            <a:pPr algn="l" indent="0" marL="0">
              <a:buNone/>
            </a:pPr>
            <a:r>
              <a:rPr lang="en-US" sz="1200" dirty="0">
                <a:solidFill>
                  <a:srgbClr val="566175"/>
                </a:solidFill>
                <a:latin typeface="Calibri" pitchFamily="34" charset="0"/>
                <a:ea typeface="Calibri" pitchFamily="34" charset="-122"/>
                <a:cs typeface="Calibri" pitchFamily="34" charset="-120"/>
              </a:rPr>
              <a:t>Microdados de Matrículas</a:t>
            </a:r>
            <a:endParaRPr lang="en-US" sz="1200" dirty="0"/>
          </a:p>
        </p:txBody>
      </p:sp>
      <p:sp>
        <p:nvSpPr>
          <p:cNvPr id="9" name="anim:1:205"/>
          <p:cNvSpPr txBox="1"/>
          <p:nvPr/>
        </p:nvSpPr>
        <p:spPr>
          <a:xfrm>
            <a:off x="822960" y="2651760"/>
            <a:ext cx="3108960" cy="548640"/>
          </a:xfrm>
          <a:prstGeom prst="rect">
            <a:avLst/>
          </a:prstGeom>
          <a:noFill/>
          <a:ln/>
        </p:spPr>
        <p:txBody>
          <a:bodyPr wrap="square" lIns="0" tIns="0" rIns="0" bIns="0" rtlCol="0" anchor="t"/>
          <a:lstStyle/>
          <a:p>
            <a:pPr algn="l" indent="0" marL="0">
              <a:buNone/>
            </a:pPr>
            <a:r>
              <a:rPr lang="en-US" sz="3200" b="1" dirty="0">
                <a:solidFill>
                  <a:srgbClr val="2E5EAA"/>
                </a:solidFill>
                <a:latin typeface="Calibri" pitchFamily="34" charset="0"/>
                <a:ea typeface="Calibri" pitchFamily="34" charset="-122"/>
                <a:cs typeface="Calibri" pitchFamily="34" charset="-120"/>
              </a:rPr>
              <a:t>13,4 mi</a:t>
            </a:r>
            <a:endParaRPr lang="en-US" sz="3200" dirty="0"/>
          </a:p>
        </p:txBody>
      </p:sp>
      <p:sp>
        <p:nvSpPr>
          <p:cNvPr id="10" name="anim:1:206"/>
          <p:cNvSpPr txBox="1"/>
          <p:nvPr/>
        </p:nvSpPr>
        <p:spPr>
          <a:xfrm>
            <a:off x="822960" y="3200400"/>
            <a:ext cx="3108960" cy="274320"/>
          </a:xfrm>
          <a:prstGeom prst="rect">
            <a:avLst/>
          </a:prstGeom>
          <a:noFill/>
          <a:ln/>
        </p:spPr>
        <p:txBody>
          <a:bodyPr wrap="square" lIns="0" tIns="0" rIns="0" bIns="0" rtlCol="0" anchor="t"/>
          <a:lstStyle/>
          <a:p>
            <a:pPr algn="l" indent="0" marL="0">
              <a:buNone/>
            </a:pPr>
            <a:r>
              <a:rPr lang="en-US" sz="1200" dirty="0">
                <a:solidFill>
                  <a:srgbClr val="566175"/>
                </a:solidFill>
                <a:latin typeface="Calibri" pitchFamily="34" charset="0"/>
                <a:ea typeface="Calibri" pitchFamily="34" charset="-122"/>
                <a:cs typeface="Calibri" pitchFamily="34" charset="-120"/>
              </a:rPr>
              <a:t>matrículas, 2015 a 2024</a:t>
            </a:r>
            <a:endParaRPr lang="en-US" sz="1200" dirty="0"/>
          </a:p>
        </p:txBody>
      </p:sp>
      <p:sp>
        <p:nvSpPr>
          <p:cNvPr id="11" name="anim:1:207"/>
          <p:cNvSpPr/>
          <p:nvPr/>
        </p:nvSpPr>
        <p:spPr>
          <a:xfrm>
            <a:off x="822960" y="3657600"/>
            <a:ext cx="3017520" cy="0"/>
          </a:xfrm>
          <a:prstGeom prst="line">
            <a:avLst/>
          </a:prstGeom>
          <a:noFill/>
          <a:ln w="9525">
            <a:solidFill>
              <a:srgbClr val="D6E0F0"/>
            </a:solidFill>
            <a:prstDash val="solid"/>
          </a:ln>
        </p:spPr>
      </p:sp>
      <p:sp>
        <p:nvSpPr>
          <p:cNvPr id="12" name="anim:1:208"/>
          <p:cNvSpPr txBox="1"/>
          <p:nvPr/>
        </p:nvSpPr>
        <p:spPr>
          <a:xfrm>
            <a:off x="822960" y="3749040"/>
            <a:ext cx="3108960" cy="228600"/>
          </a:xfrm>
          <a:prstGeom prst="rect">
            <a:avLst/>
          </a:prstGeom>
          <a:noFill/>
          <a:ln/>
        </p:spPr>
        <p:txBody>
          <a:bodyPr wrap="square" lIns="0" tIns="0" rIns="0" bIns="0" rtlCol="0" anchor="t"/>
          <a:lstStyle/>
          <a:p>
            <a:pPr algn="l" indent="0" marL="0">
              <a:buNone/>
            </a:pPr>
            <a:r>
              <a:rPr lang="en-US" sz="1000" b="1" spc="100" kern="0" dirty="0">
                <a:solidFill>
                  <a:srgbClr val="566175"/>
                </a:solidFill>
                <a:latin typeface="Calibri" pitchFamily="34" charset="0"/>
                <a:ea typeface="Calibri" pitchFamily="34" charset="-122"/>
                <a:cs typeface="Calibri" pitchFamily="34" charset="-120"/>
              </a:rPr>
              <a:t>UMA LINHA É</a:t>
            </a:r>
            <a:endParaRPr lang="en-US" sz="1000" dirty="0"/>
          </a:p>
        </p:txBody>
      </p:sp>
      <p:sp>
        <p:nvSpPr>
          <p:cNvPr id="13" name="anim:1:209"/>
          <p:cNvSpPr txBox="1"/>
          <p:nvPr/>
        </p:nvSpPr>
        <p:spPr>
          <a:xfrm>
            <a:off x="822960" y="4005072"/>
            <a:ext cx="3063240" cy="731520"/>
          </a:xfrm>
          <a:prstGeom prst="rect">
            <a:avLst/>
          </a:prstGeom>
          <a:noFill/>
          <a:ln/>
        </p:spPr>
        <p:txBody>
          <a:bodyPr wrap="square" lIns="0" tIns="0" rIns="0" bIns="0" rtlCol="0" anchor="t"/>
          <a:lstStyle/>
          <a:p>
            <a:pPr algn="l" indent="0" marL="0">
              <a:buNone/>
            </a:pPr>
            <a:r>
              <a:rPr lang="en-US" sz="1400" dirty="0">
                <a:solidFill>
                  <a:srgbClr val="1B2A4A"/>
                </a:solidFill>
                <a:latin typeface="Calibri" pitchFamily="34" charset="0"/>
                <a:ea typeface="Calibri" pitchFamily="34" charset="-122"/>
                <a:cs typeface="Calibri" pitchFamily="34" charset="-120"/>
              </a:rPr>
              <a:t>um aluno numa turma, num ano letivo</a:t>
            </a:r>
            <a:endParaRPr lang="en-US" sz="1400" dirty="0"/>
          </a:p>
        </p:txBody>
      </p:sp>
      <p:sp>
        <p:nvSpPr>
          <p:cNvPr id="14" name="anim:2:210"/>
          <p:cNvSpPr/>
          <p:nvPr/>
        </p:nvSpPr>
        <p:spPr>
          <a:xfrm>
            <a:off x="4297680" y="1463040"/>
            <a:ext cx="3566160" cy="3429000"/>
          </a:xfrm>
          <a:prstGeom prst="roundRect">
            <a:avLst>
              <a:gd name="adj" fmla="val 3200"/>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15" name="anim:2:211"/>
          <p:cNvSpPr txBox="1"/>
          <p:nvPr/>
        </p:nvSpPr>
        <p:spPr>
          <a:xfrm>
            <a:off x="4572000" y="1645920"/>
            <a:ext cx="3108960" cy="256032"/>
          </a:xfrm>
          <a:prstGeom prst="rect">
            <a:avLst/>
          </a:prstGeom>
          <a:noFill/>
          <a:ln/>
        </p:spPr>
        <p:txBody>
          <a:bodyPr wrap="square" lIns="0" tIns="0" rIns="0" bIns="0" rtlCol="0" anchor="t"/>
          <a:lstStyle/>
          <a:p>
            <a:pPr algn="l" indent="0" marL="0">
              <a:buNone/>
            </a:pPr>
            <a:r>
              <a:rPr lang="en-US" sz="1000" b="1" spc="100" kern="0" dirty="0">
                <a:solidFill>
                  <a:srgbClr val="8A5300"/>
                </a:solidFill>
                <a:latin typeface="Calibri" pitchFamily="34" charset="0"/>
                <a:ea typeface="Calibri" pitchFamily="34" charset="-122"/>
                <a:cs typeface="Calibri" pitchFamily="34" charset="-120"/>
              </a:rPr>
              <a:t>SME-SP · TRIMESTRAL E BIMESTRAL</a:t>
            </a:r>
            <a:endParaRPr lang="en-US" sz="1000" dirty="0"/>
          </a:p>
        </p:txBody>
      </p:sp>
      <p:sp>
        <p:nvSpPr>
          <p:cNvPr id="16" name="anim:2:212"/>
          <p:cNvSpPr txBox="1"/>
          <p:nvPr/>
        </p:nvSpPr>
        <p:spPr>
          <a:xfrm>
            <a:off x="4572000" y="1920240"/>
            <a:ext cx="3108960" cy="384048"/>
          </a:xfrm>
          <a:prstGeom prst="rect">
            <a:avLst/>
          </a:prstGeom>
          <a:noFill/>
          <a:ln/>
        </p:spPr>
        <p:txBody>
          <a:bodyPr wrap="square" lIns="0" tIns="0" rIns="0" bIns="0" rtlCol="0" anchor="t"/>
          <a:lstStyle/>
          <a:p>
            <a:pPr algn="l" indent="0" marL="0">
              <a:buNone/>
            </a:pPr>
            <a:r>
              <a:rPr lang="en-US" sz="1900" b="1" dirty="0">
                <a:solidFill>
                  <a:srgbClr val="1B2A4A"/>
                </a:solidFill>
                <a:latin typeface="Calibri" pitchFamily="34" charset="0"/>
                <a:ea typeface="Calibri" pitchFamily="34" charset="-122"/>
                <a:cs typeface="Calibri" pitchFamily="34" charset="-120"/>
              </a:rPr>
              <a:t>Quem espera vaga?</a:t>
            </a:r>
            <a:endParaRPr lang="en-US" sz="1900" dirty="0"/>
          </a:p>
        </p:txBody>
      </p:sp>
      <p:sp>
        <p:nvSpPr>
          <p:cNvPr id="17" name="anim:2:213"/>
          <p:cNvSpPr txBox="1"/>
          <p:nvPr/>
        </p:nvSpPr>
        <p:spPr>
          <a:xfrm>
            <a:off x="4572000" y="2331720"/>
            <a:ext cx="3108960" cy="274320"/>
          </a:xfrm>
          <a:prstGeom prst="rect">
            <a:avLst/>
          </a:prstGeom>
          <a:noFill/>
          <a:ln/>
        </p:spPr>
        <p:txBody>
          <a:bodyPr wrap="square" lIns="0" tIns="0" rIns="0" bIns="0" rtlCol="0" anchor="t"/>
          <a:lstStyle/>
          <a:p>
            <a:pPr algn="l" indent="0" marL="0">
              <a:buNone/>
            </a:pPr>
            <a:r>
              <a:rPr lang="en-US" sz="1200" dirty="0">
                <a:solidFill>
                  <a:srgbClr val="566175"/>
                </a:solidFill>
                <a:latin typeface="Calibri" pitchFamily="34" charset="0"/>
                <a:ea typeface="Calibri" pitchFamily="34" charset="-122"/>
                <a:cs typeface="Calibri" pitchFamily="34" charset="-120"/>
              </a:rPr>
              <a:t>Demanda Registrada e Matrículas</a:t>
            </a:r>
            <a:endParaRPr lang="en-US" sz="1200" dirty="0"/>
          </a:p>
        </p:txBody>
      </p:sp>
      <p:sp>
        <p:nvSpPr>
          <p:cNvPr id="18" name="anim:2:214"/>
          <p:cNvSpPr txBox="1"/>
          <p:nvPr/>
        </p:nvSpPr>
        <p:spPr>
          <a:xfrm>
            <a:off x="4572000" y="2651760"/>
            <a:ext cx="3108960" cy="548640"/>
          </a:xfrm>
          <a:prstGeom prst="rect">
            <a:avLst/>
          </a:prstGeom>
          <a:noFill/>
          <a:ln/>
        </p:spPr>
        <p:txBody>
          <a:bodyPr wrap="square" lIns="0" tIns="0" rIns="0" bIns="0" rtlCol="0" anchor="t"/>
          <a:lstStyle/>
          <a:p>
            <a:pPr algn="l" indent="0" marL="0">
              <a:buNone/>
            </a:pPr>
            <a:r>
              <a:rPr lang="en-US" sz="3200" b="1" dirty="0">
                <a:solidFill>
                  <a:srgbClr val="2E5EAA"/>
                </a:solidFill>
                <a:latin typeface="Calibri" pitchFamily="34" charset="0"/>
                <a:ea typeface="Calibri" pitchFamily="34" charset="-122"/>
                <a:cs typeface="Calibri" pitchFamily="34" charset="-120"/>
              </a:rPr>
              <a:t>44 meses</a:t>
            </a:r>
            <a:endParaRPr lang="en-US" sz="3200" dirty="0"/>
          </a:p>
        </p:txBody>
      </p:sp>
      <p:sp>
        <p:nvSpPr>
          <p:cNvPr id="19" name="anim:2:215"/>
          <p:cNvSpPr txBox="1"/>
          <p:nvPr/>
        </p:nvSpPr>
        <p:spPr>
          <a:xfrm>
            <a:off x="4572000" y="3200400"/>
            <a:ext cx="3108960" cy="274320"/>
          </a:xfrm>
          <a:prstGeom prst="rect">
            <a:avLst/>
          </a:prstGeom>
          <a:noFill/>
          <a:ln/>
        </p:spPr>
        <p:txBody>
          <a:bodyPr wrap="square" lIns="0" tIns="0" rIns="0" bIns="0" rtlCol="0" anchor="t"/>
          <a:lstStyle/>
          <a:p>
            <a:pPr algn="l" indent="0" marL="0">
              <a:buNone/>
            </a:pPr>
            <a:r>
              <a:rPr lang="en-US" sz="1200" dirty="0">
                <a:solidFill>
                  <a:srgbClr val="566175"/>
                </a:solidFill>
                <a:latin typeface="Calibri" pitchFamily="34" charset="0"/>
                <a:ea typeface="Calibri" pitchFamily="34" charset="-122"/>
                <a:cs typeface="Calibri" pitchFamily="34" charset="-120"/>
              </a:rPr>
              <a:t>de fila, 96 distritos em cada mês</a:t>
            </a:r>
            <a:endParaRPr lang="en-US" sz="1200" dirty="0"/>
          </a:p>
        </p:txBody>
      </p:sp>
      <p:sp>
        <p:nvSpPr>
          <p:cNvPr id="20" name="anim:2:216"/>
          <p:cNvSpPr/>
          <p:nvPr/>
        </p:nvSpPr>
        <p:spPr>
          <a:xfrm>
            <a:off x="4572000" y="3657600"/>
            <a:ext cx="3017520" cy="0"/>
          </a:xfrm>
          <a:prstGeom prst="line">
            <a:avLst/>
          </a:prstGeom>
          <a:noFill/>
          <a:ln w="9525">
            <a:solidFill>
              <a:srgbClr val="D6E0F0"/>
            </a:solidFill>
            <a:prstDash val="solid"/>
          </a:ln>
        </p:spPr>
      </p:sp>
      <p:sp>
        <p:nvSpPr>
          <p:cNvPr id="21" name="anim:2:217"/>
          <p:cNvSpPr txBox="1"/>
          <p:nvPr/>
        </p:nvSpPr>
        <p:spPr>
          <a:xfrm>
            <a:off x="4572000" y="3749040"/>
            <a:ext cx="3108960" cy="228600"/>
          </a:xfrm>
          <a:prstGeom prst="rect">
            <a:avLst/>
          </a:prstGeom>
          <a:noFill/>
          <a:ln/>
        </p:spPr>
        <p:txBody>
          <a:bodyPr wrap="square" lIns="0" tIns="0" rIns="0" bIns="0" rtlCol="0" anchor="t"/>
          <a:lstStyle/>
          <a:p>
            <a:pPr algn="l" indent="0" marL="0">
              <a:buNone/>
            </a:pPr>
            <a:r>
              <a:rPr lang="en-US" sz="1000" b="1" spc="100" kern="0" dirty="0">
                <a:solidFill>
                  <a:srgbClr val="566175"/>
                </a:solidFill>
                <a:latin typeface="Calibri" pitchFamily="34" charset="0"/>
                <a:ea typeface="Calibri" pitchFamily="34" charset="-122"/>
                <a:cs typeface="Calibri" pitchFamily="34" charset="-120"/>
              </a:rPr>
              <a:t>UMA LINHA É</a:t>
            </a:r>
            <a:endParaRPr lang="en-US" sz="1000" dirty="0"/>
          </a:p>
        </p:txBody>
      </p:sp>
      <p:sp>
        <p:nvSpPr>
          <p:cNvPr id="22" name="anim:2:218"/>
          <p:cNvSpPr txBox="1"/>
          <p:nvPr/>
        </p:nvSpPr>
        <p:spPr>
          <a:xfrm>
            <a:off x="4572000" y="4005072"/>
            <a:ext cx="3063240" cy="731520"/>
          </a:xfrm>
          <a:prstGeom prst="rect">
            <a:avLst/>
          </a:prstGeom>
          <a:noFill/>
          <a:ln/>
        </p:spPr>
        <p:txBody>
          <a:bodyPr wrap="square" lIns="0" tIns="0" rIns="0" bIns="0" rtlCol="0" anchor="t"/>
          <a:lstStyle/>
          <a:p>
            <a:pPr algn="l" indent="0" marL="0">
              <a:buNone/>
            </a:pPr>
            <a:r>
              <a:rPr lang="en-US" sz="1400" dirty="0">
                <a:solidFill>
                  <a:srgbClr val="1B2A4A"/>
                </a:solidFill>
                <a:latin typeface="Calibri" pitchFamily="34" charset="0"/>
                <a:ea typeface="Calibri" pitchFamily="34" charset="-122"/>
                <a:cs typeface="Calibri" pitchFamily="34" charset="-120"/>
              </a:rPr>
              <a:t>um distrito num mês, com uma coluna por etapa</a:t>
            </a:r>
            <a:endParaRPr lang="en-US" sz="1400" dirty="0"/>
          </a:p>
        </p:txBody>
      </p:sp>
      <p:sp>
        <p:nvSpPr>
          <p:cNvPr id="23" name="anim:3:219"/>
          <p:cNvSpPr/>
          <p:nvPr/>
        </p:nvSpPr>
        <p:spPr>
          <a:xfrm>
            <a:off x="8046720" y="1463040"/>
            <a:ext cx="3566160" cy="3429000"/>
          </a:xfrm>
          <a:prstGeom prst="roundRect">
            <a:avLst>
              <a:gd name="adj" fmla="val 3200"/>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24" name="anim:3:220"/>
          <p:cNvSpPr txBox="1"/>
          <p:nvPr/>
        </p:nvSpPr>
        <p:spPr>
          <a:xfrm>
            <a:off x="8321040" y="1645920"/>
            <a:ext cx="3108960" cy="256032"/>
          </a:xfrm>
          <a:prstGeom prst="rect">
            <a:avLst/>
          </a:prstGeom>
          <a:noFill/>
          <a:ln/>
        </p:spPr>
        <p:txBody>
          <a:bodyPr wrap="square" lIns="0" tIns="0" rIns="0" bIns="0" rtlCol="0" anchor="t"/>
          <a:lstStyle/>
          <a:p>
            <a:pPr algn="l" indent="0" marL="0">
              <a:buNone/>
            </a:pPr>
            <a:r>
              <a:rPr lang="en-US" sz="1000" b="1" spc="100" kern="0" dirty="0">
                <a:solidFill>
                  <a:srgbClr val="8A5300"/>
                </a:solidFill>
                <a:latin typeface="Calibri" pitchFamily="34" charset="0"/>
                <a:ea typeface="Calibri" pitchFamily="34" charset="-122"/>
                <a:cs typeface="Calibri" pitchFamily="34" charset="-120"/>
              </a:rPr>
              <a:t>IBGE · CENSO 2022</a:t>
            </a:r>
            <a:endParaRPr lang="en-US" sz="1000" dirty="0"/>
          </a:p>
        </p:txBody>
      </p:sp>
      <p:sp>
        <p:nvSpPr>
          <p:cNvPr id="25" name="anim:3:221"/>
          <p:cNvSpPr txBox="1"/>
          <p:nvPr/>
        </p:nvSpPr>
        <p:spPr>
          <a:xfrm>
            <a:off x="8321040" y="1920240"/>
            <a:ext cx="3108960" cy="384048"/>
          </a:xfrm>
          <a:prstGeom prst="rect">
            <a:avLst/>
          </a:prstGeom>
          <a:noFill/>
          <a:ln/>
        </p:spPr>
        <p:txBody>
          <a:bodyPr wrap="square" lIns="0" tIns="0" rIns="0" bIns="0" rtlCol="0" anchor="t"/>
          <a:lstStyle/>
          <a:p>
            <a:pPr algn="l" indent="0" marL="0">
              <a:buNone/>
            </a:pPr>
            <a:r>
              <a:rPr lang="en-US" sz="1900" b="1" dirty="0">
                <a:solidFill>
                  <a:srgbClr val="1B2A4A"/>
                </a:solidFill>
                <a:latin typeface="Calibri" pitchFamily="34" charset="0"/>
                <a:ea typeface="Calibri" pitchFamily="34" charset="-122"/>
                <a:cs typeface="Calibri" pitchFamily="34" charset="-120"/>
              </a:rPr>
              <a:t>Quantas crianças moram ali?</a:t>
            </a:r>
            <a:endParaRPr lang="en-US" sz="1900" dirty="0"/>
          </a:p>
        </p:txBody>
      </p:sp>
      <p:sp>
        <p:nvSpPr>
          <p:cNvPr id="26" name="anim:3:222"/>
          <p:cNvSpPr txBox="1"/>
          <p:nvPr/>
        </p:nvSpPr>
        <p:spPr>
          <a:xfrm>
            <a:off x="8321040" y="2331720"/>
            <a:ext cx="3108960" cy="274320"/>
          </a:xfrm>
          <a:prstGeom prst="rect">
            <a:avLst/>
          </a:prstGeom>
          <a:noFill/>
          <a:ln/>
        </p:spPr>
        <p:txBody>
          <a:bodyPr wrap="square" lIns="0" tIns="0" rIns="0" bIns="0" rtlCol="0" anchor="t"/>
          <a:lstStyle/>
          <a:p>
            <a:pPr algn="l" indent="0" marL="0">
              <a:buNone/>
            </a:pPr>
            <a:r>
              <a:rPr lang="en-US" sz="1200" dirty="0">
                <a:solidFill>
                  <a:srgbClr val="566175"/>
                </a:solidFill>
                <a:latin typeface="Calibri" pitchFamily="34" charset="0"/>
                <a:ea typeface="Calibri" pitchFamily="34" charset="-122"/>
                <a:cs typeface="Calibri" pitchFamily="34" charset="-120"/>
              </a:rPr>
              <a:t>Agregados por Setores Censitários</a:t>
            </a:r>
            <a:endParaRPr lang="en-US" sz="1200" dirty="0"/>
          </a:p>
        </p:txBody>
      </p:sp>
      <p:sp>
        <p:nvSpPr>
          <p:cNvPr id="27" name="anim:3:223"/>
          <p:cNvSpPr txBox="1"/>
          <p:nvPr/>
        </p:nvSpPr>
        <p:spPr>
          <a:xfrm>
            <a:off x="8321040" y="2651760"/>
            <a:ext cx="3108960" cy="548640"/>
          </a:xfrm>
          <a:prstGeom prst="rect">
            <a:avLst/>
          </a:prstGeom>
          <a:noFill/>
          <a:ln/>
        </p:spPr>
        <p:txBody>
          <a:bodyPr wrap="square" lIns="0" tIns="0" rIns="0" bIns="0" rtlCol="0" anchor="t"/>
          <a:lstStyle/>
          <a:p>
            <a:pPr algn="l" indent="0" marL="0">
              <a:buNone/>
            </a:pPr>
            <a:r>
              <a:rPr lang="en-US" sz="3200" b="1" dirty="0">
                <a:solidFill>
                  <a:srgbClr val="2E5EAA"/>
                </a:solidFill>
                <a:latin typeface="Calibri" pitchFamily="34" charset="0"/>
                <a:ea typeface="Calibri" pitchFamily="34" charset="-122"/>
                <a:cs typeface="Calibri" pitchFamily="34" charset="-120"/>
              </a:rPr>
              <a:t>26.889</a:t>
            </a:r>
            <a:endParaRPr lang="en-US" sz="3200" dirty="0"/>
          </a:p>
        </p:txBody>
      </p:sp>
      <p:sp>
        <p:nvSpPr>
          <p:cNvPr id="28" name="anim:3:224"/>
          <p:cNvSpPr txBox="1"/>
          <p:nvPr/>
        </p:nvSpPr>
        <p:spPr>
          <a:xfrm>
            <a:off x="8321040" y="3200400"/>
            <a:ext cx="3108960" cy="274320"/>
          </a:xfrm>
          <a:prstGeom prst="rect">
            <a:avLst/>
          </a:prstGeom>
          <a:noFill/>
          <a:ln/>
        </p:spPr>
        <p:txBody>
          <a:bodyPr wrap="square" lIns="0" tIns="0" rIns="0" bIns="0" rtlCol="0" anchor="t"/>
          <a:lstStyle/>
          <a:p>
            <a:pPr algn="l" indent="0" marL="0">
              <a:buNone/>
            </a:pPr>
            <a:r>
              <a:rPr lang="en-US" sz="1200" dirty="0">
                <a:solidFill>
                  <a:srgbClr val="566175"/>
                </a:solidFill>
                <a:latin typeface="Calibri" pitchFamily="34" charset="0"/>
                <a:ea typeface="Calibri" pitchFamily="34" charset="-122"/>
                <a:cs typeface="Calibri" pitchFamily="34" charset="-120"/>
              </a:rPr>
              <a:t>setores, 11,4 milhões de moradores</a:t>
            </a:r>
            <a:endParaRPr lang="en-US" sz="1200" dirty="0"/>
          </a:p>
        </p:txBody>
      </p:sp>
      <p:sp>
        <p:nvSpPr>
          <p:cNvPr id="29" name="anim:3:225"/>
          <p:cNvSpPr/>
          <p:nvPr/>
        </p:nvSpPr>
        <p:spPr>
          <a:xfrm>
            <a:off x="8321040" y="3657600"/>
            <a:ext cx="3017520" cy="0"/>
          </a:xfrm>
          <a:prstGeom prst="line">
            <a:avLst/>
          </a:prstGeom>
          <a:noFill/>
          <a:ln w="9525">
            <a:solidFill>
              <a:srgbClr val="D6E0F0"/>
            </a:solidFill>
            <a:prstDash val="solid"/>
          </a:ln>
        </p:spPr>
      </p:sp>
      <p:sp>
        <p:nvSpPr>
          <p:cNvPr id="30" name="anim:3:226"/>
          <p:cNvSpPr txBox="1"/>
          <p:nvPr/>
        </p:nvSpPr>
        <p:spPr>
          <a:xfrm>
            <a:off x="8321040" y="3749040"/>
            <a:ext cx="3108960" cy="228600"/>
          </a:xfrm>
          <a:prstGeom prst="rect">
            <a:avLst/>
          </a:prstGeom>
          <a:noFill/>
          <a:ln/>
        </p:spPr>
        <p:txBody>
          <a:bodyPr wrap="square" lIns="0" tIns="0" rIns="0" bIns="0" rtlCol="0" anchor="t"/>
          <a:lstStyle/>
          <a:p>
            <a:pPr algn="l" indent="0" marL="0">
              <a:buNone/>
            </a:pPr>
            <a:r>
              <a:rPr lang="en-US" sz="1000" b="1" spc="100" kern="0" dirty="0">
                <a:solidFill>
                  <a:srgbClr val="566175"/>
                </a:solidFill>
                <a:latin typeface="Calibri" pitchFamily="34" charset="0"/>
                <a:ea typeface="Calibri" pitchFamily="34" charset="-122"/>
                <a:cs typeface="Calibri" pitchFamily="34" charset="-120"/>
              </a:rPr>
              <a:t>UMA LINHA É</a:t>
            </a:r>
            <a:endParaRPr lang="en-US" sz="1000" dirty="0"/>
          </a:p>
        </p:txBody>
      </p:sp>
      <p:sp>
        <p:nvSpPr>
          <p:cNvPr id="31" name="anim:3:227"/>
          <p:cNvSpPr txBox="1"/>
          <p:nvPr/>
        </p:nvSpPr>
        <p:spPr>
          <a:xfrm>
            <a:off x="8321040" y="4005072"/>
            <a:ext cx="3063240" cy="731520"/>
          </a:xfrm>
          <a:prstGeom prst="rect">
            <a:avLst/>
          </a:prstGeom>
          <a:noFill/>
          <a:ln/>
        </p:spPr>
        <p:txBody>
          <a:bodyPr wrap="square" lIns="0" tIns="0" rIns="0" bIns="0" rtlCol="0" anchor="t"/>
          <a:lstStyle/>
          <a:p>
            <a:pPr algn="l" indent="0" marL="0">
              <a:buNone/>
            </a:pPr>
            <a:r>
              <a:rPr lang="en-US" sz="1400" dirty="0">
                <a:solidFill>
                  <a:srgbClr val="1B2A4A"/>
                </a:solidFill>
                <a:latin typeface="Calibri" pitchFamily="34" charset="0"/>
                <a:ea typeface="Calibri" pitchFamily="34" charset="-122"/>
                <a:cs typeface="Calibri" pitchFamily="34" charset="-120"/>
              </a:rPr>
              <a:t>um setor censitário, com uma coluna por faixa de idade</a:t>
            </a:r>
            <a:endParaRPr lang="en-US" sz="1400" dirty="0"/>
          </a:p>
        </p:txBody>
      </p:sp>
      <p:sp>
        <p:nvSpPr>
          <p:cNvPr id="32" name="anim:4:228"/>
          <p:cNvSpPr/>
          <p:nvPr/>
        </p:nvSpPr>
        <p:spPr>
          <a:xfrm>
            <a:off x="548640" y="5074920"/>
            <a:ext cx="11064240" cy="914400"/>
          </a:xfrm>
          <a:prstGeom prst="roundRect">
            <a:avLst>
              <a:gd name="adj" fmla="val 12000"/>
            </a:avLst>
          </a:prstGeom>
          <a:solidFill>
            <a:srgbClr val="EEF2F8"/>
          </a:solidFill>
          <a:ln w="9525">
            <a:solidFill>
              <a:srgbClr val="EEF2F8"/>
            </a:solidFill>
            <a:prstDash val="solid"/>
          </a:ln>
        </p:spPr>
      </p:sp>
      <p:sp>
        <p:nvSpPr>
          <p:cNvPr id="33" name="anim:4:229"/>
          <p:cNvSpPr/>
          <p:nvPr/>
        </p:nvSpPr>
        <p:spPr>
          <a:xfrm>
            <a:off x="777240" y="5303520"/>
            <a:ext cx="457200" cy="457200"/>
          </a:xfrm>
          <a:prstGeom prst="ellipse">
            <a:avLst/>
          </a:prstGeom>
          <a:solidFill>
            <a:srgbClr val="F2A541"/>
          </a:solidFill>
          <a:ln w="12700">
            <a:solidFill>
              <a:srgbClr val="F2A541"/>
            </a:solidFill>
            <a:prstDash val="solid"/>
          </a:ln>
        </p:spPr>
      </p:sp>
      <p:sp>
        <p:nvSpPr>
          <p:cNvPr id="34" name="anim:4:230"/>
          <p:cNvSpPr txBox="1"/>
          <p:nvPr/>
        </p:nvSpPr>
        <p:spPr>
          <a:xfrm>
            <a:off x="777240" y="5303520"/>
            <a:ext cx="457200" cy="457200"/>
          </a:xfrm>
          <a:prstGeom prst="rect">
            <a:avLst/>
          </a:prstGeom>
          <a:noFill/>
          <a:ln/>
        </p:spPr>
        <p:txBody>
          <a:bodyPr wrap="square" lIns="0" tIns="0" rIns="0" bIns="0" rtlCol="0" anchor="ctr"/>
          <a:lstStyle/>
          <a:p>
            <a:pPr algn="ctr" indent="0" marL="0">
              <a:buNone/>
            </a:pPr>
            <a:r>
              <a:rPr lang="en-US" sz="1600" b="1" dirty="0">
                <a:solidFill>
                  <a:srgbClr val="1B2A4A"/>
                </a:solidFill>
                <a:latin typeface="Calibri" pitchFamily="34" charset="0"/>
                <a:ea typeface="Calibri" pitchFamily="34" charset="-122"/>
                <a:cs typeface="Calibri" pitchFamily="34" charset="-120"/>
              </a:rPr>
              <a:t>→</a:t>
            </a:r>
            <a:endParaRPr lang="en-US" sz="1600" dirty="0"/>
          </a:p>
        </p:txBody>
      </p:sp>
      <p:sp>
        <p:nvSpPr>
          <p:cNvPr id="35" name="anim:4:231"/>
          <p:cNvSpPr txBox="1"/>
          <p:nvPr/>
        </p:nvSpPr>
        <p:spPr>
          <a:xfrm>
            <a:off x="1463040" y="5120640"/>
            <a:ext cx="9966960" cy="822960"/>
          </a:xfrm>
          <a:prstGeom prst="rect">
            <a:avLst/>
          </a:prstGeom>
          <a:noFill/>
          <a:ln/>
        </p:spPr>
        <p:txBody>
          <a:bodyPr wrap="square" lIns="0" tIns="0" rIns="0" bIns="0" rtlCol="0" anchor="ctr"/>
          <a:lstStyle/>
          <a:p>
            <a:pPr indent="0" marL="0">
              <a:buNone/>
            </a:pPr>
            <a:r>
              <a:rPr lang="en-US" sz="1400" b="1" dirty="0">
                <a:solidFill>
                  <a:srgbClr val="1B2A4A"/>
                </a:solidFill>
                <a:latin typeface="Calibri" pitchFamily="34" charset="0"/>
                <a:ea typeface="Calibri" pitchFamily="34" charset="-122"/>
                <a:cs typeface="Calibri" pitchFamily="34" charset="-120"/>
              </a:rPr>
              <a:t>O exemplo que vamos seguir: o Tremembé. </a:t>
            </a:r>
            <a:pPr indent="0" marL="0">
              <a:buNone/>
            </a:pPr>
            <a:r>
              <a:rPr lang="en-US" sz="1400" dirty="0">
                <a:solidFill>
                  <a:srgbClr val="1F2937"/>
                </a:solidFill>
                <a:latin typeface="Calibri" pitchFamily="34" charset="0"/>
                <a:ea typeface="Calibri" pitchFamily="34" charset="-122"/>
                <a:cs typeface="Calibri" pitchFamily="34" charset="-120"/>
              </a:rPr>
              <a:t>Em junho de 2024, 153 crianças esperavam creche lá; o Censo conta 11.498 crianças de 0 a 4 anos morando no distrito; e cada matrícula das escolas do distrito é uma linha do microdado.</a:t>
            </a:r>
            <a:endParaRPr lang="en-US" sz="14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12</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childTnLst>
                          </p:cTn>
                        </p:par>
                        <p:par>
                          <p:cTn id="12" fill="hold">
                            <p:stCondLst>
                              <p:cond delay="0"/>
                            </p:stCondLst>
                            <p:childTnLst>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childTnLst>
                          </p:cTn>
                        </p:par>
                        <p:par>
                          <p:cTn id="16" fill="hold">
                            <p:stCondLst>
                              <p:cond delay="0"/>
                            </p:stCondLst>
                            <p:childTnLst>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00"/>
                                        <p:tgtEl>
                                          <p:spTgt spid="8"/>
                                        </p:tgtEl>
                                      </p:cBhvr>
                                    </p:animEffect>
                                  </p:childTnLst>
                                </p:cTn>
                              </p:par>
                            </p:childTnLst>
                          </p:cTn>
                        </p:par>
                        <p:par>
                          <p:cTn id="20" fill="hold">
                            <p:stCondLst>
                              <p:cond delay="0"/>
                            </p:stCondLst>
                            <p:childTnLst>
                              <p:par>
                                <p:cTn id="21" presetID="10" presetClass="entr" presetSubtype="0"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400"/>
                                        <p:tgtEl>
                                          <p:spTgt spid="9"/>
                                        </p:tgtEl>
                                      </p:cBhvr>
                                    </p:animEffect>
                                  </p:childTnLst>
                                </p:cTn>
                              </p:par>
                            </p:childTnLst>
                          </p:cTn>
                        </p:par>
                        <p:par>
                          <p:cTn id="24" fill="hold">
                            <p:stCondLst>
                              <p:cond delay="0"/>
                            </p:stCondLst>
                            <p:childTnLst>
                              <p:par>
                                <p:cTn id="25" presetID="10"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400"/>
                                        <p:tgtEl>
                                          <p:spTgt spid="10"/>
                                        </p:tgtEl>
                                      </p:cBhvr>
                                    </p:animEffect>
                                  </p:childTnLst>
                                </p:cTn>
                              </p:par>
                            </p:childTnLst>
                          </p:cTn>
                        </p:par>
                        <p:par>
                          <p:cTn id="28" fill="hold">
                            <p:stCondLst>
                              <p:cond delay="0"/>
                            </p:stCondLst>
                            <p:childTnLst>
                              <p:par>
                                <p:cTn id="29" presetID="10" presetClass="entr" presetSubtype="0"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00"/>
                                        <p:tgtEl>
                                          <p:spTgt spid="11"/>
                                        </p:tgtEl>
                                      </p:cBhvr>
                                    </p:animEffect>
                                  </p:childTnLst>
                                </p:cTn>
                              </p:par>
                            </p:childTnLst>
                          </p:cTn>
                        </p:par>
                        <p:par>
                          <p:cTn id="32" fill="hold">
                            <p:stCondLst>
                              <p:cond delay="0"/>
                            </p:stCondLst>
                            <p:childTnLst>
                              <p:par>
                                <p:cTn id="33" presetID="10" presetClass="entr" presetSubtype="0" fill="hold" grpId="0" nodeType="with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400"/>
                                        <p:tgtEl>
                                          <p:spTgt spid="12"/>
                                        </p:tgtEl>
                                      </p:cBhvr>
                                    </p:animEffect>
                                  </p:childTnLst>
                                </p:cTn>
                              </p:par>
                            </p:childTnLst>
                          </p:cTn>
                        </p:par>
                        <p:par>
                          <p:cTn id="36" fill="hold">
                            <p:stCondLst>
                              <p:cond delay="0"/>
                            </p:stCondLst>
                            <p:childTnLst>
                              <p:par>
                                <p:cTn id="37" presetID="10" presetClass="entr" presetSubtype="0" fill="hold" grpId="0" nodeType="withEffect">
                                  <p:stCondLst>
                                    <p:cond delay="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400"/>
                                        <p:tgtEl>
                                          <p:spTgt spid="13"/>
                                        </p:tgtEl>
                                      </p:cBhvr>
                                    </p:animEffect>
                                  </p:childTnLst>
                                </p:cTn>
                              </p:par>
                            </p:childTnLst>
                          </p:cTn>
                        </p:par>
                        <p:par>
                          <p:cTn id="40" fill="hold">
                            <p:stCondLst>
                              <p:cond delay="250"/>
                            </p:stCondLst>
                            <p:childTnLst>
                              <p:par>
                                <p:cTn id="41" presetID="10" presetClass="entr" presetSubtype="0" fill="hold" grpId="0" nodeType="withEffect">
                                  <p:stCondLst>
                                    <p:cond delay="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400"/>
                                        <p:tgtEl>
                                          <p:spTgt spid="14"/>
                                        </p:tgtEl>
                                      </p:cBhvr>
                                    </p:animEffect>
                                  </p:childTnLst>
                                </p:cTn>
                              </p:par>
                            </p:childTnLst>
                          </p:cTn>
                        </p:par>
                        <p:par>
                          <p:cTn id="44" fill="hold">
                            <p:stCondLst>
                              <p:cond delay="250"/>
                            </p:stCondLst>
                            <p:childTnLst>
                              <p:par>
                                <p:cTn id="45" presetID="10" presetClass="entr" presetSubtype="0" fill="hold" grpId="0" nodeType="withEffect">
                                  <p:stCondLst>
                                    <p:cond delay="0"/>
                                  </p:stCondLst>
                                  <p:childTnLst>
                                    <p:set>
                                      <p:cBhvr>
                                        <p:cTn id="46" dur="1" fill="hold">
                                          <p:stCondLst>
                                            <p:cond delay="0"/>
                                          </p:stCondLst>
                                        </p:cTn>
                                        <p:tgtEl>
                                          <p:spTgt spid="15"/>
                                        </p:tgtEl>
                                        <p:attrNameLst>
                                          <p:attrName>style.visibility</p:attrName>
                                        </p:attrNameLst>
                                      </p:cBhvr>
                                      <p:to>
                                        <p:strVal val="visible"/>
                                      </p:to>
                                    </p:set>
                                    <p:animEffect transition="in" filter="fade">
                                      <p:cBhvr>
                                        <p:cTn id="47" dur="400"/>
                                        <p:tgtEl>
                                          <p:spTgt spid="15"/>
                                        </p:tgtEl>
                                      </p:cBhvr>
                                    </p:animEffect>
                                  </p:childTnLst>
                                </p:cTn>
                              </p:par>
                            </p:childTnLst>
                          </p:cTn>
                        </p:par>
                        <p:par>
                          <p:cTn id="48" fill="hold">
                            <p:stCondLst>
                              <p:cond delay="250"/>
                            </p:stCondLst>
                            <p:childTnLst>
                              <p:par>
                                <p:cTn id="49" presetID="10" presetClass="entr" presetSubtype="0" fill="hold" grpId="0" nodeType="withEffect">
                                  <p:stCondLst>
                                    <p:cond delay="0"/>
                                  </p:stCondLst>
                                  <p:childTnLst>
                                    <p:set>
                                      <p:cBhvr>
                                        <p:cTn id="50" dur="1" fill="hold">
                                          <p:stCondLst>
                                            <p:cond delay="0"/>
                                          </p:stCondLst>
                                        </p:cTn>
                                        <p:tgtEl>
                                          <p:spTgt spid="16"/>
                                        </p:tgtEl>
                                        <p:attrNameLst>
                                          <p:attrName>style.visibility</p:attrName>
                                        </p:attrNameLst>
                                      </p:cBhvr>
                                      <p:to>
                                        <p:strVal val="visible"/>
                                      </p:to>
                                    </p:set>
                                    <p:animEffect transition="in" filter="fade">
                                      <p:cBhvr>
                                        <p:cTn id="51" dur="400"/>
                                        <p:tgtEl>
                                          <p:spTgt spid="16"/>
                                        </p:tgtEl>
                                      </p:cBhvr>
                                    </p:animEffect>
                                  </p:childTnLst>
                                </p:cTn>
                              </p:par>
                            </p:childTnLst>
                          </p:cTn>
                        </p:par>
                        <p:par>
                          <p:cTn id="52" fill="hold">
                            <p:stCondLst>
                              <p:cond delay="250"/>
                            </p:stCondLst>
                            <p:childTnLst>
                              <p:par>
                                <p:cTn id="53" presetID="10" presetClass="entr" presetSubtype="0" fill="hold" grpId="0" nodeType="withEffect">
                                  <p:stCondLst>
                                    <p:cond delay="0"/>
                                  </p:stCondLst>
                                  <p:childTnLst>
                                    <p:set>
                                      <p:cBhvr>
                                        <p:cTn id="54" dur="1" fill="hold">
                                          <p:stCondLst>
                                            <p:cond delay="0"/>
                                          </p:stCondLst>
                                        </p:cTn>
                                        <p:tgtEl>
                                          <p:spTgt spid="17"/>
                                        </p:tgtEl>
                                        <p:attrNameLst>
                                          <p:attrName>style.visibility</p:attrName>
                                        </p:attrNameLst>
                                      </p:cBhvr>
                                      <p:to>
                                        <p:strVal val="visible"/>
                                      </p:to>
                                    </p:set>
                                    <p:animEffect transition="in" filter="fade">
                                      <p:cBhvr>
                                        <p:cTn id="55" dur="400"/>
                                        <p:tgtEl>
                                          <p:spTgt spid="17"/>
                                        </p:tgtEl>
                                      </p:cBhvr>
                                    </p:animEffect>
                                  </p:childTnLst>
                                </p:cTn>
                              </p:par>
                            </p:childTnLst>
                          </p:cTn>
                        </p:par>
                        <p:par>
                          <p:cTn id="56" fill="hold">
                            <p:stCondLst>
                              <p:cond delay="250"/>
                            </p:stCondLst>
                            <p:childTnLst>
                              <p:par>
                                <p:cTn id="57" presetID="10" presetClass="entr" presetSubtype="0" fill="hold" grpId="0" nodeType="withEffect">
                                  <p:stCondLst>
                                    <p:cond delay="0"/>
                                  </p:stCondLst>
                                  <p:childTnLst>
                                    <p:set>
                                      <p:cBhvr>
                                        <p:cTn id="58" dur="1" fill="hold">
                                          <p:stCondLst>
                                            <p:cond delay="0"/>
                                          </p:stCondLst>
                                        </p:cTn>
                                        <p:tgtEl>
                                          <p:spTgt spid="18"/>
                                        </p:tgtEl>
                                        <p:attrNameLst>
                                          <p:attrName>style.visibility</p:attrName>
                                        </p:attrNameLst>
                                      </p:cBhvr>
                                      <p:to>
                                        <p:strVal val="visible"/>
                                      </p:to>
                                    </p:set>
                                    <p:animEffect transition="in" filter="fade">
                                      <p:cBhvr>
                                        <p:cTn id="59" dur="400"/>
                                        <p:tgtEl>
                                          <p:spTgt spid="18"/>
                                        </p:tgtEl>
                                      </p:cBhvr>
                                    </p:animEffect>
                                  </p:childTnLst>
                                </p:cTn>
                              </p:par>
                            </p:childTnLst>
                          </p:cTn>
                        </p:par>
                        <p:par>
                          <p:cTn id="60" fill="hold">
                            <p:stCondLst>
                              <p:cond delay="250"/>
                            </p:stCondLst>
                            <p:childTnLst>
                              <p:par>
                                <p:cTn id="61" presetID="10" presetClass="entr" presetSubtype="0" fill="hold" grpId="0" nodeType="withEffect">
                                  <p:stCondLst>
                                    <p:cond delay="0"/>
                                  </p:stCondLst>
                                  <p:childTnLst>
                                    <p:set>
                                      <p:cBhvr>
                                        <p:cTn id="62" dur="1" fill="hold">
                                          <p:stCondLst>
                                            <p:cond delay="0"/>
                                          </p:stCondLst>
                                        </p:cTn>
                                        <p:tgtEl>
                                          <p:spTgt spid="19"/>
                                        </p:tgtEl>
                                        <p:attrNameLst>
                                          <p:attrName>style.visibility</p:attrName>
                                        </p:attrNameLst>
                                      </p:cBhvr>
                                      <p:to>
                                        <p:strVal val="visible"/>
                                      </p:to>
                                    </p:set>
                                    <p:animEffect transition="in" filter="fade">
                                      <p:cBhvr>
                                        <p:cTn id="63" dur="400"/>
                                        <p:tgtEl>
                                          <p:spTgt spid="19"/>
                                        </p:tgtEl>
                                      </p:cBhvr>
                                    </p:animEffect>
                                  </p:childTnLst>
                                </p:cTn>
                              </p:par>
                            </p:childTnLst>
                          </p:cTn>
                        </p:par>
                        <p:par>
                          <p:cTn id="64" fill="hold">
                            <p:stCondLst>
                              <p:cond delay="250"/>
                            </p:stCondLst>
                            <p:childTnLst>
                              <p:par>
                                <p:cTn id="65" presetID="10" presetClass="entr" presetSubtype="0" fill="hold" grpId="0" nodeType="withEffect">
                                  <p:stCondLst>
                                    <p:cond delay="0"/>
                                  </p:stCondLst>
                                  <p:childTnLst>
                                    <p:set>
                                      <p:cBhvr>
                                        <p:cTn id="66" dur="1" fill="hold">
                                          <p:stCondLst>
                                            <p:cond delay="0"/>
                                          </p:stCondLst>
                                        </p:cTn>
                                        <p:tgtEl>
                                          <p:spTgt spid="20"/>
                                        </p:tgtEl>
                                        <p:attrNameLst>
                                          <p:attrName>style.visibility</p:attrName>
                                        </p:attrNameLst>
                                      </p:cBhvr>
                                      <p:to>
                                        <p:strVal val="visible"/>
                                      </p:to>
                                    </p:set>
                                    <p:animEffect transition="in" filter="fade">
                                      <p:cBhvr>
                                        <p:cTn id="67" dur="400"/>
                                        <p:tgtEl>
                                          <p:spTgt spid="20"/>
                                        </p:tgtEl>
                                      </p:cBhvr>
                                    </p:animEffect>
                                  </p:childTnLst>
                                </p:cTn>
                              </p:par>
                            </p:childTnLst>
                          </p:cTn>
                        </p:par>
                        <p:par>
                          <p:cTn id="68" fill="hold">
                            <p:stCondLst>
                              <p:cond delay="250"/>
                            </p:stCondLst>
                            <p:childTnLst>
                              <p:par>
                                <p:cTn id="69" presetID="10" presetClass="entr" presetSubtype="0" fill="hold" grpId="0" nodeType="withEffect">
                                  <p:stCondLst>
                                    <p:cond delay="0"/>
                                  </p:stCondLst>
                                  <p:childTnLst>
                                    <p:set>
                                      <p:cBhvr>
                                        <p:cTn id="70" dur="1" fill="hold">
                                          <p:stCondLst>
                                            <p:cond delay="0"/>
                                          </p:stCondLst>
                                        </p:cTn>
                                        <p:tgtEl>
                                          <p:spTgt spid="21"/>
                                        </p:tgtEl>
                                        <p:attrNameLst>
                                          <p:attrName>style.visibility</p:attrName>
                                        </p:attrNameLst>
                                      </p:cBhvr>
                                      <p:to>
                                        <p:strVal val="visible"/>
                                      </p:to>
                                    </p:set>
                                    <p:animEffect transition="in" filter="fade">
                                      <p:cBhvr>
                                        <p:cTn id="71" dur="400"/>
                                        <p:tgtEl>
                                          <p:spTgt spid="21"/>
                                        </p:tgtEl>
                                      </p:cBhvr>
                                    </p:animEffect>
                                  </p:childTnLst>
                                </p:cTn>
                              </p:par>
                            </p:childTnLst>
                          </p:cTn>
                        </p:par>
                        <p:par>
                          <p:cTn id="72" fill="hold">
                            <p:stCondLst>
                              <p:cond delay="250"/>
                            </p:stCondLst>
                            <p:childTnLst>
                              <p:par>
                                <p:cTn id="73" presetID="10" presetClass="entr" presetSubtype="0" fill="hold" grpId="0" nodeType="withEffect">
                                  <p:stCondLst>
                                    <p:cond delay="0"/>
                                  </p:stCondLst>
                                  <p:childTnLst>
                                    <p:set>
                                      <p:cBhvr>
                                        <p:cTn id="74" dur="1" fill="hold">
                                          <p:stCondLst>
                                            <p:cond delay="0"/>
                                          </p:stCondLst>
                                        </p:cTn>
                                        <p:tgtEl>
                                          <p:spTgt spid="22"/>
                                        </p:tgtEl>
                                        <p:attrNameLst>
                                          <p:attrName>style.visibility</p:attrName>
                                        </p:attrNameLst>
                                      </p:cBhvr>
                                      <p:to>
                                        <p:strVal val="visible"/>
                                      </p:to>
                                    </p:set>
                                    <p:animEffect transition="in" filter="fade">
                                      <p:cBhvr>
                                        <p:cTn id="75" dur="400"/>
                                        <p:tgtEl>
                                          <p:spTgt spid="22"/>
                                        </p:tgtEl>
                                      </p:cBhvr>
                                    </p:animEffect>
                                  </p:childTnLst>
                                </p:cTn>
                              </p:par>
                            </p:childTnLst>
                          </p:cTn>
                        </p:par>
                        <p:par>
                          <p:cTn id="76" fill="hold">
                            <p:stCondLst>
                              <p:cond delay="500"/>
                            </p:stCondLst>
                            <p:childTnLst>
                              <p:par>
                                <p:cTn id="77" presetID="10" presetClass="entr" presetSubtype="0" fill="hold" grpId="0" nodeType="withEffect">
                                  <p:stCondLst>
                                    <p:cond delay="0"/>
                                  </p:stCondLst>
                                  <p:childTnLst>
                                    <p:set>
                                      <p:cBhvr>
                                        <p:cTn id="78" dur="1" fill="hold">
                                          <p:stCondLst>
                                            <p:cond delay="0"/>
                                          </p:stCondLst>
                                        </p:cTn>
                                        <p:tgtEl>
                                          <p:spTgt spid="23"/>
                                        </p:tgtEl>
                                        <p:attrNameLst>
                                          <p:attrName>style.visibility</p:attrName>
                                        </p:attrNameLst>
                                      </p:cBhvr>
                                      <p:to>
                                        <p:strVal val="visible"/>
                                      </p:to>
                                    </p:set>
                                    <p:animEffect transition="in" filter="fade">
                                      <p:cBhvr>
                                        <p:cTn id="79" dur="400"/>
                                        <p:tgtEl>
                                          <p:spTgt spid="23"/>
                                        </p:tgtEl>
                                      </p:cBhvr>
                                    </p:animEffect>
                                  </p:childTnLst>
                                </p:cTn>
                              </p:par>
                            </p:childTnLst>
                          </p:cTn>
                        </p:par>
                        <p:par>
                          <p:cTn id="80" fill="hold">
                            <p:stCondLst>
                              <p:cond delay="500"/>
                            </p:stCondLst>
                            <p:childTnLst>
                              <p:par>
                                <p:cTn id="81" presetID="10" presetClass="entr" presetSubtype="0" fill="hold" grpId="0" nodeType="withEffect">
                                  <p:stCondLst>
                                    <p:cond delay="0"/>
                                  </p:stCondLst>
                                  <p:childTnLst>
                                    <p:set>
                                      <p:cBhvr>
                                        <p:cTn id="82" dur="1" fill="hold">
                                          <p:stCondLst>
                                            <p:cond delay="0"/>
                                          </p:stCondLst>
                                        </p:cTn>
                                        <p:tgtEl>
                                          <p:spTgt spid="24"/>
                                        </p:tgtEl>
                                        <p:attrNameLst>
                                          <p:attrName>style.visibility</p:attrName>
                                        </p:attrNameLst>
                                      </p:cBhvr>
                                      <p:to>
                                        <p:strVal val="visible"/>
                                      </p:to>
                                    </p:set>
                                    <p:animEffect transition="in" filter="fade">
                                      <p:cBhvr>
                                        <p:cTn id="83" dur="400"/>
                                        <p:tgtEl>
                                          <p:spTgt spid="24"/>
                                        </p:tgtEl>
                                      </p:cBhvr>
                                    </p:animEffect>
                                  </p:childTnLst>
                                </p:cTn>
                              </p:par>
                            </p:childTnLst>
                          </p:cTn>
                        </p:par>
                        <p:par>
                          <p:cTn id="84" fill="hold">
                            <p:stCondLst>
                              <p:cond delay="500"/>
                            </p:stCondLst>
                            <p:childTnLst>
                              <p:par>
                                <p:cTn id="85" presetID="10" presetClass="entr" presetSubtype="0" fill="hold" grpId="0" nodeType="withEffect">
                                  <p:stCondLst>
                                    <p:cond delay="0"/>
                                  </p:stCondLst>
                                  <p:childTnLst>
                                    <p:set>
                                      <p:cBhvr>
                                        <p:cTn id="86" dur="1" fill="hold">
                                          <p:stCondLst>
                                            <p:cond delay="0"/>
                                          </p:stCondLst>
                                        </p:cTn>
                                        <p:tgtEl>
                                          <p:spTgt spid="25"/>
                                        </p:tgtEl>
                                        <p:attrNameLst>
                                          <p:attrName>style.visibility</p:attrName>
                                        </p:attrNameLst>
                                      </p:cBhvr>
                                      <p:to>
                                        <p:strVal val="visible"/>
                                      </p:to>
                                    </p:set>
                                    <p:animEffect transition="in" filter="fade">
                                      <p:cBhvr>
                                        <p:cTn id="87" dur="400"/>
                                        <p:tgtEl>
                                          <p:spTgt spid="25"/>
                                        </p:tgtEl>
                                      </p:cBhvr>
                                    </p:animEffect>
                                  </p:childTnLst>
                                </p:cTn>
                              </p:par>
                            </p:childTnLst>
                          </p:cTn>
                        </p:par>
                        <p:par>
                          <p:cTn id="88" fill="hold">
                            <p:stCondLst>
                              <p:cond delay="500"/>
                            </p:stCondLst>
                            <p:childTnLst>
                              <p:par>
                                <p:cTn id="89" presetID="10" presetClass="entr" presetSubtype="0" fill="hold" grpId="0" nodeType="withEffect">
                                  <p:stCondLst>
                                    <p:cond delay="0"/>
                                  </p:stCondLst>
                                  <p:childTnLst>
                                    <p:set>
                                      <p:cBhvr>
                                        <p:cTn id="90" dur="1" fill="hold">
                                          <p:stCondLst>
                                            <p:cond delay="0"/>
                                          </p:stCondLst>
                                        </p:cTn>
                                        <p:tgtEl>
                                          <p:spTgt spid="26"/>
                                        </p:tgtEl>
                                        <p:attrNameLst>
                                          <p:attrName>style.visibility</p:attrName>
                                        </p:attrNameLst>
                                      </p:cBhvr>
                                      <p:to>
                                        <p:strVal val="visible"/>
                                      </p:to>
                                    </p:set>
                                    <p:animEffect transition="in" filter="fade">
                                      <p:cBhvr>
                                        <p:cTn id="91" dur="400"/>
                                        <p:tgtEl>
                                          <p:spTgt spid="26"/>
                                        </p:tgtEl>
                                      </p:cBhvr>
                                    </p:animEffect>
                                  </p:childTnLst>
                                </p:cTn>
                              </p:par>
                            </p:childTnLst>
                          </p:cTn>
                        </p:par>
                        <p:par>
                          <p:cTn id="92" fill="hold">
                            <p:stCondLst>
                              <p:cond delay="500"/>
                            </p:stCondLst>
                            <p:childTnLst>
                              <p:par>
                                <p:cTn id="93" presetID="10" presetClass="entr" presetSubtype="0" fill="hold" grpId="0" nodeType="withEffect">
                                  <p:stCondLst>
                                    <p:cond delay="0"/>
                                  </p:stCondLst>
                                  <p:childTnLst>
                                    <p:set>
                                      <p:cBhvr>
                                        <p:cTn id="94" dur="1" fill="hold">
                                          <p:stCondLst>
                                            <p:cond delay="0"/>
                                          </p:stCondLst>
                                        </p:cTn>
                                        <p:tgtEl>
                                          <p:spTgt spid="27"/>
                                        </p:tgtEl>
                                        <p:attrNameLst>
                                          <p:attrName>style.visibility</p:attrName>
                                        </p:attrNameLst>
                                      </p:cBhvr>
                                      <p:to>
                                        <p:strVal val="visible"/>
                                      </p:to>
                                    </p:set>
                                    <p:animEffect transition="in" filter="fade">
                                      <p:cBhvr>
                                        <p:cTn id="95" dur="400"/>
                                        <p:tgtEl>
                                          <p:spTgt spid="27"/>
                                        </p:tgtEl>
                                      </p:cBhvr>
                                    </p:animEffect>
                                  </p:childTnLst>
                                </p:cTn>
                              </p:par>
                            </p:childTnLst>
                          </p:cTn>
                        </p:par>
                        <p:par>
                          <p:cTn id="96" fill="hold">
                            <p:stCondLst>
                              <p:cond delay="500"/>
                            </p:stCondLst>
                            <p:childTnLst>
                              <p:par>
                                <p:cTn id="97" presetID="10" presetClass="entr" presetSubtype="0" fill="hold" grpId="0" nodeType="withEffect">
                                  <p:stCondLst>
                                    <p:cond delay="0"/>
                                  </p:stCondLst>
                                  <p:childTnLst>
                                    <p:set>
                                      <p:cBhvr>
                                        <p:cTn id="98" dur="1" fill="hold">
                                          <p:stCondLst>
                                            <p:cond delay="0"/>
                                          </p:stCondLst>
                                        </p:cTn>
                                        <p:tgtEl>
                                          <p:spTgt spid="28"/>
                                        </p:tgtEl>
                                        <p:attrNameLst>
                                          <p:attrName>style.visibility</p:attrName>
                                        </p:attrNameLst>
                                      </p:cBhvr>
                                      <p:to>
                                        <p:strVal val="visible"/>
                                      </p:to>
                                    </p:set>
                                    <p:animEffect transition="in" filter="fade">
                                      <p:cBhvr>
                                        <p:cTn id="99" dur="400"/>
                                        <p:tgtEl>
                                          <p:spTgt spid="28"/>
                                        </p:tgtEl>
                                      </p:cBhvr>
                                    </p:animEffect>
                                  </p:childTnLst>
                                </p:cTn>
                              </p:par>
                            </p:childTnLst>
                          </p:cTn>
                        </p:par>
                        <p:par>
                          <p:cTn id="100" fill="hold">
                            <p:stCondLst>
                              <p:cond delay="500"/>
                            </p:stCondLst>
                            <p:childTnLst>
                              <p:par>
                                <p:cTn id="101" presetID="10" presetClass="entr" presetSubtype="0" fill="hold" grpId="0" nodeType="withEffect">
                                  <p:stCondLst>
                                    <p:cond delay="0"/>
                                  </p:stCondLst>
                                  <p:childTnLst>
                                    <p:set>
                                      <p:cBhvr>
                                        <p:cTn id="102" dur="1" fill="hold">
                                          <p:stCondLst>
                                            <p:cond delay="0"/>
                                          </p:stCondLst>
                                        </p:cTn>
                                        <p:tgtEl>
                                          <p:spTgt spid="29"/>
                                        </p:tgtEl>
                                        <p:attrNameLst>
                                          <p:attrName>style.visibility</p:attrName>
                                        </p:attrNameLst>
                                      </p:cBhvr>
                                      <p:to>
                                        <p:strVal val="visible"/>
                                      </p:to>
                                    </p:set>
                                    <p:animEffect transition="in" filter="fade">
                                      <p:cBhvr>
                                        <p:cTn id="103" dur="400"/>
                                        <p:tgtEl>
                                          <p:spTgt spid="29"/>
                                        </p:tgtEl>
                                      </p:cBhvr>
                                    </p:animEffect>
                                  </p:childTnLst>
                                </p:cTn>
                              </p:par>
                            </p:childTnLst>
                          </p:cTn>
                        </p:par>
                        <p:par>
                          <p:cTn id="104" fill="hold">
                            <p:stCondLst>
                              <p:cond delay="500"/>
                            </p:stCondLst>
                            <p:childTnLst>
                              <p:par>
                                <p:cTn id="105" presetID="10" presetClass="entr" presetSubtype="0" fill="hold" grpId="0" nodeType="withEffect">
                                  <p:stCondLst>
                                    <p:cond delay="0"/>
                                  </p:stCondLst>
                                  <p:childTnLst>
                                    <p:set>
                                      <p:cBhvr>
                                        <p:cTn id="106" dur="1" fill="hold">
                                          <p:stCondLst>
                                            <p:cond delay="0"/>
                                          </p:stCondLst>
                                        </p:cTn>
                                        <p:tgtEl>
                                          <p:spTgt spid="30"/>
                                        </p:tgtEl>
                                        <p:attrNameLst>
                                          <p:attrName>style.visibility</p:attrName>
                                        </p:attrNameLst>
                                      </p:cBhvr>
                                      <p:to>
                                        <p:strVal val="visible"/>
                                      </p:to>
                                    </p:set>
                                    <p:animEffect transition="in" filter="fade">
                                      <p:cBhvr>
                                        <p:cTn id="107" dur="400"/>
                                        <p:tgtEl>
                                          <p:spTgt spid="30"/>
                                        </p:tgtEl>
                                      </p:cBhvr>
                                    </p:animEffect>
                                  </p:childTnLst>
                                </p:cTn>
                              </p:par>
                            </p:childTnLst>
                          </p:cTn>
                        </p:par>
                        <p:par>
                          <p:cTn id="108" fill="hold">
                            <p:stCondLst>
                              <p:cond delay="500"/>
                            </p:stCondLst>
                            <p:childTnLst>
                              <p:par>
                                <p:cTn id="109" presetID="10" presetClass="entr" presetSubtype="0" fill="hold" grpId="0" nodeType="withEffect">
                                  <p:stCondLst>
                                    <p:cond delay="0"/>
                                  </p:stCondLst>
                                  <p:childTnLst>
                                    <p:set>
                                      <p:cBhvr>
                                        <p:cTn id="110" dur="1" fill="hold">
                                          <p:stCondLst>
                                            <p:cond delay="0"/>
                                          </p:stCondLst>
                                        </p:cTn>
                                        <p:tgtEl>
                                          <p:spTgt spid="31"/>
                                        </p:tgtEl>
                                        <p:attrNameLst>
                                          <p:attrName>style.visibility</p:attrName>
                                        </p:attrNameLst>
                                      </p:cBhvr>
                                      <p:to>
                                        <p:strVal val="visible"/>
                                      </p:to>
                                    </p:set>
                                    <p:animEffect transition="in" filter="fade">
                                      <p:cBhvr>
                                        <p:cTn id="111" dur="400"/>
                                        <p:tgtEl>
                                          <p:spTgt spid="31"/>
                                        </p:tgtEl>
                                      </p:cBhvr>
                                    </p:animEffect>
                                  </p:childTnLst>
                                </p:cTn>
                              </p:par>
                            </p:childTnLst>
                          </p:cTn>
                        </p:par>
                        <p:par>
                          <p:cTn id="112" fill="hold">
                            <p:stCondLst>
                              <p:cond delay="750"/>
                            </p:stCondLst>
                            <p:childTnLst>
                              <p:par>
                                <p:cTn id="113" presetID="10" presetClass="entr" presetSubtype="0" fill="hold" grpId="0" nodeType="withEffect">
                                  <p:stCondLst>
                                    <p:cond delay="0"/>
                                  </p:stCondLst>
                                  <p:childTnLst>
                                    <p:set>
                                      <p:cBhvr>
                                        <p:cTn id="114" dur="1" fill="hold">
                                          <p:stCondLst>
                                            <p:cond delay="0"/>
                                          </p:stCondLst>
                                        </p:cTn>
                                        <p:tgtEl>
                                          <p:spTgt spid="32"/>
                                        </p:tgtEl>
                                        <p:attrNameLst>
                                          <p:attrName>style.visibility</p:attrName>
                                        </p:attrNameLst>
                                      </p:cBhvr>
                                      <p:to>
                                        <p:strVal val="visible"/>
                                      </p:to>
                                    </p:set>
                                    <p:animEffect transition="in" filter="fade">
                                      <p:cBhvr>
                                        <p:cTn id="115" dur="400"/>
                                        <p:tgtEl>
                                          <p:spTgt spid="32"/>
                                        </p:tgtEl>
                                      </p:cBhvr>
                                    </p:animEffect>
                                  </p:childTnLst>
                                </p:cTn>
                              </p:par>
                            </p:childTnLst>
                          </p:cTn>
                        </p:par>
                        <p:par>
                          <p:cTn id="116" fill="hold">
                            <p:stCondLst>
                              <p:cond delay="750"/>
                            </p:stCondLst>
                            <p:childTnLst>
                              <p:par>
                                <p:cTn id="117" presetID="10" presetClass="entr" presetSubtype="0" fill="hold" grpId="0" nodeType="withEffect">
                                  <p:stCondLst>
                                    <p:cond delay="0"/>
                                  </p:stCondLst>
                                  <p:childTnLst>
                                    <p:set>
                                      <p:cBhvr>
                                        <p:cTn id="118" dur="1" fill="hold">
                                          <p:stCondLst>
                                            <p:cond delay="0"/>
                                          </p:stCondLst>
                                        </p:cTn>
                                        <p:tgtEl>
                                          <p:spTgt spid="33"/>
                                        </p:tgtEl>
                                        <p:attrNameLst>
                                          <p:attrName>style.visibility</p:attrName>
                                        </p:attrNameLst>
                                      </p:cBhvr>
                                      <p:to>
                                        <p:strVal val="visible"/>
                                      </p:to>
                                    </p:set>
                                    <p:animEffect transition="in" filter="fade">
                                      <p:cBhvr>
                                        <p:cTn id="119" dur="400"/>
                                        <p:tgtEl>
                                          <p:spTgt spid="33"/>
                                        </p:tgtEl>
                                      </p:cBhvr>
                                    </p:animEffect>
                                  </p:childTnLst>
                                </p:cTn>
                              </p:par>
                            </p:childTnLst>
                          </p:cTn>
                        </p:par>
                        <p:par>
                          <p:cTn id="120" fill="hold">
                            <p:stCondLst>
                              <p:cond delay="750"/>
                            </p:stCondLst>
                            <p:childTnLst>
                              <p:par>
                                <p:cTn id="121" presetID="10" presetClass="entr" presetSubtype="0" fill="hold" grpId="0" nodeType="withEffect">
                                  <p:stCondLst>
                                    <p:cond delay="0"/>
                                  </p:stCondLst>
                                  <p:childTnLst>
                                    <p:set>
                                      <p:cBhvr>
                                        <p:cTn id="122" dur="1" fill="hold">
                                          <p:stCondLst>
                                            <p:cond delay="0"/>
                                          </p:stCondLst>
                                        </p:cTn>
                                        <p:tgtEl>
                                          <p:spTgt spid="34"/>
                                        </p:tgtEl>
                                        <p:attrNameLst>
                                          <p:attrName>style.visibility</p:attrName>
                                        </p:attrNameLst>
                                      </p:cBhvr>
                                      <p:to>
                                        <p:strVal val="visible"/>
                                      </p:to>
                                    </p:set>
                                    <p:animEffect transition="in" filter="fade">
                                      <p:cBhvr>
                                        <p:cTn id="123" dur="400"/>
                                        <p:tgtEl>
                                          <p:spTgt spid="34"/>
                                        </p:tgtEl>
                                      </p:cBhvr>
                                    </p:animEffect>
                                  </p:childTnLst>
                                </p:cTn>
                              </p:par>
                            </p:childTnLst>
                          </p:cTn>
                        </p:par>
                        <p:par>
                          <p:cTn id="124" fill="hold">
                            <p:stCondLst>
                              <p:cond delay="750"/>
                            </p:stCondLst>
                            <p:childTnLst>
                              <p:par>
                                <p:cTn id="125" presetID="10" presetClass="entr" presetSubtype="0" fill="hold" grpId="0" nodeType="withEffect">
                                  <p:stCondLst>
                                    <p:cond delay="0"/>
                                  </p:stCondLst>
                                  <p:childTnLst>
                                    <p:set>
                                      <p:cBhvr>
                                        <p:cTn id="126" dur="1" fill="hold">
                                          <p:stCondLst>
                                            <p:cond delay="0"/>
                                          </p:stCondLst>
                                        </p:cTn>
                                        <p:tgtEl>
                                          <p:spTgt spid="35"/>
                                        </p:tgtEl>
                                        <p:attrNameLst>
                                          <p:attrName>style.visibility</p:attrName>
                                        </p:attrNameLst>
                                      </p:cBhvr>
                                      <p:to>
                                        <p:strVal val="visible"/>
                                      </p:to>
                                    </p:set>
                                    <p:animEffect transition="in" filter="fade">
                                      <p:cBhvr>
                                        <p:cTn id="127"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2 · PASSO 1: OS DADOS · THIAGO</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Integração: o mesmo dado, escrito de jeitos diferentes</a:t>
            </a:r>
            <a:endParaRPr lang="en-US" sz="3200" dirty="0"/>
          </a:p>
        </p:txBody>
      </p:sp>
      <p:sp>
        <p:nvSpPr>
          <p:cNvPr id="5" name="anim:1:232"/>
          <p:cNvSpPr txBox="1"/>
          <p:nvPr/>
        </p:nvSpPr>
        <p:spPr>
          <a:xfrm>
            <a:off x="548640" y="1417320"/>
            <a:ext cx="2743200" cy="228600"/>
          </a:xfrm>
          <a:prstGeom prst="rect">
            <a:avLst/>
          </a:prstGeom>
          <a:noFill/>
          <a:ln/>
        </p:spPr>
        <p:txBody>
          <a:bodyPr wrap="square" lIns="0" tIns="0" rIns="0" bIns="0" rtlCol="0" anchor="t"/>
          <a:lstStyle/>
          <a:p>
            <a:pPr algn="l" indent="0" marL="0">
              <a:buNone/>
            </a:pPr>
            <a:r>
              <a:rPr lang="en-US" sz="1000" b="1" spc="100" kern="0" dirty="0">
                <a:solidFill>
                  <a:srgbClr val="566175"/>
                </a:solidFill>
                <a:latin typeface="Calibri" pitchFamily="34" charset="0"/>
                <a:ea typeface="Calibri" pitchFamily="34" charset="-122"/>
                <a:cs typeface="Calibri" pitchFamily="34" charset="-120"/>
              </a:rPr>
              <a:t>COMO CHEGA</a:t>
            </a:r>
            <a:endParaRPr lang="en-US" sz="1000" dirty="0"/>
          </a:p>
        </p:txBody>
      </p:sp>
      <p:sp>
        <p:nvSpPr>
          <p:cNvPr id="6" name="anim:1:233"/>
          <p:cNvSpPr txBox="1"/>
          <p:nvPr/>
        </p:nvSpPr>
        <p:spPr>
          <a:xfrm>
            <a:off x="5257800" y="1417320"/>
            <a:ext cx="2743200" cy="228600"/>
          </a:xfrm>
          <a:prstGeom prst="rect">
            <a:avLst/>
          </a:prstGeom>
          <a:noFill/>
          <a:ln/>
        </p:spPr>
        <p:txBody>
          <a:bodyPr wrap="square" lIns="0" tIns="0" rIns="0" bIns="0" rtlCol="0" anchor="t"/>
          <a:lstStyle/>
          <a:p>
            <a:pPr algn="l" indent="0" marL="0">
              <a:buNone/>
            </a:pPr>
            <a:r>
              <a:rPr lang="en-US" sz="1000" b="1" spc="100" kern="0" dirty="0">
                <a:solidFill>
                  <a:srgbClr val="566175"/>
                </a:solidFill>
                <a:latin typeface="Calibri" pitchFamily="34" charset="0"/>
                <a:ea typeface="Calibri" pitchFamily="34" charset="-122"/>
                <a:cs typeface="Calibri" pitchFamily="34" charset="-120"/>
              </a:rPr>
              <a:t>REGRA</a:t>
            </a:r>
            <a:endParaRPr lang="en-US" sz="1000" dirty="0"/>
          </a:p>
        </p:txBody>
      </p:sp>
      <p:sp>
        <p:nvSpPr>
          <p:cNvPr id="7" name="anim:1:234"/>
          <p:cNvSpPr txBox="1"/>
          <p:nvPr/>
        </p:nvSpPr>
        <p:spPr>
          <a:xfrm>
            <a:off x="8412480" y="1417320"/>
            <a:ext cx="2743200" cy="228600"/>
          </a:xfrm>
          <a:prstGeom prst="rect">
            <a:avLst/>
          </a:prstGeom>
          <a:noFill/>
          <a:ln/>
        </p:spPr>
        <p:txBody>
          <a:bodyPr wrap="square" lIns="0" tIns="0" rIns="0" bIns="0" rtlCol="0" anchor="t"/>
          <a:lstStyle/>
          <a:p>
            <a:pPr algn="l" indent="0" marL="0">
              <a:buNone/>
            </a:pPr>
            <a:r>
              <a:rPr lang="en-US" sz="1000" b="1" spc="100" kern="0" dirty="0">
                <a:solidFill>
                  <a:srgbClr val="566175"/>
                </a:solidFill>
                <a:latin typeface="Calibri" pitchFamily="34" charset="0"/>
                <a:ea typeface="Calibri" pitchFamily="34" charset="-122"/>
                <a:cs typeface="Calibri" pitchFamily="34" charset="-120"/>
              </a:rPr>
              <a:t>NO DATA WAREHOUSE</a:t>
            </a:r>
            <a:endParaRPr lang="en-US" sz="1000" dirty="0"/>
          </a:p>
        </p:txBody>
      </p:sp>
      <p:sp>
        <p:nvSpPr>
          <p:cNvPr id="8" name="anim:2:235"/>
          <p:cNvSpPr/>
          <p:nvPr/>
        </p:nvSpPr>
        <p:spPr>
          <a:xfrm>
            <a:off x="548640" y="1691640"/>
            <a:ext cx="11064240" cy="841248"/>
          </a:xfrm>
          <a:prstGeom prst="roundRect">
            <a:avLst>
              <a:gd name="adj" fmla="val 13043"/>
            </a:avLst>
          </a:prstGeom>
          <a:solidFill>
            <a:srgbClr val="FFFFFF"/>
          </a:solidFill>
          <a:ln w="9525">
            <a:solidFill>
              <a:srgbClr val="D6E0F0"/>
            </a:solidFill>
            <a:prstDash val="solid"/>
          </a:ln>
        </p:spPr>
      </p:sp>
      <p:sp>
        <p:nvSpPr>
          <p:cNvPr id="9" name="anim:2:236"/>
          <p:cNvSpPr txBox="1"/>
          <p:nvPr/>
        </p:nvSpPr>
        <p:spPr>
          <a:xfrm>
            <a:off x="731520" y="1755648"/>
            <a:ext cx="1828800" cy="256032"/>
          </a:xfrm>
          <a:prstGeom prst="rect">
            <a:avLst/>
          </a:prstGeom>
          <a:noFill/>
          <a:ln/>
        </p:spPr>
        <p:txBody>
          <a:bodyPr wrap="square" lIns="0" tIns="0" rIns="0" bIns="0" rtlCol="0" anchor="t"/>
          <a:lstStyle/>
          <a:p>
            <a:pPr algn="l" indent="0" marL="0">
              <a:buNone/>
            </a:pPr>
            <a:r>
              <a:rPr lang="en-US" sz="1300" b="1" dirty="0">
                <a:solidFill>
                  <a:srgbClr val="1B2A4A"/>
                </a:solidFill>
                <a:latin typeface="Calibri" pitchFamily="34" charset="0"/>
                <a:ea typeface="Calibri" pitchFamily="34" charset="-122"/>
                <a:cs typeface="Calibri" pitchFamily="34" charset="-120"/>
              </a:rPr>
              <a:t>Distrito</a:t>
            </a:r>
            <a:endParaRPr lang="en-US" sz="1300" dirty="0"/>
          </a:p>
        </p:txBody>
      </p:sp>
      <p:sp>
        <p:nvSpPr>
          <p:cNvPr id="10" name="anim:2:237"/>
          <p:cNvSpPr txBox="1"/>
          <p:nvPr/>
        </p:nvSpPr>
        <p:spPr>
          <a:xfrm>
            <a:off x="731520" y="2002536"/>
            <a:ext cx="1554480" cy="201168"/>
          </a:xfrm>
          <a:prstGeom prst="rect">
            <a:avLst/>
          </a:prstGeom>
          <a:noFill/>
          <a:ln/>
        </p:spPr>
        <p:txBody>
          <a:bodyPr wrap="square" lIns="0" tIns="0" rIns="0" bIns="0" rtlCol="0" anchor="t"/>
          <a:lstStyle/>
          <a:p>
            <a:pPr algn="l" indent="0" marL="0">
              <a:buNone/>
            </a:pPr>
            <a:r>
              <a:rPr lang="en-US" sz="1000" dirty="0">
                <a:solidFill>
                  <a:srgbClr val="566175"/>
                </a:solidFill>
                <a:latin typeface="Calibri" pitchFamily="34" charset="0"/>
                <a:ea typeface="Calibri" pitchFamily="34" charset="-122"/>
                <a:cs typeface="Calibri" pitchFamily="34" charset="-120"/>
              </a:rPr>
              <a:t>fila</a:t>
            </a:r>
            <a:endParaRPr lang="en-US" sz="1000" dirty="0"/>
          </a:p>
        </p:txBody>
      </p:sp>
      <p:sp>
        <p:nvSpPr>
          <p:cNvPr id="11" name="anim:2:238"/>
          <p:cNvSpPr/>
          <p:nvPr/>
        </p:nvSpPr>
        <p:spPr>
          <a:xfrm>
            <a:off x="731520" y="2203704"/>
            <a:ext cx="1188720" cy="274320"/>
          </a:xfrm>
          <a:prstGeom prst="roundRect">
            <a:avLst>
              <a:gd name="adj" fmla="val 20000"/>
            </a:avLst>
          </a:prstGeom>
          <a:solidFill>
            <a:srgbClr val="EEF2F8"/>
          </a:solidFill>
          <a:ln w="6350">
            <a:solidFill>
              <a:srgbClr val="D6E0F0"/>
            </a:solidFill>
            <a:prstDash val="solid"/>
          </a:ln>
        </p:spPr>
      </p:sp>
      <p:sp>
        <p:nvSpPr>
          <p:cNvPr id="12" name="anim:2:239"/>
          <p:cNvSpPr txBox="1"/>
          <p:nvPr/>
        </p:nvSpPr>
        <p:spPr>
          <a:xfrm>
            <a:off x="731520" y="2203704"/>
            <a:ext cx="1188720" cy="274320"/>
          </a:xfrm>
          <a:prstGeom prst="rect">
            <a:avLst/>
          </a:prstGeom>
          <a:noFill/>
          <a:ln/>
        </p:spPr>
        <p:txBody>
          <a:bodyPr wrap="square" lIns="0" tIns="0" rIns="0" bIns="0" rtlCol="0" anchor="ctr"/>
          <a:lstStyle/>
          <a:p>
            <a:pPr algn="ctr" indent="0" marL="0">
              <a:buNone/>
            </a:pPr>
            <a:r>
              <a:rPr lang="en-US" sz="1200" dirty="0">
                <a:solidFill>
                  <a:srgbClr val="1F2937"/>
                </a:solidFill>
                <a:latin typeface="Consolas" pitchFamily="34" charset="0"/>
                <a:ea typeface="Consolas" pitchFamily="34" charset="-122"/>
                <a:cs typeface="Consolas" pitchFamily="34" charset="-120"/>
              </a:rPr>
              <a:t>"TREMEMBE "</a:t>
            </a:r>
            <a:endParaRPr lang="en-US" sz="1200" dirty="0"/>
          </a:p>
        </p:txBody>
      </p:sp>
      <p:sp>
        <p:nvSpPr>
          <p:cNvPr id="13" name="anim:2:240"/>
          <p:cNvSpPr txBox="1"/>
          <p:nvPr/>
        </p:nvSpPr>
        <p:spPr>
          <a:xfrm>
            <a:off x="2057400" y="2002536"/>
            <a:ext cx="1463040" cy="201168"/>
          </a:xfrm>
          <a:prstGeom prst="rect">
            <a:avLst/>
          </a:prstGeom>
          <a:noFill/>
          <a:ln/>
        </p:spPr>
        <p:txBody>
          <a:bodyPr wrap="square" lIns="0" tIns="0" rIns="0" bIns="0" rtlCol="0" anchor="t"/>
          <a:lstStyle/>
          <a:p>
            <a:pPr algn="l" indent="0" marL="0">
              <a:buNone/>
            </a:pPr>
            <a:r>
              <a:rPr lang="en-US" sz="1000" dirty="0">
                <a:solidFill>
                  <a:srgbClr val="566175"/>
                </a:solidFill>
                <a:latin typeface="Calibri" pitchFamily="34" charset="0"/>
                <a:ea typeface="Calibri" pitchFamily="34" charset="-122"/>
                <a:cs typeface="Calibri" pitchFamily="34" charset="-120"/>
              </a:rPr>
              <a:t>matrícula</a:t>
            </a:r>
            <a:endParaRPr lang="en-US" sz="1000" dirty="0"/>
          </a:p>
        </p:txBody>
      </p:sp>
      <p:sp>
        <p:nvSpPr>
          <p:cNvPr id="14" name="anim:2:241"/>
          <p:cNvSpPr/>
          <p:nvPr/>
        </p:nvSpPr>
        <p:spPr>
          <a:xfrm>
            <a:off x="2057400" y="2203704"/>
            <a:ext cx="1097280" cy="274320"/>
          </a:xfrm>
          <a:prstGeom prst="roundRect">
            <a:avLst>
              <a:gd name="adj" fmla="val 20000"/>
            </a:avLst>
          </a:prstGeom>
          <a:solidFill>
            <a:srgbClr val="EEF2F8"/>
          </a:solidFill>
          <a:ln w="6350">
            <a:solidFill>
              <a:srgbClr val="D6E0F0"/>
            </a:solidFill>
            <a:prstDash val="solid"/>
          </a:ln>
        </p:spPr>
      </p:sp>
      <p:sp>
        <p:nvSpPr>
          <p:cNvPr id="15" name="anim:2:242"/>
          <p:cNvSpPr txBox="1"/>
          <p:nvPr/>
        </p:nvSpPr>
        <p:spPr>
          <a:xfrm>
            <a:off x="2057400" y="2203704"/>
            <a:ext cx="1097280" cy="274320"/>
          </a:xfrm>
          <a:prstGeom prst="rect">
            <a:avLst/>
          </a:prstGeom>
          <a:noFill/>
          <a:ln/>
        </p:spPr>
        <p:txBody>
          <a:bodyPr wrap="square" lIns="0" tIns="0" rIns="0" bIns="0" rtlCol="0" anchor="ctr"/>
          <a:lstStyle/>
          <a:p>
            <a:pPr algn="ctr" indent="0" marL="0">
              <a:buNone/>
            </a:pPr>
            <a:r>
              <a:rPr lang="en-US" sz="1200" dirty="0">
                <a:solidFill>
                  <a:srgbClr val="1F2937"/>
                </a:solidFill>
                <a:latin typeface="Consolas" pitchFamily="34" charset="0"/>
                <a:ea typeface="Consolas" pitchFamily="34" charset="-122"/>
                <a:cs typeface="Consolas" pitchFamily="34" charset="-120"/>
              </a:rPr>
              <a:t>"TREMEMBE"</a:t>
            </a:r>
            <a:endParaRPr lang="en-US" sz="1200" dirty="0"/>
          </a:p>
        </p:txBody>
      </p:sp>
      <p:sp>
        <p:nvSpPr>
          <p:cNvPr id="16" name="anim:2:243"/>
          <p:cNvSpPr txBox="1"/>
          <p:nvPr/>
        </p:nvSpPr>
        <p:spPr>
          <a:xfrm>
            <a:off x="3291840" y="2002536"/>
            <a:ext cx="1463040" cy="201168"/>
          </a:xfrm>
          <a:prstGeom prst="rect">
            <a:avLst/>
          </a:prstGeom>
          <a:noFill/>
          <a:ln/>
        </p:spPr>
        <p:txBody>
          <a:bodyPr wrap="square" lIns="0" tIns="0" rIns="0" bIns="0" rtlCol="0" anchor="t"/>
          <a:lstStyle/>
          <a:p>
            <a:pPr algn="l" indent="0" marL="0">
              <a:buNone/>
            </a:pPr>
            <a:r>
              <a:rPr lang="en-US" sz="1000" dirty="0">
                <a:solidFill>
                  <a:srgbClr val="566175"/>
                </a:solidFill>
                <a:latin typeface="Calibri" pitchFamily="34" charset="0"/>
                <a:ea typeface="Calibri" pitchFamily="34" charset="-122"/>
                <a:cs typeface="Calibri" pitchFamily="34" charset="-120"/>
              </a:rPr>
              <a:t>IBGE</a:t>
            </a:r>
            <a:endParaRPr lang="en-US" sz="1000" dirty="0"/>
          </a:p>
        </p:txBody>
      </p:sp>
      <p:sp>
        <p:nvSpPr>
          <p:cNvPr id="17" name="anim:2:244"/>
          <p:cNvSpPr/>
          <p:nvPr/>
        </p:nvSpPr>
        <p:spPr>
          <a:xfrm>
            <a:off x="3291840" y="2203704"/>
            <a:ext cx="1097280" cy="274320"/>
          </a:xfrm>
          <a:prstGeom prst="roundRect">
            <a:avLst>
              <a:gd name="adj" fmla="val 20000"/>
            </a:avLst>
          </a:prstGeom>
          <a:solidFill>
            <a:srgbClr val="EEF2F8"/>
          </a:solidFill>
          <a:ln w="6350">
            <a:solidFill>
              <a:srgbClr val="D6E0F0"/>
            </a:solidFill>
            <a:prstDash val="solid"/>
          </a:ln>
        </p:spPr>
      </p:sp>
      <p:sp>
        <p:nvSpPr>
          <p:cNvPr id="18" name="anim:2:245"/>
          <p:cNvSpPr txBox="1"/>
          <p:nvPr/>
        </p:nvSpPr>
        <p:spPr>
          <a:xfrm>
            <a:off x="3291840" y="2203704"/>
            <a:ext cx="1097280" cy="274320"/>
          </a:xfrm>
          <a:prstGeom prst="rect">
            <a:avLst/>
          </a:prstGeom>
          <a:noFill/>
          <a:ln/>
        </p:spPr>
        <p:txBody>
          <a:bodyPr wrap="square" lIns="0" tIns="0" rIns="0" bIns="0" rtlCol="0" anchor="ctr"/>
          <a:lstStyle/>
          <a:p>
            <a:pPr algn="ctr" indent="0" marL="0">
              <a:buNone/>
            </a:pPr>
            <a:r>
              <a:rPr lang="en-US" sz="1200" dirty="0">
                <a:solidFill>
                  <a:srgbClr val="1F2937"/>
                </a:solidFill>
                <a:latin typeface="Consolas" pitchFamily="34" charset="0"/>
                <a:ea typeface="Consolas" pitchFamily="34" charset="-122"/>
                <a:cs typeface="Consolas" pitchFamily="34" charset="-120"/>
              </a:rPr>
              <a:t>"Tremembé"</a:t>
            </a:r>
            <a:endParaRPr lang="en-US" sz="1200" dirty="0"/>
          </a:p>
        </p:txBody>
      </p:sp>
      <p:sp>
        <p:nvSpPr>
          <p:cNvPr id="19" name="anim:2:246"/>
          <p:cNvSpPr txBox="1"/>
          <p:nvPr/>
        </p:nvSpPr>
        <p:spPr>
          <a:xfrm>
            <a:off x="4754880" y="1691640"/>
            <a:ext cx="411480" cy="841248"/>
          </a:xfrm>
          <a:prstGeom prst="rect">
            <a:avLst/>
          </a:prstGeom>
          <a:noFill/>
          <a:ln/>
        </p:spPr>
        <p:txBody>
          <a:bodyPr wrap="square" lIns="0" tIns="0" rIns="0" bIns="0" rtlCol="0" anchor="ctr"/>
          <a:lstStyle/>
          <a:p>
            <a:pPr algn="ctr" indent="0" marL="0">
              <a:buNone/>
            </a:pPr>
            <a:r>
              <a:rPr lang="en-US" sz="2400" dirty="0">
                <a:solidFill>
                  <a:srgbClr val="F2A541"/>
                </a:solidFill>
                <a:latin typeface="Calibri" pitchFamily="34" charset="0"/>
                <a:ea typeface="Calibri" pitchFamily="34" charset="-122"/>
                <a:cs typeface="Calibri" pitchFamily="34" charset="-120"/>
              </a:rPr>
              <a:t>→</a:t>
            </a:r>
            <a:endParaRPr lang="en-US" sz="2400" dirty="0"/>
          </a:p>
        </p:txBody>
      </p:sp>
      <p:sp>
        <p:nvSpPr>
          <p:cNvPr id="20" name="anim:2:247"/>
          <p:cNvSpPr txBox="1"/>
          <p:nvPr/>
        </p:nvSpPr>
        <p:spPr>
          <a:xfrm>
            <a:off x="5257800" y="1691640"/>
            <a:ext cx="2697480" cy="841248"/>
          </a:xfrm>
          <a:prstGeom prst="rect">
            <a:avLst/>
          </a:prstGeom>
          <a:noFill/>
          <a:ln/>
        </p:spPr>
        <p:txBody>
          <a:bodyPr wrap="square" lIns="0" tIns="0" rIns="0" bIns="0" rtlCol="0" anchor="ctr"/>
          <a:lstStyle/>
          <a:p>
            <a:pPr algn="l" indent="0" marL="0">
              <a:buNone/>
            </a:pPr>
            <a:r>
              <a:rPr lang="en-US" sz="1300" dirty="0">
                <a:solidFill>
                  <a:srgbClr val="1F2937"/>
                </a:solidFill>
                <a:latin typeface="Calibri" pitchFamily="34" charset="0"/>
                <a:ea typeface="Calibri" pitchFamily="34" charset="-122"/>
                <a:cs typeface="Calibri" pitchFamily="34" charset="-120"/>
              </a:rPr>
              <a:t>maiúsculas, sem acento, sem espaço sobrando</a:t>
            </a:r>
            <a:endParaRPr lang="en-US" sz="1300" dirty="0"/>
          </a:p>
        </p:txBody>
      </p:sp>
      <p:sp>
        <p:nvSpPr>
          <p:cNvPr id="21" name="anim:2:248"/>
          <p:cNvSpPr txBox="1"/>
          <p:nvPr/>
        </p:nvSpPr>
        <p:spPr>
          <a:xfrm>
            <a:off x="7955280" y="1691640"/>
            <a:ext cx="411480" cy="841248"/>
          </a:xfrm>
          <a:prstGeom prst="rect">
            <a:avLst/>
          </a:prstGeom>
          <a:noFill/>
          <a:ln/>
        </p:spPr>
        <p:txBody>
          <a:bodyPr wrap="square" lIns="0" tIns="0" rIns="0" bIns="0" rtlCol="0" anchor="ctr"/>
          <a:lstStyle/>
          <a:p>
            <a:pPr algn="ctr" indent="0" marL="0">
              <a:buNone/>
            </a:pPr>
            <a:r>
              <a:rPr lang="en-US" sz="2400" dirty="0">
                <a:solidFill>
                  <a:srgbClr val="F2A541"/>
                </a:solidFill>
                <a:latin typeface="Calibri" pitchFamily="34" charset="0"/>
                <a:ea typeface="Calibri" pitchFamily="34" charset="-122"/>
                <a:cs typeface="Calibri" pitchFamily="34" charset="-120"/>
              </a:rPr>
              <a:t>→</a:t>
            </a:r>
            <a:endParaRPr lang="en-US" sz="2400" dirty="0"/>
          </a:p>
        </p:txBody>
      </p:sp>
      <p:sp>
        <p:nvSpPr>
          <p:cNvPr id="22" name="anim:2:249"/>
          <p:cNvSpPr txBox="1"/>
          <p:nvPr/>
        </p:nvSpPr>
        <p:spPr>
          <a:xfrm>
            <a:off x="8412480" y="1691640"/>
            <a:ext cx="3017520" cy="841248"/>
          </a:xfrm>
          <a:prstGeom prst="rect">
            <a:avLst/>
          </a:prstGeom>
          <a:noFill/>
          <a:ln/>
        </p:spPr>
        <p:txBody>
          <a:bodyPr wrap="square" lIns="0" tIns="0" rIns="0" bIns="0" rtlCol="0" anchor="ctr"/>
          <a:lstStyle/>
          <a:p>
            <a:pPr algn="l" indent="0" marL="0">
              <a:buNone/>
            </a:pPr>
            <a:r>
              <a:rPr lang="en-US" sz="1300" dirty="0">
                <a:solidFill>
                  <a:srgbClr val="2E5EAA"/>
                </a:solidFill>
                <a:latin typeface="Calibri" pitchFamily="34" charset="0"/>
                <a:ea typeface="Calibri" pitchFamily="34" charset="-122"/>
                <a:cs typeface="Calibri" pitchFamily="34" charset="-120"/>
              </a:rPr>
              <a:t>TREMEMBE: uma única linha da dimensão Território</a:t>
            </a:r>
            <a:endParaRPr lang="en-US" sz="1300" dirty="0"/>
          </a:p>
        </p:txBody>
      </p:sp>
      <p:sp>
        <p:nvSpPr>
          <p:cNvPr id="23" name="anim:3:250"/>
          <p:cNvSpPr/>
          <p:nvPr/>
        </p:nvSpPr>
        <p:spPr>
          <a:xfrm>
            <a:off x="548640" y="2651760"/>
            <a:ext cx="11064240" cy="841248"/>
          </a:xfrm>
          <a:prstGeom prst="roundRect">
            <a:avLst>
              <a:gd name="adj" fmla="val 13043"/>
            </a:avLst>
          </a:prstGeom>
          <a:solidFill>
            <a:srgbClr val="FFFFFF"/>
          </a:solidFill>
          <a:ln w="9525">
            <a:solidFill>
              <a:srgbClr val="D6E0F0"/>
            </a:solidFill>
            <a:prstDash val="solid"/>
          </a:ln>
        </p:spPr>
      </p:sp>
      <p:sp>
        <p:nvSpPr>
          <p:cNvPr id="24" name="anim:3:251"/>
          <p:cNvSpPr txBox="1"/>
          <p:nvPr/>
        </p:nvSpPr>
        <p:spPr>
          <a:xfrm>
            <a:off x="731520" y="2715768"/>
            <a:ext cx="1828800" cy="256032"/>
          </a:xfrm>
          <a:prstGeom prst="rect">
            <a:avLst/>
          </a:prstGeom>
          <a:noFill/>
          <a:ln/>
        </p:spPr>
        <p:txBody>
          <a:bodyPr wrap="square" lIns="0" tIns="0" rIns="0" bIns="0" rtlCol="0" anchor="t"/>
          <a:lstStyle/>
          <a:p>
            <a:pPr algn="l" indent="0" marL="0">
              <a:buNone/>
            </a:pPr>
            <a:r>
              <a:rPr lang="en-US" sz="1300" b="1" dirty="0">
                <a:solidFill>
                  <a:srgbClr val="1B2A4A"/>
                </a:solidFill>
                <a:latin typeface="Calibri" pitchFamily="34" charset="0"/>
                <a:ea typeface="Calibri" pitchFamily="34" charset="-122"/>
                <a:cs typeface="Calibri" pitchFamily="34" charset="-120"/>
              </a:rPr>
              <a:t>Idade</a:t>
            </a:r>
            <a:endParaRPr lang="en-US" sz="1300" dirty="0"/>
          </a:p>
        </p:txBody>
      </p:sp>
      <p:sp>
        <p:nvSpPr>
          <p:cNvPr id="25" name="anim:3:252"/>
          <p:cNvSpPr txBox="1"/>
          <p:nvPr/>
        </p:nvSpPr>
        <p:spPr>
          <a:xfrm>
            <a:off x="731520" y="2962656"/>
            <a:ext cx="1828800" cy="201168"/>
          </a:xfrm>
          <a:prstGeom prst="rect">
            <a:avLst/>
          </a:prstGeom>
          <a:noFill/>
          <a:ln/>
        </p:spPr>
        <p:txBody>
          <a:bodyPr wrap="square" lIns="0" tIns="0" rIns="0" bIns="0" rtlCol="0" anchor="t"/>
          <a:lstStyle/>
          <a:p>
            <a:pPr algn="l" indent="0" marL="0">
              <a:buNone/>
            </a:pPr>
            <a:r>
              <a:rPr lang="en-US" sz="1000" dirty="0">
                <a:solidFill>
                  <a:srgbClr val="566175"/>
                </a:solidFill>
                <a:latin typeface="Calibri" pitchFamily="34" charset="0"/>
                <a:ea typeface="Calibri" pitchFamily="34" charset="-122"/>
                <a:cs typeface="Calibri" pitchFamily="34" charset="-120"/>
              </a:rPr>
              <a:t>matrícula: idade exata</a:t>
            </a:r>
            <a:endParaRPr lang="en-US" sz="1000" dirty="0"/>
          </a:p>
        </p:txBody>
      </p:sp>
      <p:sp>
        <p:nvSpPr>
          <p:cNvPr id="26" name="anim:3:253"/>
          <p:cNvSpPr/>
          <p:nvPr/>
        </p:nvSpPr>
        <p:spPr>
          <a:xfrm>
            <a:off x="731520" y="3163824"/>
            <a:ext cx="1463040" cy="274320"/>
          </a:xfrm>
          <a:prstGeom prst="roundRect">
            <a:avLst>
              <a:gd name="adj" fmla="val 20000"/>
            </a:avLst>
          </a:prstGeom>
          <a:solidFill>
            <a:srgbClr val="EEF2F8"/>
          </a:solidFill>
          <a:ln w="6350">
            <a:solidFill>
              <a:srgbClr val="D6E0F0"/>
            </a:solidFill>
            <a:prstDash val="solid"/>
          </a:ln>
        </p:spPr>
      </p:sp>
      <p:sp>
        <p:nvSpPr>
          <p:cNvPr id="27" name="anim:3:254"/>
          <p:cNvSpPr txBox="1"/>
          <p:nvPr/>
        </p:nvSpPr>
        <p:spPr>
          <a:xfrm>
            <a:off x="731520" y="3163824"/>
            <a:ext cx="1463040" cy="274320"/>
          </a:xfrm>
          <a:prstGeom prst="rect">
            <a:avLst/>
          </a:prstGeom>
          <a:noFill/>
          <a:ln/>
        </p:spPr>
        <p:txBody>
          <a:bodyPr wrap="square" lIns="0" tIns="0" rIns="0" bIns="0" rtlCol="0" anchor="ctr"/>
          <a:lstStyle/>
          <a:p>
            <a:pPr algn="ctr" indent="0" marL="0">
              <a:buNone/>
            </a:pPr>
            <a:r>
              <a:rPr lang="en-US" sz="1200" dirty="0">
                <a:solidFill>
                  <a:srgbClr val="1F2937"/>
                </a:solidFill>
                <a:latin typeface="Consolas" pitchFamily="34" charset="0"/>
                <a:ea typeface="Consolas" pitchFamily="34" charset="-122"/>
                <a:cs typeface="Consolas" pitchFamily="34" charset="-120"/>
              </a:rPr>
              <a:t>2 anos</a:t>
            </a:r>
            <a:endParaRPr lang="en-US" sz="1200" dirty="0"/>
          </a:p>
        </p:txBody>
      </p:sp>
      <p:sp>
        <p:nvSpPr>
          <p:cNvPr id="28" name="anim:3:255"/>
          <p:cNvSpPr txBox="1"/>
          <p:nvPr/>
        </p:nvSpPr>
        <p:spPr>
          <a:xfrm>
            <a:off x="2331720" y="2962656"/>
            <a:ext cx="1828800" cy="201168"/>
          </a:xfrm>
          <a:prstGeom prst="rect">
            <a:avLst/>
          </a:prstGeom>
          <a:noFill/>
          <a:ln/>
        </p:spPr>
        <p:txBody>
          <a:bodyPr wrap="square" lIns="0" tIns="0" rIns="0" bIns="0" rtlCol="0" anchor="t"/>
          <a:lstStyle/>
          <a:p>
            <a:pPr algn="l" indent="0" marL="0">
              <a:buNone/>
            </a:pPr>
            <a:r>
              <a:rPr lang="en-US" sz="1000" dirty="0">
                <a:solidFill>
                  <a:srgbClr val="566175"/>
                </a:solidFill>
                <a:latin typeface="Calibri" pitchFamily="34" charset="0"/>
                <a:ea typeface="Calibri" pitchFamily="34" charset="-122"/>
                <a:cs typeface="Calibri" pitchFamily="34" charset="-120"/>
              </a:rPr>
              <a:t>IBGE: só o grupo</a:t>
            </a:r>
            <a:endParaRPr lang="en-US" sz="1000" dirty="0"/>
          </a:p>
        </p:txBody>
      </p:sp>
      <p:sp>
        <p:nvSpPr>
          <p:cNvPr id="29" name="anim:3:256"/>
          <p:cNvSpPr/>
          <p:nvPr/>
        </p:nvSpPr>
        <p:spPr>
          <a:xfrm>
            <a:off x="2331720" y="3163824"/>
            <a:ext cx="1463040" cy="274320"/>
          </a:xfrm>
          <a:prstGeom prst="roundRect">
            <a:avLst>
              <a:gd name="adj" fmla="val 20000"/>
            </a:avLst>
          </a:prstGeom>
          <a:solidFill>
            <a:srgbClr val="EEF2F8"/>
          </a:solidFill>
          <a:ln w="6350">
            <a:solidFill>
              <a:srgbClr val="D6E0F0"/>
            </a:solidFill>
            <a:prstDash val="solid"/>
          </a:ln>
        </p:spPr>
      </p:sp>
      <p:sp>
        <p:nvSpPr>
          <p:cNvPr id="30" name="anim:3:257"/>
          <p:cNvSpPr txBox="1"/>
          <p:nvPr/>
        </p:nvSpPr>
        <p:spPr>
          <a:xfrm>
            <a:off x="2331720" y="3163824"/>
            <a:ext cx="1463040" cy="274320"/>
          </a:xfrm>
          <a:prstGeom prst="rect">
            <a:avLst/>
          </a:prstGeom>
          <a:noFill/>
          <a:ln/>
        </p:spPr>
        <p:txBody>
          <a:bodyPr wrap="square" lIns="0" tIns="0" rIns="0" bIns="0" rtlCol="0" anchor="ctr"/>
          <a:lstStyle/>
          <a:p>
            <a:pPr algn="ctr" indent="0" marL="0">
              <a:buNone/>
            </a:pPr>
            <a:r>
              <a:rPr lang="en-US" sz="1200" dirty="0">
                <a:solidFill>
                  <a:srgbClr val="1F2937"/>
                </a:solidFill>
                <a:latin typeface="Consolas" pitchFamily="34" charset="0"/>
                <a:ea typeface="Consolas" pitchFamily="34" charset="-122"/>
                <a:cs typeface="Consolas" pitchFamily="34" charset="-120"/>
              </a:rPr>
              <a:t>0 a 4 anos</a:t>
            </a:r>
            <a:endParaRPr lang="en-US" sz="1200" dirty="0"/>
          </a:p>
        </p:txBody>
      </p:sp>
      <p:sp>
        <p:nvSpPr>
          <p:cNvPr id="31" name="anim:3:258"/>
          <p:cNvSpPr txBox="1"/>
          <p:nvPr/>
        </p:nvSpPr>
        <p:spPr>
          <a:xfrm>
            <a:off x="4754880" y="2651760"/>
            <a:ext cx="411480" cy="841248"/>
          </a:xfrm>
          <a:prstGeom prst="rect">
            <a:avLst/>
          </a:prstGeom>
          <a:noFill/>
          <a:ln/>
        </p:spPr>
        <p:txBody>
          <a:bodyPr wrap="square" lIns="0" tIns="0" rIns="0" bIns="0" rtlCol="0" anchor="ctr"/>
          <a:lstStyle/>
          <a:p>
            <a:pPr algn="ctr" indent="0" marL="0">
              <a:buNone/>
            </a:pPr>
            <a:r>
              <a:rPr lang="en-US" sz="2400" dirty="0">
                <a:solidFill>
                  <a:srgbClr val="F2A541"/>
                </a:solidFill>
                <a:latin typeface="Calibri" pitchFamily="34" charset="0"/>
                <a:ea typeface="Calibri" pitchFamily="34" charset="-122"/>
                <a:cs typeface="Calibri" pitchFamily="34" charset="-120"/>
              </a:rPr>
              <a:t>→</a:t>
            </a:r>
            <a:endParaRPr lang="en-US" sz="2400" dirty="0"/>
          </a:p>
        </p:txBody>
      </p:sp>
      <p:sp>
        <p:nvSpPr>
          <p:cNvPr id="32" name="anim:3:259"/>
          <p:cNvSpPr txBox="1"/>
          <p:nvPr/>
        </p:nvSpPr>
        <p:spPr>
          <a:xfrm>
            <a:off x="5257800" y="2651760"/>
            <a:ext cx="2697480" cy="841248"/>
          </a:xfrm>
          <a:prstGeom prst="rect">
            <a:avLst/>
          </a:prstGeom>
          <a:noFill/>
          <a:ln/>
        </p:spPr>
        <p:txBody>
          <a:bodyPr wrap="square" lIns="0" tIns="0" rIns="0" bIns="0" rtlCol="0" anchor="ctr"/>
          <a:lstStyle/>
          <a:p>
            <a:pPr algn="l" indent="0" marL="0">
              <a:buNone/>
            </a:pPr>
            <a:r>
              <a:rPr lang="en-US" sz="1300" dirty="0">
                <a:solidFill>
                  <a:srgbClr val="1F2937"/>
                </a:solidFill>
                <a:latin typeface="Calibri" pitchFamily="34" charset="0"/>
                <a:ea typeface="Calibri" pitchFamily="34" charset="-122"/>
                <a:cs typeface="Calibri" pitchFamily="34" charset="-120"/>
              </a:rPr>
              <a:t>cada idade ganha a faixa do IBGE em que cai</a:t>
            </a:r>
            <a:endParaRPr lang="en-US" sz="1300" dirty="0"/>
          </a:p>
        </p:txBody>
      </p:sp>
      <p:sp>
        <p:nvSpPr>
          <p:cNvPr id="33" name="anim:3:260"/>
          <p:cNvSpPr txBox="1"/>
          <p:nvPr/>
        </p:nvSpPr>
        <p:spPr>
          <a:xfrm>
            <a:off x="7955280" y="2651760"/>
            <a:ext cx="411480" cy="841248"/>
          </a:xfrm>
          <a:prstGeom prst="rect">
            <a:avLst/>
          </a:prstGeom>
          <a:noFill/>
          <a:ln/>
        </p:spPr>
        <p:txBody>
          <a:bodyPr wrap="square" lIns="0" tIns="0" rIns="0" bIns="0" rtlCol="0" anchor="ctr"/>
          <a:lstStyle/>
          <a:p>
            <a:pPr algn="ctr" indent="0" marL="0">
              <a:buNone/>
            </a:pPr>
            <a:r>
              <a:rPr lang="en-US" sz="2400" dirty="0">
                <a:solidFill>
                  <a:srgbClr val="F2A541"/>
                </a:solidFill>
                <a:latin typeface="Calibri" pitchFamily="34" charset="0"/>
                <a:ea typeface="Calibri" pitchFamily="34" charset="-122"/>
                <a:cs typeface="Calibri" pitchFamily="34" charset="-120"/>
              </a:rPr>
              <a:t>→</a:t>
            </a:r>
            <a:endParaRPr lang="en-US" sz="2400" dirty="0"/>
          </a:p>
        </p:txBody>
      </p:sp>
      <p:sp>
        <p:nvSpPr>
          <p:cNvPr id="34" name="anim:3:261"/>
          <p:cNvSpPr txBox="1"/>
          <p:nvPr/>
        </p:nvSpPr>
        <p:spPr>
          <a:xfrm>
            <a:off x="8412480" y="2651760"/>
            <a:ext cx="3017520" cy="841248"/>
          </a:xfrm>
          <a:prstGeom prst="rect">
            <a:avLst/>
          </a:prstGeom>
          <a:noFill/>
          <a:ln/>
        </p:spPr>
        <p:txBody>
          <a:bodyPr wrap="square" lIns="0" tIns="0" rIns="0" bIns="0" rtlCol="0" anchor="ctr"/>
          <a:lstStyle/>
          <a:p>
            <a:pPr algn="l" indent="0" marL="0">
              <a:buNone/>
            </a:pPr>
            <a:r>
              <a:rPr lang="en-US" sz="1300" dirty="0">
                <a:solidFill>
                  <a:srgbClr val="2E5EAA"/>
                </a:solidFill>
                <a:latin typeface="Calibri" pitchFamily="34" charset="0"/>
                <a:ea typeface="Calibri" pitchFamily="34" charset="-122"/>
                <a:cs typeface="Calibri" pitchFamily="34" charset="-120"/>
              </a:rPr>
              <a:t>matrícula e população comparadas na mesma faixa, 0 a 4 anos</a:t>
            </a:r>
            <a:endParaRPr lang="en-US" sz="1300" dirty="0"/>
          </a:p>
        </p:txBody>
      </p:sp>
      <p:sp>
        <p:nvSpPr>
          <p:cNvPr id="35" name="anim:4:262"/>
          <p:cNvSpPr/>
          <p:nvPr/>
        </p:nvSpPr>
        <p:spPr>
          <a:xfrm>
            <a:off x="548640" y="3611880"/>
            <a:ext cx="11064240" cy="841248"/>
          </a:xfrm>
          <a:prstGeom prst="roundRect">
            <a:avLst>
              <a:gd name="adj" fmla="val 13043"/>
            </a:avLst>
          </a:prstGeom>
          <a:solidFill>
            <a:srgbClr val="FFFFFF"/>
          </a:solidFill>
          <a:ln w="9525">
            <a:solidFill>
              <a:srgbClr val="D6E0F0"/>
            </a:solidFill>
            <a:prstDash val="solid"/>
          </a:ln>
        </p:spPr>
      </p:sp>
      <p:sp>
        <p:nvSpPr>
          <p:cNvPr id="36" name="anim:4:263"/>
          <p:cNvSpPr txBox="1"/>
          <p:nvPr/>
        </p:nvSpPr>
        <p:spPr>
          <a:xfrm>
            <a:off x="731520" y="3675888"/>
            <a:ext cx="1828800" cy="256032"/>
          </a:xfrm>
          <a:prstGeom prst="rect">
            <a:avLst/>
          </a:prstGeom>
          <a:noFill/>
          <a:ln/>
        </p:spPr>
        <p:txBody>
          <a:bodyPr wrap="square" lIns="0" tIns="0" rIns="0" bIns="0" rtlCol="0" anchor="t"/>
          <a:lstStyle/>
          <a:p>
            <a:pPr algn="l" indent="0" marL="0">
              <a:buNone/>
            </a:pPr>
            <a:r>
              <a:rPr lang="en-US" sz="1300" b="1" dirty="0">
                <a:solidFill>
                  <a:srgbClr val="1B2A4A"/>
                </a:solidFill>
                <a:latin typeface="Calibri" pitchFamily="34" charset="0"/>
                <a:ea typeface="Calibri" pitchFamily="34" charset="-122"/>
                <a:cs typeface="Calibri" pitchFamily="34" charset="-120"/>
              </a:rPr>
              <a:t>Setor</a:t>
            </a:r>
            <a:endParaRPr lang="en-US" sz="1300" dirty="0"/>
          </a:p>
        </p:txBody>
      </p:sp>
      <p:sp>
        <p:nvSpPr>
          <p:cNvPr id="37" name="anim:4:264"/>
          <p:cNvSpPr txBox="1"/>
          <p:nvPr/>
        </p:nvSpPr>
        <p:spPr>
          <a:xfrm>
            <a:off x="731520" y="3922776"/>
            <a:ext cx="2194560" cy="201168"/>
          </a:xfrm>
          <a:prstGeom prst="rect">
            <a:avLst/>
          </a:prstGeom>
          <a:noFill/>
          <a:ln/>
        </p:spPr>
        <p:txBody>
          <a:bodyPr wrap="square" lIns="0" tIns="0" rIns="0" bIns="0" rtlCol="0" anchor="t"/>
          <a:lstStyle/>
          <a:p>
            <a:pPr algn="l" indent="0" marL="0">
              <a:buNone/>
            </a:pPr>
            <a:r>
              <a:rPr lang="en-US" sz="1000" dirty="0">
                <a:solidFill>
                  <a:srgbClr val="566175"/>
                </a:solidFill>
                <a:latin typeface="Calibri" pitchFamily="34" charset="0"/>
                <a:ea typeface="Calibri" pitchFamily="34" charset="-122"/>
                <a:cs typeface="Calibri" pitchFamily="34" charset="-120"/>
              </a:rPr>
              <a:t>SME: administrativo</a:t>
            </a:r>
            <a:endParaRPr lang="en-US" sz="1000" dirty="0"/>
          </a:p>
        </p:txBody>
      </p:sp>
      <p:sp>
        <p:nvSpPr>
          <p:cNvPr id="38" name="anim:4:265"/>
          <p:cNvSpPr/>
          <p:nvPr/>
        </p:nvSpPr>
        <p:spPr>
          <a:xfrm>
            <a:off x="731520" y="4123944"/>
            <a:ext cx="1828800" cy="274320"/>
          </a:xfrm>
          <a:prstGeom prst="roundRect">
            <a:avLst>
              <a:gd name="adj" fmla="val 20000"/>
            </a:avLst>
          </a:prstGeom>
          <a:solidFill>
            <a:srgbClr val="EEF2F8"/>
          </a:solidFill>
          <a:ln w="6350">
            <a:solidFill>
              <a:srgbClr val="D6E0F0"/>
            </a:solidFill>
            <a:prstDash val="solid"/>
          </a:ln>
        </p:spPr>
      </p:sp>
      <p:sp>
        <p:nvSpPr>
          <p:cNvPr id="39" name="anim:4:266"/>
          <p:cNvSpPr txBox="1"/>
          <p:nvPr/>
        </p:nvSpPr>
        <p:spPr>
          <a:xfrm>
            <a:off x="731520" y="4123944"/>
            <a:ext cx="1828800" cy="274320"/>
          </a:xfrm>
          <a:prstGeom prst="rect">
            <a:avLst/>
          </a:prstGeom>
          <a:noFill/>
          <a:ln/>
        </p:spPr>
        <p:txBody>
          <a:bodyPr wrap="square" lIns="0" tIns="0" rIns="0" bIns="0" rtlCol="0" anchor="ctr"/>
          <a:lstStyle/>
          <a:p>
            <a:pPr algn="ctr" indent="0" marL="0">
              <a:buNone/>
            </a:pPr>
            <a:r>
              <a:rPr lang="en-US" sz="1200" dirty="0">
                <a:solidFill>
                  <a:srgbClr val="1F2937"/>
                </a:solidFill>
                <a:latin typeface="Consolas" pitchFamily="34" charset="0"/>
                <a:ea typeface="Consolas" pitchFamily="34" charset="-122"/>
                <a:cs typeface="Consolas" pitchFamily="34" charset="-120"/>
              </a:rPr>
              <a:t>CD_SETOR, 4 dígitos</a:t>
            </a:r>
            <a:endParaRPr lang="en-US" sz="1200" dirty="0"/>
          </a:p>
        </p:txBody>
      </p:sp>
      <p:sp>
        <p:nvSpPr>
          <p:cNvPr id="40" name="anim:4:267"/>
          <p:cNvSpPr txBox="1"/>
          <p:nvPr/>
        </p:nvSpPr>
        <p:spPr>
          <a:xfrm>
            <a:off x="2697480" y="3922776"/>
            <a:ext cx="2286000" cy="201168"/>
          </a:xfrm>
          <a:prstGeom prst="rect">
            <a:avLst/>
          </a:prstGeom>
          <a:noFill/>
          <a:ln/>
        </p:spPr>
        <p:txBody>
          <a:bodyPr wrap="square" lIns="0" tIns="0" rIns="0" bIns="0" rtlCol="0" anchor="t"/>
          <a:lstStyle/>
          <a:p>
            <a:pPr algn="l" indent="0" marL="0">
              <a:buNone/>
            </a:pPr>
            <a:r>
              <a:rPr lang="en-US" sz="1000" dirty="0">
                <a:solidFill>
                  <a:srgbClr val="566175"/>
                </a:solidFill>
                <a:latin typeface="Calibri" pitchFamily="34" charset="0"/>
                <a:ea typeface="Calibri" pitchFamily="34" charset="-122"/>
                <a:cs typeface="Calibri" pitchFamily="34" charset="-120"/>
              </a:rPr>
              <a:t>IBGE: censitário</a:t>
            </a:r>
            <a:endParaRPr lang="en-US" sz="1000" dirty="0"/>
          </a:p>
        </p:txBody>
      </p:sp>
      <p:sp>
        <p:nvSpPr>
          <p:cNvPr id="41" name="anim:4:268"/>
          <p:cNvSpPr/>
          <p:nvPr/>
        </p:nvSpPr>
        <p:spPr>
          <a:xfrm>
            <a:off x="2697480" y="4123944"/>
            <a:ext cx="1920240" cy="274320"/>
          </a:xfrm>
          <a:prstGeom prst="roundRect">
            <a:avLst>
              <a:gd name="adj" fmla="val 20000"/>
            </a:avLst>
          </a:prstGeom>
          <a:solidFill>
            <a:srgbClr val="EEF2F8"/>
          </a:solidFill>
          <a:ln w="6350">
            <a:solidFill>
              <a:srgbClr val="D6E0F0"/>
            </a:solidFill>
            <a:prstDash val="solid"/>
          </a:ln>
        </p:spPr>
      </p:sp>
      <p:sp>
        <p:nvSpPr>
          <p:cNvPr id="42" name="anim:4:269"/>
          <p:cNvSpPr txBox="1"/>
          <p:nvPr/>
        </p:nvSpPr>
        <p:spPr>
          <a:xfrm>
            <a:off x="2697480" y="4123944"/>
            <a:ext cx="1920240" cy="274320"/>
          </a:xfrm>
          <a:prstGeom prst="rect">
            <a:avLst/>
          </a:prstGeom>
          <a:noFill/>
          <a:ln/>
        </p:spPr>
        <p:txBody>
          <a:bodyPr wrap="square" lIns="0" tIns="0" rIns="0" bIns="0" rtlCol="0" anchor="ctr"/>
          <a:lstStyle/>
          <a:p>
            <a:pPr algn="ctr" indent="0" marL="0">
              <a:buNone/>
            </a:pPr>
            <a:r>
              <a:rPr lang="en-US" sz="1200" dirty="0">
                <a:solidFill>
                  <a:srgbClr val="1F2937"/>
                </a:solidFill>
                <a:latin typeface="Consolas" pitchFamily="34" charset="0"/>
                <a:ea typeface="Consolas" pitchFamily="34" charset="-122"/>
                <a:cs typeface="Consolas" pitchFamily="34" charset="-120"/>
              </a:rPr>
              <a:t>CD_SETOR, 15 dígitos</a:t>
            </a:r>
            <a:endParaRPr lang="en-US" sz="1200" dirty="0"/>
          </a:p>
        </p:txBody>
      </p:sp>
      <p:sp>
        <p:nvSpPr>
          <p:cNvPr id="43" name="anim:4:270"/>
          <p:cNvSpPr txBox="1"/>
          <p:nvPr/>
        </p:nvSpPr>
        <p:spPr>
          <a:xfrm>
            <a:off x="4754880" y="3611880"/>
            <a:ext cx="411480" cy="841248"/>
          </a:xfrm>
          <a:prstGeom prst="rect">
            <a:avLst/>
          </a:prstGeom>
          <a:noFill/>
          <a:ln/>
        </p:spPr>
        <p:txBody>
          <a:bodyPr wrap="square" lIns="0" tIns="0" rIns="0" bIns="0" rtlCol="0" anchor="ctr"/>
          <a:lstStyle/>
          <a:p>
            <a:pPr algn="ctr" indent="0" marL="0">
              <a:buNone/>
            </a:pPr>
            <a:r>
              <a:rPr lang="en-US" sz="2400" dirty="0">
                <a:solidFill>
                  <a:srgbClr val="F2A541"/>
                </a:solidFill>
                <a:latin typeface="Calibri" pitchFamily="34" charset="0"/>
                <a:ea typeface="Calibri" pitchFamily="34" charset="-122"/>
                <a:cs typeface="Calibri" pitchFamily="34" charset="-120"/>
              </a:rPr>
              <a:t>→</a:t>
            </a:r>
            <a:endParaRPr lang="en-US" sz="2400" dirty="0"/>
          </a:p>
        </p:txBody>
      </p:sp>
      <p:sp>
        <p:nvSpPr>
          <p:cNvPr id="44" name="anim:4:271"/>
          <p:cNvSpPr txBox="1"/>
          <p:nvPr/>
        </p:nvSpPr>
        <p:spPr>
          <a:xfrm>
            <a:off x="5257800" y="3611880"/>
            <a:ext cx="2697480" cy="841248"/>
          </a:xfrm>
          <a:prstGeom prst="rect">
            <a:avLst/>
          </a:prstGeom>
          <a:noFill/>
          <a:ln/>
        </p:spPr>
        <p:txBody>
          <a:bodyPr wrap="square" lIns="0" tIns="0" rIns="0" bIns="0" rtlCol="0" anchor="ctr"/>
          <a:lstStyle/>
          <a:p>
            <a:pPr algn="l" indent="0" marL="0">
              <a:buNone/>
            </a:pPr>
            <a:r>
              <a:rPr lang="en-US" sz="1300" dirty="0">
                <a:solidFill>
                  <a:srgbClr val="1F2937"/>
                </a:solidFill>
                <a:latin typeface="Calibri" pitchFamily="34" charset="0"/>
                <a:ea typeface="Calibri" pitchFamily="34" charset="-122"/>
                <a:cs typeface="Calibri" pitchFamily="34" charset="-120"/>
              </a:rPr>
              <a:t>mesmo nome, coisas diferentes: um homônimo</a:t>
            </a:r>
            <a:endParaRPr lang="en-US" sz="1300" dirty="0"/>
          </a:p>
        </p:txBody>
      </p:sp>
      <p:sp>
        <p:nvSpPr>
          <p:cNvPr id="45" name="anim:4:272"/>
          <p:cNvSpPr txBox="1"/>
          <p:nvPr/>
        </p:nvSpPr>
        <p:spPr>
          <a:xfrm>
            <a:off x="7955280" y="3611880"/>
            <a:ext cx="411480" cy="841248"/>
          </a:xfrm>
          <a:prstGeom prst="rect">
            <a:avLst/>
          </a:prstGeom>
          <a:noFill/>
          <a:ln/>
        </p:spPr>
        <p:txBody>
          <a:bodyPr wrap="square" lIns="0" tIns="0" rIns="0" bIns="0" rtlCol="0" anchor="ctr"/>
          <a:lstStyle/>
          <a:p>
            <a:pPr algn="ctr" indent="0" marL="0">
              <a:buNone/>
            </a:pPr>
            <a:r>
              <a:rPr lang="en-US" sz="2400" dirty="0">
                <a:solidFill>
                  <a:srgbClr val="F2A541"/>
                </a:solidFill>
                <a:latin typeface="Calibri" pitchFamily="34" charset="0"/>
                <a:ea typeface="Calibri" pitchFamily="34" charset="-122"/>
                <a:cs typeface="Calibri" pitchFamily="34" charset="-120"/>
              </a:rPr>
              <a:t>→</a:t>
            </a:r>
            <a:endParaRPr lang="en-US" sz="2400" dirty="0"/>
          </a:p>
        </p:txBody>
      </p:sp>
      <p:sp>
        <p:nvSpPr>
          <p:cNvPr id="46" name="anim:4:273"/>
          <p:cNvSpPr txBox="1"/>
          <p:nvPr/>
        </p:nvSpPr>
        <p:spPr>
          <a:xfrm>
            <a:off x="8412480" y="3611880"/>
            <a:ext cx="3017520" cy="841248"/>
          </a:xfrm>
          <a:prstGeom prst="rect">
            <a:avLst/>
          </a:prstGeom>
          <a:noFill/>
          <a:ln/>
        </p:spPr>
        <p:txBody>
          <a:bodyPr wrap="square" lIns="0" tIns="0" rIns="0" bIns="0" rtlCol="0" anchor="ctr"/>
          <a:lstStyle/>
          <a:p>
            <a:pPr algn="l" indent="0" marL="0">
              <a:buNone/>
            </a:pPr>
            <a:r>
              <a:rPr lang="en-US" sz="1300" dirty="0">
                <a:solidFill>
                  <a:srgbClr val="2E5EAA"/>
                </a:solidFill>
                <a:latin typeface="Calibri" pitchFamily="34" charset="0"/>
                <a:ea typeface="Calibri" pitchFamily="34" charset="-122"/>
                <a:cs typeface="Calibri" pitchFamily="34" charset="-120"/>
              </a:rPr>
              <a:t>dois atributos com nomes distintos, nunca cruzados</a:t>
            </a:r>
            <a:endParaRPr lang="en-US" sz="1300" dirty="0"/>
          </a:p>
        </p:txBody>
      </p:sp>
      <p:sp>
        <p:nvSpPr>
          <p:cNvPr id="47" name="anim:5:274"/>
          <p:cNvSpPr/>
          <p:nvPr/>
        </p:nvSpPr>
        <p:spPr>
          <a:xfrm>
            <a:off x="548640" y="4663440"/>
            <a:ext cx="11064240" cy="1280160"/>
          </a:xfrm>
          <a:prstGeom prst="roundRect">
            <a:avLst>
              <a:gd name="adj" fmla="val 8571"/>
            </a:avLst>
          </a:prstGeom>
          <a:solidFill>
            <a:srgbClr val="EEF2F8"/>
          </a:solidFill>
          <a:ln w="9525">
            <a:solidFill>
              <a:srgbClr val="EEF2F8"/>
            </a:solidFill>
            <a:prstDash val="solid"/>
          </a:ln>
        </p:spPr>
      </p:sp>
      <p:sp>
        <p:nvSpPr>
          <p:cNvPr id="48" name="anim:5:275"/>
          <p:cNvSpPr txBox="1"/>
          <p:nvPr/>
        </p:nvSpPr>
        <p:spPr>
          <a:xfrm>
            <a:off x="822960" y="4754880"/>
            <a:ext cx="2011680" cy="1097280"/>
          </a:xfrm>
          <a:prstGeom prst="rect">
            <a:avLst/>
          </a:prstGeom>
          <a:noFill/>
          <a:ln/>
        </p:spPr>
        <p:txBody>
          <a:bodyPr wrap="square" lIns="0" tIns="0" rIns="0" bIns="0" rtlCol="0" anchor="ctr"/>
          <a:lstStyle/>
          <a:p>
            <a:pPr algn="l" indent="0" marL="0">
              <a:buNone/>
            </a:pPr>
            <a:r>
              <a:rPr lang="en-US" sz="4400" b="1" dirty="0">
                <a:solidFill>
                  <a:srgbClr val="2E5EAA"/>
                </a:solidFill>
                <a:latin typeface="Calibri" pitchFamily="34" charset="0"/>
                <a:ea typeface="Calibri" pitchFamily="34" charset="-122"/>
                <a:cs typeface="Calibri" pitchFamily="34" charset="-120"/>
              </a:rPr>
              <a:t>&lt; 1%</a:t>
            </a:r>
            <a:endParaRPr lang="en-US" sz="4400" dirty="0"/>
          </a:p>
        </p:txBody>
      </p:sp>
      <p:sp>
        <p:nvSpPr>
          <p:cNvPr id="49" name="anim:5:276"/>
          <p:cNvSpPr txBox="1"/>
          <p:nvPr/>
        </p:nvSpPr>
        <p:spPr>
          <a:xfrm>
            <a:off x="2926080" y="4754880"/>
            <a:ext cx="8503920" cy="1097280"/>
          </a:xfrm>
          <a:prstGeom prst="rect">
            <a:avLst/>
          </a:prstGeom>
          <a:noFill/>
          <a:ln/>
        </p:spPr>
        <p:txBody>
          <a:bodyPr wrap="square" lIns="0" tIns="0" rIns="0" bIns="0" rtlCol="0" anchor="ctr"/>
          <a:lstStyle/>
          <a:p>
            <a:pPr indent="0" marL="0">
              <a:buNone/>
            </a:pPr>
            <a:r>
              <a:rPr lang="en-US" sz="1500" b="1" dirty="0">
                <a:solidFill>
                  <a:srgbClr val="1B2A4A"/>
                </a:solidFill>
                <a:latin typeface="Calibri" pitchFamily="34" charset="0"/>
                <a:ea typeface="Calibri" pitchFamily="34" charset="-122"/>
                <a:cs typeface="Calibri" pitchFamily="34" charset="-120"/>
              </a:rPr>
              <a:t>Como sabemos que deu certo? </a:t>
            </a:r>
            <a:pPr indent="0" marL="0">
              <a:buNone/>
            </a:pPr>
            <a:r>
              <a:rPr lang="en-US" sz="1500" dirty="0">
                <a:solidFill>
                  <a:srgbClr val="1F2937"/>
                </a:solidFill>
                <a:latin typeface="Calibri" pitchFamily="34" charset="0"/>
                <a:ea typeface="Calibri" pitchFamily="34" charset="-122"/>
                <a:cs typeface="Calibri" pitchFamily="34" charset="-120"/>
              </a:rPr>
              <a:t>Contamos a mesma coisa nas duas bases da SME: as matrículas de creche ativas em junho de 2015 foram 240.905 no microdado e 240.840 na planilha da fila. De 2015 a 2020 a diferença fica abaixo de 1%.</a:t>
            </a:r>
            <a:endParaRPr lang="en-US" sz="15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13</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childTnLst>
                          </p:cTn>
                        </p:par>
                        <p:par>
                          <p:cTn id="12" fill="hold">
                            <p:stCondLst>
                              <p:cond delay="0"/>
                            </p:stCondLst>
                            <p:childTnLst>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childTnLst>
                          </p:cTn>
                        </p:par>
                        <p:par>
                          <p:cTn id="16" fill="hold">
                            <p:stCondLst>
                              <p:cond delay="250"/>
                            </p:stCondLst>
                            <p:childTnLst>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00"/>
                                        <p:tgtEl>
                                          <p:spTgt spid="8"/>
                                        </p:tgtEl>
                                      </p:cBhvr>
                                    </p:animEffect>
                                  </p:childTnLst>
                                </p:cTn>
                              </p:par>
                            </p:childTnLst>
                          </p:cTn>
                        </p:par>
                        <p:par>
                          <p:cTn id="20" fill="hold">
                            <p:stCondLst>
                              <p:cond delay="250"/>
                            </p:stCondLst>
                            <p:childTnLst>
                              <p:par>
                                <p:cTn id="21" presetID="10" presetClass="entr" presetSubtype="0"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400"/>
                                        <p:tgtEl>
                                          <p:spTgt spid="9"/>
                                        </p:tgtEl>
                                      </p:cBhvr>
                                    </p:animEffect>
                                  </p:childTnLst>
                                </p:cTn>
                              </p:par>
                            </p:childTnLst>
                          </p:cTn>
                        </p:par>
                        <p:par>
                          <p:cTn id="24" fill="hold">
                            <p:stCondLst>
                              <p:cond delay="250"/>
                            </p:stCondLst>
                            <p:childTnLst>
                              <p:par>
                                <p:cTn id="25" presetID="10"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400"/>
                                        <p:tgtEl>
                                          <p:spTgt spid="10"/>
                                        </p:tgtEl>
                                      </p:cBhvr>
                                    </p:animEffect>
                                  </p:childTnLst>
                                </p:cTn>
                              </p:par>
                            </p:childTnLst>
                          </p:cTn>
                        </p:par>
                        <p:par>
                          <p:cTn id="28" fill="hold">
                            <p:stCondLst>
                              <p:cond delay="250"/>
                            </p:stCondLst>
                            <p:childTnLst>
                              <p:par>
                                <p:cTn id="29" presetID="10" presetClass="entr" presetSubtype="0"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00"/>
                                        <p:tgtEl>
                                          <p:spTgt spid="11"/>
                                        </p:tgtEl>
                                      </p:cBhvr>
                                    </p:animEffect>
                                  </p:childTnLst>
                                </p:cTn>
                              </p:par>
                            </p:childTnLst>
                          </p:cTn>
                        </p:par>
                        <p:par>
                          <p:cTn id="32" fill="hold">
                            <p:stCondLst>
                              <p:cond delay="250"/>
                            </p:stCondLst>
                            <p:childTnLst>
                              <p:par>
                                <p:cTn id="33" presetID="10" presetClass="entr" presetSubtype="0" fill="hold" grpId="0" nodeType="with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400"/>
                                        <p:tgtEl>
                                          <p:spTgt spid="12"/>
                                        </p:tgtEl>
                                      </p:cBhvr>
                                    </p:animEffect>
                                  </p:childTnLst>
                                </p:cTn>
                              </p:par>
                            </p:childTnLst>
                          </p:cTn>
                        </p:par>
                        <p:par>
                          <p:cTn id="36" fill="hold">
                            <p:stCondLst>
                              <p:cond delay="250"/>
                            </p:stCondLst>
                            <p:childTnLst>
                              <p:par>
                                <p:cTn id="37" presetID="10" presetClass="entr" presetSubtype="0" fill="hold" grpId="0" nodeType="withEffect">
                                  <p:stCondLst>
                                    <p:cond delay="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400"/>
                                        <p:tgtEl>
                                          <p:spTgt spid="13"/>
                                        </p:tgtEl>
                                      </p:cBhvr>
                                    </p:animEffect>
                                  </p:childTnLst>
                                </p:cTn>
                              </p:par>
                            </p:childTnLst>
                          </p:cTn>
                        </p:par>
                        <p:par>
                          <p:cTn id="40" fill="hold">
                            <p:stCondLst>
                              <p:cond delay="250"/>
                            </p:stCondLst>
                            <p:childTnLst>
                              <p:par>
                                <p:cTn id="41" presetID="10" presetClass="entr" presetSubtype="0" fill="hold" grpId="0" nodeType="withEffect">
                                  <p:stCondLst>
                                    <p:cond delay="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400"/>
                                        <p:tgtEl>
                                          <p:spTgt spid="14"/>
                                        </p:tgtEl>
                                      </p:cBhvr>
                                    </p:animEffect>
                                  </p:childTnLst>
                                </p:cTn>
                              </p:par>
                            </p:childTnLst>
                          </p:cTn>
                        </p:par>
                        <p:par>
                          <p:cTn id="44" fill="hold">
                            <p:stCondLst>
                              <p:cond delay="250"/>
                            </p:stCondLst>
                            <p:childTnLst>
                              <p:par>
                                <p:cTn id="45" presetID="10" presetClass="entr" presetSubtype="0" fill="hold" grpId="0" nodeType="withEffect">
                                  <p:stCondLst>
                                    <p:cond delay="0"/>
                                  </p:stCondLst>
                                  <p:childTnLst>
                                    <p:set>
                                      <p:cBhvr>
                                        <p:cTn id="46" dur="1" fill="hold">
                                          <p:stCondLst>
                                            <p:cond delay="0"/>
                                          </p:stCondLst>
                                        </p:cTn>
                                        <p:tgtEl>
                                          <p:spTgt spid="15"/>
                                        </p:tgtEl>
                                        <p:attrNameLst>
                                          <p:attrName>style.visibility</p:attrName>
                                        </p:attrNameLst>
                                      </p:cBhvr>
                                      <p:to>
                                        <p:strVal val="visible"/>
                                      </p:to>
                                    </p:set>
                                    <p:animEffect transition="in" filter="fade">
                                      <p:cBhvr>
                                        <p:cTn id="47" dur="400"/>
                                        <p:tgtEl>
                                          <p:spTgt spid="15"/>
                                        </p:tgtEl>
                                      </p:cBhvr>
                                    </p:animEffect>
                                  </p:childTnLst>
                                </p:cTn>
                              </p:par>
                            </p:childTnLst>
                          </p:cTn>
                        </p:par>
                        <p:par>
                          <p:cTn id="48" fill="hold">
                            <p:stCondLst>
                              <p:cond delay="250"/>
                            </p:stCondLst>
                            <p:childTnLst>
                              <p:par>
                                <p:cTn id="49" presetID="10" presetClass="entr" presetSubtype="0" fill="hold" grpId="0" nodeType="withEffect">
                                  <p:stCondLst>
                                    <p:cond delay="0"/>
                                  </p:stCondLst>
                                  <p:childTnLst>
                                    <p:set>
                                      <p:cBhvr>
                                        <p:cTn id="50" dur="1" fill="hold">
                                          <p:stCondLst>
                                            <p:cond delay="0"/>
                                          </p:stCondLst>
                                        </p:cTn>
                                        <p:tgtEl>
                                          <p:spTgt spid="16"/>
                                        </p:tgtEl>
                                        <p:attrNameLst>
                                          <p:attrName>style.visibility</p:attrName>
                                        </p:attrNameLst>
                                      </p:cBhvr>
                                      <p:to>
                                        <p:strVal val="visible"/>
                                      </p:to>
                                    </p:set>
                                    <p:animEffect transition="in" filter="fade">
                                      <p:cBhvr>
                                        <p:cTn id="51" dur="400"/>
                                        <p:tgtEl>
                                          <p:spTgt spid="16"/>
                                        </p:tgtEl>
                                      </p:cBhvr>
                                    </p:animEffect>
                                  </p:childTnLst>
                                </p:cTn>
                              </p:par>
                            </p:childTnLst>
                          </p:cTn>
                        </p:par>
                        <p:par>
                          <p:cTn id="52" fill="hold">
                            <p:stCondLst>
                              <p:cond delay="250"/>
                            </p:stCondLst>
                            <p:childTnLst>
                              <p:par>
                                <p:cTn id="53" presetID="10" presetClass="entr" presetSubtype="0" fill="hold" grpId="0" nodeType="withEffect">
                                  <p:stCondLst>
                                    <p:cond delay="0"/>
                                  </p:stCondLst>
                                  <p:childTnLst>
                                    <p:set>
                                      <p:cBhvr>
                                        <p:cTn id="54" dur="1" fill="hold">
                                          <p:stCondLst>
                                            <p:cond delay="0"/>
                                          </p:stCondLst>
                                        </p:cTn>
                                        <p:tgtEl>
                                          <p:spTgt spid="17"/>
                                        </p:tgtEl>
                                        <p:attrNameLst>
                                          <p:attrName>style.visibility</p:attrName>
                                        </p:attrNameLst>
                                      </p:cBhvr>
                                      <p:to>
                                        <p:strVal val="visible"/>
                                      </p:to>
                                    </p:set>
                                    <p:animEffect transition="in" filter="fade">
                                      <p:cBhvr>
                                        <p:cTn id="55" dur="400"/>
                                        <p:tgtEl>
                                          <p:spTgt spid="17"/>
                                        </p:tgtEl>
                                      </p:cBhvr>
                                    </p:animEffect>
                                  </p:childTnLst>
                                </p:cTn>
                              </p:par>
                            </p:childTnLst>
                          </p:cTn>
                        </p:par>
                        <p:par>
                          <p:cTn id="56" fill="hold">
                            <p:stCondLst>
                              <p:cond delay="250"/>
                            </p:stCondLst>
                            <p:childTnLst>
                              <p:par>
                                <p:cTn id="57" presetID="10" presetClass="entr" presetSubtype="0" fill="hold" grpId="0" nodeType="withEffect">
                                  <p:stCondLst>
                                    <p:cond delay="0"/>
                                  </p:stCondLst>
                                  <p:childTnLst>
                                    <p:set>
                                      <p:cBhvr>
                                        <p:cTn id="58" dur="1" fill="hold">
                                          <p:stCondLst>
                                            <p:cond delay="0"/>
                                          </p:stCondLst>
                                        </p:cTn>
                                        <p:tgtEl>
                                          <p:spTgt spid="18"/>
                                        </p:tgtEl>
                                        <p:attrNameLst>
                                          <p:attrName>style.visibility</p:attrName>
                                        </p:attrNameLst>
                                      </p:cBhvr>
                                      <p:to>
                                        <p:strVal val="visible"/>
                                      </p:to>
                                    </p:set>
                                    <p:animEffect transition="in" filter="fade">
                                      <p:cBhvr>
                                        <p:cTn id="59" dur="400"/>
                                        <p:tgtEl>
                                          <p:spTgt spid="18"/>
                                        </p:tgtEl>
                                      </p:cBhvr>
                                    </p:animEffect>
                                  </p:childTnLst>
                                </p:cTn>
                              </p:par>
                            </p:childTnLst>
                          </p:cTn>
                        </p:par>
                        <p:par>
                          <p:cTn id="60" fill="hold">
                            <p:stCondLst>
                              <p:cond delay="250"/>
                            </p:stCondLst>
                            <p:childTnLst>
                              <p:par>
                                <p:cTn id="61" presetID="10" presetClass="entr" presetSubtype="0" fill="hold" grpId="0" nodeType="withEffect">
                                  <p:stCondLst>
                                    <p:cond delay="0"/>
                                  </p:stCondLst>
                                  <p:childTnLst>
                                    <p:set>
                                      <p:cBhvr>
                                        <p:cTn id="62" dur="1" fill="hold">
                                          <p:stCondLst>
                                            <p:cond delay="0"/>
                                          </p:stCondLst>
                                        </p:cTn>
                                        <p:tgtEl>
                                          <p:spTgt spid="19"/>
                                        </p:tgtEl>
                                        <p:attrNameLst>
                                          <p:attrName>style.visibility</p:attrName>
                                        </p:attrNameLst>
                                      </p:cBhvr>
                                      <p:to>
                                        <p:strVal val="visible"/>
                                      </p:to>
                                    </p:set>
                                    <p:animEffect transition="in" filter="fade">
                                      <p:cBhvr>
                                        <p:cTn id="63" dur="400"/>
                                        <p:tgtEl>
                                          <p:spTgt spid="19"/>
                                        </p:tgtEl>
                                      </p:cBhvr>
                                    </p:animEffect>
                                  </p:childTnLst>
                                </p:cTn>
                              </p:par>
                            </p:childTnLst>
                          </p:cTn>
                        </p:par>
                        <p:par>
                          <p:cTn id="64" fill="hold">
                            <p:stCondLst>
                              <p:cond delay="250"/>
                            </p:stCondLst>
                            <p:childTnLst>
                              <p:par>
                                <p:cTn id="65" presetID="10" presetClass="entr" presetSubtype="0" fill="hold" grpId="0" nodeType="withEffect">
                                  <p:stCondLst>
                                    <p:cond delay="0"/>
                                  </p:stCondLst>
                                  <p:childTnLst>
                                    <p:set>
                                      <p:cBhvr>
                                        <p:cTn id="66" dur="1" fill="hold">
                                          <p:stCondLst>
                                            <p:cond delay="0"/>
                                          </p:stCondLst>
                                        </p:cTn>
                                        <p:tgtEl>
                                          <p:spTgt spid="20"/>
                                        </p:tgtEl>
                                        <p:attrNameLst>
                                          <p:attrName>style.visibility</p:attrName>
                                        </p:attrNameLst>
                                      </p:cBhvr>
                                      <p:to>
                                        <p:strVal val="visible"/>
                                      </p:to>
                                    </p:set>
                                    <p:animEffect transition="in" filter="fade">
                                      <p:cBhvr>
                                        <p:cTn id="67" dur="400"/>
                                        <p:tgtEl>
                                          <p:spTgt spid="20"/>
                                        </p:tgtEl>
                                      </p:cBhvr>
                                    </p:animEffect>
                                  </p:childTnLst>
                                </p:cTn>
                              </p:par>
                            </p:childTnLst>
                          </p:cTn>
                        </p:par>
                        <p:par>
                          <p:cTn id="68" fill="hold">
                            <p:stCondLst>
                              <p:cond delay="250"/>
                            </p:stCondLst>
                            <p:childTnLst>
                              <p:par>
                                <p:cTn id="69" presetID="10" presetClass="entr" presetSubtype="0" fill="hold" grpId="0" nodeType="withEffect">
                                  <p:stCondLst>
                                    <p:cond delay="0"/>
                                  </p:stCondLst>
                                  <p:childTnLst>
                                    <p:set>
                                      <p:cBhvr>
                                        <p:cTn id="70" dur="1" fill="hold">
                                          <p:stCondLst>
                                            <p:cond delay="0"/>
                                          </p:stCondLst>
                                        </p:cTn>
                                        <p:tgtEl>
                                          <p:spTgt spid="21"/>
                                        </p:tgtEl>
                                        <p:attrNameLst>
                                          <p:attrName>style.visibility</p:attrName>
                                        </p:attrNameLst>
                                      </p:cBhvr>
                                      <p:to>
                                        <p:strVal val="visible"/>
                                      </p:to>
                                    </p:set>
                                    <p:animEffect transition="in" filter="fade">
                                      <p:cBhvr>
                                        <p:cTn id="71" dur="400"/>
                                        <p:tgtEl>
                                          <p:spTgt spid="21"/>
                                        </p:tgtEl>
                                      </p:cBhvr>
                                    </p:animEffect>
                                  </p:childTnLst>
                                </p:cTn>
                              </p:par>
                            </p:childTnLst>
                          </p:cTn>
                        </p:par>
                        <p:par>
                          <p:cTn id="72" fill="hold">
                            <p:stCondLst>
                              <p:cond delay="250"/>
                            </p:stCondLst>
                            <p:childTnLst>
                              <p:par>
                                <p:cTn id="73" presetID="10" presetClass="entr" presetSubtype="0" fill="hold" grpId="0" nodeType="withEffect">
                                  <p:stCondLst>
                                    <p:cond delay="0"/>
                                  </p:stCondLst>
                                  <p:childTnLst>
                                    <p:set>
                                      <p:cBhvr>
                                        <p:cTn id="74" dur="1" fill="hold">
                                          <p:stCondLst>
                                            <p:cond delay="0"/>
                                          </p:stCondLst>
                                        </p:cTn>
                                        <p:tgtEl>
                                          <p:spTgt spid="22"/>
                                        </p:tgtEl>
                                        <p:attrNameLst>
                                          <p:attrName>style.visibility</p:attrName>
                                        </p:attrNameLst>
                                      </p:cBhvr>
                                      <p:to>
                                        <p:strVal val="visible"/>
                                      </p:to>
                                    </p:set>
                                    <p:animEffect transition="in" filter="fade">
                                      <p:cBhvr>
                                        <p:cTn id="75" dur="400"/>
                                        <p:tgtEl>
                                          <p:spTgt spid="22"/>
                                        </p:tgtEl>
                                      </p:cBhvr>
                                    </p:animEffect>
                                  </p:childTnLst>
                                </p:cTn>
                              </p:par>
                            </p:childTnLst>
                          </p:cTn>
                        </p:par>
                        <p:par>
                          <p:cTn id="76" fill="hold">
                            <p:stCondLst>
                              <p:cond delay="500"/>
                            </p:stCondLst>
                            <p:childTnLst>
                              <p:par>
                                <p:cTn id="77" presetID="10" presetClass="entr" presetSubtype="0" fill="hold" grpId="0" nodeType="withEffect">
                                  <p:stCondLst>
                                    <p:cond delay="0"/>
                                  </p:stCondLst>
                                  <p:childTnLst>
                                    <p:set>
                                      <p:cBhvr>
                                        <p:cTn id="78" dur="1" fill="hold">
                                          <p:stCondLst>
                                            <p:cond delay="0"/>
                                          </p:stCondLst>
                                        </p:cTn>
                                        <p:tgtEl>
                                          <p:spTgt spid="23"/>
                                        </p:tgtEl>
                                        <p:attrNameLst>
                                          <p:attrName>style.visibility</p:attrName>
                                        </p:attrNameLst>
                                      </p:cBhvr>
                                      <p:to>
                                        <p:strVal val="visible"/>
                                      </p:to>
                                    </p:set>
                                    <p:animEffect transition="in" filter="fade">
                                      <p:cBhvr>
                                        <p:cTn id="79" dur="400"/>
                                        <p:tgtEl>
                                          <p:spTgt spid="23"/>
                                        </p:tgtEl>
                                      </p:cBhvr>
                                    </p:animEffect>
                                  </p:childTnLst>
                                </p:cTn>
                              </p:par>
                            </p:childTnLst>
                          </p:cTn>
                        </p:par>
                        <p:par>
                          <p:cTn id="80" fill="hold">
                            <p:stCondLst>
                              <p:cond delay="500"/>
                            </p:stCondLst>
                            <p:childTnLst>
                              <p:par>
                                <p:cTn id="81" presetID="10" presetClass="entr" presetSubtype="0" fill="hold" grpId="0" nodeType="withEffect">
                                  <p:stCondLst>
                                    <p:cond delay="0"/>
                                  </p:stCondLst>
                                  <p:childTnLst>
                                    <p:set>
                                      <p:cBhvr>
                                        <p:cTn id="82" dur="1" fill="hold">
                                          <p:stCondLst>
                                            <p:cond delay="0"/>
                                          </p:stCondLst>
                                        </p:cTn>
                                        <p:tgtEl>
                                          <p:spTgt spid="24"/>
                                        </p:tgtEl>
                                        <p:attrNameLst>
                                          <p:attrName>style.visibility</p:attrName>
                                        </p:attrNameLst>
                                      </p:cBhvr>
                                      <p:to>
                                        <p:strVal val="visible"/>
                                      </p:to>
                                    </p:set>
                                    <p:animEffect transition="in" filter="fade">
                                      <p:cBhvr>
                                        <p:cTn id="83" dur="400"/>
                                        <p:tgtEl>
                                          <p:spTgt spid="24"/>
                                        </p:tgtEl>
                                      </p:cBhvr>
                                    </p:animEffect>
                                  </p:childTnLst>
                                </p:cTn>
                              </p:par>
                            </p:childTnLst>
                          </p:cTn>
                        </p:par>
                        <p:par>
                          <p:cTn id="84" fill="hold">
                            <p:stCondLst>
                              <p:cond delay="500"/>
                            </p:stCondLst>
                            <p:childTnLst>
                              <p:par>
                                <p:cTn id="85" presetID="10" presetClass="entr" presetSubtype="0" fill="hold" grpId="0" nodeType="withEffect">
                                  <p:stCondLst>
                                    <p:cond delay="0"/>
                                  </p:stCondLst>
                                  <p:childTnLst>
                                    <p:set>
                                      <p:cBhvr>
                                        <p:cTn id="86" dur="1" fill="hold">
                                          <p:stCondLst>
                                            <p:cond delay="0"/>
                                          </p:stCondLst>
                                        </p:cTn>
                                        <p:tgtEl>
                                          <p:spTgt spid="25"/>
                                        </p:tgtEl>
                                        <p:attrNameLst>
                                          <p:attrName>style.visibility</p:attrName>
                                        </p:attrNameLst>
                                      </p:cBhvr>
                                      <p:to>
                                        <p:strVal val="visible"/>
                                      </p:to>
                                    </p:set>
                                    <p:animEffect transition="in" filter="fade">
                                      <p:cBhvr>
                                        <p:cTn id="87" dur="400"/>
                                        <p:tgtEl>
                                          <p:spTgt spid="25"/>
                                        </p:tgtEl>
                                      </p:cBhvr>
                                    </p:animEffect>
                                  </p:childTnLst>
                                </p:cTn>
                              </p:par>
                            </p:childTnLst>
                          </p:cTn>
                        </p:par>
                        <p:par>
                          <p:cTn id="88" fill="hold">
                            <p:stCondLst>
                              <p:cond delay="500"/>
                            </p:stCondLst>
                            <p:childTnLst>
                              <p:par>
                                <p:cTn id="89" presetID="10" presetClass="entr" presetSubtype="0" fill="hold" grpId="0" nodeType="withEffect">
                                  <p:stCondLst>
                                    <p:cond delay="0"/>
                                  </p:stCondLst>
                                  <p:childTnLst>
                                    <p:set>
                                      <p:cBhvr>
                                        <p:cTn id="90" dur="1" fill="hold">
                                          <p:stCondLst>
                                            <p:cond delay="0"/>
                                          </p:stCondLst>
                                        </p:cTn>
                                        <p:tgtEl>
                                          <p:spTgt spid="26"/>
                                        </p:tgtEl>
                                        <p:attrNameLst>
                                          <p:attrName>style.visibility</p:attrName>
                                        </p:attrNameLst>
                                      </p:cBhvr>
                                      <p:to>
                                        <p:strVal val="visible"/>
                                      </p:to>
                                    </p:set>
                                    <p:animEffect transition="in" filter="fade">
                                      <p:cBhvr>
                                        <p:cTn id="91" dur="400"/>
                                        <p:tgtEl>
                                          <p:spTgt spid="26"/>
                                        </p:tgtEl>
                                      </p:cBhvr>
                                    </p:animEffect>
                                  </p:childTnLst>
                                </p:cTn>
                              </p:par>
                            </p:childTnLst>
                          </p:cTn>
                        </p:par>
                        <p:par>
                          <p:cTn id="92" fill="hold">
                            <p:stCondLst>
                              <p:cond delay="500"/>
                            </p:stCondLst>
                            <p:childTnLst>
                              <p:par>
                                <p:cTn id="93" presetID="10" presetClass="entr" presetSubtype="0" fill="hold" grpId="0" nodeType="withEffect">
                                  <p:stCondLst>
                                    <p:cond delay="0"/>
                                  </p:stCondLst>
                                  <p:childTnLst>
                                    <p:set>
                                      <p:cBhvr>
                                        <p:cTn id="94" dur="1" fill="hold">
                                          <p:stCondLst>
                                            <p:cond delay="0"/>
                                          </p:stCondLst>
                                        </p:cTn>
                                        <p:tgtEl>
                                          <p:spTgt spid="27"/>
                                        </p:tgtEl>
                                        <p:attrNameLst>
                                          <p:attrName>style.visibility</p:attrName>
                                        </p:attrNameLst>
                                      </p:cBhvr>
                                      <p:to>
                                        <p:strVal val="visible"/>
                                      </p:to>
                                    </p:set>
                                    <p:animEffect transition="in" filter="fade">
                                      <p:cBhvr>
                                        <p:cTn id="95" dur="400"/>
                                        <p:tgtEl>
                                          <p:spTgt spid="27"/>
                                        </p:tgtEl>
                                      </p:cBhvr>
                                    </p:animEffect>
                                  </p:childTnLst>
                                </p:cTn>
                              </p:par>
                            </p:childTnLst>
                          </p:cTn>
                        </p:par>
                        <p:par>
                          <p:cTn id="96" fill="hold">
                            <p:stCondLst>
                              <p:cond delay="500"/>
                            </p:stCondLst>
                            <p:childTnLst>
                              <p:par>
                                <p:cTn id="97" presetID="10" presetClass="entr" presetSubtype="0" fill="hold" grpId="0" nodeType="withEffect">
                                  <p:stCondLst>
                                    <p:cond delay="0"/>
                                  </p:stCondLst>
                                  <p:childTnLst>
                                    <p:set>
                                      <p:cBhvr>
                                        <p:cTn id="98" dur="1" fill="hold">
                                          <p:stCondLst>
                                            <p:cond delay="0"/>
                                          </p:stCondLst>
                                        </p:cTn>
                                        <p:tgtEl>
                                          <p:spTgt spid="28"/>
                                        </p:tgtEl>
                                        <p:attrNameLst>
                                          <p:attrName>style.visibility</p:attrName>
                                        </p:attrNameLst>
                                      </p:cBhvr>
                                      <p:to>
                                        <p:strVal val="visible"/>
                                      </p:to>
                                    </p:set>
                                    <p:animEffect transition="in" filter="fade">
                                      <p:cBhvr>
                                        <p:cTn id="99" dur="400"/>
                                        <p:tgtEl>
                                          <p:spTgt spid="28"/>
                                        </p:tgtEl>
                                      </p:cBhvr>
                                    </p:animEffect>
                                  </p:childTnLst>
                                </p:cTn>
                              </p:par>
                            </p:childTnLst>
                          </p:cTn>
                        </p:par>
                        <p:par>
                          <p:cTn id="100" fill="hold">
                            <p:stCondLst>
                              <p:cond delay="500"/>
                            </p:stCondLst>
                            <p:childTnLst>
                              <p:par>
                                <p:cTn id="101" presetID="10" presetClass="entr" presetSubtype="0" fill="hold" grpId="0" nodeType="withEffect">
                                  <p:stCondLst>
                                    <p:cond delay="0"/>
                                  </p:stCondLst>
                                  <p:childTnLst>
                                    <p:set>
                                      <p:cBhvr>
                                        <p:cTn id="102" dur="1" fill="hold">
                                          <p:stCondLst>
                                            <p:cond delay="0"/>
                                          </p:stCondLst>
                                        </p:cTn>
                                        <p:tgtEl>
                                          <p:spTgt spid="29"/>
                                        </p:tgtEl>
                                        <p:attrNameLst>
                                          <p:attrName>style.visibility</p:attrName>
                                        </p:attrNameLst>
                                      </p:cBhvr>
                                      <p:to>
                                        <p:strVal val="visible"/>
                                      </p:to>
                                    </p:set>
                                    <p:animEffect transition="in" filter="fade">
                                      <p:cBhvr>
                                        <p:cTn id="103" dur="400"/>
                                        <p:tgtEl>
                                          <p:spTgt spid="29"/>
                                        </p:tgtEl>
                                      </p:cBhvr>
                                    </p:animEffect>
                                  </p:childTnLst>
                                </p:cTn>
                              </p:par>
                            </p:childTnLst>
                          </p:cTn>
                        </p:par>
                        <p:par>
                          <p:cTn id="104" fill="hold">
                            <p:stCondLst>
                              <p:cond delay="500"/>
                            </p:stCondLst>
                            <p:childTnLst>
                              <p:par>
                                <p:cTn id="105" presetID="10" presetClass="entr" presetSubtype="0" fill="hold" grpId="0" nodeType="withEffect">
                                  <p:stCondLst>
                                    <p:cond delay="0"/>
                                  </p:stCondLst>
                                  <p:childTnLst>
                                    <p:set>
                                      <p:cBhvr>
                                        <p:cTn id="106" dur="1" fill="hold">
                                          <p:stCondLst>
                                            <p:cond delay="0"/>
                                          </p:stCondLst>
                                        </p:cTn>
                                        <p:tgtEl>
                                          <p:spTgt spid="30"/>
                                        </p:tgtEl>
                                        <p:attrNameLst>
                                          <p:attrName>style.visibility</p:attrName>
                                        </p:attrNameLst>
                                      </p:cBhvr>
                                      <p:to>
                                        <p:strVal val="visible"/>
                                      </p:to>
                                    </p:set>
                                    <p:animEffect transition="in" filter="fade">
                                      <p:cBhvr>
                                        <p:cTn id="107" dur="400"/>
                                        <p:tgtEl>
                                          <p:spTgt spid="30"/>
                                        </p:tgtEl>
                                      </p:cBhvr>
                                    </p:animEffect>
                                  </p:childTnLst>
                                </p:cTn>
                              </p:par>
                            </p:childTnLst>
                          </p:cTn>
                        </p:par>
                        <p:par>
                          <p:cTn id="108" fill="hold">
                            <p:stCondLst>
                              <p:cond delay="500"/>
                            </p:stCondLst>
                            <p:childTnLst>
                              <p:par>
                                <p:cTn id="109" presetID="10" presetClass="entr" presetSubtype="0" fill="hold" grpId="0" nodeType="withEffect">
                                  <p:stCondLst>
                                    <p:cond delay="0"/>
                                  </p:stCondLst>
                                  <p:childTnLst>
                                    <p:set>
                                      <p:cBhvr>
                                        <p:cTn id="110" dur="1" fill="hold">
                                          <p:stCondLst>
                                            <p:cond delay="0"/>
                                          </p:stCondLst>
                                        </p:cTn>
                                        <p:tgtEl>
                                          <p:spTgt spid="31"/>
                                        </p:tgtEl>
                                        <p:attrNameLst>
                                          <p:attrName>style.visibility</p:attrName>
                                        </p:attrNameLst>
                                      </p:cBhvr>
                                      <p:to>
                                        <p:strVal val="visible"/>
                                      </p:to>
                                    </p:set>
                                    <p:animEffect transition="in" filter="fade">
                                      <p:cBhvr>
                                        <p:cTn id="111" dur="400"/>
                                        <p:tgtEl>
                                          <p:spTgt spid="31"/>
                                        </p:tgtEl>
                                      </p:cBhvr>
                                    </p:animEffect>
                                  </p:childTnLst>
                                </p:cTn>
                              </p:par>
                            </p:childTnLst>
                          </p:cTn>
                        </p:par>
                        <p:par>
                          <p:cTn id="112" fill="hold">
                            <p:stCondLst>
                              <p:cond delay="500"/>
                            </p:stCondLst>
                            <p:childTnLst>
                              <p:par>
                                <p:cTn id="113" presetID="10" presetClass="entr" presetSubtype="0" fill="hold" grpId="0" nodeType="withEffect">
                                  <p:stCondLst>
                                    <p:cond delay="0"/>
                                  </p:stCondLst>
                                  <p:childTnLst>
                                    <p:set>
                                      <p:cBhvr>
                                        <p:cTn id="114" dur="1" fill="hold">
                                          <p:stCondLst>
                                            <p:cond delay="0"/>
                                          </p:stCondLst>
                                        </p:cTn>
                                        <p:tgtEl>
                                          <p:spTgt spid="32"/>
                                        </p:tgtEl>
                                        <p:attrNameLst>
                                          <p:attrName>style.visibility</p:attrName>
                                        </p:attrNameLst>
                                      </p:cBhvr>
                                      <p:to>
                                        <p:strVal val="visible"/>
                                      </p:to>
                                    </p:set>
                                    <p:animEffect transition="in" filter="fade">
                                      <p:cBhvr>
                                        <p:cTn id="115" dur="400"/>
                                        <p:tgtEl>
                                          <p:spTgt spid="32"/>
                                        </p:tgtEl>
                                      </p:cBhvr>
                                    </p:animEffect>
                                  </p:childTnLst>
                                </p:cTn>
                              </p:par>
                            </p:childTnLst>
                          </p:cTn>
                        </p:par>
                        <p:par>
                          <p:cTn id="116" fill="hold">
                            <p:stCondLst>
                              <p:cond delay="500"/>
                            </p:stCondLst>
                            <p:childTnLst>
                              <p:par>
                                <p:cTn id="117" presetID="10" presetClass="entr" presetSubtype="0" fill="hold" grpId="0" nodeType="withEffect">
                                  <p:stCondLst>
                                    <p:cond delay="0"/>
                                  </p:stCondLst>
                                  <p:childTnLst>
                                    <p:set>
                                      <p:cBhvr>
                                        <p:cTn id="118" dur="1" fill="hold">
                                          <p:stCondLst>
                                            <p:cond delay="0"/>
                                          </p:stCondLst>
                                        </p:cTn>
                                        <p:tgtEl>
                                          <p:spTgt spid="33"/>
                                        </p:tgtEl>
                                        <p:attrNameLst>
                                          <p:attrName>style.visibility</p:attrName>
                                        </p:attrNameLst>
                                      </p:cBhvr>
                                      <p:to>
                                        <p:strVal val="visible"/>
                                      </p:to>
                                    </p:set>
                                    <p:animEffect transition="in" filter="fade">
                                      <p:cBhvr>
                                        <p:cTn id="119" dur="400"/>
                                        <p:tgtEl>
                                          <p:spTgt spid="33"/>
                                        </p:tgtEl>
                                      </p:cBhvr>
                                    </p:animEffect>
                                  </p:childTnLst>
                                </p:cTn>
                              </p:par>
                            </p:childTnLst>
                          </p:cTn>
                        </p:par>
                        <p:par>
                          <p:cTn id="120" fill="hold">
                            <p:stCondLst>
                              <p:cond delay="500"/>
                            </p:stCondLst>
                            <p:childTnLst>
                              <p:par>
                                <p:cTn id="121" presetID="10" presetClass="entr" presetSubtype="0" fill="hold" grpId="0" nodeType="withEffect">
                                  <p:stCondLst>
                                    <p:cond delay="0"/>
                                  </p:stCondLst>
                                  <p:childTnLst>
                                    <p:set>
                                      <p:cBhvr>
                                        <p:cTn id="122" dur="1" fill="hold">
                                          <p:stCondLst>
                                            <p:cond delay="0"/>
                                          </p:stCondLst>
                                        </p:cTn>
                                        <p:tgtEl>
                                          <p:spTgt spid="34"/>
                                        </p:tgtEl>
                                        <p:attrNameLst>
                                          <p:attrName>style.visibility</p:attrName>
                                        </p:attrNameLst>
                                      </p:cBhvr>
                                      <p:to>
                                        <p:strVal val="visible"/>
                                      </p:to>
                                    </p:set>
                                    <p:animEffect transition="in" filter="fade">
                                      <p:cBhvr>
                                        <p:cTn id="123" dur="400"/>
                                        <p:tgtEl>
                                          <p:spTgt spid="34"/>
                                        </p:tgtEl>
                                      </p:cBhvr>
                                    </p:animEffect>
                                  </p:childTnLst>
                                </p:cTn>
                              </p:par>
                            </p:childTnLst>
                          </p:cTn>
                        </p:par>
                        <p:par>
                          <p:cTn id="124" fill="hold">
                            <p:stCondLst>
                              <p:cond delay="750"/>
                            </p:stCondLst>
                            <p:childTnLst>
                              <p:par>
                                <p:cTn id="125" presetID="10" presetClass="entr" presetSubtype="0" fill="hold" grpId="0" nodeType="withEffect">
                                  <p:stCondLst>
                                    <p:cond delay="0"/>
                                  </p:stCondLst>
                                  <p:childTnLst>
                                    <p:set>
                                      <p:cBhvr>
                                        <p:cTn id="126" dur="1" fill="hold">
                                          <p:stCondLst>
                                            <p:cond delay="0"/>
                                          </p:stCondLst>
                                        </p:cTn>
                                        <p:tgtEl>
                                          <p:spTgt spid="35"/>
                                        </p:tgtEl>
                                        <p:attrNameLst>
                                          <p:attrName>style.visibility</p:attrName>
                                        </p:attrNameLst>
                                      </p:cBhvr>
                                      <p:to>
                                        <p:strVal val="visible"/>
                                      </p:to>
                                    </p:set>
                                    <p:animEffect transition="in" filter="fade">
                                      <p:cBhvr>
                                        <p:cTn id="127" dur="400"/>
                                        <p:tgtEl>
                                          <p:spTgt spid="35"/>
                                        </p:tgtEl>
                                      </p:cBhvr>
                                    </p:animEffect>
                                  </p:childTnLst>
                                </p:cTn>
                              </p:par>
                            </p:childTnLst>
                          </p:cTn>
                        </p:par>
                        <p:par>
                          <p:cTn id="128" fill="hold">
                            <p:stCondLst>
                              <p:cond delay="750"/>
                            </p:stCondLst>
                            <p:childTnLst>
                              <p:par>
                                <p:cTn id="129" presetID="10" presetClass="entr" presetSubtype="0" fill="hold" grpId="0" nodeType="withEffect">
                                  <p:stCondLst>
                                    <p:cond delay="0"/>
                                  </p:stCondLst>
                                  <p:childTnLst>
                                    <p:set>
                                      <p:cBhvr>
                                        <p:cTn id="130" dur="1" fill="hold">
                                          <p:stCondLst>
                                            <p:cond delay="0"/>
                                          </p:stCondLst>
                                        </p:cTn>
                                        <p:tgtEl>
                                          <p:spTgt spid="36"/>
                                        </p:tgtEl>
                                        <p:attrNameLst>
                                          <p:attrName>style.visibility</p:attrName>
                                        </p:attrNameLst>
                                      </p:cBhvr>
                                      <p:to>
                                        <p:strVal val="visible"/>
                                      </p:to>
                                    </p:set>
                                    <p:animEffect transition="in" filter="fade">
                                      <p:cBhvr>
                                        <p:cTn id="131" dur="400"/>
                                        <p:tgtEl>
                                          <p:spTgt spid="36"/>
                                        </p:tgtEl>
                                      </p:cBhvr>
                                    </p:animEffect>
                                  </p:childTnLst>
                                </p:cTn>
                              </p:par>
                            </p:childTnLst>
                          </p:cTn>
                        </p:par>
                        <p:par>
                          <p:cTn id="132" fill="hold">
                            <p:stCondLst>
                              <p:cond delay="750"/>
                            </p:stCondLst>
                            <p:childTnLst>
                              <p:par>
                                <p:cTn id="133" presetID="10" presetClass="entr" presetSubtype="0" fill="hold" grpId="0" nodeType="withEffect">
                                  <p:stCondLst>
                                    <p:cond delay="0"/>
                                  </p:stCondLst>
                                  <p:childTnLst>
                                    <p:set>
                                      <p:cBhvr>
                                        <p:cTn id="134" dur="1" fill="hold">
                                          <p:stCondLst>
                                            <p:cond delay="0"/>
                                          </p:stCondLst>
                                        </p:cTn>
                                        <p:tgtEl>
                                          <p:spTgt spid="37"/>
                                        </p:tgtEl>
                                        <p:attrNameLst>
                                          <p:attrName>style.visibility</p:attrName>
                                        </p:attrNameLst>
                                      </p:cBhvr>
                                      <p:to>
                                        <p:strVal val="visible"/>
                                      </p:to>
                                    </p:set>
                                    <p:animEffect transition="in" filter="fade">
                                      <p:cBhvr>
                                        <p:cTn id="135" dur="400"/>
                                        <p:tgtEl>
                                          <p:spTgt spid="37"/>
                                        </p:tgtEl>
                                      </p:cBhvr>
                                    </p:animEffect>
                                  </p:childTnLst>
                                </p:cTn>
                              </p:par>
                            </p:childTnLst>
                          </p:cTn>
                        </p:par>
                        <p:par>
                          <p:cTn id="136" fill="hold">
                            <p:stCondLst>
                              <p:cond delay="750"/>
                            </p:stCondLst>
                            <p:childTnLst>
                              <p:par>
                                <p:cTn id="137" presetID="10" presetClass="entr" presetSubtype="0" fill="hold" grpId="0" nodeType="withEffect">
                                  <p:stCondLst>
                                    <p:cond delay="0"/>
                                  </p:stCondLst>
                                  <p:childTnLst>
                                    <p:set>
                                      <p:cBhvr>
                                        <p:cTn id="138" dur="1" fill="hold">
                                          <p:stCondLst>
                                            <p:cond delay="0"/>
                                          </p:stCondLst>
                                        </p:cTn>
                                        <p:tgtEl>
                                          <p:spTgt spid="38"/>
                                        </p:tgtEl>
                                        <p:attrNameLst>
                                          <p:attrName>style.visibility</p:attrName>
                                        </p:attrNameLst>
                                      </p:cBhvr>
                                      <p:to>
                                        <p:strVal val="visible"/>
                                      </p:to>
                                    </p:set>
                                    <p:animEffect transition="in" filter="fade">
                                      <p:cBhvr>
                                        <p:cTn id="139" dur="400"/>
                                        <p:tgtEl>
                                          <p:spTgt spid="38"/>
                                        </p:tgtEl>
                                      </p:cBhvr>
                                    </p:animEffect>
                                  </p:childTnLst>
                                </p:cTn>
                              </p:par>
                            </p:childTnLst>
                          </p:cTn>
                        </p:par>
                        <p:par>
                          <p:cTn id="140" fill="hold">
                            <p:stCondLst>
                              <p:cond delay="750"/>
                            </p:stCondLst>
                            <p:childTnLst>
                              <p:par>
                                <p:cTn id="141" presetID="10" presetClass="entr" presetSubtype="0" fill="hold" grpId="0" nodeType="withEffect">
                                  <p:stCondLst>
                                    <p:cond delay="0"/>
                                  </p:stCondLst>
                                  <p:childTnLst>
                                    <p:set>
                                      <p:cBhvr>
                                        <p:cTn id="142" dur="1" fill="hold">
                                          <p:stCondLst>
                                            <p:cond delay="0"/>
                                          </p:stCondLst>
                                        </p:cTn>
                                        <p:tgtEl>
                                          <p:spTgt spid="39"/>
                                        </p:tgtEl>
                                        <p:attrNameLst>
                                          <p:attrName>style.visibility</p:attrName>
                                        </p:attrNameLst>
                                      </p:cBhvr>
                                      <p:to>
                                        <p:strVal val="visible"/>
                                      </p:to>
                                    </p:set>
                                    <p:animEffect transition="in" filter="fade">
                                      <p:cBhvr>
                                        <p:cTn id="143" dur="400"/>
                                        <p:tgtEl>
                                          <p:spTgt spid="39"/>
                                        </p:tgtEl>
                                      </p:cBhvr>
                                    </p:animEffect>
                                  </p:childTnLst>
                                </p:cTn>
                              </p:par>
                            </p:childTnLst>
                          </p:cTn>
                        </p:par>
                        <p:par>
                          <p:cTn id="144" fill="hold">
                            <p:stCondLst>
                              <p:cond delay="750"/>
                            </p:stCondLst>
                            <p:childTnLst>
                              <p:par>
                                <p:cTn id="145" presetID="10" presetClass="entr" presetSubtype="0" fill="hold" grpId="0" nodeType="withEffect">
                                  <p:stCondLst>
                                    <p:cond delay="0"/>
                                  </p:stCondLst>
                                  <p:childTnLst>
                                    <p:set>
                                      <p:cBhvr>
                                        <p:cTn id="146" dur="1" fill="hold">
                                          <p:stCondLst>
                                            <p:cond delay="0"/>
                                          </p:stCondLst>
                                        </p:cTn>
                                        <p:tgtEl>
                                          <p:spTgt spid="40"/>
                                        </p:tgtEl>
                                        <p:attrNameLst>
                                          <p:attrName>style.visibility</p:attrName>
                                        </p:attrNameLst>
                                      </p:cBhvr>
                                      <p:to>
                                        <p:strVal val="visible"/>
                                      </p:to>
                                    </p:set>
                                    <p:animEffect transition="in" filter="fade">
                                      <p:cBhvr>
                                        <p:cTn id="147" dur="400"/>
                                        <p:tgtEl>
                                          <p:spTgt spid="40"/>
                                        </p:tgtEl>
                                      </p:cBhvr>
                                    </p:animEffect>
                                  </p:childTnLst>
                                </p:cTn>
                              </p:par>
                            </p:childTnLst>
                          </p:cTn>
                        </p:par>
                        <p:par>
                          <p:cTn id="148" fill="hold">
                            <p:stCondLst>
                              <p:cond delay="750"/>
                            </p:stCondLst>
                            <p:childTnLst>
                              <p:par>
                                <p:cTn id="149" presetID="10" presetClass="entr" presetSubtype="0" fill="hold" grpId="0" nodeType="withEffect">
                                  <p:stCondLst>
                                    <p:cond delay="0"/>
                                  </p:stCondLst>
                                  <p:childTnLst>
                                    <p:set>
                                      <p:cBhvr>
                                        <p:cTn id="150" dur="1" fill="hold">
                                          <p:stCondLst>
                                            <p:cond delay="0"/>
                                          </p:stCondLst>
                                        </p:cTn>
                                        <p:tgtEl>
                                          <p:spTgt spid="41"/>
                                        </p:tgtEl>
                                        <p:attrNameLst>
                                          <p:attrName>style.visibility</p:attrName>
                                        </p:attrNameLst>
                                      </p:cBhvr>
                                      <p:to>
                                        <p:strVal val="visible"/>
                                      </p:to>
                                    </p:set>
                                    <p:animEffect transition="in" filter="fade">
                                      <p:cBhvr>
                                        <p:cTn id="151" dur="400"/>
                                        <p:tgtEl>
                                          <p:spTgt spid="41"/>
                                        </p:tgtEl>
                                      </p:cBhvr>
                                    </p:animEffect>
                                  </p:childTnLst>
                                </p:cTn>
                              </p:par>
                            </p:childTnLst>
                          </p:cTn>
                        </p:par>
                        <p:par>
                          <p:cTn id="152" fill="hold">
                            <p:stCondLst>
                              <p:cond delay="750"/>
                            </p:stCondLst>
                            <p:childTnLst>
                              <p:par>
                                <p:cTn id="153" presetID="10" presetClass="entr" presetSubtype="0" fill="hold" grpId="0" nodeType="withEffect">
                                  <p:stCondLst>
                                    <p:cond delay="0"/>
                                  </p:stCondLst>
                                  <p:childTnLst>
                                    <p:set>
                                      <p:cBhvr>
                                        <p:cTn id="154" dur="1" fill="hold">
                                          <p:stCondLst>
                                            <p:cond delay="0"/>
                                          </p:stCondLst>
                                        </p:cTn>
                                        <p:tgtEl>
                                          <p:spTgt spid="42"/>
                                        </p:tgtEl>
                                        <p:attrNameLst>
                                          <p:attrName>style.visibility</p:attrName>
                                        </p:attrNameLst>
                                      </p:cBhvr>
                                      <p:to>
                                        <p:strVal val="visible"/>
                                      </p:to>
                                    </p:set>
                                    <p:animEffect transition="in" filter="fade">
                                      <p:cBhvr>
                                        <p:cTn id="155" dur="400"/>
                                        <p:tgtEl>
                                          <p:spTgt spid="42"/>
                                        </p:tgtEl>
                                      </p:cBhvr>
                                    </p:animEffect>
                                  </p:childTnLst>
                                </p:cTn>
                              </p:par>
                            </p:childTnLst>
                          </p:cTn>
                        </p:par>
                        <p:par>
                          <p:cTn id="156" fill="hold">
                            <p:stCondLst>
                              <p:cond delay="750"/>
                            </p:stCondLst>
                            <p:childTnLst>
                              <p:par>
                                <p:cTn id="157" presetID="10" presetClass="entr" presetSubtype="0" fill="hold" grpId="0" nodeType="withEffect">
                                  <p:stCondLst>
                                    <p:cond delay="0"/>
                                  </p:stCondLst>
                                  <p:childTnLst>
                                    <p:set>
                                      <p:cBhvr>
                                        <p:cTn id="158" dur="1" fill="hold">
                                          <p:stCondLst>
                                            <p:cond delay="0"/>
                                          </p:stCondLst>
                                        </p:cTn>
                                        <p:tgtEl>
                                          <p:spTgt spid="43"/>
                                        </p:tgtEl>
                                        <p:attrNameLst>
                                          <p:attrName>style.visibility</p:attrName>
                                        </p:attrNameLst>
                                      </p:cBhvr>
                                      <p:to>
                                        <p:strVal val="visible"/>
                                      </p:to>
                                    </p:set>
                                    <p:animEffect transition="in" filter="fade">
                                      <p:cBhvr>
                                        <p:cTn id="159" dur="400"/>
                                        <p:tgtEl>
                                          <p:spTgt spid="43"/>
                                        </p:tgtEl>
                                      </p:cBhvr>
                                    </p:animEffect>
                                  </p:childTnLst>
                                </p:cTn>
                              </p:par>
                            </p:childTnLst>
                          </p:cTn>
                        </p:par>
                        <p:par>
                          <p:cTn id="160" fill="hold">
                            <p:stCondLst>
                              <p:cond delay="750"/>
                            </p:stCondLst>
                            <p:childTnLst>
                              <p:par>
                                <p:cTn id="161" presetID="10" presetClass="entr" presetSubtype="0" fill="hold" grpId="0" nodeType="withEffect">
                                  <p:stCondLst>
                                    <p:cond delay="0"/>
                                  </p:stCondLst>
                                  <p:childTnLst>
                                    <p:set>
                                      <p:cBhvr>
                                        <p:cTn id="162" dur="1" fill="hold">
                                          <p:stCondLst>
                                            <p:cond delay="0"/>
                                          </p:stCondLst>
                                        </p:cTn>
                                        <p:tgtEl>
                                          <p:spTgt spid="44"/>
                                        </p:tgtEl>
                                        <p:attrNameLst>
                                          <p:attrName>style.visibility</p:attrName>
                                        </p:attrNameLst>
                                      </p:cBhvr>
                                      <p:to>
                                        <p:strVal val="visible"/>
                                      </p:to>
                                    </p:set>
                                    <p:animEffect transition="in" filter="fade">
                                      <p:cBhvr>
                                        <p:cTn id="163" dur="400"/>
                                        <p:tgtEl>
                                          <p:spTgt spid="44"/>
                                        </p:tgtEl>
                                      </p:cBhvr>
                                    </p:animEffect>
                                  </p:childTnLst>
                                </p:cTn>
                              </p:par>
                            </p:childTnLst>
                          </p:cTn>
                        </p:par>
                        <p:par>
                          <p:cTn id="164" fill="hold">
                            <p:stCondLst>
                              <p:cond delay="750"/>
                            </p:stCondLst>
                            <p:childTnLst>
                              <p:par>
                                <p:cTn id="165" presetID="10" presetClass="entr" presetSubtype="0" fill="hold" grpId="0" nodeType="withEffect">
                                  <p:stCondLst>
                                    <p:cond delay="0"/>
                                  </p:stCondLst>
                                  <p:childTnLst>
                                    <p:set>
                                      <p:cBhvr>
                                        <p:cTn id="166" dur="1" fill="hold">
                                          <p:stCondLst>
                                            <p:cond delay="0"/>
                                          </p:stCondLst>
                                        </p:cTn>
                                        <p:tgtEl>
                                          <p:spTgt spid="45"/>
                                        </p:tgtEl>
                                        <p:attrNameLst>
                                          <p:attrName>style.visibility</p:attrName>
                                        </p:attrNameLst>
                                      </p:cBhvr>
                                      <p:to>
                                        <p:strVal val="visible"/>
                                      </p:to>
                                    </p:set>
                                    <p:animEffect transition="in" filter="fade">
                                      <p:cBhvr>
                                        <p:cTn id="167" dur="400"/>
                                        <p:tgtEl>
                                          <p:spTgt spid="45"/>
                                        </p:tgtEl>
                                      </p:cBhvr>
                                    </p:animEffect>
                                  </p:childTnLst>
                                </p:cTn>
                              </p:par>
                            </p:childTnLst>
                          </p:cTn>
                        </p:par>
                        <p:par>
                          <p:cTn id="168" fill="hold">
                            <p:stCondLst>
                              <p:cond delay="750"/>
                            </p:stCondLst>
                            <p:childTnLst>
                              <p:par>
                                <p:cTn id="169" presetID="10" presetClass="entr" presetSubtype="0" fill="hold" grpId="0" nodeType="withEffect">
                                  <p:stCondLst>
                                    <p:cond delay="0"/>
                                  </p:stCondLst>
                                  <p:childTnLst>
                                    <p:set>
                                      <p:cBhvr>
                                        <p:cTn id="170" dur="1" fill="hold">
                                          <p:stCondLst>
                                            <p:cond delay="0"/>
                                          </p:stCondLst>
                                        </p:cTn>
                                        <p:tgtEl>
                                          <p:spTgt spid="46"/>
                                        </p:tgtEl>
                                        <p:attrNameLst>
                                          <p:attrName>style.visibility</p:attrName>
                                        </p:attrNameLst>
                                      </p:cBhvr>
                                      <p:to>
                                        <p:strVal val="visible"/>
                                      </p:to>
                                    </p:set>
                                    <p:animEffect transition="in" filter="fade">
                                      <p:cBhvr>
                                        <p:cTn id="171" dur="400"/>
                                        <p:tgtEl>
                                          <p:spTgt spid="46"/>
                                        </p:tgtEl>
                                      </p:cBhvr>
                                    </p:animEffect>
                                  </p:childTnLst>
                                </p:cTn>
                              </p:par>
                            </p:childTnLst>
                          </p:cTn>
                        </p:par>
                        <p:par>
                          <p:cTn id="172" fill="hold">
                            <p:stCondLst>
                              <p:cond delay="1000"/>
                            </p:stCondLst>
                            <p:childTnLst>
                              <p:par>
                                <p:cTn id="173" presetID="10" presetClass="entr" presetSubtype="0" fill="hold" grpId="0" nodeType="withEffect">
                                  <p:stCondLst>
                                    <p:cond delay="0"/>
                                  </p:stCondLst>
                                  <p:childTnLst>
                                    <p:set>
                                      <p:cBhvr>
                                        <p:cTn id="174" dur="1" fill="hold">
                                          <p:stCondLst>
                                            <p:cond delay="0"/>
                                          </p:stCondLst>
                                        </p:cTn>
                                        <p:tgtEl>
                                          <p:spTgt spid="47"/>
                                        </p:tgtEl>
                                        <p:attrNameLst>
                                          <p:attrName>style.visibility</p:attrName>
                                        </p:attrNameLst>
                                      </p:cBhvr>
                                      <p:to>
                                        <p:strVal val="visible"/>
                                      </p:to>
                                    </p:set>
                                    <p:animEffect transition="in" filter="fade">
                                      <p:cBhvr>
                                        <p:cTn id="175" dur="400"/>
                                        <p:tgtEl>
                                          <p:spTgt spid="47"/>
                                        </p:tgtEl>
                                      </p:cBhvr>
                                    </p:animEffect>
                                  </p:childTnLst>
                                </p:cTn>
                              </p:par>
                            </p:childTnLst>
                          </p:cTn>
                        </p:par>
                        <p:par>
                          <p:cTn id="176" fill="hold">
                            <p:stCondLst>
                              <p:cond delay="1000"/>
                            </p:stCondLst>
                            <p:childTnLst>
                              <p:par>
                                <p:cTn id="177" presetID="10" presetClass="entr" presetSubtype="0" fill="hold" grpId="0" nodeType="withEffect">
                                  <p:stCondLst>
                                    <p:cond delay="0"/>
                                  </p:stCondLst>
                                  <p:childTnLst>
                                    <p:set>
                                      <p:cBhvr>
                                        <p:cTn id="178" dur="1" fill="hold">
                                          <p:stCondLst>
                                            <p:cond delay="0"/>
                                          </p:stCondLst>
                                        </p:cTn>
                                        <p:tgtEl>
                                          <p:spTgt spid="48"/>
                                        </p:tgtEl>
                                        <p:attrNameLst>
                                          <p:attrName>style.visibility</p:attrName>
                                        </p:attrNameLst>
                                      </p:cBhvr>
                                      <p:to>
                                        <p:strVal val="visible"/>
                                      </p:to>
                                    </p:set>
                                    <p:animEffect transition="in" filter="fade">
                                      <p:cBhvr>
                                        <p:cTn id="179" dur="400"/>
                                        <p:tgtEl>
                                          <p:spTgt spid="48"/>
                                        </p:tgtEl>
                                      </p:cBhvr>
                                    </p:animEffect>
                                  </p:childTnLst>
                                </p:cTn>
                              </p:par>
                            </p:childTnLst>
                          </p:cTn>
                        </p:par>
                        <p:par>
                          <p:cTn id="180" fill="hold">
                            <p:stCondLst>
                              <p:cond delay="1000"/>
                            </p:stCondLst>
                            <p:childTnLst>
                              <p:par>
                                <p:cTn id="181" presetID="10" presetClass="entr" presetSubtype="0" fill="hold" grpId="0" nodeType="withEffect">
                                  <p:stCondLst>
                                    <p:cond delay="0"/>
                                  </p:stCondLst>
                                  <p:childTnLst>
                                    <p:set>
                                      <p:cBhvr>
                                        <p:cTn id="182" dur="1" fill="hold">
                                          <p:stCondLst>
                                            <p:cond delay="0"/>
                                          </p:stCondLst>
                                        </p:cTn>
                                        <p:tgtEl>
                                          <p:spTgt spid="49"/>
                                        </p:tgtEl>
                                        <p:attrNameLst>
                                          <p:attrName>style.visibility</p:attrName>
                                        </p:attrNameLst>
                                      </p:cBhvr>
                                      <p:to>
                                        <p:strVal val="visible"/>
                                      </p:to>
                                    </p:set>
                                    <p:animEffect transition="in" filter="fade">
                                      <p:cBhvr>
                                        <p:cTn id="183" dur="400"/>
                                        <p:tgtEl>
                                          <p:spTgt spid="4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2 · PASSO 1: OS DADOS · THIAGO</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Um problema real, de ponta a ponta: o código da escola</a:t>
            </a:r>
            <a:endParaRPr lang="en-US" sz="3200" dirty="0"/>
          </a:p>
        </p:txBody>
      </p:sp>
      <p:sp>
        <p:nvSpPr>
          <p:cNvPr id="5" name="anim:1:277"/>
          <p:cNvSpPr/>
          <p:nvPr/>
        </p:nvSpPr>
        <p:spPr>
          <a:xfrm>
            <a:off x="548640" y="1463040"/>
            <a:ext cx="4846320" cy="1691640"/>
          </a:xfrm>
          <a:prstGeom prst="roundRect">
            <a:avLst>
              <a:gd name="adj" fmla="val 6486"/>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6" name="anim:1:278"/>
          <p:cNvSpPr txBox="1"/>
          <p:nvPr/>
        </p:nvSpPr>
        <p:spPr>
          <a:xfrm>
            <a:off x="731520" y="1572768"/>
            <a:ext cx="4480560" cy="228600"/>
          </a:xfrm>
          <a:prstGeom prst="rect">
            <a:avLst/>
          </a:prstGeom>
          <a:noFill/>
          <a:ln/>
        </p:spPr>
        <p:txBody>
          <a:bodyPr wrap="square" lIns="0" tIns="0" rIns="0" bIns="0" rtlCol="0" anchor="t"/>
          <a:lstStyle/>
          <a:p>
            <a:pPr algn="l" indent="0" marL="0">
              <a:buNone/>
            </a:pPr>
            <a:r>
              <a:rPr lang="en-US" sz="1000" b="1" spc="100" kern="0" dirty="0">
                <a:solidFill>
                  <a:srgbClr val="566175"/>
                </a:solidFill>
                <a:latin typeface="Calibri" pitchFamily="34" charset="0"/>
                <a:ea typeface="Calibri" pitchFamily="34" charset="-122"/>
                <a:cs typeface="Calibri" pitchFamily="34" charset="-120"/>
              </a:rPr>
              <a:t>COMO CHEGOU  · exemplo no formato do arquivo</a:t>
            </a:r>
            <a:endParaRPr lang="en-US" sz="10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731520" y="1847088"/>
          <a:ext cx="4480560" cy="914400"/>
        </p:xfrm>
        <a:graphic>
          <a:graphicData uri="http://schemas.openxmlformats.org/drawingml/2006/table">
            <a:tbl>
              <a:tblPr/>
              <a:tblGrid>
                <a:gridCol w="548640"/>
                <a:gridCol w="1783080"/>
                <a:gridCol w="2148840"/>
              </a:tblGrid>
              <a:tr h="237744">
                <a:tc>
                  <a:txBody>
                    <a:bodyPr/>
                    <a:lstStyle/>
                    <a:p>
                      <a:pPr indent="0" marL="0">
                        <a:buNone/>
                      </a:pPr>
                      <a:r>
                        <a:rPr lang="en-US" sz="900" b="1" dirty="0">
                          <a:solidFill>
                            <a:srgbClr val="566175"/>
                          </a:solidFill>
                          <a:latin typeface="Consolas" pitchFamily="34" charset="0"/>
                          <a:ea typeface="Consolas" pitchFamily="34" charset="-122"/>
                          <a:cs typeface="Consolas" pitchFamily="34" charset="-120"/>
                        </a:rPr>
                        <a:t>ano</a:t>
                      </a:r>
                      <a:endParaRPr lang="en-US" sz="900" dirty="0">
                        <a:latin typeface="Consolas" charset="0"/>
                        <a:ea typeface="Consolas" charset="0"/>
                        <a:cs typeface="Consolas" charset="0"/>
                      </a:endParaRPr>
                    </a:p>
                  </a:txBody>
                  <a:tcPr marL="0" marR="54864" marT="18288" marB="18288" anchor="ctr">
                    <a:lnL w="6350" cap="flat" cmpd="sng" algn="ctr">
                      <a:solidFill>
                        <a:srgbClr val="E6ECF5"/>
                      </a:solidFill>
                      <a:prstDash val="solid"/>
                      <a:round/>
                      <a:headEnd type="none" w="med" len="med"/>
                      <a:tailEnd type="none" w="med" len="med"/>
                    </a:lnL>
                    <a:lnR w="6350" cap="flat" cmpd="sng" algn="ctr">
                      <a:solidFill>
                        <a:srgbClr val="E6ECF5"/>
                      </a:solidFill>
                      <a:prstDash val="solid"/>
                      <a:round/>
                      <a:headEnd type="none" w="med" len="med"/>
                      <a:tailEnd type="none" w="med" len="med"/>
                    </a:lnR>
                    <a:lnT w="6350" cap="flat" cmpd="sng" algn="ctr">
                      <a:solidFill>
                        <a:srgbClr val="E6ECF5"/>
                      </a:solidFill>
                      <a:prstDash val="solid"/>
                      <a:round/>
                      <a:headEnd type="none" w="med" len="med"/>
                      <a:tailEnd type="none" w="med" len="med"/>
                    </a:lnT>
                    <a:lnB w="6350" cap="flat" cmpd="sng" algn="ctr">
                      <a:solidFill>
                        <a:srgbClr val="E6ECF5"/>
                      </a:solidFill>
                      <a:prstDash val="solid"/>
                      <a:round/>
                      <a:headEnd type="none" w="med" len="med"/>
                      <a:tailEnd type="none" w="med" len="med"/>
                    </a:lnB>
                  </a:tcPr>
                </a:tc>
                <a:tc>
                  <a:txBody>
                    <a:bodyPr/>
                    <a:lstStyle/>
                    <a:p>
                      <a:pPr indent="0" marL="0">
                        <a:buNone/>
                      </a:pPr>
                      <a:r>
                        <a:rPr lang="en-US" sz="900" b="1" dirty="0">
                          <a:solidFill>
                            <a:srgbClr val="566175"/>
                          </a:solidFill>
                          <a:latin typeface="Consolas" pitchFamily="34" charset="0"/>
                          <a:ea typeface="Consolas" pitchFamily="34" charset="-122"/>
                          <a:cs typeface="Consolas" pitchFamily="34" charset="-120"/>
                        </a:rPr>
                        <a:t>código publicado</a:t>
                      </a:r>
                      <a:endParaRPr lang="en-US" sz="900" dirty="0">
                        <a:latin typeface="Consolas" charset="0"/>
                        <a:ea typeface="Consolas" charset="0"/>
                        <a:cs typeface="Consolas" charset="0"/>
                      </a:endParaRPr>
                    </a:p>
                  </a:txBody>
                  <a:tcPr marL="0" marR="54864" marT="18288" marB="18288" anchor="ctr">
                    <a:lnL w="6350" cap="flat" cmpd="sng" algn="ctr">
                      <a:solidFill>
                        <a:srgbClr val="E6ECF5"/>
                      </a:solidFill>
                      <a:prstDash val="solid"/>
                      <a:round/>
                      <a:headEnd type="none" w="med" len="med"/>
                      <a:tailEnd type="none" w="med" len="med"/>
                    </a:lnL>
                    <a:lnR w="6350" cap="flat" cmpd="sng" algn="ctr">
                      <a:solidFill>
                        <a:srgbClr val="E6ECF5"/>
                      </a:solidFill>
                      <a:prstDash val="solid"/>
                      <a:round/>
                      <a:headEnd type="none" w="med" len="med"/>
                      <a:tailEnd type="none" w="med" len="med"/>
                    </a:lnR>
                    <a:lnT w="6350" cap="flat" cmpd="sng" algn="ctr">
                      <a:solidFill>
                        <a:srgbClr val="E6ECF5"/>
                      </a:solidFill>
                      <a:prstDash val="solid"/>
                      <a:round/>
                      <a:headEnd type="none" w="med" len="med"/>
                      <a:tailEnd type="none" w="med" len="med"/>
                    </a:lnT>
                    <a:lnB w="6350" cap="flat" cmpd="sng" algn="ctr">
                      <a:solidFill>
                        <a:srgbClr val="E6ECF5"/>
                      </a:solidFill>
                      <a:prstDash val="solid"/>
                      <a:round/>
                      <a:headEnd type="none" w="med" len="med"/>
                      <a:tailEnd type="none" w="med" len="med"/>
                    </a:lnB>
                  </a:tcPr>
                </a:tc>
                <a:tc>
                  <a:txBody>
                    <a:bodyPr/>
                    <a:lstStyle/>
                    <a:p>
                      <a:pPr indent="0" marL="0">
                        <a:buNone/>
                      </a:pPr>
                      <a:r>
                        <a:rPr lang="en-US" sz="900" b="1" dirty="0">
                          <a:solidFill>
                            <a:srgbClr val="566175"/>
                          </a:solidFill>
                          <a:latin typeface="Consolas" pitchFamily="34" charset="0"/>
                          <a:ea typeface="Consolas" pitchFamily="34" charset="-122"/>
                          <a:cs typeface="Consolas" pitchFamily="34" charset="-120"/>
                        </a:rPr>
                        <a:t>escola</a:t>
                      </a:r>
                      <a:endParaRPr lang="en-US" sz="900" dirty="0">
                        <a:latin typeface="Consolas" charset="0"/>
                        <a:ea typeface="Consolas" charset="0"/>
                        <a:cs typeface="Consolas" charset="0"/>
                      </a:endParaRPr>
                    </a:p>
                  </a:txBody>
                  <a:tcPr marL="0" marR="54864" marT="18288" marB="18288" anchor="ctr">
                    <a:lnL w="6350" cap="flat" cmpd="sng" algn="ctr">
                      <a:solidFill>
                        <a:srgbClr val="E6ECF5"/>
                      </a:solidFill>
                      <a:prstDash val="solid"/>
                      <a:round/>
                      <a:headEnd type="none" w="med" len="med"/>
                      <a:tailEnd type="none" w="med" len="med"/>
                    </a:lnL>
                    <a:lnR w="6350" cap="flat" cmpd="sng" algn="ctr">
                      <a:solidFill>
                        <a:srgbClr val="E6ECF5"/>
                      </a:solidFill>
                      <a:prstDash val="solid"/>
                      <a:round/>
                      <a:headEnd type="none" w="med" len="med"/>
                      <a:tailEnd type="none" w="med" len="med"/>
                    </a:lnR>
                    <a:lnT w="6350" cap="flat" cmpd="sng" algn="ctr">
                      <a:solidFill>
                        <a:srgbClr val="E6ECF5"/>
                      </a:solidFill>
                      <a:prstDash val="solid"/>
                      <a:round/>
                      <a:headEnd type="none" w="med" len="med"/>
                      <a:tailEnd type="none" w="med" len="med"/>
                    </a:lnT>
                    <a:lnB w="6350" cap="flat" cmpd="sng" algn="ctr">
                      <a:solidFill>
                        <a:srgbClr val="E6ECF5"/>
                      </a:solidFill>
                      <a:prstDash val="solid"/>
                      <a:round/>
                      <a:headEnd type="none" w="med" len="med"/>
                      <a:tailEnd type="none" w="med" len="med"/>
                    </a:lnB>
                  </a:tcPr>
                </a:tc>
              </a:tr>
              <a:tr h="237744">
                <a:tc>
                  <a:txBody>
                    <a:bodyPr/>
                    <a:lstStyle/>
                    <a:p>
                      <a:pPr indent="0" marL="0">
                        <a:buNone/>
                      </a:pPr>
                      <a:r>
                        <a:rPr lang="en-US" sz="1200" dirty="0">
                          <a:solidFill>
                            <a:srgbClr val="1F2937"/>
                          </a:solidFill>
                          <a:latin typeface="Consolas" pitchFamily="34" charset="0"/>
                          <a:ea typeface="Consolas" pitchFamily="34" charset="-122"/>
                          <a:cs typeface="Consolas" pitchFamily="34" charset="-120"/>
                        </a:rPr>
                        <a:t>2021</a:t>
                      </a:r>
                      <a:endParaRPr lang="en-US" sz="1200" dirty="0">
                        <a:latin typeface="Consolas" charset="0"/>
                        <a:ea typeface="Consolas" charset="0"/>
                        <a:cs typeface="Consolas" charset="0"/>
                      </a:endParaRPr>
                    </a:p>
                  </a:txBody>
                  <a:tcPr marL="0" marR="54864" marT="18288" marB="18288" anchor="ctr">
                    <a:lnL w="6350" cap="flat" cmpd="sng" algn="ctr">
                      <a:solidFill>
                        <a:srgbClr val="E6ECF5"/>
                      </a:solidFill>
                      <a:prstDash val="solid"/>
                      <a:round/>
                      <a:headEnd type="none" w="med" len="med"/>
                      <a:tailEnd type="none" w="med" len="med"/>
                    </a:lnL>
                    <a:lnR w="6350" cap="flat" cmpd="sng" algn="ctr">
                      <a:solidFill>
                        <a:srgbClr val="E6ECF5"/>
                      </a:solidFill>
                      <a:prstDash val="solid"/>
                      <a:round/>
                      <a:headEnd type="none" w="med" len="med"/>
                      <a:tailEnd type="none" w="med" len="med"/>
                    </a:lnR>
                    <a:lnT w="6350" cap="flat" cmpd="sng" algn="ctr">
                      <a:solidFill>
                        <a:srgbClr val="E6ECF5"/>
                      </a:solidFill>
                      <a:prstDash val="solid"/>
                      <a:round/>
                      <a:headEnd type="none" w="med" len="med"/>
                      <a:tailEnd type="none" w="med" len="med"/>
                    </a:lnT>
                    <a:lnB w="6350" cap="flat" cmpd="sng" algn="ctr">
                      <a:solidFill>
                        <a:srgbClr val="E6ECF5"/>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latin typeface="Consolas" pitchFamily="34" charset="0"/>
                          <a:ea typeface="Consolas" pitchFamily="34" charset="-122"/>
                          <a:cs typeface="Consolas" pitchFamily="34" charset="-120"/>
                        </a:rPr>
                        <a:t>19459</a:t>
                      </a:r>
                      <a:endParaRPr lang="en-US" sz="1200" dirty="0">
                        <a:latin typeface="Consolas" charset="0"/>
                        <a:ea typeface="Consolas" charset="0"/>
                        <a:cs typeface="Consolas" charset="0"/>
                      </a:endParaRPr>
                    </a:p>
                  </a:txBody>
                  <a:tcPr marL="0" marR="54864" marT="18288" marB="18288" anchor="ctr">
                    <a:lnL w="6350" cap="flat" cmpd="sng" algn="ctr">
                      <a:solidFill>
                        <a:srgbClr val="E6ECF5"/>
                      </a:solidFill>
                      <a:prstDash val="solid"/>
                      <a:round/>
                      <a:headEnd type="none" w="med" len="med"/>
                      <a:tailEnd type="none" w="med" len="med"/>
                    </a:lnL>
                    <a:lnR w="6350" cap="flat" cmpd="sng" algn="ctr">
                      <a:solidFill>
                        <a:srgbClr val="E6ECF5"/>
                      </a:solidFill>
                      <a:prstDash val="solid"/>
                      <a:round/>
                      <a:headEnd type="none" w="med" len="med"/>
                      <a:tailEnd type="none" w="med" len="med"/>
                    </a:lnR>
                    <a:lnT w="6350" cap="flat" cmpd="sng" algn="ctr">
                      <a:solidFill>
                        <a:srgbClr val="E6ECF5"/>
                      </a:solidFill>
                      <a:prstDash val="solid"/>
                      <a:round/>
                      <a:headEnd type="none" w="med" len="med"/>
                      <a:tailEnd type="none" w="med" len="med"/>
                    </a:lnT>
                    <a:lnB w="6350" cap="flat" cmpd="sng" algn="ctr">
                      <a:solidFill>
                        <a:srgbClr val="E6ECF5"/>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latin typeface="Consolas" pitchFamily="34" charset="0"/>
                          <a:ea typeface="Consolas" pitchFamily="34" charset="-122"/>
                          <a:cs typeface="Consolas" pitchFamily="34" charset="-120"/>
                        </a:rPr>
                        <a:t>UNIAO DE VILA NOVA I</a:t>
                      </a:r>
                      <a:endParaRPr lang="en-US" sz="1200" dirty="0">
                        <a:latin typeface="Consolas" charset="0"/>
                        <a:ea typeface="Consolas" charset="0"/>
                        <a:cs typeface="Consolas" charset="0"/>
                      </a:endParaRPr>
                    </a:p>
                  </a:txBody>
                  <a:tcPr marL="0" marR="54864" marT="18288" marB="18288" anchor="ctr">
                    <a:lnL w="6350" cap="flat" cmpd="sng" algn="ctr">
                      <a:solidFill>
                        <a:srgbClr val="E6ECF5"/>
                      </a:solidFill>
                      <a:prstDash val="solid"/>
                      <a:round/>
                      <a:headEnd type="none" w="med" len="med"/>
                      <a:tailEnd type="none" w="med" len="med"/>
                    </a:lnL>
                    <a:lnR w="6350" cap="flat" cmpd="sng" algn="ctr">
                      <a:solidFill>
                        <a:srgbClr val="E6ECF5"/>
                      </a:solidFill>
                      <a:prstDash val="solid"/>
                      <a:round/>
                      <a:headEnd type="none" w="med" len="med"/>
                      <a:tailEnd type="none" w="med" len="med"/>
                    </a:lnR>
                    <a:lnT w="6350" cap="flat" cmpd="sng" algn="ctr">
                      <a:solidFill>
                        <a:srgbClr val="E6ECF5"/>
                      </a:solidFill>
                      <a:prstDash val="solid"/>
                      <a:round/>
                      <a:headEnd type="none" w="med" len="med"/>
                      <a:tailEnd type="none" w="med" len="med"/>
                    </a:lnT>
                    <a:lnB w="6350" cap="flat" cmpd="sng" algn="ctr">
                      <a:solidFill>
                        <a:srgbClr val="E6ECF5"/>
                      </a:solidFill>
                      <a:prstDash val="solid"/>
                      <a:round/>
                      <a:headEnd type="none" w="med" len="med"/>
                      <a:tailEnd type="none" w="med" len="med"/>
                    </a:lnB>
                    <a:solidFill>
                      <a:srgbClr val="FFFFFF"/>
                    </a:solidFill>
                  </a:tcPr>
                </a:tc>
              </a:tr>
              <a:tr h="237744">
                <a:tc>
                  <a:txBody>
                    <a:bodyPr/>
                    <a:lstStyle/>
                    <a:p>
                      <a:pPr indent="0" marL="0">
                        <a:buNone/>
                      </a:pPr>
                      <a:r>
                        <a:rPr lang="en-US" sz="1200" dirty="0">
                          <a:solidFill>
                            <a:srgbClr val="1F2937"/>
                          </a:solidFill>
                          <a:latin typeface="Consolas" pitchFamily="34" charset="0"/>
                          <a:ea typeface="Consolas" pitchFamily="34" charset="-122"/>
                          <a:cs typeface="Consolas" pitchFamily="34" charset="-120"/>
                        </a:rPr>
                        <a:t>2022</a:t>
                      </a:r>
                      <a:endParaRPr lang="en-US" sz="1200" dirty="0">
                        <a:latin typeface="Consolas" charset="0"/>
                        <a:ea typeface="Consolas" charset="0"/>
                        <a:cs typeface="Consolas" charset="0"/>
                      </a:endParaRPr>
                    </a:p>
                  </a:txBody>
                  <a:tcPr marL="0" marR="54864" marT="18288" marB="18288" anchor="ctr">
                    <a:lnL w="6350" cap="flat" cmpd="sng" algn="ctr">
                      <a:solidFill>
                        <a:srgbClr val="E6ECF5"/>
                      </a:solidFill>
                      <a:prstDash val="solid"/>
                      <a:round/>
                      <a:headEnd type="none" w="med" len="med"/>
                      <a:tailEnd type="none" w="med" len="med"/>
                    </a:lnL>
                    <a:lnR w="6350" cap="flat" cmpd="sng" algn="ctr">
                      <a:solidFill>
                        <a:srgbClr val="E6ECF5"/>
                      </a:solidFill>
                      <a:prstDash val="solid"/>
                      <a:round/>
                      <a:headEnd type="none" w="med" len="med"/>
                      <a:tailEnd type="none" w="med" len="med"/>
                    </a:lnR>
                    <a:lnT w="6350" cap="flat" cmpd="sng" algn="ctr">
                      <a:solidFill>
                        <a:srgbClr val="E6ECF5"/>
                      </a:solidFill>
                      <a:prstDash val="solid"/>
                      <a:round/>
                      <a:headEnd type="none" w="med" len="med"/>
                      <a:tailEnd type="none" w="med" len="med"/>
                    </a:lnT>
                    <a:lnB w="6350" cap="flat" cmpd="sng" algn="ctr">
                      <a:solidFill>
                        <a:srgbClr val="E6ECF5"/>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latin typeface="Consolas" pitchFamily="34" charset="0"/>
                          <a:ea typeface="Consolas" pitchFamily="34" charset="-122"/>
                          <a:cs typeface="Consolas" pitchFamily="34" charset="-120"/>
                        </a:rPr>
                        <a:t>9209611322271640</a:t>
                      </a:r>
                      <a:endParaRPr lang="en-US" sz="1200" dirty="0">
                        <a:latin typeface="Consolas" charset="0"/>
                        <a:ea typeface="Consolas" charset="0"/>
                        <a:cs typeface="Consolas" charset="0"/>
                      </a:endParaRPr>
                    </a:p>
                  </a:txBody>
                  <a:tcPr marL="0" marR="54864" marT="18288" marB="18288" anchor="ctr">
                    <a:lnL w="6350" cap="flat" cmpd="sng" algn="ctr">
                      <a:solidFill>
                        <a:srgbClr val="E6ECF5"/>
                      </a:solidFill>
                      <a:prstDash val="solid"/>
                      <a:round/>
                      <a:headEnd type="none" w="med" len="med"/>
                      <a:tailEnd type="none" w="med" len="med"/>
                    </a:lnL>
                    <a:lnR w="6350" cap="flat" cmpd="sng" algn="ctr">
                      <a:solidFill>
                        <a:srgbClr val="E6ECF5"/>
                      </a:solidFill>
                      <a:prstDash val="solid"/>
                      <a:round/>
                      <a:headEnd type="none" w="med" len="med"/>
                      <a:tailEnd type="none" w="med" len="med"/>
                    </a:lnR>
                    <a:lnT w="6350" cap="flat" cmpd="sng" algn="ctr">
                      <a:solidFill>
                        <a:srgbClr val="E6ECF5"/>
                      </a:solidFill>
                      <a:prstDash val="solid"/>
                      <a:round/>
                      <a:headEnd type="none" w="med" len="med"/>
                      <a:tailEnd type="none" w="med" len="med"/>
                    </a:lnT>
                    <a:lnB w="6350" cap="flat" cmpd="sng" algn="ctr">
                      <a:solidFill>
                        <a:srgbClr val="E6ECF5"/>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latin typeface="Consolas" pitchFamily="34" charset="0"/>
                          <a:ea typeface="Consolas" pitchFamily="34" charset="-122"/>
                          <a:cs typeface="Consolas" pitchFamily="34" charset="-120"/>
                        </a:rPr>
                        <a:t>UNIAO DE VILA NOVA I</a:t>
                      </a:r>
                      <a:endParaRPr lang="en-US" sz="1200" dirty="0">
                        <a:latin typeface="Consolas" charset="0"/>
                        <a:ea typeface="Consolas" charset="0"/>
                        <a:cs typeface="Consolas" charset="0"/>
                      </a:endParaRPr>
                    </a:p>
                  </a:txBody>
                  <a:tcPr marL="0" marR="54864" marT="18288" marB="18288" anchor="ctr">
                    <a:lnL w="6350" cap="flat" cmpd="sng" algn="ctr">
                      <a:solidFill>
                        <a:srgbClr val="E6ECF5"/>
                      </a:solidFill>
                      <a:prstDash val="solid"/>
                      <a:round/>
                      <a:headEnd type="none" w="med" len="med"/>
                      <a:tailEnd type="none" w="med" len="med"/>
                    </a:lnL>
                    <a:lnR w="6350" cap="flat" cmpd="sng" algn="ctr">
                      <a:solidFill>
                        <a:srgbClr val="E6ECF5"/>
                      </a:solidFill>
                      <a:prstDash val="solid"/>
                      <a:round/>
                      <a:headEnd type="none" w="med" len="med"/>
                      <a:tailEnd type="none" w="med" len="med"/>
                    </a:lnR>
                    <a:lnT w="6350" cap="flat" cmpd="sng" algn="ctr">
                      <a:solidFill>
                        <a:srgbClr val="E6ECF5"/>
                      </a:solidFill>
                      <a:prstDash val="solid"/>
                      <a:round/>
                      <a:headEnd type="none" w="med" len="med"/>
                      <a:tailEnd type="none" w="med" len="med"/>
                    </a:lnT>
                    <a:lnB w="6350" cap="flat" cmpd="sng" algn="ctr">
                      <a:solidFill>
                        <a:srgbClr val="E6ECF5"/>
                      </a:solidFill>
                      <a:prstDash val="solid"/>
                      <a:round/>
                      <a:headEnd type="none" w="med" len="med"/>
                      <a:tailEnd type="none" w="med" len="med"/>
                    </a:lnB>
                    <a:solidFill>
                      <a:srgbClr val="FFFFFF"/>
                    </a:solidFill>
                  </a:tcPr>
                </a:tc>
              </a:tr>
              <a:tr h="237744">
                <a:tc>
                  <a:txBody>
                    <a:bodyPr/>
                    <a:lstStyle/>
                    <a:p>
                      <a:pPr indent="0" marL="0">
                        <a:buNone/>
                      </a:pPr>
                      <a:r>
                        <a:rPr lang="en-US" sz="1200" dirty="0">
                          <a:solidFill>
                            <a:srgbClr val="1F2937"/>
                          </a:solidFill>
                          <a:latin typeface="Consolas" pitchFamily="34" charset="0"/>
                          <a:ea typeface="Consolas" pitchFamily="34" charset="-122"/>
                          <a:cs typeface="Consolas" pitchFamily="34" charset="-120"/>
                        </a:rPr>
                        <a:t>2023</a:t>
                      </a:r>
                      <a:endParaRPr lang="en-US" sz="1200" dirty="0">
                        <a:latin typeface="Consolas" charset="0"/>
                        <a:ea typeface="Consolas" charset="0"/>
                        <a:cs typeface="Consolas" charset="0"/>
                      </a:endParaRPr>
                    </a:p>
                  </a:txBody>
                  <a:tcPr marL="0" marR="54864" marT="18288" marB="18288" anchor="ctr">
                    <a:lnL w="6350" cap="flat" cmpd="sng" algn="ctr">
                      <a:solidFill>
                        <a:srgbClr val="E6ECF5"/>
                      </a:solidFill>
                      <a:prstDash val="solid"/>
                      <a:round/>
                      <a:headEnd type="none" w="med" len="med"/>
                      <a:tailEnd type="none" w="med" len="med"/>
                    </a:lnL>
                    <a:lnR w="6350" cap="flat" cmpd="sng" algn="ctr">
                      <a:solidFill>
                        <a:srgbClr val="E6ECF5"/>
                      </a:solidFill>
                      <a:prstDash val="solid"/>
                      <a:round/>
                      <a:headEnd type="none" w="med" len="med"/>
                      <a:tailEnd type="none" w="med" len="med"/>
                    </a:lnR>
                    <a:lnT w="6350" cap="flat" cmpd="sng" algn="ctr">
                      <a:solidFill>
                        <a:srgbClr val="E6ECF5"/>
                      </a:solidFill>
                      <a:prstDash val="solid"/>
                      <a:round/>
                      <a:headEnd type="none" w="med" len="med"/>
                      <a:tailEnd type="none" w="med" len="med"/>
                    </a:lnT>
                    <a:lnB w="6350" cap="flat" cmpd="sng" algn="ctr">
                      <a:solidFill>
                        <a:srgbClr val="E6ECF5"/>
                      </a:solidFill>
                      <a:prstDash val="solid"/>
                      <a:round/>
                      <a:headEnd type="none" w="med" len="med"/>
                      <a:tailEnd type="none" w="med" len="med"/>
                    </a:lnB>
                    <a:solidFill>
                      <a:srgbClr val="FFF4E2"/>
                    </a:solidFill>
                  </a:tcPr>
                </a:tc>
                <a:tc>
                  <a:txBody>
                    <a:bodyPr/>
                    <a:lstStyle/>
                    <a:p>
                      <a:pPr indent="0" marL="0">
                        <a:buNone/>
                      </a:pPr>
                      <a:r>
                        <a:rPr lang="en-US" sz="1200" dirty="0">
                          <a:solidFill>
                            <a:srgbClr val="1F2937"/>
                          </a:solidFill>
                          <a:latin typeface="Consolas" pitchFamily="34" charset="0"/>
                          <a:ea typeface="Consolas" pitchFamily="34" charset="-122"/>
                          <a:cs typeface="Consolas" pitchFamily="34" charset="-120"/>
                        </a:rPr>
                        <a:t>9,20961E+15</a:t>
                      </a:r>
                      <a:endParaRPr lang="en-US" sz="1200" dirty="0">
                        <a:latin typeface="Consolas" charset="0"/>
                        <a:ea typeface="Consolas" charset="0"/>
                        <a:cs typeface="Consolas" charset="0"/>
                      </a:endParaRPr>
                    </a:p>
                  </a:txBody>
                  <a:tcPr marL="0" marR="54864" marT="18288" marB="18288" anchor="ctr">
                    <a:lnL w="6350" cap="flat" cmpd="sng" algn="ctr">
                      <a:solidFill>
                        <a:srgbClr val="E6ECF5"/>
                      </a:solidFill>
                      <a:prstDash val="solid"/>
                      <a:round/>
                      <a:headEnd type="none" w="med" len="med"/>
                      <a:tailEnd type="none" w="med" len="med"/>
                    </a:lnL>
                    <a:lnR w="6350" cap="flat" cmpd="sng" algn="ctr">
                      <a:solidFill>
                        <a:srgbClr val="E6ECF5"/>
                      </a:solidFill>
                      <a:prstDash val="solid"/>
                      <a:round/>
                      <a:headEnd type="none" w="med" len="med"/>
                      <a:tailEnd type="none" w="med" len="med"/>
                    </a:lnR>
                    <a:lnT w="6350" cap="flat" cmpd="sng" algn="ctr">
                      <a:solidFill>
                        <a:srgbClr val="E6ECF5"/>
                      </a:solidFill>
                      <a:prstDash val="solid"/>
                      <a:round/>
                      <a:headEnd type="none" w="med" len="med"/>
                      <a:tailEnd type="none" w="med" len="med"/>
                    </a:lnT>
                    <a:lnB w="6350" cap="flat" cmpd="sng" algn="ctr">
                      <a:solidFill>
                        <a:srgbClr val="E6ECF5"/>
                      </a:solidFill>
                      <a:prstDash val="solid"/>
                      <a:round/>
                      <a:headEnd type="none" w="med" len="med"/>
                      <a:tailEnd type="none" w="med" len="med"/>
                    </a:lnB>
                    <a:solidFill>
                      <a:srgbClr val="FFF4E2"/>
                    </a:solidFill>
                  </a:tcPr>
                </a:tc>
                <a:tc>
                  <a:txBody>
                    <a:bodyPr/>
                    <a:lstStyle/>
                    <a:p>
                      <a:pPr indent="0" marL="0">
                        <a:buNone/>
                      </a:pPr>
                      <a:r>
                        <a:rPr lang="en-US" sz="1200" dirty="0">
                          <a:solidFill>
                            <a:srgbClr val="1F2937"/>
                          </a:solidFill>
                          <a:latin typeface="Consolas" pitchFamily="34" charset="0"/>
                          <a:ea typeface="Consolas" pitchFamily="34" charset="-122"/>
                          <a:cs typeface="Consolas" pitchFamily="34" charset="-120"/>
                        </a:rPr>
                        <a:t>UNIAO DE VILA NOVA I</a:t>
                      </a:r>
                      <a:endParaRPr lang="en-US" sz="1200" dirty="0">
                        <a:latin typeface="Consolas" charset="0"/>
                        <a:ea typeface="Consolas" charset="0"/>
                        <a:cs typeface="Consolas" charset="0"/>
                      </a:endParaRPr>
                    </a:p>
                  </a:txBody>
                  <a:tcPr marL="0" marR="54864" marT="18288" marB="18288" anchor="ctr">
                    <a:lnL w="6350" cap="flat" cmpd="sng" algn="ctr">
                      <a:solidFill>
                        <a:srgbClr val="E6ECF5"/>
                      </a:solidFill>
                      <a:prstDash val="solid"/>
                      <a:round/>
                      <a:headEnd type="none" w="med" len="med"/>
                      <a:tailEnd type="none" w="med" len="med"/>
                    </a:lnL>
                    <a:lnR w="6350" cap="flat" cmpd="sng" algn="ctr">
                      <a:solidFill>
                        <a:srgbClr val="E6ECF5"/>
                      </a:solidFill>
                      <a:prstDash val="solid"/>
                      <a:round/>
                      <a:headEnd type="none" w="med" len="med"/>
                      <a:tailEnd type="none" w="med" len="med"/>
                    </a:lnR>
                    <a:lnT w="6350" cap="flat" cmpd="sng" algn="ctr">
                      <a:solidFill>
                        <a:srgbClr val="E6ECF5"/>
                      </a:solidFill>
                      <a:prstDash val="solid"/>
                      <a:round/>
                      <a:headEnd type="none" w="med" len="med"/>
                      <a:tailEnd type="none" w="med" len="med"/>
                    </a:lnT>
                    <a:lnB w="6350" cap="flat" cmpd="sng" algn="ctr">
                      <a:solidFill>
                        <a:srgbClr val="E6ECF5"/>
                      </a:solidFill>
                      <a:prstDash val="solid"/>
                      <a:round/>
                      <a:headEnd type="none" w="med" len="med"/>
                      <a:tailEnd type="none" w="med" len="med"/>
                    </a:lnB>
                    <a:solidFill>
                      <a:srgbClr val="FFF4E2"/>
                    </a:solidFill>
                  </a:tcPr>
                </a:tc>
              </a:tr>
              <a:tr h="237744">
                <a:tc>
                  <a:txBody>
                    <a:bodyPr/>
                    <a:lstStyle/>
                    <a:p>
                      <a:pPr indent="0" marL="0">
                        <a:buNone/>
                      </a:pPr>
                      <a:r>
                        <a:rPr lang="en-US" sz="1200" dirty="0">
                          <a:solidFill>
                            <a:srgbClr val="1F2937"/>
                          </a:solidFill>
                          <a:latin typeface="Consolas" pitchFamily="34" charset="0"/>
                          <a:ea typeface="Consolas" pitchFamily="34" charset="-122"/>
                          <a:cs typeface="Consolas" pitchFamily="34" charset="-120"/>
                        </a:rPr>
                        <a:t>2023</a:t>
                      </a:r>
                      <a:endParaRPr lang="en-US" sz="1200" dirty="0">
                        <a:latin typeface="Consolas" charset="0"/>
                        <a:ea typeface="Consolas" charset="0"/>
                        <a:cs typeface="Consolas" charset="0"/>
                      </a:endParaRPr>
                    </a:p>
                  </a:txBody>
                  <a:tcPr marL="0" marR="54864" marT="18288" marB="18288" anchor="ctr">
                    <a:lnL w="6350" cap="flat" cmpd="sng" algn="ctr">
                      <a:solidFill>
                        <a:srgbClr val="E6ECF5"/>
                      </a:solidFill>
                      <a:prstDash val="solid"/>
                      <a:round/>
                      <a:headEnd type="none" w="med" len="med"/>
                      <a:tailEnd type="none" w="med" len="med"/>
                    </a:lnL>
                    <a:lnR w="6350" cap="flat" cmpd="sng" algn="ctr">
                      <a:solidFill>
                        <a:srgbClr val="E6ECF5"/>
                      </a:solidFill>
                      <a:prstDash val="solid"/>
                      <a:round/>
                      <a:headEnd type="none" w="med" len="med"/>
                      <a:tailEnd type="none" w="med" len="med"/>
                    </a:lnR>
                    <a:lnT w="6350" cap="flat" cmpd="sng" algn="ctr">
                      <a:solidFill>
                        <a:srgbClr val="E6ECF5"/>
                      </a:solidFill>
                      <a:prstDash val="solid"/>
                      <a:round/>
                      <a:headEnd type="none" w="med" len="med"/>
                      <a:tailEnd type="none" w="med" len="med"/>
                    </a:lnT>
                    <a:lnB w="6350" cap="flat" cmpd="sng" algn="ctr">
                      <a:solidFill>
                        <a:srgbClr val="E6ECF5"/>
                      </a:solidFill>
                      <a:prstDash val="solid"/>
                      <a:round/>
                      <a:headEnd type="none" w="med" len="med"/>
                      <a:tailEnd type="none" w="med" len="med"/>
                    </a:lnB>
                    <a:solidFill>
                      <a:srgbClr val="FFF4E2"/>
                    </a:solidFill>
                  </a:tcPr>
                </a:tc>
                <a:tc>
                  <a:txBody>
                    <a:bodyPr/>
                    <a:lstStyle/>
                    <a:p>
                      <a:pPr indent="0" marL="0">
                        <a:buNone/>
                      </a:pPr>
                      <a:r>
                        <a:rPr lang="en-US" sz="1200" dirty="0">
                          <a:solidFill>
                            <a:srgbClr val="1F2937"/>
                          </a:solidFill>
                          <a:latin typeface="Consolas" pitchFamily="34" charset="0"/>
                          <a:ea typeface="Consolas" pitchFamily="34" charset="-122"/>
                          <a:cs typeface="Consolas" pitchFamily="34" charset="-120"/>
                        </a:rPr>
                        <a:t>9,20961E+15</a:t>
                      </a:r>
                      <a:endParaRPr lang="en-US" sz="1200" dirty="0">
                        <a:latin typeface="Consolas" charset="0"/>
                        <a:ea typeface="Consolas" charset="0"/>
                        <a:cs typeface="Consolas" charset="0"/>
                      </a:endParaRPr>
                    </a:p>
                  </a:txBody>
                  <a:tcPr marL="0" marR="54864" marT="18288" marB="18288" anchor="ctr">
                    <a:lnL w="6350" cap="flat" cmpd="sng" algn="ctr">
                      <a:solidFill>
                        <a:srgbClr val="E6ECF5"/>
                      </a:solidFill>
                      <a:prstDash val="solid"/>
                      <a:round/>
                      <a:headEnd type="none" w="med" len="med"/>
                      <a:tailEnd type="none" w="med" len="med"/>
                    </a:lnL>
                    <a:lnR w="6350" cap="flat" cmpd="sng" algn="ctr">
                      <a:solidFill>
                        <a:srgbClr val="E6ECF5"/>
                      </a:solidFill>
                      <a:prstDash val="solid"/>
                      <a:round/>
                      <a:headEnd type="none" w="med" len="med"/>
                      <a:tailEnd type="none" w="med" len="med"/>
                    </a:lnR>
                    <a:lnT w="6350" cap="flat" cmpd="sng" algn="ctr">
                      <a:solidFill>
                        <a:srgbClr val="E6ECF5"/>
                      </a:solidFill>
                      <a:prstDash val="solid"/>
                      <a:round/>
                      <a:headEnd type="none" w="med" len="med"/>
                      <a:tailEnd type="none" w="med" len="med"/>
                    </a:lnT>
                    <a:lnB w="6350" cap="flat" cmpd="sng" algn="ctr">
                      <a:solidFill>
                        <a:srgbClr val="E6ECF5"/>
                      </a:solidFill>
                      <a:prstDash val="solid"/>
                      <a:round/>
                      <a:headEnd type="none" w="med" len="med"/>
                      <a:tailEnd type="none" w="med" len="med"/>
                    </a:lnB>
                    <a:solidFill>
                      <a:srgbClr val="FFF4E2"/>
                    </a:solidFill>
                  </a:tcPr>
                </a:tc>
                <a:tc>
                  <a:txBody>
                    <a:bodyPr/>
                    <a:lstStyle/>
                    <a:p>
                      <a:pPr indent="0" marL="0">
                        <a:buNone/>
                      </a:pPr>
                      <a:r>
                        <a:rPr lang="en-US" sz="1200" dirty="0">
                          <a:solidFill>
                            <a:srgbClr val="1F2937"/>
                          </a:solidFill>
                          <a:latin typeface="Consolas" pitchFamily="34" charset="0"/>
                          <a:ea typeface="Consolas" pitchFamily="34" charset="-122"/>
                          <a:cs typeface="Consolas" pitchFamily="34" charset="-120"/>
                        </a:rPr>
                        <a:t>BEIJA FLOR</a:t>
                      </a:r>
                      <a:endParaRPr lang="en-US" sz="1200" dirty="0">
                        <a:latin typeface="Consolas" charset="0"/>
                        <a:ea typeface="Consolas" charset="0"/>
                        <a:cs typeface="Consolas" charset="0"/>
                      </a:endParaRPr>
                    </a:p>
                  </a:txBody>
                  <a:tcPr marL="0" marR="54864" marT="18288" marB="18288" anchor="ctr">
                    <a:lnL w="6350" cap="flat" cmpd="sng" algn="ctr">
                      <a:solidFill>
                        <a:srgbClr val="E6ECF5"/>
                      </a:solidFill>
                      <a:prstDash val="solid"/>
                      <a:round/>
                      <a:headEnd type="none" w="med" len="med"/>
                      <a:tailEnd type="none" w="med" len="med"/>
                    </a:lnL>
                    <a:lnR w="6350" cap="flat" cmpd="sng" algn="ctr">
                      <a:solidFill>
                        <a:srgbClr val="E6ECF5"/>
                      </a:solidFill>
                      <a:prstDash val="solid"/>
                      <a:round/>
                      <a:headEnd type="none" w="med" len="med"/>
                      <a:tailEnd type="none" w="med" len="med"/>
                    </a:lnR>
                    <a:lnT w="6350" cap="flat" cmpd="sng" algn="ctr">
                      <a:solidFill>
                        <a:srgbClr val="E6ECF5"/>
                      </a:solidFill>
                      <a:prstDash val="solid"/>
                      <a:round/>
                      <a:headEnd type="none" w="med" len="med"/>
                      <a:tailEnd type="none" w="med" len="med"/>
                    </a:lnT>
                    <a:lnB w="6350" cap="flat" cmpd="sng" algn="ctr">
                      <a:solidFill>
                        <a:srgbClr val="E6ECF5"/>
                      </a:solidFill>
                      <a:prstDash val="solid"/>
                      <a:round/>
                      <a:headEnd type="none" w="med" len="med"/>
                      <a:tailEnd type="none" w="med" len="med"/>
                    </a:lnB>
                    <a:solidFill>
                      <a:srgbClr val="FFF4E2"/>
                    </a:solidFill>
                  </a:tcPr>
                </a:tc>
              </a:tr>
            </a:tbl>
          </a:graphicData>
        </a:graphic>
      </p:graphicFrame>
      <p:sp>
        <p:nvSpPr>
          <p:cNvPr id="8" name="anim:5:279"/>
          <p:cNvSpPr txBox="1"/>
          <p:nvPr/>
        </p:nvSpPr>
        <p:spPr>
          <a:xfrm>
            <a:off x="5394960" y="1965960"/>
            <a:ext cx="1371600" cy="640080"/>
          </a:xfrm>
          <a:prstGeom prst="rect">
            <a:avLst/>
          </a:prstGeom>
          <a:noFill/>
          <a:ln/>
        </p:spPr>
        <p:txBody>
          <a:bodyPr wrap="square" lIns="0" tIns="0" rIns="0" bIns="0" rtlCol="0" anchor="ctr"/>
          <a:lstStyle/>
          <a:p>
            <a:pPr algn="ctr" indent="0" marL="0">
              <a:buNone/>
            </a:pPr>
            <a:r>
              <a:rPr lang="en-US" sz="4000" b="1" dirty="0">
                <a:solidFill>
                  <a:srgbClr val="F2A541"/>
                </a:solidFill>
                <a:latin typeface="Calibri" pitchFamily="34" charset="0"/>
                <a:ea typeface="Calibri" pitchFamily="34" charset="-122"/>
                <a:cs typeface="Calibri" pitchFamily="34" charset="-120"/>
              </a:rPr>
              <a:t>→</a:t>
            </a:r>
            <a:endParaRPr lang="en-US" sz="4000" dirty="0"/>
          </a:p>
        </p:txBody>
      </p:sp>
      <p:sp>
        <p:nvSpPr>
          <p:cNvPr id="9" name="anim:5:280"/>
          <p:cNvSpPr/>
          <p:nvPr/>
        </p:nvSpPr>
        <p:spPr>
          <a:xfrm>
            <a:off x="6766560" y="1463040"/>
            <a:ext cx="4846320" cy="1691640"/>
          </a:xfrm>
          <a:prstGeom prst="roundRect">
            <a:avLst>
              <a:gd name="adj" fmla="val 6486"/>
            </a:avLst>
          </a:prstGeom>
          <a:solidFill>
            <a:srgbClr val="FFFFFF"/>
          </a:solidFill>
          <a:ln w="9525">
            <a:solidFill>
              <a:srgbClr val="2E5EAA"/>
            </a:solidFill>
            <a:prstDash val="solid"/>
          </a:ln>
          <a:effectLst>
            <a:outerShdw sx="100000" sy="100000" kx="0" ky="0" algn="bl" rotWithShape="0" blurRad="101600" dist="25400" dir="5400000">
              <a:srgbClr val="1B2A4A">
                <a:alpha val="14000"/>
              </a:srgbClr>
            </a:outerShdw>
          </a:effectLst>
        </p:spPr>
      </p:sp>
      <p:sp>
        <p:nvSpPr>
          <p:cNvPr id="10" name="anim:5:281"/>
          <p:cNvSpPr txBox="1"/>
          <p:nvPr/>
        </p:nvSpPr>
        <p:spPr>
          <a:xfrm>
            <a:off x="6949440" y="1572768"/>
            <a:ext cx="4480560" cy="228600"/>
          </a:xfrm>
          <a:prstGeom prst="rect">
            <a:avLst/>
          </a:prstGeom>
          <a:noFill/>
          <a:ln/>
        </p:spPr>
        <p:txBody>
          <a:bodyPr wrap="square" lIns="0" tIns="0" rIns="0" bIns="0" rtlCol="0" anchor="t"/>
          <a:lstStyle/>
          <a:p>
            <a:pPr algn="l" indent="0" marL="0">
              <a:buNone/>
            </a:pPr>
            <a:r>
              <a:rPr lang="en-US" sz="1000" b="1" spc="100" kern="0" dirty="0">
                <a:solidFill>
                  <a:srgbClr val="566175"/>
                </a:solidFill>
                <a:latin typeface="Calibri" pitchFamily="34" charset="0"/>
                <a:ea typeface="Calibri" pitchFamily="34" charset="-122"/>
                <a:cs typeface="Calibri" pitchFamily="34" charset="-120"/>
              </a:rPr>
              <a:t>COMO FICOU NO DATA WAREHOUSE</a:t>
            </a:r>
            <a:endParaRPr lang="en-US" sz="1000" dirty="0"/>
          </a:p>
        </p:txBody>
      </p:sp>
      <p:graphicFrame>
        <p:nvGraphicFramePr>
          <p:cNvPr id="29" name="Table 1"/>
          <p:cNvGraphicFramePr>
            <a:graphicFrameLocks noGrp="1"/>
          </p:cNvGraphicFramePr>
          <p:nvPr>
            <p:extLst>
              <p:ext uri="{D42A27DB-BD31-4B8C-83A1-F6EECF244321}">
                <p14:modId xmlns:p14="http://schemas.microsoft.com/office/powerpoint/2010/main" val="1579011935"/>
              </p:ext>
            </p:extLst>
          </p:nvPr>
        </p:nvGraphicFramePr>
        <p:xfrm>
          <a:off x="6949440" y="1847088"/>
          <a:ext cx="4480560" cy="914400"/>
        </p:xfrm>
        <a:graphic>
          <a:graphicData uri="http://schemas.openxmlformats.org/drawingml/2006/table">
            <a:tbl>
              <a:tblPr/>
              <a:tblGrid>
                <a:gridCol w="548640"/>
                <a:gridCol w="1783080"/>
                <a:gridCol w="2148840"/>
              </a:tblGrid>
              <a:tr h="237744">
                <a:tc>
                  <a:txBody>
                    <a:bodyPr/>
                    <a:lstStyle/>
                    <a:p>
                      <a:pPr indent="0" marL="0">
                        <a:buNone/>
                      </a:pPr>
                      <a:r>
                        <a:rPr lang="en-US" sz="900" b="1" dirty="0">
                          <a:solidFill>
                            <a:srgbClr val="566175"/>
                          </a:solidFill>
                          <a:latin typeface="Consolas" pitchFamily="34" charset="0"/>
                          <a:ea typeface="Consolas" pitchFamily="34" charset="-122"/>
                          <a:cs typeface="Consolas" pitchFamily="34" charset="-120"/>
                        </a:rPr>
                        <a:t>ano</a:t>
                      </a:r>
                      <a:endParaRPr lang="en-US" sz="900" dirty="0">
                        <a:latin typeface="Consolas" charset="0"/>
                        <a:ea typeface="Consolas" charset="0"/>
                        <a:cs typeface="Consolas" charset="0"/>
                      </a:endParaRPr>
                    </a:p>
                  </a:txBody>
                  <a:tcPr marL="0" marR="54864" marT="18288" marB="18288" anchor="ctr">
                    <a:lnL w="6350" cap="flat" cmpd="sng" algn="ctr">
                      <a:solidFill>
                        <a:srgbClr val="E6ECF5"/>
                      </a:solidFill>
                      <a:prstDash val="solid"/>
                      <a:round/>
                      <a:headEnd type="none" w="med" len="med"/>
                      <a:tailEnd type="none" w="med" len="med"/>
                    </a:lnL>
                    <a:lnR w="6350" cap="flat" cmpd="sng" algn="ctr">
                      <a:solidFill>
                        <a:srgbClr val="E6ECF5"/>
                      </a:solidFill>
                      <a:prstDash val="solid"/>
                      <a:round/>
                      <a:headEnd type="none" w="med" len="med"/>
                      <a:tailEnd type="none" w="med" len="med"/>
                    </a:lnR>
                    <a:lnT w="6350" cap="flat" cmpd="sng" algn="ctr">
                      <a:solidFill>
                        <a:srgbClr val="E6ECF5"/>
                      </a:solidFill>
                      <a:prstDash val="solid"/>
                      <a:round/>
                      <a:headEnd type="none" w="med" len="med"/>
                      <a:tailEnd type="none" w="med" len="med"/>
                    </a:lnT>
                    <a:lnB w="6350" cap="flat" cmpd="sng" algn="ctr">
                      <a:solidFill>
                        <a:srgbClr val="E6ECF5"/>
                      </a:solidFill>
                      <a:prstDash val="solid"/>
                      <a:round/>
                      <a:headEnd type="none" w="med" len="med"/>
                      <a:tailEnd type="none" w="med" len="med"/>
                    </a:lnB>
                  </a:tcPr>
                </a:tc>
                <a:tc>
                  <a:txBody>
                    <a:bodyPr/>
                    <a:lstStyle/>
                    <a:p>
                      <a:pPr indent="0" marL="0">
                        <a:buNone/>
                      </a:pPr>
                      <a:r>
                        <a:rPr lang="en-US" sz="900" b="1" dirty="0">
                          <a:solidFill>
                            <a:srgbClr val="566175"/>
                          </a:solidFill>
                          <a:latin typeface="Consolas" pitchFamily="34" charset="0"/>
                          <a:ea typeface="Consolas" pitchFamily="34" charset="-122"/>
                          <a:cs typeface="Consolas" pitchFamily="34" charset="-120"/>
                        </a:rPr>
                        <a:t>código no DW</a:t>
                      </a:r>
                      <a:endParaRPr lang="en-US" sz="900" dirty="0">
                        <a:latin typeface="Consolas" charset="0"/>
                        <a:ea typeface="Consolas" charset="0"/>
                        <a:cs typeface="Consolas" charset="0"/>
                      </a:endParaRPr>
                    </a:p>
                  </a:txBody>
                  <a:tcPr marL="0" marR="54864" marT="18288" marB="18288" anchor="ctr">
                    <a:lnL w="6350" cap="flat" cmpd="sng" algn="ctr">
                      <a:solidFill>
                        <a:srgbClr val="E6ECF5"/>
                      </a:solidFill>
                      <a:prstDash val="solid"/>
                      <a:round/>
                      <a:headEnd type="none" w="med" len="med"/>
                      <a:tailEnd type="none" w="med" len="med"/>
                    </a:lnL>
                    <a:lnR w="6350" cap="flat" cmpd="sng" algn="ctr">
                      <a:solidFill>
                        <a:srgbClr val="E6ECF5"/>
                      </a:solidFill>
                      <a:prstDash val="solid"/>
                      <a:round/>
                      <a:headEnd type="none" w="med" len="med"/>
                      <a:tailEnd type="none" w="med" len="med"/>
                    </a:lnR>
                    <a:lnT w="6350" cap="flat" cmpd="sng" algn="ctr">
                      <a:solidFill>
                        <a:srgbClr val="E6ECF5"/>
                      </a:solidFill>
                      <a:prstDash val="solid"/>
                      <a:round/>
                      <a:headEnd type="none" w="med" len="med"/>
                      <a:tailEnd type="none" w="med" len="med"/>
                    </a:lnT>
                    <a:lnB w="6350" cap="flat" cmpd="sng" algn="ctr">
                      <a:solidFill>
                        <a:srgbClr val="E6ECF5"/>
                      </a:solidFill>
                      <a:prstDash val="solid"/>
                      <a:round/>
                      <a:headEnd type="none" w="med" len="med"/>
                      <a:tailEnd type="none" w="med" len="med"/>
                    </a:lnB>
                  </a:tcPr>
                </a:tc>
                <a:tc>
                  <a:txBody>
                    <a:bodyPr/>
                    <a:lstStyle/>
                    <a:p>
                      <a:pPr indent="0" marL="0">
                        <a:buNone/>
                      </a:pPr>
                      <a:r>
                        <a:rPr lang="en-US" sz="900" b="1" dirty="0">
                          <a:solidFill>
                            <a:srgbClr val="566175"/>
                          </a:solidFill>
                          <a:latin typeface="Consolas" pitchFamily="34" charset="0"/>
                          <a:ea typeface="Consolas" pitchFamily="34" charset="-122"/>
                          <a:cs typeface="Consolas" pitchFamily="34" charset="-120"/>
                        </a:rPr>
                        <a:t>como</a:t>
                      </a:r>
                      <a:endParaRPr lang="en-US" sz="900" dirty="0">
                        <a:latin typeface="Consolas" charset="0"/>
                        <a:ea typeface="Consolas" charset="0"/>
                        <a:cs typeface="Consolas" charset="0"/>
                      </a:endParaRPr>
                    </a:p>
                  </a:txBody>
                  <a:tcPr marL="0" marR="54864" marT="18288" marB="18288" anchor="ctr">
                    <a:lnL w="6350" cap="flat" cmpd="sng" algn="ctr">
                      <a:solidFill>
                        <a:srgbClr val="E6ECF5"/>
                      </a:solidFill>
                      <a:prstDash val="solid"/>
                      <a:round/>
                      <a:headEnd type="none" w="med" len="med"/>
                      <a:tailEnd type="none" w="med" len="med"/>
                    </a:lnL>
                    <a:lnR w="6350" cap="flat" cmpd="sng" algn="ctr">
                      <a:solidFill>
                        <a:srgbClr val="E6ECF5"/>
                      </a:solidFill>
                      <a:prstDash val="solid"/>
                      <a:round/>
                      <a:headEnd type="none" w="med" len="med"/>
                      <a:tailEnd type="none" w="med" len="med"/>
                    </a:lnR>
                    <a:lnT w="6350" cap="flat" cmpd="sng" algn="ctr">
                      <a:solidFill>
                        <a:srgbClr val="E6ECF5"/>
                      </a:solidFill>
                      <a:prstDash val="solid"/>
                      <a:round/>
                      <a:headEnd type="none" w="med" len="med"/>
                      <a:tailEnd type="none" w="med" len="med"/>
                    </a:lnT>
                    <a:lnB w="6350" cap="flat" cmpd="sng" algn="ctr">
                      <a:solidFill>
                        <a:srgbClr val="E6ECF5"/>
                      </a:solidFill>
                      <a:prstDash val="solid"/>
                      <a:round/>
                      <a:headEnd type="none" w="med" len="med"/>
                      <a:tailEnd type="none" w="med" len="med"/>
                    </a:lnB>
                  </a:tcPr>
                </a:tc>
              </a:tr>
              <a:tr h="237744">
                <a:tc>
                  <a:txBody>
                    <a:bodyPr/>
                    <a:lstStyle/>
                    <a:p>
                      <a:pPr indent="0" marL="0">
                        <a:buNone/>
                      </a:pPr>
                      <a:r>
                        <a:rPr lang="en-US" sz="1200" dirty="0">
                          <a:solidFill>
                            <a:srgbClr val="1F2937"/>
                          </a:solidFill>
                          <a:latin typeface="Consolas" pitchFamily="34" charset="0"/>
                          <a:ea typeface="Consolas" pitchFamily="34" charset="-122"/>
                          <a:cs typeface="Consolas" pitchFamily="34" charset="-120"/>
                        </a:rPr>
                        <a:t>2021</a:t>
                      </a:r>
                      <a:endParaRPr lang="en-US" sz="1200" dirty="0">
                        <a:latin typeface="Consolas" charset="0"/>
                        <a:ea typeface="Consolas" charset="0"/>
                        <a:cs typeface="Consolas" charset="0"/>
                      </a:endParaRPr>
                    </a:p>
                  </a:txBody>
                  <a:tcPr marL="0" marR="54864" marT="18288" marB="18288" anchor="ctr">
                    <a:lnL w="6350" cap="flat" cmpd="sng" algn="ctr">
                      <a:solidFill>
                        <a:srgbClr val="E6ECF5"/>
                      </a:solidFill>
                      <a:prstDash val="solid"/>
                      <a:round/>
                      <a:headEnd type="none" w="med" len="med"/>
                      <a:tailEnd type="none" w="med" len="med"/>
                    </a:lnL>
                    <a:lnR w="6350" cap="flat" cmpd="sng" algn="ctr">
                      <a:solidFill>
                        <a:srgbClr val="E6ECF5"/>
                      </a:solidFill>
                      <a:prstDash val="solid"/>
                      <a:round/>
                      <a:headEnd type="none" w="med" len="med"/>
                      <a:tailEnd type="none" w="med" len="med"/>
                    </a:lnR>
                    <a:lnT w="6350" cap="flat" cmpd="sng" algn="ctr">
                      <a:solidFill>
                        <a:srgbClr val="E6ECF5"/>
                      </a:solidFill>
                      <a:prstDash val="solid"/>
                      <a:round/>
                      <a:headEnd type="none" w="med" len="med"/>
                      <a:tailEnd type="none" w="med" len="med"/>
                    </a:lnT>
                    <a:lnB w="6350" cap="flat" cmpd="sng" algn="ctr">
                      <a:solidFill>
                        <a:srgbClr val="E6ECF5"/>
                      </a:solidFill>
                      <a:prstDash val="solid"/>
                      <a:round/>
                      <a:headEnd type="none" w="med" len="med"/>
                      <a:tailEnd type="none" w="med" len="med"/>
                    </a:lnB>
                    <a:solidFill>
                      <a:srgbClr val="FFFFFF"/>
                    </a:solidFill>
                  </a:tcPr>
                </a:tc>
                <a:tc>
                  <a:txBody>
                    <a:bodyPr/>
                    <a:lstStyle/>
                    <a:p>
                      <a:pPr indent="0" marL="0">
                        <a:buNone/>
                      </a:pPr>
                      <a:r>
                        <a:rPr lang="en-US" sz="1200" b="1" dirty="0">
                          <a:solidFill>
                            <a:srgbClr val="2E5EAA"/>
                          </a:solidFill>
                          <a:latin typeface="Consolas" pitchFamily="34" charset="0"/>
                          <a:ea typeface="Consolas" pitchFamily="34" charset="-122"/>
                          <a:cs typeface="Consolas" pitchFamily="34" charset="-120"/>
                        </a:rPr>
                        <a:t>19459</a:t>
                      </a:r>
                      <a:endParaRPr lang="en-US" sz="1200" dirty="0">
                        <a:latin typeface="Consolas" charset="0"/>
                        <a:ea typeface="Consolas" charset="0"/>
                        <a:cs typeface="Consolas" charset="0"/>
                      </a:endParaRPr>
                    </a:p>
                  </a:txBody>
                  <a:tcPr marL="0" marR="54864" marT="18288" marB="18288" anchor="ctr">
                    <a:lnL w="6350" cap="flat" cmpd="sng" algn="ctr">
                      <a:solidFill>
                        <a:srgbClr val="E6ECF5"/>
                      </a:solidFill>
                      <a:prstDash val="solid"/>
                      <a:round/>
                      <a:headEnd type="none" w="med" len="med"/>
                      <a:tailEnd type="none" w="med" len="med"/>
                    </a:lnL>
                    <a:lnR w="6350" cap="flat" cmpd="sng" algn="ctr">
                      <a:solidFill>
                        <a:srgbClr val="E6ECF5"/>
                      </a:solidFill>
                      <a:prstDash val="solid"/>
                      <a:round/>
                      <a:headEnd type="none" w="med" len="med"/>
                      <a:tailEnd type="none" w="med" len="med"/>
                    </a:lnR>
                    <a:lnT w="6350" cap="flat" cmpd="sng" algn="ctr">
                      <a:solidFill>
                        <a:srgbClr val="E6ECF5"/>
                      </a:solidFill>
                      <a:prstDash val="solid"/>
                      <a:round/>
                      <a:headEnd type="none" w="med" len="med"/>
                      <a:tailEnd type="none" w="med" len="med"/>
                    </a:lnT>
                    <a:lnB w="6350" cap="flat" cmpd="sng" algn="ctr">
                      <a:solidFill>
                        <a:srgbClr val="E6ECF5"/>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latin typeface="Consolas" pitchFamily="34" charset="0"/>
                          <a:ea typeface="Consolas" pitchFamily="34" charset="-122"/>
                          <a:cs typeface="Consolas" pitchFamily="34" charset="-120"/>
                        </a:rPr>
                        <a:t>publicado</a:t>
                      </a:r>
                      <a:endParaRPr lang="en-US" sz="1200" dirty="0">
                        <a:latin typeface="Consolas" charset="0"/>
                        <a:ea typeface="Consolas" charset="0"/>
                        <a:cs typeface="Consolas" charset="0"/>
                      </a:endParaRPr>
                    </a:p>
                  </a:txBody>
                  <a:tcPr marL="0" marR="54864" marT="18288" marB="18288" anchor="ctr">
                    <a:lnL w="6350" cap="flat" cmpd="sng" algn="ctr">
                      <a:solidFill>
                        <a:srgbClr val="E6ECF5"/>
                      </a:solidFill>
                      <a:prstDash val="solid"/>
                      <a:round/>
                      <a:headEnd type="none" w="med" len="med"/>
                      <a:tailEnd type="none" w="med" len="med"/>
                    </a:lnL>
                    <a:lnR w="6350" cap="flat" cmpd="sng" algn="ctr">
                      <a:solidFill>
                        <a:srgbClr val="E6ECF5"/>
                      </a:solidFill>
                      <a:prstDash val="solid"/>
                      <a:round/>
                      <a:headEnd type="none" w="med" len="med"/>
                      <a:tailEnd type="none" w="med" len="med"/>
                    </a:lnR>
                    <a:lnT w="6350" cap="flat" cmpd="sng" algn="ctr">
                      <a:solidFill>
                        <a:srgbClr val="E6ECF5"/>
                      </a:solidFill>
                      <a:prstDash val="solid"/>
                      <a:round/>
                      <a:headEnd type="none" w="med" len="med"/>
                      <a:tailEnd type="none" w="med" len="med"/>
                    </a:lnT>
                    <a:lnB w="6350" cap="flat" cmpd="sng" algn="ctr">
                      <a:solidFill>
                        <a:srgbClr val="E6ECF5"/>
                      </a:solidFill>
                      <a:prstDash val="solid"/>
                      <a:round/>
                      <a:headEnd type="none" w="med" len="med"/>
                      <a:tailEnd type="none" w="med" len="med"/>
                    </a:lnB>
                    <a:solidFill>
                      <a:srgbClr val="FFFFFF"/>
                    </a:solidFill>
                  </a:tcPr>
                </a:tc>
              </a:tr>
              <a:tr h="237744">
                <a:tc>
                  <a:txBody>
                    <a:bodyPr/>
                    <a:lstStyle/>
                    <a:p>
                      <a:pPr indent="0" marL="0">
                        <a:buNone/>
                      </a:pPr>
                      <a:r>
                        <a:rPr lang="en-US" sz="1200" dirty="0">
                          <a:solidFill>
                            <a:srgbClr val="1F2937"/>
                          </a:solidFill>
                          <a:latin typeface="Consolas" pitchFamily="34" charset="0"/>
                          <a:ea typeface="Consolas" pitchFamily="34" charset="-122"/>
                          <a:cs typeface="Consolas" pitchFamily="34" charset="-120"/>
                        </a:rPr>
                        <a:t>2022</a:t>
                      </a:r>
                      <a:endParaRPr lang="en-US" sz="1200" dirty="0">
                        <a:latin typeface="Consolas" charset="0"/>
                        <a:ea typeface="Consolas" charset="0"/>
                        <a:cs typeface="Consolas" charset="0"/>
                      </a:endParaRPr>
                    </a:p>
                  </a:txBody>
                  <a:tcPr marL="0" marR="54864" marT="18288" marB="18288" anchor="ctr">
                    <a:lnL w="6350" cap="flat" cmpd="sng" algn="ctr">
                      <a:solidFill>
                        <a:srgbClr val="E6ECF5"/>
                      </a:solidFill>
                      <a:prstDash val="solid"/>
                      <a:round/>
                      <a:headEnd type="none" w="med" len="med"/>
                      <a:tailEnd type="none" w="med" len="med"/>
                    </a:lnL>
                    <a:lnR w="6350" cap="flat" cmpd="sng" algn="ctr">
                      <a:solidFill>
                        <a:srgbClr val="E6ECF5"/>
                      </a:solidFill>
                      <a:prstDash val="solid"/>
                      <a:round/>
                      <a:headEnd type="none" w="med" len="med"/>
                      <a:tailEnd type="none" w="med" len="med"/>
                    </a:lnR>
                    <a:lnT w="6350" cap="flat" cmpd="sng" algn="ctr">
                      <a:solidFill>
                        <a:srgbClr val="E6ECF5"/>
                      </a:solidFill>
                      <a:prstDash val="solid"/>
                      <a:round/>
                      <a:headEnd type="none" w="med" len="med"/>
                      <a:tailEnd type="none" w="med" len="med"/>
                    </a:lnT>
                    <a:lnB w="6350" cap="flat" cmpd="sng" algn="ctr">
                      <a:solidFill>
                        <a:srgbClr val="E6ECF5"/>
                      </a:solidFill>
                      <a:prstDash val="solid"/>
                      <a:round/>
                      <a:headEnd type="none" w="med" len="med"/>
                      <a:tailEnd type="none" w="med" len="med"/>
                    </a:lnB>
                    <a:solidFill>
                      <a:srgbClr val="FFFFFF"/>
                    </a:solidFill>
                  </a:tcPr>
                </a:tc>
                <a:tc>
                  <a:txBody>
                    <a:bodyPr/>
                    <a:lstStyle/>
                    <a:p>
                      <a:pPr indent="0" marL="0">
                        <a:buNone/>
                      </a:pPr>
                      <a:r>
                        <a:rPr lang="en-US" sz="1200" b="1" dirty="0">
                          <a:solidFill>
                            <a:srgbClr val="2E5EAA"/>
                          </a:solidFill>
                          <a:latin typeface="Consolas" pitchFamily="34" charset="0"/>
                          <a:ea typeface="Consolas" pitchFamily="34" charset="-122"/>
                          <a:cs typeface="Consolas" pitchFamily="34" charset="-120"/>
                        </a:rPr>
                        <a:t>19459</a:t>
                      </a:r>
                      <a:endParaRPr lang="en-US" sz="1200" dirty="0">
                        <a:latin typeface="Consolas" charset="0"/>
                        <a:ea typeface="Consolas" charset="0"/>
                        <a:cs typeface="Consolas" charset="0"/>
                      </a:endParaRPr>
                    </a:p>
                  </a:txBody>
                  <a:tcPr marL="0" marR="54864" marT="18288" marB="18288" anchor="ctr">
                    <a:lnL w="6350" cap="flat" cmpd="sng" algn="ctr">
                      <a:solidFill>
                        <a:srgbClr val="E6ECF5"/>
                      </a:solidFill>
                      <a:prstDash val="solid"/>
                      <a:round/>
                      <a:headEnd type="none" w="med" len="med"/>
                      <a:tailEnd type="none" w="med" len="med"/>
                    </a:lnL>
                    <a:lnR w="6350" cap="flat" cmpd="sng" algn="ctr">
                      <a:solidFill>
                        <a:srgbClr val="E6ECF5"/>
                      </a:solidFill>
                      <a:prstDash val="solid"/>
                      <a:round/>
                      <a:headEnd type="none" w="med" len="med"/>
                      <a:tailEnd type="none" w="med" len="med"/>
                    </a:lnR>
                    <a:lnT w="6350" cap="flat" cmpd="sng" algn="ctr">
                      <a:solidFill>
                        <a:srgbClr val="E6ECF5"/>
                      </a:solidFill>
                      <a:prstDash val="solid"/>
                      <a:round/>
                      <a:headEnd type="none" w="med" len="med"/>
                      <a:tailEnd type="none" w="med" len="med"/>
                    </a:lnT>
                    <a:lnB w="6350" cap="flat" cmpd="sng" algn="ctr">
                      <a:solidFill>
                        <a:srgbClr val="E6ECF5"/>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latin typeface="Consolas" pitchFamily="34" charset="0"/>
                          <a:ea typeface="Consolas" pitchFamily="34" charset="-122"/>
                          <a:cs typeface="Consolas" pitchFamily="34" charset="-120"/>
                        </a:rPr>
                        <a:t>recuperado</a:t>
                      </a:r>
                      <a:endParaRPr lang="en-US" sz="1200" dirty="0">
                        <a:latin typeface="Consolas" charset="0"/>
                        <a:ea typeface="Consolas" charset="0"/>
                        <a:cs typeface="Consolas" charset="0"/>
                      </a:endParaRPr>
                    </a:p>
                  </a:txBody>
                  <a:tcPr marL="0" marR="54864" marT="18288" marB="18288" anchor="ctr">
                    <a:lnL w="6350" cap="flat" cmpd="sng" algn="ctr">
                      <a:solidFill>
                        <a:srgbClr val="E6ECF5"/>
                      </a:solidFill>
                      <a:prstDash val="solid"/>
                      <a:round/>
                      <a:headEnd type="none" w="med" len="med"/>
                      <a:tailEnd type="none" w="med" len="med"/>
                    </a:lnL>
                    <a:lnR w="6350" cap="flat" cmpd="sng" algn="ctr">
                      <a:solidFill>
                        <a:srgbClr val="E6ECF5"/>
                      </a:solidFill>
                      <a:prstDash val="solid"/>
                      <a:round/>
                      <a:headEnd type="none" w="med" len="med"/>
                      <a:tailEnd type="none" w="med" len="med"/>
                    </a:lnR>
                    <a:lnT w="6350" cap="flat" cmpd="sng" algn="ctr">
                      <a:solidFill>
                        <a:srgbClr val="E6ECF5"/>
                      </a:solidFill>
                      <a:prstDash val="solid"/>
                      <a:round/>
                      <a:headEnd type="none" w="med" len="med"/>
                      <a:tailEnd type="none" w="med" len="med"/>
                    </a:lnT>
                    <a:lnB w="6350" cap="flat" cmpd="sng" algn="ctr">
                      <a:solidFill>
                        <a:srgbClr val="E6ECF5"/>
                      </a:solidFill>
                      <a:prstDash val="solid"/>
                      <a:round/>
                      <a:headEnd type="none" w="med" len="med"/>
                      <a:tailEnd type="none" w="med" len="med"/>
                    </a:lnB>
                    <a:solidFill>
                      <a:srgbClr val="FFFFFF"/>
                    </a:solidFill>
                  </a:tcPr>
                </a:tc>
              </a:tr>
              <a:tr h="237744">
                <a:tc>
                  <a:txBody>
                    <a:bodyPr/>
                    <a:lstStyle/>
                    <a:p>
                      <a:pPr indent="0" marL="0">
                        <a:buNone/>
                      </a:pPr>
                      <a:r>
                        <a:rPr lang="en-US" sz="1200" dirty="0">
                          <a:solidFill>
                            <a:srgbClr val="1F2937"/>
                          </a:solidFill>
                          <a:latin typeface="Consolas" pitchFamily="34" charset="0"/>
                          <a:ea typeface="Consolas" pitchFamily="34" charset="-122"/>
                          <a:cs typeface="Consolas" pitchFamily="34" charset="-120"/>
                        </a:rPr>
                        <a:t>2023</a:t>
                      </a:r>
                      <a:endParaRPr lang="en-US" sz="1200" dirty="0">
                        <a:latin typeface="Consolas" charset="0"/>
                        <a:ea typeface="Consolas" charset="0"/>
                        <a:cs typeface="Consolas" charset="0"/>
                      </a:endParaRPr>
                    </a:p>
                  </a:txBody>
                  <a:tcPr marL="0" marR="54864" marT="18288" marB="18288" anchor="ctr">
                    <a:lnL w="6350" cap="flat" cmpd="sng" algn="ctr">
                      <a:solidFill>
                        <a:srgbClr val="E6ECF5"/>
                      </a:solidFill>
                      <a:prstDash val="solid"/>
                      <a:round/>
                      <a:headEnd type="none" w="med" len="med"/>
                      <a:tailEnd type="none" w="med" len="med"/>
                    </a:lnL>
                    <a:lnR w="6350" cap="flat" cmpd="sng" algn="ctr">
                      <a:solidFill>
                        <a:srgbClr val="E6ECF5"/>
                      </a:solidFill>
                      <a:prstDash val="solid"/>
                      <a:round/>
                      <a:headEnd type="none" w="med" len="med"/>
                      <a:tailEnd type="none" w="med" len="med"/>
                    </a:lnR>
                    <a:lnT w="6350" cap="flat" cmpd="sng" algn="ctr">
                      <a:solidFill>
                        <a:srgbClr val="E6ECF5"/>
                      </a:solidFill>
                      <a:prstDash val="solid"/>
                      <a:round/>
                      <a:headEnd type="none" w="med" len="med"/>
                      <a:tailEnd type="none" w="med" len="med"/>
                    </a:lnT>
                    <a:lnB w="6350" cap="flat" cmpd="sng" algn="ctr">
                      <a:solidFill>
                        <a:srgbClr val="E6ECF5"/>
                      </a:solidFill>
                      <a:prstDash val="solid"/>
                      <a:round/>
                      <a:headEnd type="none" w="med" len="med"/>
                      <a:tailEnd type="none" w="med" len="med"/>
                    </a:lnB>
                    <a:solidFill>
                      <a:srgbClr val="FFFFFF"/>
                    </a:solidFill>
                  </a:tcPr>
                </a:tc>
                <a:tc>
                  <a:txBody>
                    <a:bodyPr/>
                    <a:lstStyle/>
                    <a:p>
                      <a:pPr indent="0" marL="0">
                        <a:buNone/>
                      </a:pPr>
                      <a:r>
                        <a:rPr lang="en-US" sz="1200" b="1" dirty="0">
                          <a:solidFill>
                            <a:srgbClr val="2E5EAA"/>
                          </a:solidFill>
                          <a:latin typeface="Consolas" pitchFamily="34" charset="0"/>
                          <a:ea typeface="Consolas" pitchFamily="34" charset="-122"/>
                          <a:cs typeface="Consolas" pitchFamily="34" charset="-120"/>
                        </a:rPr>
                        <a:t>19459</a:t>
                      </a:r>
                      <a:endParaRPr lang="en-US" sz="1200" dirty="0">
                        <a:latin typeface="Consolas" charset="0"/>
                        <a:ea typeface="Consolas" charset="0"/>
                        <a:cs typeface="Consolas" charset="0"/>
                      </a:endParaRPr>
                    </a:p>
                  </a:txBody>
                  <a:tcPr marL="0" marR="54864" marT="18288" marB="18288" anchor="ctr">
                    <a:lnL w="6350" cap="flat" cmpd="sng" algn="ctr">
                      <a:solidFill>
                        <a:srgbClr val="E6ECF5"/>
                      </a:solidFill>
                      <a:prstDash val="solid"/>
                      <a:round/>
                      <a:headEnd type="none" w="med" len="med"/>
                      <a:tailEnd type="none" w="med" len="med"/>
                    </a:lnL>
                    <a:lnR w="6350" cap="flat" cmpd="sng" algn="ctr">
                      <a:solidFill>
                        <a:srgbClr val="E6ECF5"/>
                      </a:solidFill>
                      <a:prstDash val="solid"/>
                      <a:round/>
                      <a:headEnd type="none" w="med" len="med"/>
                      <a:tailEnd type="none" w="med" len="med"/>
                    </a:lnR>
                    <a:lnT w="6350" cap="flat" cmpd="sng" algn="ctr">
                      <a:solidFill>
                        <a:srgbClr val="E6ECF5"/>
                      </a:solidFill>
                      <a:prstDash val="solid"/>
                      <a:round/>
                      <a:headEnd type="none" w="med" len="med"/>
                      <a:tailEnd type="none" w="med" len="med"/>
                    </a:lnT>
                    <a:lnB w="6350" cap="flat" cmpd="sng" algn="ctr">
                      <a:solidFill>
                        <a:srgbClr val="E6ECF5"/>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latin typeface="Consolas" pitchFamily="34" charset="0"/>
                          <a:ea typeface="Consolas" pitchFamily="34" charset="-122"/>
                          <a:cs typeface="Consolas" pitchFamily="34" charset="-120"/>
                        </a:rPr>
                        <a:t>recuperado</a:t>
                      </a:r>
                      <a:endParaRPr lang="en-US" sz="1200" dirty="0">
                        <a:latin typeface="Consolas" charset="0"/>
                        <a:ea typeface="Consolas" charset="0"/>
                        <a:cs typeface="Consolas" charset="0"/>
                      </a:endParaRPr>
                    </a:p>
                  </a:txBody>
                  <a:tcPr marL="0" marR="54864" marT="18288" marB="18288" anchor="ctr">
                    <a:lnL w="6350" cap="flat" cmpd="sng" algn="ctr">
                      <a:solidFill>
                        <a:srgbClr val="E6ECF5"/>
                      </a:solidFill>
                      <a:prstDash val="solid"/>
                      <a:round/>
                      <a:headEnd type="none" w="med" len="med"/>
                      <a:tailEnd type="none" w="med" len="med"/>
                    </a:lnL>
                    <a:lnR w="6350" cap="flat" cmpd="sng" algn="ctr">
                      <a:solidFill>
                        <a:srgbClr val="E6ECF5"/>
                      </a:solidFill>
                      <a:prstDash val="solid"/>
                      <a:round/>
                      <a:headEnd type="none" w="med" len="med"/>
                      <a:tailEnd type="none" w="med" len="med"/>
                    </a:lnR>
                    <a:lnT w="6350" cap="flat" cmpd="sng" algn="ctr">
                      <a:solidFill>
                        <a:srgbClr val="E6ECF5"/>
                      </a:solidFill>
                      <a:prstDash val="solid"/>
                      <a:round/>
                      <a:headEnd type="none" w="med" len="med"/>
                      <a:tailEnd type="none" w="med" len="med"/>
                    </a:lnT>
                    <a:lnB w="6350" cap="flat" cmpd="sng" algn="ctr">
                      <a:solidFill>
                        <a:srgbClr val="E6ECF5"/>
                      </a:solidFill>
                      <a:prstDash val="solid"/>
                      <a:round/>
                      <a:headEnd type="none" w="med" len="med"/>
                      <a:tailEnd type="none" w="med" len="med"/>
                    </a:lnB>
                    <a:solidFill>
                      <a:srgbClr val="FFFFFF"/>
                    </a:solidFill>
                  </a:tcPr>
                </a:tc>
              </a:tr>
              <a:tr h="237744">
                <a:tc>
                  <a:txBody>
                    <a:bodyPr/>
                    <a:lstStyle/>
                    <a:p>
                      <a:pPr indent="0" marL="0">
                        <a:buNone/>
                      </a:pPr>
                      <a:r>
                        <a:rPr lang="en-US" sz="1200" dirty="0">
                          <a:solidFill>
                            <a:srgbClr val="1F2937"/>
                          </a:solidFill>
                          <a:latin typeface="Consolas" pitchFamily="34" charset="0"/>
                          <a:ea typeface="Consolas" pitchFamily="34" charset="-122"/>
                          <a:cs typeface="Consolas" pitchFamily="34" charset="-120"/>
                        </a:rPr>
                        <a:t>2023</a:t>
                      </a:r>
                      <a:endParaRPr lang="en-US" sz="1200" dirty="0">
                        <a:latin typeface="Consolas" charset="0"/>
                        <a:ea typeface="Consolas" charset="0"/>
                        <a:cs typeface="Consolas" charset="0"/>
                      </a:endParaRPr>
                    </a:p>
                  </a:txBody>
                  <a:tcPr marL="0" marR="54864" marT="18288" marB="18288" anchor="ctr">
                    <a:lnL w="6350" cap="flat" cmpd="sng" algn="ctr">
                      <a:solidFill>
                        <a:srgbClr val="E6ECF5"/>
                      </a:solidFill>
                      <a:prstDash val="solid"/>
                      <a:round/>
                      <a:headEnd type="none" w="med" len="med"/>
                      <a:tailEnd type="none" w="med" len="med"/>
                    </a:lnL>
                    <a:lnR w="6350" cap="flat" cmpd="sng" algn="ctr">
                      <a:solidFill>
                        <a:srgbClr val="E6ECF5"/>
                      </a:solidFill>
                      <a:prstDash val="solid"/>
                      <a:round/>
                      <a:headEnd type="none" w="med" len="med"/>
                      <a:tailEnd type="none" w="med" len="med"/>
                    </a:lnR>
                    <a:lnT w="6350" cap="flat" cmpd="sng" algn="ctr">
                      <a:solidFill>
                        <a:srgbClr val="E6ECF5"/>
                      </a:solidFill>
                      <a:prstDash val="solid"/>
                      <a:round/>
                      <a:headEnd type="none" w="med" len="med"/>
                      <a:tailEnd type="none" w="med" len="med"/>
                    </a:lnT>
                    <a:lnB w="6350" cap="flat" cmpd="sng" algn="ctr">
                      <a:solidFill>
                        <a:srgbClr val="E6ECF5"/>
                      </a:solidFill>
                      <a:prstDash val="solid"/>
                      <a:round/>
                      <a:headEnd type="none" w="med" len="med"/>
                      <a:tailEnd type="none" w="med" len="med"/>
                    </a:lnB>
                    <a:solidFill>
                      <a:srgbClr val="FFFFFF"/>
                    </a:solidFill>
                  </a:tcPr>
                </a:tc>
                <a:tc>
                  <a:txBody>
                    <a:bodyPr/>
                    <a:lstStyle/>
                    <a:p>
                      <a:pPr indent="0" marL="0">
                        <a:buNone/>
                      </a:pPr>
                      <a:r>
                        <a:rPr lang="en-US" sz="1200" b="1" dirty="0">
                          <a:solidFill>
                            <a:srgbClr val="2E5EAA"/>
                          </a:solidFill>
                          <a:latin typeface="Consolas" pitchFamily="34" charset="0"/>
                          <a:ea typeface="Consolas" pitchFamily="34" charset="-122"/>
                          <a:cs typeface="Consolas" pitchFamily="34" charset="-120"/>
                        </a:rPr>
                        <a:t>SINT-…</a:t>
                      </a:r>
                      <a:endParaRPr lang="en-US" sz="1200" dirty="0">
                        <a:latin typeface="Consolas" charset="0"/>
                        <a:ea typeface="Consolas" charset="0"/>
                        <a:cs typeface="Consolas" charset="0"/>
                      </a:endParaRPr>
                    </a:p>
                  </a:txBody>
                  <a:tcPr marL="0" marR="54864" marT="18288" marB="18288" anchor="ctr">
                    <a:lnL w="6350" cap="flat" cmpd="sng" algn="ctr">
                      <a:solidFill>
                        <a:srgbClr val="E6ECF5"/>
                      </a:solidFill>
                      <a:prstDash val="solid"/>
                      <a:round/>
                      <a:headEnd type="none" w="med" len="med"/>
                      <a:tailEnd type="none" w="med" len="med"/>
                    </a:lnL>
                    <a:lnR w="6350" cap="flat" cmpd="sng" algn="ctr">
                      <a:solidFill>
                        <a:srgbClr val="E6ECF5"/>
                      </a:solidFill>
                      <a:prstDash val="solid"/>
                      <a:round/>
                      <a:headEnd type="none" w="med" len="med"/>
                      <a:tailEnd type="none" w="med" len="med"/>
                    </a:lnR>
                    <a:lnT w="6350" cap="flat" cmpd="sng" algn="ctr">
                      <a:solidFill>
                        <a:srgbClr val="E6ECF5"/>
                      </a:solidFill>
                      <a:prstDash val="solid"/>
                      <a:round/>
                      <a:headEnd type="none" w="med" len="med"/>
                      <a:tailEnd type="none" w="med" len="med"/>
                    </a:lnT>
                    <a:lnB w="6350" cap="flat" cmpd="sng" algn="ctr">
                      <a:solidFill>
                        <a:srgbClr val="E6ECF5"/>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latin typeface="Consolas" pitchFamily="34" charset="0"/>
                          <a:ea typeface="Consolas" pitchFamily="34" charset="-122"/>
                          <a:cs typeface="Consolas" pitchFamily="34" charset="-120"/>
                        </a:rPr>
                        <a:t>chave sintética</a:t>
                      </a:r>
                      <a:endParaRPr lang="en-US" sz="1200" dirty="0">
                        <a:latin typeface="Consolas" charset="0"/>
                        <a:ea typeface="Consolas" charset="0"/>
                        <a:cs typeface="Consolas" charset="0"/>
                      </a:endParaRPr>
                    </a:p>
                  </a:txBody>
                  <a:tcPr marL="0" marR="54864" marT="18288" marB="18288" anchor="ctr">
                    <a:lnL w="6350" cap="flat" cmpd="sng" algn="ctr">
                      <a:solidFill>
                        <a:srgbClr val="E6ECF5"/>
                      </a:solidFill>
                      <a:prstDash val="solid"/>
                      <a:round/>
                      <a:headEnd type="none" w="med" len="med"/>
                      <a:tailEnd type="none" w="med" len="med"/>
                    </a:lnL>
                    <a:lnR w="6350" cap="flat" cmpd="sng" algn="ctr">
                      <a:solidFill>
                        <a:srgbClr val="E6ECF5"/>
                      </a:solidFill>
                      <a:prstDash val="solid"/>
                      <a:round/>
                      <a:headEnd type="none" w="med" len="med"/>
                      <a:tailEnd type="none" w="med" len="med"/>
                    </a:lnR>
                    <a:lnT w="6350" cap="flat" cmpd="sng" algn="ctr">
                      <a:solidFill>
                        <a:srgbClr val="E6ECF5"/>
                      </a:solidFill>
                      <a:prstDash val="solid"/>
                      <a:round/>
                      <a:headEnd type="none" w="med" len="med"/>
                      <a:tailEnd type="none" w="med" len="med"/>
                    </a:lnT>
                    <a:lnB w="6350" cap="flat" cmpd="sng" algn="ctr">
                      <a:solidFill>
                        <a:srgbClr val="E6ECF5"/>
                      </a:solidFill>
                      <a:prstDash val="solid"/>
                      <a:round/>
                      <a:headEnd type="none" w="med" len="med"/>
                      <a:tailEnd type="none" w="med" len="med"/>
                    </a:lnB>
                    <a:solidFill>
                      <a:srgbClr val="FFFFFF"/>
                    </a:solidFill>
                  </a:tcPr>
                </a:tc>
              </a:tr>
            </a:tbl>
          </a:graphicData>
        </a:graphic>
      </p:graphicFrame>
      <p:sp>
        <p:nvSpPr>
          <p:cNvPr id="12" name="anim:2:282"/>
          <p:cNvSpPr/>
          <p:nvPr/>
        </p:nvSpPr>
        <p:spPr>
          <a:xfrm>
            <a:off x="548640" y="3364992"/>
            <a:ext cx="3566160" cy="1298448"/>
          </a:xfrm>
          <a:prstGeom prst="roundRect">
            <a:avLst>
              <a:gd name="adj" fmla="val 8451"/>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13" name="anim:2:283"/>
          <p:cNvSpPr/>
          <p:nvPr/>
        </p:nvSpPr>
        <p:spPr>
          <a:xfrm>
            <a:off x="731520" y="3493008"/>
            <a:ext cx="292608" cy="292608"/>
          </a:xfrm>
          <a:prstGeom prst="ellipse">
            <a:avLst/>
          </a:prstGeom>
          <a:solidFill>
            <a:srgbClr val="F2A541"/>
          </a:solidFill>
          <a:ln w="12700">
            <a:solidFill>
              <a:srgbClr val="F2A541"/>
            </a:solidFill>
            <a:prstDash val="solid"/>
          </a:ln>
        </p:spPr>
      </p:sp>
      <p:sp>
        <p:nvSpPr>
          <p:cNvPr id="14" name="anim:2:284"/>
          <p:cNvSpPr txBox="1"/>
          <p:nvPr/>
        </p:nvSpPr>
        <p:spPr>
          <a:xfrm>
            <a:off x="731520" y="3493008"/>
            <a:ext cx="292608" cy="292608"/>
          </a:xfrm>
          <a:prstGeom prst="rect">
            <a:avLst/>
          </a:prstGeom>
          <a:noFill/>
          <a:ln/>
        </p:spPr>
        <p:txBody>
          <a:bodyPr wrap="square" lIns="0" tIns="0" rIns="0" bIns="0" rtlCol="0" anchor="ctr"/>
          <a:lstStyle/>
          <a:p>
            <a:pPr algn="ctr" indent="0" marL="0">
              <a:buNone/>
            </a:pPr>
            <a:r>
              <a:rPr lang="en-US" sz="1200" b="1" dirty="0">
                <a:solidFill>
                  <a:srgbClr val="1B2A4A"/>
                </a:solidFill>
                <a:latin typeface="Calibri" pitchFamily="34" charset="0"/>
                <a:ea typeface="Calibri" pitchFamily="34" charset="-122"/>
                <a:cs typeface="Calibri" pitchFamily="34" charset="-120"/>
              </a:rPr>
              <a:t>1</a:t>
            </a:r>
            <a:endParaRPr lang="en-US" sz="1200" dirty="0"/>
          </a:p>
        </p:txBody>
      </p:sp>
      <p:sp>
        <p:nvSpPr>
          <p:cNvPr id="15" name="anim:2:285"/>
          <p:cNvSpPr txBox="1"/>
          <p:nvPr/>
        </p:nvSpPr>
        <p:spPr>
          <a:xfrm>
            <a:off x="1115568" y="3474720"/>
            <a:ext cx="2834640" cy="329184"/>
          </a:xfrm>
          <a:prstGeom prst="rect">
            <a:avLst/>
          </a:prstGeom>
          <a:noFill/>
          <a:ln/>
        </p:spPr>
        <p:txBody>
          <a:bodyPr wrap="square" lIns="0" tIns="0" rIns="0" bIns="0" rtlCol="0" anchor="ctr"/>
          <a:lstStyle/>
          <a:p>
            <a:pPr algn="l" indent="0" marL="0">
              <a:buNone/>
            </a:pPr>
            <a:r>
              <a:rPr lang="en-US" sz="1500" b="1" dirty="0">
                <a:solidFill>
                  <a:srgbClr val="1B2A4A"/>
                </a:solidFill>
                <a:latin typeface="Calibri" pitchFamily="34" charset="0"/>
                <a:ea typeface="Calibri" pitchFamily="34" charset="-122"/>
                <a:cs typeface="Calibri" pitchFamily="34" charset="-120"/>
              </a:rPr>
              <a:t>Medir o ano</a:t>
            </a:r>
            <a:endParaRPr lang="en-US" sz="1500" dirty="0"/>
          </a:p>
        </p:txBody>
      </p:sp>
      <p:sp>
        <p:nvSpPr>
          <p:cNvPr id="16" name="anim:2:286"/>
          <p:cNvSpPr txBox="1"/>
          <p:nvPr/>
        </p:nvSpPr>
        <p:spPr>
          <a:xfrm>
            <a:off x="731520" y="3886200"/>
            <a:ext cx="3200400" cy="731520"/>
          </a:xfrm>
          <a:prstGeom prst="rect">
            <a:avLst/>
          </a:prstGeom>
          <a:noFill/>
          <a:ln/>
        </p:spPr>
        <p:txBody>
          <a:bodyPr wrap="square" lIns="0" tIns="0" rIns="0" bIns="0" rtlCol="0" anchor="t"/>
          <a:lstStyle/>
          <a:p>
            <a:pPr indent="0" marL="0">
              <a:buNone/>
            </a:pPr>
            <a:r>
              <a:rPr lang="en-US" sz="1250" dirty="0">
                <a:solidFill>
                  <a:srgbClr val="1F2937"/>
                </a:solidFill>
                <a:latin typeface="Calibri" pitchFamily="34" charset="0"/>
                <a:ea typeface="Calibri" pitchFamily="34" charset="-122"/>
                <a:cs typeface="Calibri" pitchFamily="34" charset="-120"/>
              </a:rPr>
              <a:t>Em 2023 há "E+" e </a:t>
            </a:r>
            <a:pPr indent="0" marL="0">
              <a:buNone/>
            </a:pPr>
            <a:r>
              <a:rPr lang="en-US" sz="1250" b="1" dirty="0">
                <a:solidFill>
                  <a:srgbClr val="1B2A4A"/>
                </a:solidFill>
                <a:latin typeface="Calibri" pitchFamily="34" charset="0"/>
                <a:ea typeface="Calibri" pitchFamily="34" charset="-122"/>
                <a:cs typeface="Calibri" pitchFamily="34" charset="-120"/>
              </a:rPr>
              <a:t>o mesmo código em duas escolas</a:t>
            </a:r>
            <a:pPr indent="0" marL="0">
              <a:buNone/>
            </a:pPr>
            <a:r>
              <a:rPr lang="en-US" sz="1250" dirty="0">
                <a:solidFill>
                  <a:srgbClr val="1F2937"/>
                </a:solidFill>
                <a:latin typeface="Calibri" pitchFamily="34" charset="0"/>
                <a:ea typeface="Calibri" pitchFamily="34" charset="-122"/>
                <a:cs typeface="Calibri" pitchFamily="34" charset="-120"/>
              </a:rPr>
              <a:t>: o ano está corrompido. 2021 é o último ano confiável.</a:t>
            </a:r>
            <a:endParaRPr lang="en-US" sz="1250" dirty="0"/>
          </a:p>
        </p:txBody>
      </p:sp>
      <p:sp>
        <p:nvSpPr>
          <p:cNvPr id="17" name="anim:3:287"/>
          <p:cNvSpPr/>
          <p:nvPr/>
        </p:nvSpPr>
        <p:spPr>
          <a:xfrm>
            <a:off x="4297680" y="3364992"/>
            <a:ext cx="3566160" cy="1298448"/>
          </a:xfrm>
          <a:prstGeom prst="roundRect">
            <a:avLst>
              <a:gd name="adj" fmla="val 8451"/>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18" name="anim:3:288"/>
          <p:cNvSpPr/>
          <p:nvPr/>
        </p:nvSpPr>
        <p:spPr>
          <a:xfrm>
            <a:off x="4480560" y="3493008"/>
            <a:ext cx="292608" cy="292608"/>
          </a:xfrm>
          <a:prstGeom prst="ellipse">
            <a:avLst/>
          </a:prstGeom>
          <a:solidFill>
            <a:srgbClr val="F2A541"/>
          </a:solidFill>
          <a:ln w="12700">
            <a:solidFill>
              <a:srgbClr val="F2A541"/>
            </a:solidFill>
            <a:prstDash val="solid"/>
          </a:ln>
        </p:spPr>
      </p:sp>
      <p:sp>
        <p:nvSpPr>
          <p:cNvPr id="19" name="anim:3:289"/>
          <p:cNvSpPr txBox="1"/>
          <p:nvPr/>
        </p:nvSpPr>
        <p:spPr>
          <a:xfrm>
            <a:off x="4480560" y="3493008"/>
            <a:ext cx="292608" cy="292608"/>
          </a:xfrm>
          <a:prstGeom prst="rect">
            <a:avLst/>
          </a:prstGeom>
          <a:noFill/>
          <a:ln/>
        </p:spPr>
        <p:txBody>
          <a:bodyPr wrap="square" lIns="0" tIns="0" rIns="0" bIns="0" rtlCol="0" anchor="ctr"/>
          <a:lstStyle/>
          <a:p>
            <a:pPr algn="ctr" indent="0" marL="0">
              <a:buNone/>
            </a:pPr>
            <a:r>
              <a:rPr lang="en-US" sz="1200" b="1" dirty="0">
                <a:solidFill>
                  <a:srgbClr val="1B2A4A"/>
                </a:solidFill>
                <a:latin typeface="Calibri" pitchFamily="34" charset="0"/>
                <a:ea typeface="Calibri" pitchFamily="34" charset="-122"/>
                <a:cs typeface="Calibri" pitchFamily="34" charset="-120"/>
              </a:rPr>
              <a:t>2</a:t>
            </a:r>
            <a:endParaRPr lang="en-US" sz="1200" dirty="0"/>
          </a:p>
        </p:txBody>
      </p:sp>
      <p:sp>
        <p:nvSpPr>
          <p:cNvPr id="20" name="anim:3:290"/>
          <p:cNvSpPr txBox="1"/>
          <p:nvPr/>
        </p:nvSpPr>
        <p:spPr>
          <a:xfrm>
            <a:off x="4864608" y="3474720"/>
            <a:ext cx="2834640" cy="329184"/>
          </a:xfrm>
          <a:prstGeom prst="rect">
            <a:avLst/>
          </a:prstGeom>
          <a:noFill/>
          <a:ln/>
        </p:spPr>
        <p:txBody>
          <a:bodyPr wrap="square" lIns="0" tIns="0" rIns="0" bIns="0" rtlCol="0" anchor="ctr"/>
          <a:lstStyle/>
          <a:p>
            <a:pPr algn="l" indent="0" marL="0">
              <a:buNone/>
            </a:pPr>
            <a:r>
              <a:rPr lang="en-US" sz="1500" b="1" dirty="0">
                <a:solidFill>
                  <a:srgbClr val="1B2A4A"/>
                </a:solidFill>
                <a:latin typeface="Calibri" pitchFamily="34" charset="0"/>
                <a:ea typeface="Calibri" pitchFamily="34" charset="-122"/>
                <a:cs typeface="Calibri" pitchFamily="34" charset="-120"/>
              </a:rPr>
              <a:t>Procurar a escola</a:t>
            </a:r>
            <a:endParaRPr lang="en-US" sz="1500" dirty="0"/>
          </a:p>
        </p:txBody>
      </p:sp>
      <p:sp>
        <p:nvSpPr>
          <p:cNvPr id="21" name="anim:3:291"/>
          <p:cNvSpPr txBox="1"/>
          <p:nvPr/>
        </p:nvSpPr>
        <p:spPr>
          <a:xfrm>
            <a:off x="4480560" y="3886200"/>
            <a:ext cx="3200400" cy="731520"/>
          </a:xfrm>
          <a:prstGeom prst="rect">
            <a:avLst/>
          </a:prstGeom>
          <a:noFill/>
          <a:ln/>
        </p:spPr>
        <p:txBody>
          <a:bodyPr wrap="square" lIns="0" tIns="0" rIns="0" bIns="0" rtlCol="0" anchor="t"/>
          <a:lstStyle/>
          <a:p>
            <a:pPr indent="0" marL="0">
              <a:buNone/>
            </a:pPr>
            <a:r>
              <a:rPr lang="en-US" sz="1250" dirty="0">
                <a:solidFill>
                  <a:srgbClr val="1F2937"/>
                </a:solidFill>
                <a:latin typeface="Calibri" pitchFamily="34" charset="0"/>
                <a:ea typeface="Calibri" pitchFamily="34" charset="-122"/>
                <a:cs typeface="Calibri" pitchFamily="34" charset="-120"/>
              </a:rPr>
              <a:t>Junta </a:t>
            </a:r>
            <a:pPr indent="0" marL="0">
              <a:buNone/>
            </a:pPr>
            <a:r>
              <a:rPr lang="en-US" sz="1250" b="1" dirty="0">
                <a:solidFill>
                  <a:srgbClr val="1B2A4A"/>
                </a:solidFill>
                <a:latin typeface="Calibri" pitchFamily="34" charset="0"/>
                <a:ea typeface="Calibri" pitchFamily="34" charset="-122"/>
                <a:cs typeface="Calibri" pitchFamily="34" charset="-120"/>
              </a:rPr>
              <a:t>nome + tipo + distrito</a:t>
            </a:r>
            <a:pPr indent="0" marL="0">
              <a:buNone/>
            </a:pPr>
            <a:r>
              <a:rPr lang="en-US" sz="1250" dirty="0">
                <a:solidFill>
                  <a:srgbClr val="1F2937"/>
                </a:solidFill>
                <a:latin typeface="Calibri" pitchFamily="34" charset="0"/>
                <a:ea typeface="Calibri" pitchFamily="34" charset="-122"/>
                <a:cs typeface="Calibri" pitchFamily="34" charset="-120"/>
              </a:rPr>
              <a:t> e procura em 2021: UNIAO DE VILA NOVA I, EMEI, Vila Jacuí, tem um único código, 19459.</a:t>
            </a:r>
            <a:endParaRPr lang="en-US" sz="1250" dirty="0"/>
          </a:p>
        </p:txBody>
      </p:sp>
      <p:sp>
        <p:nvSpPr>
          <p:cNvPr id="22" name="anim:4:292"/>
          <p:cNvSpPr/>
          <p:nvPr/>
        </p:nvSpPr>
        <p:spPr>
          <a:xfrm>
            <a:off x="8046720" y="3364992"/>
            <a:ext cx="3566160" cy="1298448"/>
          </a:xfrm>
          <a:prstGeom prst="roundRect">
            <a:avLst>
              <a:gd name="adj" fmla="val 8451"/>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23" name="anim:4:293"/>
          <p:cNvSpPr/>
          <p:nvPr/>
        </p:nvSpPr>
        <p:spPr>
          <a:xfrm>
            <a:off x="8229600" y="3493008"/>
            <a:ext cx="292608" cy="292608"/>
          </a:xfrm>
          <a:prstGeom prst="ellipse">
            <a:avLst/>
          </a:prstGeom>
          <a:solidFill>
            <a:srgbClr val="F2A541"/>
          </a:solidFill>
          <a:ln w="12700">
            <a:solidFill>
              <a:srgbClr val="F2A541"/>
            </a:solidFill>
            <a:prstDash val="solid"/>
          </a:ln>
        </p:spPr>
      </p:sp>
      <p:sp>
        <p:nvSpPr>
          <p:cNvPr id="24" name="anim:4:294"/>
          <p:cNvSpPr txBox="1"/>
          <p:nvPr/>
        </p:nvSpPr>
        <p:spPr>
          <a:xfrm>
            <a:off x="8229600" y="3493008"/>
            <a:ext cx="292608" cy="292608"/>
          </a:xfrm>
          <a:prstGeom prst="rect">
            <a:avLst/>
          </a:prstGeom>
          <a:noFill/>
          <a:ln/>
        </p:spPr>
        <p:txBody>
          <a:bodyPr wrap="square" lIns="0" tIns="0" rIns="0" bIns="0" rtlCol="0" anchor="ctr"/>
          <a:lstStyle/>
          <a:p>
            <a:pPr algn="ctr" indent="0" marL="0">
              <a:buNone/>
            </a:pPr>
            <a:r>
              <a:rPr lang="en-US" sz="1200" b="1" dirty="0">
                <a:solidFill>
                  <a:srgbClr val="1B2A4A"/>
                </a:solidFill>
                <a:latin typeface="Calibri" pitchFamily="34" charset="0"/>
                <a:ea typeface="Calibri" pitchFamily="34" charset="-122"/>
                <a:cs typeface="Calibri" pitchFamily="34" charset="-120"/>
              </a:rPr>
              <a:t>3</a:t>
            </a:r>
            <a:endParaRPr lang="en-US" sz="1200" dirty="0"/>
          </a:p>
        </p:txBody>
      </p:sp>
      <p:sp>
        <p:nvSpPr>
          <p:cNvPr id="25" name="anim:4:295"/>
          <p:cNvSpPr txBox="1"/>
          <p:nvPr/>
        </p:nvSpPr>
        <p:spPr>
          <a:xfrm>
            <a:off x="8613648" y="3474720"/>
            <a:ext cx="2834640" cy="329184"/>
          </a:xfrm>
          <a:prstGeom prst="rect">
            <a:avLst/>
          </a:prstGeom>
          <a:noFill/>
          <a:ln/>
        </p:spPr>
        <p:txBody>
          <a:bodyPr wrap="square" lIns="0" tIns="0" rIns="0" bIns="0" rtlCol="0" anchor="ctr"/>
          <a:lstStyle/>
          <a:p>
            <a:pPr algn="l" indent="0" marL="0">
              <a:buNone/>
            </a:pPr>
            <a:r>
              <a:rPr lang="en-US" sz="1500" b="1" dirty="0">
                <a:solidFill>
                  <a:srgbClr val="1B2A4A"/>
                </a:solidFill>
                <a:latin typeface="Calibri" pitchFamily="34" charset="0"/>
                <a:ea typeface="Calibri" pitchFamily="34" charset="-122"/>
                <a:cs typeface="Calibri" pitchFamily="34" charset="-120"/>
              </a:rPr>
              <a:t>Decidir o código</a:t>
            </a:r>
            <a:endParaRPr lang="en-US" sz="1500" dirty="0"/>
          </a:p>
        </p:txBody>
      </p:sp>
      <p:sp>
        <p:nvSpPr>
          <p:cNvPr id="26" name="anim:4:296"/>
          <p:cNvSpPr txBox="1"/>
          <p:nvPr/>
        </p:nvSpPr>
        <p:spPr>
          <a:xfrm>
            <a:off x="8229600" y="3886200"/>
            <a:ext cx="3200400" cy="731520"/>
          </a:xfrm>
          <a:prstGeom prst="rect">
            <a:avLst/>
          </a:prstGeom>
          <a:noFill/>
          <a:ln/>
        </p:spPr>
        <p:txBody>
          <a:bodyPr wrap="square" lIns="0" tIns="0" rIns="0" bIns="0" rtlCol="0" anchor="t"/>
          <a:lstStyle/>
          <a:p>
            <a:pPr indent="0" marL="0">
              <a:buNone/>
            </a:pPr>
            <a:r>
              <a:rPr lang="en-US" sz="1250" dirty="0">
                <a:solidFill>
                  <a:srgbClr val="1F2937"/>
                </a:solidFill>
                <a:latin typeface="Calibri" pitchFamily="34" charset="0"/>
                <a:ea typeface="Calibri" pitchFamily="34" charset="-122"/>
                <a:cs typeface="Calibri" pitchFamily="34" charset="-120"/>
              </a:rPr>
              <a:t>Um código só: </a:t>
            </a:r>
            <a:pPr indent="0" marL="0">
              <a:buNone/>
            </a:pPr>
            <a:r>
              <a:rPr lang="en-US" sz="1250" b="1" dirty="0">
                <a:solidFill>
                  <a:srgbClr val="1B2A4A"/>
                </a:solidFill>
                <a:latin typeface="Calibri" pitchFamily="34" charset="0"/>
                <a:ea typeface="Calibri" pitchFamily="34" charset="-122"/>
                <a:cs typeface="Calibri" pitchFamily="34" charset="-120"/>
              </a:rPr>
              <a:t>copia</a:t>
            </a:r>
            <a:pPr indent="0" marL="0">
              <a:buNone/>
            </a:pPr>
            <a:r>
              <a:rPr lang="en-US" sz="1250" dirty="0">
                <a:solidFill>
                  <a:srgbClr val="1F2937"/>
                </a:solidFill>
                <a:latin typeface="Calibri" pitchFamily="34" charset="0"/>
                <a:ea typeface="Calibri" pitchFamily="34" charset="-122"/>
                <a:cs typeface="Calibri" pitchFamily="34" charset="-120"/>
              </a:rPr>
              <a:t>. BEIJA FLOR tem duas escolas com esse nome em 2021: ambígua, recebe </a:t>
            </a:r>
            <a:pPr indent="0" marL="0">
              <a:buNone/>
            </a:pPr>
            <a:r>
              <a:rPr lang="en-US" sz="1250" b="1" dirty="0">
                <a:solidFill>
                  <a:srgbClr val="1B2A4A"/>
                </a:solidFill>
                <a:latin typeface="Calibri" pitchFamily="34" charset="0"/>
                <a:ea typeface="Calibri" pitchFamily="34" charset="-122"/>
                <a:cs typeface="Calibri" pitchFamily="34" charset="-120"/>
              </a:rPr>
              <a:t>chave sintética</a:t>
            </a:r>
            <a:pPr indent="0" marL="0">
              <a:buNone/>
            </a:pPr>
            <a:r>
              <a:rPr lang="en-US" sz="1250" dirty="0">
                <a:solidFill>
                  <a:srgbClr val="1F2937"/>
                </a:solidFill>
                <a:latin typeface="Calibri" pitchFamily="34" charset="0"/>
                <a:ea typeface="Calibri" pitchFamily="34" charset="-122"/>
                <a:cs typeface="Calibri" pitchFamily="34" charset="-120"/>
              </a:rPr>
              <a:t>, nunca um chute.</a:t>
            </a:r>
            <a:endParaRPr lang="en-US" sz="1250" dirty="0"/>
          </a:p>
        </p:txBody>
      </p:sp>
      <p:sp>
        <p:nvSpPr>
          <p:cNvPr id="27" name="anim:6:297"/>
          <p:cNvSpPr/>
          <p:nvPr/>
        </p:nvSpPr>
        <p:spPr>
          <a:xfrm>
            <a:off x="548640" y="4846320"/>
            <a:ext cx="11064240" cy="868680"/>
          </a:xfrm>
          <a:prstGeom prst="roundRect">
            <a:avLst>
              <a:gd name="adj" fmla="val 12632"/>
            </a:avLst>
          </a:prstGeom>
          <a:solidFill>
            <a:srgbClr val="EEF2F8"/>
          </a:solidFill>
          <a:ln w="9525">
            <a:solidFill>
              <a:srgbClr val="EEF2F8"/>
            </a:solidFill>
            <a:prstDash val="solid"/>
          </a:ln>
        </p:spPr>
      </p:sp>
      <p:sp>
        <p:nvSpPr>
          <p:cNvPr id="28" name="anim:6:298"/>
          <p:cNvSpPr txBox="1"/>
          <p:nvPr/>
        </p:nvSpPr>
        <p:spPr>
          <a:xfrm>
            <a:off x="777240" y="4846320"/>
            <a:ext cx="3108960" cy="868680"/>
          </a:xfrm>
          <a:prstGeom prst="rect">
            <a:avLst/>
          </a:prstGeom>
          <a:noFill/>
          <a:ln/>
        </p:spPr>
        <p:txBody>
          <a:bodyPr wrap="square" lIns="0" tIns="0" rIns="0" bIns="0" rtlCol="0" anchor="ctr"/>
          <a:lstStyle/>
          <a:p>
            <a:pPr algn="l" indent="0" marL="0">
              <a:buNone/>
            </a:pPr>
            <a:r>
              <a:rPr lang="en-US" sz="3000" b="1" dirty="0">
                <a:solidFill>
                  <a:srgbClr val="2E5EAA"/>
                </a:solidFill>
                <a:latin typeface="Calibri" pitchFamily="34" charset="0"/>
                <a:ea typeface="Calibri" pitchFamily="34" charset="-122"/>
                <a:cs typeface="Calibri" pitchFamily="34" charset="-120"/>
              </a:rPr>
              <a:t>94,8% a 98,6%</a:t>
            </a:r>
            <a:endParaRPr lang="en-US" sz="3000" dirty="0"/>
          </a:p>
        </p:txBody>
      </p:sp>
      <p:sp>
        <p:nvSpPr>
          <p:cNvPr id="29" name="anim:6:299"/>
          <p:cNvSpPr txBox="1"/>
          <p:nvPr/>
        </p:nvSpPr>
        <p:spPr>
          <a:xfrm>
            <a:off x="3931920" y="4892040"/>
            <a:ext cx="7498080" cy="777240"/>
          </a:xfrm>
          <a:prstGeom prst="rect">
            <a:avLst/>
          </a:prstGeom>
          <a:noFill/>
          <a:ln/>
        </p:spPr>
        <p:txBody>
          <a:bodyPr wrap="square" lIns="0" tIns="0" rIns="0" bIns="0" rtlCol="0" anchor="ctr"/>
          <a:lstStyle/>
          <a:p>
            <a:pPr indent="0" marL="0">
              <a:buNone/>
            </a:pPr>
            <a:r>
              <a:rPr lang="en-US" sz="1350" dirty="0">
                <a:solidFill>
                  <a:srgbClr val="1F2937"/>
                </a:solidFill>
                <a:latin typeface="Calibri" pitchFamily="34" charset="0"/>
                <a:ea typeface="Calibri" pitchFamily="34" charset="-122"/>
                <a:cs typeface="Calibri" pitchFamily="34" charset="-120"/>
              </a:rPr>
              <a:t>das matrículas de 2022 a 2024 ficam com o código real. Os outros problemas (fila, turno, idade, datas, IBGE) seguem a mesma lógica: </a:t>
            </a:r>
            <a:pPr indent="0" marL="0">
              <a:buNone/>
            </a:pPr>
            <a:r>
              <a:rPr lang="en-US" sz="1350" b="1" dirty="0">
                <a:solidFill>
                  <a:srgbClr val="1B2A4A"/>
                </a:solidFill>
                <a:latin typeface="Calibri" pitchFamily="34" charset="0"/>
                <a:ea typeface="Calibri" pitchFamily="34" charset="-122"/>
                <a:cs typeface="Calibri" pitchFamily="34" charset="-120"/>
              </a:rPr>
              <a:t>medir, corrigir com regra testada e, na dúvida, não inventar.</a:t>
            </a:r>
            <a:endParaRPr lang="en-US" sz="135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14</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childTnLst>
                          </p:cTn>
                        </p:par>
                        <p:par>
                          <p:cTn id="12" fill="hold">
                            <p:stCondLst>
                              <p:cond delay="250"/>
                            </p:stCondLst>
                            <p:childTnLst>
                              <p:par>
                                <p:cTn id="13" presetID="10" presetClass="entr" presetSubtype="0" fill="hold" grpId="0" nodeType="withEffect">
                                  <p:stCondLst>
                                    <p:cond delay="0"/>
                                  </p:stCondLst>
                                  <p:childTnLst>
                                    <p:set>
                                      <p:cBhvr>
                                        <p:cTn id="14" dur="1" fill="hold">
                                          <p:stCondLst>
                                            <p:cond delay="0"/>
                                          </p:stCondLst>
                                        </p:cTn>
                                        <p:tgtEl>
                                          <p:spTgt spid="12"/>
                                        </p:tgtEl>
                                        <p:attrNameLst>
                                          <p:attrName>style.visibility</p:attrName>
                                        </p:attrNameLst>
                                      </p:cBhvr>
                                      <p:to>
                                        <p:strVal val="visible"/>
                                      </p:to>
                                    </p:set>
                                    <p:animEffect transition="in" filter="fade">
                                      <p:cBhvr>
                                        <p:cTn id="15" dur="400"/>
                                        <p:tgtEl>
                                          <p:spTgt spid="12"/>
                                        </p:tgtEl>
                                      </p:cBhvr>
                                    </p:animEffect>
                                  </p:childTnLst>
                                </p:cTn>
                              </p:par>
                            </p:childTnLst>
                          </p:cTn>
                        </p:par>
                        <p:par>
                          <p:cTn id="16" fill="hold">
                            <p:stCondLst>
                              <p:cond delay="250"/>
                            </p:stCondLst>
                            <p:childTnLst>
                              <p:par>
                                <p:cTn id="17" presetID="10"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400"/>
                                        <p:tgtEl>
                                          <p:spTgt spid="13"/>
                                        </p:tgtEl>
                                      </p:cBhvr>
                                    </p:animEffect>
                                  </p:childTnLst>
                                </p:cTn>
                              </p:par>
                            </p:childTnLst>
                          </p:cTn>
                        </p:par>
                        <p:par>
                          <p:cTn id="20" fill="hold">
                            <p:stCondLst>
                              <p:cond delay="250"/>
                            </p:stCondLst>
                            <p:childTnLst>
                              <p:par>
                                <p:cTn id="21" presetID="10" presetClass="entr" presetSubtype="0" fill="hold" grpId="0" nodeType="withEffect">
                                  <p:stCondLst>
                                    <p:cond delay="0"/>
                                  </p:stCondLst>
                                  <p:childTnLst>
                                    <p:set>
                                      <p:cBhvr>
                                        <p:cTn id="22" dur="1" fill="hold">
                                          <p:stCondLst>
                                            <p:cond delay="0"/>
                                          </p:stCondLst>
                                        </p:cTn>
                                        <p:tgtEl>
                                          <p:spTgt spid="14"/>
                                        </p:tgtEl>
                                        <p:attrNameLst>
                                          <p:attrName>style.visibility</p:attrName>
                                        </p:attrNameLst>
                                      </p:cBhvr>
                                      <p:to>
                                        <p:strVal val="visible"/>
                                      </p:to>
                                    </p:set>
                                    <p:animEffect transition="in" filter="fade">
                                      <p:cBhvr>
                                        <p:cTn id="23" dur="400"/>
                                        <p:tgtEl>
                                          <p:spTgt spid="14"/>
                                        </p:tgtEl>
                                      </p:cBhvr>
                                    </p:animEffect>
                                  </p:childTnLst>
                                </p:cTn>
                              </p:par>
                            </p:childTnLst>
                          </p:cTn>
                        </p:par>
                        <p:par>
                          <p:cTn id="24" fill="hold">
                            <p:stCondLst>
                              <p:cond delay="250"/>
                            </p:stCondLst>
                            <p:childTnLst>
                              <p:par>
                                <p:cTn id="25" presetID="10" presetClass="entr" presetSubtype="0" fill="hold" grpId="0" nodeType="withEffect">
                                  <p:stCondLst>
                                    <p:cond delay="0"/>
                                  </p:stCondLst>
                                  <p:childTnLst>
                                    <p:set>
                                      <p:cBhvr>
                                        <p:cTn id="26" dur="1" fill="hold">
                                          <p:stCondLst>
                                            <p:cond delay="0"/>
                                          </p:stCondLst>
                                        </p:cTn>
                                        <p:tgtEl>
                                          <p:spTgt spid="15"/>
                                        </p:tgtEl>
                                        <p:attrNameLst>
                                          <p:attrName>style.visibility</p:attrName>
                                        </p:attrNameLst>
                                      </p:cBhvr>
                                      <p:to>
                                        <p:strVal val="visible"/>
                                      </p:to>
                                    </p:set>
                                    <p:animEffect transition="in" filter="fade">
                                      <p:cBhvr>
                                        <p:cTn id="27" dur="400"/>
                                        <p:tgtEl>
                                          <p:spTgt spid="15"/>
                                        </p:tgtEl>
                                      </p:cBhvr>
                                    </p:animEffect>
                                  </p:childTnLst>
                                </p:cTn>
                              </p:par>
                            </p:childTnLst>
                          </p:cTn>
                        </p:par>
                        <p:par>
                          <p:cTn id="28" fill="hold">
                            <p:stCondLst>
                              <p:cond delay="250"/>
                            </p:stCondLst>
                            <p:childTnLst>
                              <p:par>
                                <p:cTn id="29" presetID="10" presetClass="entr" presetSubtype="0" fill="hold" grpId="0" nodeType="withEffect">
                                  <p:stCondLst>
                                    <p:cond delay="0"/>
                                  </p:stCondLst>
                                  <p:childTnLst>
                                    <p:set>
                                      <p:cBhvr>
                                        <p:cTn id="30" dur="1" fill="hold">
                                          <p:stCondLst>
                                            <p:cond delay="0"/>
                                          </p:stCondLst>
                                        </p:cTn>
                                        <p:tgtEl>
                                          <p:spTgt spid="16"/>
                                        </p:tgtEl>
                                        <p:attrNameLst>
                                          <p:attrName>style.visibility</p:attrName>
                                        </p:attrNameLst>
                                      </p:cBhvr>
                                      <p:to>
                                        <p:strVal val="visible"/>
                                      </p:to>
                                    </p:set>
                                    <p:animEffect transition="in" filter="fade">
                                      <p:cBhvr>
                                        <p:cTn id="31" dur="400"/>
                                        <p:tgtEl>
                                          <p:spTgt spid="16"/>
                                        </p:tgtEl>
                                      </p:cBhvr>
                                    </p:animEffect>
                                  </p:childTnLst>
                                </p:cTn>
                              </p:par>
                            </p:childTnLst>
                          </p:cTn>
                        </p:par>
                        <p:par>
                          <p:cTn id="32" fill="hold">
                            <p:stCondLst>
                              <p:cond delay="500"/>
                            </p:stCondLst>
                            <p:childTnLst>
                              <p:par>
                                <p:cTn id="33" presetID="10" presetClass="entr" presetSubtype="0" fill="hold" grpId="0" nodeType="withEffect">
                                  <p:stCondLst>
                                    <p:cond delay="0"/>
                                  </p:stCondLst>
                                  <p:childTnLst>
                                    <p:set>
                                      <p:cBhvr>
                                        <p:cTn id="34" dur="1" fill="hold">
                                          <p:stCondLst>
                                            <p:cond delay="0"/>
                                          </p:stCondLst>
                                        </p:cTn>
                                        <p:tgtEl>
                                          <p:spTgt spid="17"/>
                                        </p:tgtEl>
                                        <p:attrNameLst>
                                          <p:attrName>style.visibility</p:attrName>
                                        </p:attrNameLst>
                                      </p:cBhvr>
                                      <p:to>
                                        <p:strVal val="visible"/>
                                      </p:to>
                                    </p:set>
                                    <p:animEffect transition="in" filter="fade">
                                      <p:cBhvr>
                                        <p:cTn id="35" dur="400"/>
                                        <p:tgtEl>
                                          <p:spTgt spid="17"/>
                                        </p:tgtEl>
                                      </p:cBhvr>
                                    </p:animEffect>
                                  </p:childTnLst>
                                </p:cTn>
                              </p:par>
                            </p:childTnLst>
                          </p:cTn>
                        </p:par>
                        <p:par>
                          <p:cTn id="36" fill="hold">
                            <p:stCondLst>
                              <p:cond delay="500"/>
                            </p:stCondLst>
                            <p:childTnLst>
                              <p:par>
                                <p:cTn id="37" presetID="10" presetClass="entr" presetSubtype="0" fill="hold" grpId="0" nodeType="withEffect">
                                  <p:stCondLst>
                                    <p:cond delay="0"/>
                                  </p:stCondLst>
                                  <p:childTnLst>
                                    <p:set>
                                      <p:cBhvr>
                                        <p:cTn id="38" dur="1" fill="hold">
                                          <p:stCondLst>
                                            <p:cond delay="0"/>
                                          </p:stCondLst>
                                        </p:cTn>
                                        <p:tgtEl>
                                          <p:spTgt spid="18"/>
                                        </p:tgtEl>
                                        <p:attrNameLst>
                                          <p:attrName>style.visibility</p:attrName>
                                        </p:attrNameLst>
                                      </p:cBhvr>
                                      <p:to>
                                        <p:strVal val="visible"/>
                                      </p:to>
                                    </p:set>
                                    <p:animEffect transition="in" filter="fade">
                                      <p:cBhvr>
                                        <p:cTn id="39" dur="400"/>
                                        <p:tgtEl>
                                          <p:spTgt spid="18"/>
                                        </p:tgtEl>
                                      </p:cBhvr>
                                    </p:animEffect>
                                  </p:childTnLst>
                                </p:cTn>
                              </p:par>
                            </p:childTnLst>
                          </p:cTn>
                        </p:par>
                        <p:par>
                          <p:cTn id="40" fill="hold">
                            <p:stCondLst>
                              <p:cond delay="500"/>
                            </p:stCondLst>
                            <p:childTnLst>
                              <p:par>
                                <p:cTn id="41" presetID="10" presetClass="entr" presetSubtype="0" fill="hold" grpId="0" nodeType="withEffect">
                                  <p:stCondLst>
                                    <p:cond delay="0"/>
                                  </p:stCondLst>
                                  <p:childTnLst>
                                    <p:set>
                                      <p:cBhvr>
                                        <p:cTn id="42" dur="1" fill="hold">
                                          <p:stCondLst>
                                            <p:cond delay="0"/>
                                          </p:stCondLst>
                                        </p:cTn>
                                        <p:tgtEl>
                                          <p:spTgt spid="19"/>
                                        </p:tgtEl>
                                        <p:attrNameLst>
                                          <p:attrName>style.visibility</p:attrName>
                                        </p:attrNameLst>
                                      </p:cBhvr>
                                      <p:to>
                                        <p:strVal val="visible"/>
                                      </p:to>
                                    </p:set>
                                    <p:animEffect transition="in" filter="fade">
                                      <p:cBhvr>
                                        <p:cTn id="43" dur="400"/>
                                        <p:tgtEl>
                                          <p:spTgt spid="19"/>
                                        </p:tgtEl>
                                      </p:cBhvr>
                                    </p:animEffect>
                                  </p:childTnLst>
                                </p:cTn>
                              </p:par>
                            </p:childTnLst>
                          </p:cTn>
                        </p:par>
                        <p:par>
                          <p:cTn id="44" fill="hold">
                            <p:stCondLst>
                              <p:cond delay="500"/>
                            </p:stCondLst>
                            <p:childTnLst>
                              <p:par>
                                <p:cTn id="45" presetID="10" presetClass="entr" presetSubtype="0" fill="hold" grpId="0" nodeType="withEffect">
                                  <p:stCondLst>
                                    <p:cond delay="0"/>
                                  </p:stCondLst>
                                  <p:childTnLst>
                                    <p:set>
                                      <p:cBhvr>
                                        <p:cTn id="46" dur="1" fill="hold">
                                          <p:stCondLst>
                                            <p:cond delay="0"/>
                                          </p:stCondLst>
                                        </p:cTn>
                                        <p:tgtEl>
                                          <p:spTgt spid="20"/>
                                        </p:tgtEl>
                                        <p:attrNameLst>
                                          <p:attrName>style.visibility</p:attrName>
                                        </p:attrNameLst>
                                      </p:cBhvr>
                                      <p:to>
                                        <p:strVal val="visible"/>
                                      </p:to>
                                    </p:set>
                                    <p:animEffect transition="in" filter="fade">
                                      <p:cBhvr>
                                        <p:cTn id="47" dur="400"/>
                                        <p:tgtEl>
                                          <p:spTgt spid="20"/>
                                        </p:tgtEl>
                                      </p:cBhvr>
                                    </p:animEffect>
                                  </p:childTnLst>
                                </p:cTn>
                              </p:par>
                            </p:childTnLst>
                          </p:cTn>
                        </p:par>
                        <p:par>
                          <p:cTn id="48" fill="hold">
                            <p:stCondLst>
                              <p:cond delay="500"/>
                            </p:stCondLst>
                            <p:childTnLst>
                              <p:par>
                                <p:cTn id="49" presetID="10" presetClass="entr" presetSubtype="0" fill="hold" grpId="0" nodeType="withEffect">
                                  <p:stCondLst>
                                    <p:cond delay="0"/>
                                  </p:stCondLst>
                                  <p:childTnLst>
                                    <p:set>
                                      <p:cBhvr>
                                        <p:cTn id="50" dur="1" fill="hold">
                                          <p:stCondLst>
                                            <p:cond delay="0"/>
                                          </p:stCondLst>
                                        </p:cTn>
                                        <p:tgtEl>
                                          <p:spTgt spid="21"/>
                                        </p:tgtEl>
                                        <p:attrNameLst>
                                          <p:attrName>style.visibility</p:attrName>
                                        </p:attrNameLst>
                                      </p:cBhvr>
                                      <p:to>
                                        <p:strVal val="visible"/>
                                      </p:to>
                                    </p:set>
                                    <p:animEffect transition="in" filter="fade">
                                      <p:cBhvr>
                                        <p:cTn id="51" dur="400"/>
                                        <p:tgtEl>
                                          <p:spTgt spid="21"/>
                                        </p:tgtEl>
                                      </p:cBhvr>
                                    </p:animEffect>
                                  </p:childTnLst>
                                </p:cTn>
                              </p:par>
                            </p:childTnLst>
                          </p:cTn>
                        </p:par>
                        <p:par>
                          <p:cTn id="52" fill="hold">
                            <p:stCondLst>
                              <p:cond delay="750"/>
                            </p:stCondLst>
                            <p:childTnLst>
                              <p:par>
                                <p:cTn id="53" presetID="10" presetClass="entr" presetSubtype="0" fill="hold" grpId="0" nodeType="withEffect">
                                  <p:stCondLst>
                                    <p:cond delay="0"/>
                                  </p:stCondLst>
                                  <p:childTnLst>
                                    <p:set>
                                      <p:cBhvr>
                                        <p:cTn id="54" dur="1" fill="hold">
                                          <p:stCondLst>
                                            <p:cond delay="0"/>
                                          </p:stCondLst>
                                        </p:cTn>
                                        <p:tgtEl>
                                          <p:spTgt spid="22"/>
                                        </p:tgtEl>
                                        <p:attrNameLst>
                                          <p:attrName>style.visibility</p:attrName>
                                        </p:attrNameLst>
                                      </p:cBhvr>
                                      <p:to>
                                        <p:strVal val="visible"/>
                                      </p:to>
                                    </p:set>
                                    <p:animEffect transition="in" filter="fade">
                                      <p:cBhvr>
                                        <p:cTn id="55" dur="400"/>
                                        <p:tgtEl>
                                          <p:spTgt spid="22"/>
                                        </p:tgtEl>
                                      </p:cBhvr>
                                    </p:animEffect>
                                  </p:childTnLst>
                                </p:cTn>
                              </p:par>
                            </p:childTnLst>
                          </p:cTn>
                        </p:par>
                        <p:par>
                          <p:cTn id="56" fill="hold">
                            <p:stCondLst>
                              <p:cond delay="750"/>
                            </p:stCondLst>
                            <p:childTnLst>
                              <p:par>
                                <p:cTn id="57" presetID="10" presetClass="entr" presetSubtype="0" fill="hold" grpId="0" nodeType="withEffect">
                                  <p:stCondLst>
                                    <p:cond delay="0"/>
                                  </p:stCondLst>
                                  <p:childTnLst>
                                    <p:set>
                                      <p:cBhvr>
                                        <p:cTn id="58" dur="1" fill="hold">
                                          <p:stCondLst>
                                            <p:cond delay="0"/>
                                          </p:stCondLst>
                                        </p:cTn>
                                        <p:tgtEl>
                                          <p:spTgt spid="23"/>
                                        </p:tgtEl>
                                        <p:attrNameLst>
                                          <p:attrName>style.visibility</p:attrName>
                                        </p:attrNameLst>
                                      </p:cBhvr>
                                      <p:to>
                                        <p:strVal val="visible"/>
                                      </p:to>
                                    </p:set>
                                    <p:animEffect transition="in" filter="fade">
                                      <p:cBhvr>
                                        <p:cTn id="59" dur="400"/>
                                        <p:tgtEl>
                                          <p:spTgt spid="23"/>
                                        </p:tgtEl>
                                      </p:cBhvr>
                                    </p:animEffect>
                                  </p:childTnLst>
                                </p:cTn>
                              </p:par>
                            </p:childTnLst>
                          </p:cTn>
                        </p:par>
                        <p:par>
                          <p:cTn id="60" fill="hold">
                            <p:stCondLst>
                              <p:cond delay="750"/>
                            </p:stCondLst>
                            <p:childTnLst>
                              <p:par>
                                <p:cTn id="61" presetID="10" presetClass="entr" presetSubtype="0" fill="hold" grpId="0" nodeType="withEffect">
                                  <p:stCondLst>
                                    <p:cond delay="0"/>
                                  </p:stCondLst>
                                  <p:childTnLst>
                                    <p:set>
                                      <p:cBhvr>
                                        <p:cTn id="62" dur="1" fill="hold">
                                          <p:stCondLst>
                                            <p:cond delay="0"/>
                                          </p:stCondLst>
                                        </p:cTn>
                                        <p:tgtEl>
                                          <p:spTgt spid="24"/>
                                        </p:tgtEl>
                                        <p:attrNameLst>
                                          <p:attrName>style.visibility</p:attrName>
                                        </p:attrNameLst>
                                      </p:cBhvr>
                                      <p:to>
                                        <p:strVal val="visible"/>
                                      </p:to>
                                    </p:set>
                                    <p:animEffect transition="in" filter="fade">
                                      <p:cBhvr>
                                        <p:cTn id="63" dur="400"/>
                                        <p:tgtEl>
                                          <p:spTgt spid="24"/>
                                        </p:tgtEl>
                                      </p:cBhvr>
                                    </p:animEffect>
                                  </p:childTnLst>
                                </p:cTn>
                              </p:par>
                            </p:childTnLst>
                          </p:cTn>
                        </p:par>
                        <p:par>
                          <p:cTn id="64" fill="hold">
                            <p:stCondLst>
                              <p:cond delay="750"/>
                            </p:stCondLst>
                            <p:childTnLst>
                              <p:par>
                                <p:cTn id="65" presetID="10" presetClass="entr" presetSubtype="0" fill="hold" grpId="0" nodeType="withEffect">
                                  <p:stCondLst>
                                    <p:cond delay="0"/>
                                  </p:stCondLst>
                                  <p:childTnLst>
                                    <p:set>
                                      <p:cBhvr>
                                        <p:cTn id="66" dur="1" fill="hold">
                                          <p:stCondLst>
                                            <p:cond delay="0"/>
                                          </p:stCondLst>
                                        </p:cTn>
                                        <p:tgtEl>
                                          <p:spTgt spid="25"/>
                                        </p:tgtEl>
                                        <p:attrNameLst>
                                          <p:attrName>style.visibility</p:attrName>
                                        </p:attrNameLst>
                                      </p:cBhvr>
                                      <p:to>
                                        <p:strVal val="visible"/>
                                      </p:to>
                                    </p:set>
                                    <p:animEffect transition="in" filter="fade">
                                      <p:cBhvr>
                                        <p:cTn id="67" dur="400"/>
                                        <p:tgtEl>
                                          <p:spTgt spid="25"/>
                                        </p:tgtEl>
                                      </p:cBhvr>
                                    </p:animEffect>
                                  </p:childTnLst>
                                </p:cTn>
                              </p:par>
                            </p:childTnLst>
                          </p:cTn>
                        </p:par>
                        <p:par>
                          <p:cTn id="68" fill="hold">
                            <p:stCondLst>
                              <p:cond delay="750"/>
                            </p:stCondLst>
                            <p:childTnLst>
                              <p:par>
                                <p:cTn id="69" presetID="10" presetClass="entr" presetSubtype="0" fill="hold" grpId="0" nodeType="withEffect">
                                  <p:stCondLst>
                                    <p:cond delay="0"/>
                                  </p:stCondLst>
                                  <p:childTnLst>
                                    <p:set>
                                      <p:cBhvr>
                                        <p:cTn id="70" dur="1" fill="hold">
                                          <p:stCondLst>
                                            <p:cond delay="0"/>
                                          </p:stCondLst>
                                        </p:cTn>
                                        <p:tgtEl>
                                          <p:spTgt spid="26"/>
                                        </p:tgtEl>
                                        <p:attrNameLst>
                                          <p:attrName>style.visibility</p:attrName>
                                        </p:attrNameLst>
                                      </p:cBhvr>
                                      <p:to>
                                        <p:strVal val="visible"/>
                                      </p:to>
                                    </p:set>
                                    <p:animEffect transition="in" filter="fade">
                                      <p:cBhvr>
                                        <p:cTn id="71" dur="400"/>
                                        <p:tgtEl>
                                          <p:spTgt spid="26"/>
                                        </p:tgtEl>
                                      </p:cBhvr>
                                    </p:animEffect>
                                  </p:childTnLst>
                                </p:cTn>
                              </p:par>
                            </p:childTnLst>
                          </p:cTn>
                        </p:par>
                        <p:par>
                          <p:cTn id="72" fill="hold">
                            <p:stCondLst>
                              <p:cond delay="1000"/>
                            </p:stCondLst>
                            <p:childTnLst>
                              <p:par>
                                <p:cTn id="73" presetID="10" presetClass="entr" presetSubtype="0" fill="hold" grpId="0" nodeType="withEffect">
                                  <p:stCondLst>
                                    <p:cond delay="0"/>
                                  </p:stCondLst>
                                  <p:childTnLst>
                                    <p:set>
                                      <p:cBhvr>
                                        <p:cTn id="74" dur="1" fill="hold">
                                          <p:stCondLst>
                                            <p:cond delay="0"/>
                                          </p:stCondLst>
                                        </p:cTn>
                                        <p:tgtEl>
                                          <p:spTgt spid="8"/>
                                        </p:tgtEl>
                                        <p:attrNameLst>
                                          <p:attrName>style.visibility</p:attrName>
                                        </p:attrNameLst>
                                      </p:cBhvr>
                                      <p:to>
                                        <p:strVal val="visible"/>
                                      </p:to>
                                    </p:set>
                                    <p:animEffect transition="in" filter="fade">
                                      <p:cBhvr>
                                        <p:cTn id="75" dur="400"/>
                                        <p:tgtEl>
                                          <p:spTgt spid="8"/>
                                        </p:tgtEl>
                                      </p:cBhvr>
                                    </p:animEffect>
                                  </p:childTnLst>
                                </p:cTn>
                              </p:par>
                            </p:childTnLst>
                          </p:cTn>
                        </p:par>
                        <p:par>
                          <p:cTn id="76" fill="hold">
                            <p:stCondLst>
                              <p:cond delay="1000"/>
                            </p:stCondLst>
                            <p:childTnLst>
                              <p:par>
                                <p:cTn id="77" presetID="10" presetClass="entr" presetSubtype="0" fill="hold" grpId="0" nodeType="withEffect">
                                  <p:stCondLst>
                                    <p:cond delay="0"/>
                                  </p:stCondLst>
                                  <p:childTnLst>
                                    <p:set>
                                      <p:cBhvr>
                                        <p:cTn id="78" dur="1" fill="hold">
                                          <p:stCondLst>
                                            <p:cond delay="0"/>
                                          </p:stCondLst>
                                        </p:cTn>
                                        <p:tgtEl>
                                          <p:spTgt spid="9"/>
                                        </p:tgtEl>
                                        <p:attrNameLst>
                                          <p:attrName>style.visibility</p:attrName>
                                        </p:attrNameLst>
                                      </p:cBhvr>
                                      <p:to>
                                        <p:strVal val="visible"/>
                                      </p:to>
                                    </p:set>
                                    <p:animEffect transition="in" filter="fade">
                                      <p:cBhvr>
                                        <p:cTn id="79" dur="400"/>
                                        <p:tgtEl>
                                          <p:spTgt spid="9"/>
                                        </p:tgtEl>
                                      </p:cBhvr>
                                    </p:animEffect>
                                  </p:childTnLst>
                                </p:cTn>
                              </p:par>
                            </p:childTnLst>
                          </p:cTn>
                        </p:par>
                        <p:par>
                          <p:cTn id="80" fill="hold">
                            <p:stCondLst>
                              <p:cond delay="1000"/>
                            </p:stCondLst>
                            <p:childTnLst>
                              <p:par>
                                <p:cTn id="81" presetID="10" presetClass="entr" presetSubtype="0" fill="hold" grpId="0" nodeType="withEffect">
                                  <p:stCondLst>
                                    <p:cond delay="0"/>
                                  </p:stCondLst>
                                  <p:childTnLst>
                                    <p:set>
                                      <p:cBhvr>
                                        <p:cTn id="82" dur="1" fill="hold">
                                          <p:stCondLst>
                                            <p:cond delay="0"/>
                                          </p:stCondLst>
                                        </p:cTn>
                                        <p:tgtEl>
                                          <p:spTgt spid="10"/>
                                        </p:tgtEl>
                                        <p:attrNameLst>
                                          <p:attrName>style.visibility</p:attrName>
                                        </p:attrNameLst>
                                      </p:cBhvr>
                                      <p:to>
                                        <p:strVal val="visible"/>
                                      </p:to>
                                    </p:set>
                                    <p:animEffect transition="in" filter="fade">
                                      <p:cBhvr>
                                        <p:cTn id="83" dur="400"/>
                                        <p:tgtEl>
                                          <p:spTgt spid="10"/>
                                        </p:tgtEl>
                                      </p:cBhvr>
                                    </p:animEffect>
                                  </p:childTnLst>
                                </p:cTn>
                              </p:par>
                            </p:childTnLst>
                          </p:cTn>
                        </p:par>
                        <p:par>
                          <p:cTn id="84" fill="hold">
                            <p:stCondLst>
                              <p:cond delay="1250"/>
                            </p:stCondLst>
                            <p:childTnLst>
                              <p:par>
                                <p:cTn id="85" presetID="10" presetClass="entr" presetSubtype="0" fill="hold" grpId="0" nodeType="withEffect">
                                  <p:stCondLst>
                                    <p:cond delay="0"/>
                                  </p:stCondLst>
                                  <p:childTnLst>
                                    <p:set>
                                      <p:cBhvr>
                                        <p:cTn id="86" dur="1" fill="hold">
                                          <p:stCondLst>
                                            <p:cond delay="0"/>
                                          </p:stCondLst>
                                        </p:cTn>
                                        <p:tgtEl>
                                          <p:spTgt spid="27"/>
                                        </p:tgtEl>
                                        <p:attrNameLst>
                                          <p:attrName>style.visibility</p:attrName>
                                        </p:attrNameLst>
                                      </p:cBhvr>
                                      <p:to>
                                        <p:strVal val="visible"/>
                                      </p:to>
                                    </p:set>
                                    <p:animEffect transition="in" filter="fade">
                                      <p:cBhvr>
                                        <p:cTn id="87" dur="400"/>
                                        <p:tgtEl>
                                          <p:spTgt spid="27"/>
                                        </p:tgtEl>
                                      </p:cBhvr>
                                    </p:animEffect>
                                  </p:childTnLst>
                                </p:cTn>
                              </p:par>
                            </p:childTnLst>
                          </p:cTn>
                        </p:par>
                        <p:par>
                          <p:cTn id="88" fill="hold">
                            <p:stCondLst>
                              <p:cond delay="1250"/>
                            </p:stCondLst>
                            <p:childTnLst>
                              <p:par>
                                <p:cTn id="89" presetID="10" presetClass="entr" presetSubtype="0" fill="hold" grpId="0" nodeType="withEffect">
                                  <p:stCondLst>
                                    <p:cond delay="0"/>
                                  </p:stCondLst>
                                  <p:childTnLst>
                                    <p:set>
                                      <p:cBhvr>
                                        <p:cTn id="90" dur="1" fill="hold">
                                          <p:stCondLst>
                                            <p:cond delay="0"/>
                                          </p:stCondLst>
                                        </p:cTn>
                                        <p:tgtEl>
                                          <p:spTgt spid="28"/>
                                        </p:tgtEl>
                                        <p:attrNameLst>
                                          <p:attrName>style.visibility</p:attrName>
                                        </p:attrNameLst>
                                      </p:cBhvr>
                                      <p:to>
                                        <p:strVal val="visible"/>
                                      </p:to>
                                    </p:set>
                                    <p:animEffect transition="in" filter="fade">
                                      <p:cBhvr>
                                        <p:cTn id="91" dur="400"/>
                                        <p:tgtEl>
                                          <p:spTgt spid="28"/>
                                        </p:tgtEl>
                                      </p:cBhvr>
                                    </p:animEffect>
                                  </p:childTnLst>
                                </p:cTn>
                              </p:par>
                            </p:childTnLst>
                          </p:cTn>
                        </p:par>
                        <p:par>
                          <p:cTn id="92" fill="hold">
                            <p:stCondLst>
                              <p:cond delay="1250"/>
                            </p:stCondLst>
                            <p:childTnLst>
                              <p:par>
                                <p:cTn id="93" presetID="10" presetClass="entr" presetSubtype="0" fill="hold" grpId="0" nodeType="withEffect">
                                  <p:stCondLst>
                                    <p:cond delay="0"/>
                                  </p:stCondLst>
                                  <p:childTnLst>
                                    <p:set>
                                      <p:cBhvr>
                                        <p:cTn id="94" dur="1" fill="hold">
                                          <p:stCondLst>
                                            <p:cond delay="0"/>
                                          </p:stCondLst>
                                        </p:cTn>
                                        <p:tgtEl>
                                          <p:spTgt spid="29"/>
                                        </p:tgtEl>
                                        <p:attrNameLst>
                                          <p:attrName>style.visibility</p:attrName>
                                        </p:attrNameLst>
                                      </p:cBhvr>
                                      <p:to>
                                        <p:strVal val="visible"/>
                                      </p:to>
                                    </p:set>
                                    <p:animEffect transition="in" filter="fade">
                                      <p:cBhvr>
                                        <p:cTn id="95" dur="4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8" grpId="0" animBg="1"/>
      <p:bldP spid="9" grpId="0" animBg="1"/>
      <p:bldP spid="10"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2 · PASSO 1: OS DADOS · THIAGO</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Grão: o que é uma linha. Aditividade: o que soma.</a:t>
            </a:r>
            <a:endParaRPr lang="en-US" sz="3200" dirty="0"/>
          </a:p>
        </p:txBody>
      </p:sp>
      <p:sp>
        <p:nvSpPr>
          <p:cNvPr id="5" name="anim:1:300"/>
          <p:cNvSpPr/>
          <p:nvPr/>
        </p:nvSpPr>
        <p:spPr>
          <a:xfrm>
            <a:off x="548640" y="1463040"/>
            <a:ext cx="5440680" cy="2377440"/>
          </a:xfrm>
          <a:prstGeom prst="roundRect">
            <a:avLst>
              <a:gd name="adj" fmla="val 4615"/>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6" name="anim:1:301"/>
          <p:cNvSpPr txBox="1"/>
          <p:nvPr/>
        </p:nvSpPr>
        <p:spPr>
          <a:xfrm>
            <a:off x="777240" y="1600200"/>
            <a:ext cx="5029200" cy="228600"/>
          </a:xfrm>
          <a:prstGeom prst="rect">
            <a:avLst/>
          </a:prstGeom>
          <a:noFill/>
          <a:ln/>
        </p:spPr>
        <p:txBody>
          <a:bodyPr wrap="square" lIns="0" tIns="0" rIns="0" bIns="0" rtlCol="0" anchor="t"/>
          <a:lstStyle/>
          <a:p>
            <a:pPr algn="l" indent="0" marL="0">
              <a:buNone/>
            </a:pPr>
            <a:r>
              <a:rPr lang="en-US" sz="1000" b="1" spc="100" kern="0" dirty="0">
                <a:solidFill>
                  <a:srgbClr val="8A5300"/>
                </a:solidFill>
                <a:latin typeface="Calibri" pitchFamily="34" charset="0"/>
                <a:ea typeface="Calibri" pitchFamily="34" charset="-122"/>
                <a:cs typeface="Calibri" pitchFamily="34" charset="-120"/>
              </a:rPr>
              <a:t>GRÃO = O QUE UMA LINHA REPRESENTA</a:t>
            </a:r>
            <a:endParaRPr lang="en-US" sz="1000" dirty="0"/>
          </a:p>
        </p:txBody>
      </p:sp>
      <p:sp>
        <p:nvSpPr>
          <p:cNvPr id="7" name="anim:1:302"/>
          <p:cNvSpPr txBox="1"/>
          <p:nvPr/>
        </p:nvSpPr>
        <p:spPr>
          <a:xfrm>
            <a:off x="777240" y="1874520"/>
            <a:ext cx="2743200" cy="228600"/>
          </a:xfrm>
          <a:prstGeom prst="rect">
            <a:avLst/>
          </a:prstGeom>
          <a:noFill/>
          <a:ln/>
        </p:spPr>
        <p:txBody>
          <a:bodyPr wrap="square" lIns="0" tIns="0" rIns="0" bIns="0" rtlCol="0" anchor="t"/>
          <a:lstStyle/>
          <a:p>
            <a:pPr algn="l" indent="0" marL="0">
              <a:buNone/>
            </a:pPr>
            <a:r>
              <a:rPr lang="en-US" sz="1100" b="1" dirty="0">
                <a:solidFill>
                  <a:srgbClr val="566175"/>
                </a:solidFill>
                <a:latin typeface="Calibri" pitchFamily="34" charset="0"/>
                <a:ea typeface="Calibri" pitchFamily="34" charset="-122"/>
                <a:cs typeface="Calibri" pitchFamily="34" charset="-120"/>
              </a:rPr>
              <a:t>fato Fila</a:t>
            </a:r>
            <a:endParaRPr lang="en-US" sz="11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777240" y="2121408"/>
          <a:ext cx="4983480" cy="914400"/>
        </p:xfrm>
        <a:graphic>
          <a:graphicData uri="http://schemas.openxmlformats.org/drawingml/2006/table">
            <a:tbl>
              <a:tblPr/>
              <a:tblGrid>
                <a:gridCol w="1245870"/>
                <a:gridCol w="1245870"/>
                <a:gridCol w="1245870"/>
                <a:gridCol w="1245870"/>
              </a:tblGrid>
              <a:tr h="310896">
                <a:tc>
                  <a:txBody>
                    <a:bodyPr/>
                    <a:lstStyle/>
                    <a:p>
                      <a:pPr indent="0" marL="0">
                        <a:buNone/>
                      </a:pPr>
                      <a:r>
                        <a:rPr lang="en-US" sz="1200" dirty="0">
                          <a:solidFill>
                            <a:srgbClr val="1F2937"/>
                          </a:solidFill>
                          <a:latin typeface="Consolas" pitchFamily="34" charset="0"/>
                          <a:ea typeface="Consolas" pitchFamily="34" charset="-122"/>
                          <a:cs typeface="Consolas" pitchFamily="34" charset="-120"/>
                        </a:rPr>
                        <a:t>TREMEMBE</a:t>
                      </a:r>
                      <a:endParaRPr lang="en-US" sz="1200" dirty="0">
                        <a:latin typeface="Consolas" charset="0"/>
                        <a:ea typeface="Consolas" charset="0"/>
                        <a:cs typeface="Consolas" charset="0"/>
                      </a:endParaRPr>
                    </a:p>
                  </a:txBody>
                  <a:tcPr marL="73152" marR="73152" marT="27432" marB="27432"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200" dirty="0">
                          <a:solidFill>
                            <a:srgbClr val="1F2937"/>
                          </a:solidFill>
                          <a:latin typeface="Consolas" pitchFamily="34" charset="0"/>
                          <a:ea typeface="Consolas" pitchFamily="34" charset="-122"/>
                          <a:cs typeface="Consolas" pitchFamily="34" charset="-120"/>
                        </a:rPr>
                        <a:t>jun/2024</a:t>
                      </a:r>
                      <a:endParaRPr lang="en-US" sz="1200" dirty="0">
                        <a:latin typeface="Consolas" charset="0"/>
                        <a:ea typeface="Consolas" charset="0"/>
                        <a:cs typeface="Consolas" charset="0"/>
                      </a:endParaRPr>
                    </a:p>
                  </a:txBody>
                  <a:tcPr marL="73152" marR="73152" marT="27432" marB="27432"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200" dirty="0">
                          <a:solidFill>
                            <a:srgbClr val="1F2937"/>
                          </a:solidFill>
                          <a:latin typeface="Consolas" pitchFamily="34" charset="0"/>
                          <a:ea typeface="Consolas" pitchFamily="34" charset="-122"/>
                          <a:cs typeface="Consolas" pitchFamily="34" charset="-120"/>
                        </a:rPr>
                        <a:t>CRECHE</a:t>
                      </a:r>
                      <a:endParaRPr lang="en-US" sz="1200" dirty="0">
                        <a:latin typeface="Consolas" charset="0"/>
                        <a:ea typeface="Consolas" charset="0"/>
                        <a:cs typeface="Consolas" charset="0"/>
                      </a:endParaRPr>
                    </a:p>
                  </a:txBody>
                  <a:tcPr marL="73152" marR="73152" marT="27432" marB="27432"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200" b="1" dirty="0">
                          <a:solidFill>
                            <a:srgbClr val="8A5300"/>
                          </a:solidFill>
                          <a:latin typeface="Consolas" pitchFamily="34" charset="0"/>
                          <a:ea typeface="Consolas" pitchFamily="34" charset="-122"/>
                          <a:cs typeface="Consolas" pitchFamily="34" charset="-120"/>
                        </a:rPr>
                        <a:t>153</a:t>
                      </a:r>
                      <a:endParaRPr lang="en-US" sz="1200" dirty="0">
                        <a:latin typeface="Consolas" charset="0"/>
                        <a:ea typeface="Consolas" charset="0"/>
                        <a:cs typeface="Consolas" charset="0"/>
                      </a:endParaRPr>
                    </a:p>
                  </a:txBody>
                  <a:tcPr marL="73152" marR="73152" marT="27432" marB="27432"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4E2"/>
                    </a:solidFill>
                  </a:tcPr>
                </a:tc>
              </a:tr>
            </a:tbl>
          </a:graphicData>
        </a:graphic>
      </p:graphicFrame>
      <p:sp>
        <p:nvSpPr>
          <p:cNvPr id="9" name="anim:1:303"/>
          <p:cNvSpPr txBox="1"/>
          <p:nvPr/>
        </p:nvSpPr>
        <p:spPr>
          <a:xfrm>
            <a:off x="777240" y="2514600"/>
            <a:ext cx="2743200" cy="228600"/>
          </a:xfrm>
          <a:prstGeom prst="rect">
            <a:avLst/>
          </a:prstGeom>
          <a:noFill/>
          <a:ln/>
        </p:spPr>
        <p:txBody>
          <a:bodyPr wrap="square" lIns="0" tIns="0" rIns="0" bIns="0" rtlCol="0" anchor="t"/>
          <a:lstStyle/>
          <a:p>
            <a:pPr algn="l" indent="0" marL="0">
              <a:buNone/>
            </a:pPr>
            <a:r>
              <a:rPr lang="en-US" sz="1100" b="1" dirty="0">
                <a:solidFill>
                  <a:srgbClr val="566175"/>
                </a:solidFill>
                <a:latin typeface="Calibri" pitchFamily="34" charset="0"/>
                <a:ea typeface="Calibri" pitchFamily="34" charset="-122"/>
                <a:cs typeface="Calibri" pitchFamily="34" charset="-120"/>
              </a:rPr>
              <a:t>fato Matrícula</a:t>
            </a:r>
            <a:endParaRPr lang="en-US" sz="1100" dirty="0"/>
          </a:p>
        </p:txBody>
      </p:sp>
      <p:graphicFrame>
        <p:nvGraphicFramePr>
          <p:cNvPr id="31" name="Table 1"/>
          <p:cNvGraphicFramePr>
            <a:graphicFrameLocks noGrp="1"/>
          </p:cNvGraphicFramePr>
          <p:nvPr>
            <p:extLst>
              <p:ext uri="{D42A27DB-BD31-4B8C-83A1-F6EECF244321}">
                <p14:modId xmlns:p14="http://schemas.microsoft.com/office/powerpoint/2010/main" val="1579011935"/>
              </p:ext>
            </p:extLst>
          </p:nvPr>
        </p:nvGraphicFramePr>
        <p:xfrm>
          <a:off x="777240" y="2761488"/>
          <a:ext cx="4983480" cy="914400"/>
        </p:xfrm>
        <a:graphic>
          <a:graphicData uri="http://schemas.openxmlformats.org/drawingml/2006/table">
            <a:tbl>
              <a:tblPr/>
              <a:tblGrid>
                <a:gridCol w="1245870"/>
                <a:gridCol w="1245870"/>
                <a:gridCol w="1245870"/>
                <a:gridCol w="1245870"/>
              </a:tblGrid>
              <a:tr h="310896">
                <a:tc>
                  <a:txBody>
                    <a:bodyPr/>
                    <a:lstStyle/>
                    <a:p>
                      <a:pPr indent="0" marL="0">
                        <a:buNone/>
                      </a:pPr>
                      <a:r>
                        <a:rPr lang="en-US" sz="1200" dirty="0">
                          <a:solidFill>
                            <a:srgbClr val="1F2937"/>
                          </a:solidFill>
                          <a:latin typeface="Consolas" pitchFamily="34" charset="0"/>
                          <a:ea typeface="Consolas" pitchFamily="34" charset="-122"/>
                          <a:cs typeface="Consolas" pitchFamily="34" charset="-120"/>
                        </a:rPr>
                        <a:t>um aluno</a:t>
                      </a:r>
                      <a:endParaRPr lang="en-US" sz="1200" dirty="0">
                        <a:latin typeface="Consolas" charset="0"/>
                        <a:ea typeface="Consolas" charset="0"/>
                        <a:cs typeface="Consolas" charset="0"/>
                      </a:endParaRPr>
                    </a:p>
                  </a:txBody>
                  <a:tcPr marL="73152" marR="73152" marT="27432" marB="27432"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200" dirty="0">
                          <a:solidFill>
                            <a:srgbClr val="1F2937"/>
                          </a:solidFill>
                          <a:latin typeface="Consolas" pitchFamily="34" charset="0"/>
                          <a:ea typeface="Consolas" pitchFamily="34" charset="-122"/>
                          <a:cs typeface="Consolas" pitchFamily="34" charset="-120"/>
                        </a:rPr>
                        <a:t>uma turma</a:t>
                      </a:r>
                      <a:endParaRPr lang="en-US" sz="1200" dirty="0">
                        <a:latin typeface="Consolas" charset="0"/>
                        <a:ea typeface="Consolas" charset="0"/>
                        <a:cs typeface="Consolas" charset="0"/>
                      </a:endParaRPr>
                    </a:p>
                  </a:txBody>
                  <a:tcPr marL="73152" marR="73152" marT="27432" marB="27432"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200" dirty="0">
                          <a:solidFill>
                            <a:srgbClr val="1F2937"/>
                          </a:solidFill>
                          <a:latin typeface="Consolas" pitchFamily="34" charset="0"/>
                          <a:ea typeface="Consolas" pitchFamily="34" charset="-122"/>
                          <a:cs typeface="Consolas" pitchFamily="34" charset="-120"/>
                        </a:rPr>
                        <a:t>2024</a:t>
                      </a:r>
                      <a:endParaRPr lang="en-US" sz="1200" dirty="0">
                        <a:latin typeface="Consolas" charset="0"/>
                        <a:ea typeface="Consolas" charset="0"/>
                        <a:cs typeface="Consolas" charset="0"/>
                      </a:endParaRPr>
                    </a:p>
                  </a:txBody>
                  <a:tcPr marL="73152" marR="73152" marT="27432" marB="27432"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200" b="1" dirty="0">
                          <a:solidFill>
                            <a:srgbClr val="8A5300"/>
                          </a:solidFill>
                          <a:latin typeface="Consolas" pitchFamily="34" charset="0"/>
                          <a:ea typeface="Consolas" pitchFamily="34" charset="-122"/>
                          <a:cs typeface="Consolas" pitchFamily="34" charset="-120"/>
                        </a:rPr>
                        <a:t>1</a:t>
                      </a:r>
                      <a:endParaRPr lang="en-US" sz="1200" dirty="0">
                        <a:latin typeface="Consolas" charset="0"/>
                        <a:ea typeface="Consolas" charset="0"/>
                        <a:cs typeface="Consolas" charset="0"/>
                      </a:endParaRPr>
                    </a:p>
                  </a:txBody>
                  <a:tcPr marL="73152" marR="73152" marT="27432" marB="27432"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4E2"/>
                    </a:solidFill>
                  </a:tcPr>
                </a:tc>
              </a:tr>
            </a:tbl>
          </a:graphicData>
        </a:graphic>
      </p:graphicFrame>
      <p:sp>
        <p:nvSpPr>
          <p:cNvPr id="11" name="anim:1:304"/>
          <p:cNvSpPr txBox="1"/>
          <p:nvPr/>
        </p:nvSpPr>
        <p:spPr>
          <a:xfrm>
            <a:off x="777240" y="3182112"/>
            <a:ext cx="4983480" cy="566928"/>
          </a:xfrm>
          <a:prstGeom prst="rect">
            <a:avLst/>
          </a:prstGeom>
          <a:noFill/>
          <a:ln/>
        </p:spPr>
        <p:txBody>
          <a:bodyPr wrap="square" lIns="0" tIns="0" rIns="0" bIns="0" rtlCol="0" anchor="t"/>
          <a:lstStyle/>
          <a:p>
            <a:pPr indent="0" marL="0">
              <a:buNone/>
            </a:pPr>
            <a:r>
              <a:rPr lang="en-US" sz="1300" dirty="0">
                <a:solidFill>
                  <a:srgbClr val="1F2937"/>
                </a:solidFill>
                <a:latin typeface="Calibri" pitchFamily="34" charset="0"/>
                <a:ea typeface="Calibri" pitchFamily="34" charset="-122"/>
                <a:cs typeface="Calibri" pitchFamily="34" charset="-120"/>
              </a:rPr>
              <a:t>Uma criança não é uma linha da fila: </a:t>
            </a:r>
            <a:pPr indent="0" marL="0">
              <a:buNone/>
            </a:pPr>
            <a:r>
              <a:rPr lang="en-US" sz="1300" b="1" dirty="0">
                <a:solidFill>
                  <a:srgbClr val="1B2A4A"/>
                </a:solidFill>
                <a:latin typeface="Calibri" pitchFamily="34" charset="0"/>
                <a:ea typeface="Calibri" pitchFamily="34" charset="-122"/>
                <a:cs typeface="Calibri" pitchFamily="34" charset="-120"/>
              </a:rPr>
              <a:t>é uma das 153</a:t>
            </a:r>
            <a:pPr indent="0" marL="0">
              <a:buNone/>
            </a:pPr>
            <a:r>
              <a:rPr lang="en-US" sz="1300" dirty="0">
                <a:solidFill>
                  <a:srgbClr val="1F2937"/>
                </a:solidFill>
                <a:latin typeface="Calibri" pitchFamily="34" charset="0"/>
                <a:ea typeface="Calibri" pitchFamily="34" charset="-122"/>
                <a:cs typeface="Calibri" pitchFamily="34" charset="-120"/>
              </a:rPr>
              <a:t>. Quando consegue a vaga, vira uma linha do fato Matrícula.</a:t>
            </a:r>
            <a:endParaRPr lang="en-US" sz="1300" dirty="0"/>
          </a:p>
        </p:txBody>
      </p:sp>
      <p:sp>
        <p:nvSpPr>
          <p:cNvPr id="12" name="anim:2:305"/>
          <p:cNvSpPr/>
          <p:nvPr/>
        </p:nvSpPr>
        <p:spPr>
          <a:xfrm>
            <a:off x="6172200" y="1463040"/>
            <a:ext cx="5440680" cy="2377440"/>
          </a:xfrm>
          <a:prstGeom prst="roundRect">
            <a:avLst>
              <a:gd name="adj" fmla="val 4615"/>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13" name="anim:2:306"/>
          <p:cNvSpPr txBox="1"/>
          <p:nvPr/>
        </p:nvSpPr>
        <p:spPr>
          <a:xfrm>
            <a:off x="6400800" y="1600200"/>
            <a:ext cx="5029200" cy="228600"/>
          </a:xfrm>
          <a:prstGeom prst="rect">
            <a:avLst/>
          </a:prstGeom>
          <a:noFill/>
          <a:ln/>
        </p:spPr>
        <p:txBody>
          <a:bodyPr wrap="square" lIns="0" tIns="0" rIns="0" bIns="0" rtlCol="0" anchor="t"/>
          <a:lstStyle/>
          <a:p>
            <a:pPr algn="l" indent="0" marL="0">
              <a:buNone/>
            </a:pPr>
            <a:r>
              <a:rPr lang="en-US" sz="1000" b="1" spc="100" kern="0" dirty="0">
                <a:solidFill>
                  <a:srgbClr val="8A5300"/>
                </a:solidFill>
                <a:latin typeface="Calibri" pitchFamily="34" charset="0"/>
                <a:ea typeface="Calibri" pitchFamily="34" charset="-122"/>
                <a:cs typeface="Calibri" pitchFamily="34" charset="-120"/>
              </a:rPr>
              <a:t>ADITIVIDADE = POSSO SOMAR?</a:t>
            </a:r>
            <a:endParaRPr lang="en-US" sz="1000" dirty="0"/>
          </a:p>
        </p:txBody>
      </p:sp>
      <p:sp>
        <p:nvSpPr>
          <p:cNvPr id="14" name="anim:2:307"/>
          <p:cNvSpPr/>
          <p:nvPr/>
        </p:nvSpPr>
        <p:spPr>
          <a:xfrm>
            <a:off x="6400800" y="1947672"/>
            <a:ext cx="310896" cy="310896"/>
          </a:xfrm>
          <a:prstGeom prst="ellipse">
            <a:avLst/>
          </a:prstGeom>
          <a:solidFill>
            <a:srgbClr val="2E5EAA"/>
          </a:solidFill>
          <a:ln w="12700">
            <a:solidFill>
              <a:srgbClr val="2E5EAA"/>
            </a:solidFill>
            <a:prstDash val="solid"/>
          </a:ln>
        </p:spPr>
      </p:sp>
      <p:sp>
        <p:nvSpPr>
          <p:cNvPr id="15" name="anim:2:308"/>
          <p:cNvSpPr txBox="1"/>
          <p:nvPr/>
        </p:nvSpPr>
        <p:spPr>
          <a:xfrm>
            <a:off x="6400800" y="194767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16" name="anim:2:309"/>
          <p:cNvSpPr txBox="1"/>
          <p:nvPr/>
        </p:nvSpPr>
        <p:spPr>
          <a:xfrm>
            <a:off x="6858000" y="1920240"/>
            <a:ext cx="4572000" cy="566928"/>
          </a:xfrm>
          <a:prstGeom prst="rect">
            <a:avLst/>
          </a:prstGeom>
          <a:noFill/>
          <a:ln/>
        </p:spPr>
        <p:txBody>
          <a:bodyPr wrap="square" lIns="0" tIns="0" rIns="0" bIns="0" rtlCol="0" anchor="t"/>
          <a:lstStyle/>
          <a:p>
            <a:pPr indent="0" marL="0">
              <a:buNone/>
            </a:pPr>
            <a:r>
              <a:rPr lang="en-US" sz="1300" b="1" dirty="0">
                <a:solidFill>
                  <a:srgbClr val="1B2A4A"/>
                </a:solidFill>
                <a:latin typeface="Calibri" pitchFamily="34" charset="0"/>
                <a:ea typeface="Calibri" pitchFamily="34" charset="-122"/>
                <a:cs typeface="Calibri" pitchFamily="34" charset="-120"/>
              </a:rPr>
              <a:t>Somar distritos: </a:t>
            </a:r>
            <a:pPr indent="0" marL="0">
              <a:buNone/>
            </a:pPr>
            <a:r>
              <a:rPr lang="en-US" sz="1300" dirty="0">
                <a:solidFill>
                  <a:srgbClr val="1F2937"/>
                </a:solidFill>
                <a:latin typeface="Calibri" pitchFamily="34" charset="0"/>
                <a:ea typeface="Calibri" pitchFamily="34" charset="-122"/>
                <a:cs typeface="Calibri" pitchFamily="34" charset="-120"/>
              </a:rPr>
              <a:t>Tremembé + Grajaú em junho de 2024 = 153 + 88 = 241 crianças na fila.</a:t>
            </a:r>
            <a:endParaRPr lang="en-US" sz="1300" dirty="0"/>
          </a:p>
        </p:txBody>
      </p:sp>
      <p:sp>
        <p:nvSpPr>
          <p:cNvPr id="17" name="anim:2:310"/>
          <p:cNvSpPr/>
          <p:nvPr/>
        </p:nvSpPr>
        <p:spPr>
          <a:xfrm>
            <a:off x="6400800" y="2569464"/>
            <a:ext cx="310896" cy="310896"/>
          </a:xfrm>
          <a:prstGeom prst="ellipse">
            <a:avLst/>
          </a:prstGeom>
          <a:solidFill>
            <a:srgbClr val="8A5300"/>
          </a:solidFill>
          <a:ln w="12700">
            <a:solidFill>
              <a:srgbClr val="8A5300"/>
            </a:solidFill>
            <a:prstDash val="solid"/>
          </a:ln>
        </p:spPr>
      </p:sp>
      <p:sp>
        <p:nvSpPr>
          <p:cNvPr id="18" name="anim:2:311"/>
          <p:cNvSpPr txBox="1"/>
          <p:nvPr/>
        </p:nvSpPr>
        <p:spPr>
          <a:xfrm>
            <a:off x="6400800" y="2569464"/>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19" name="anim:2:312"/>
          <p:cNvSpPr txBox="1"/>
          <p:nvPr/>
        </p:nvSpPr>
        <p:spPr>
          <a:xfrm>
            <a:off x="6858000" y="2542032"/>
            <a:ext cx="4572000" cy="566928"/>
          </a:xfrm>
          <a:prstGeom prst="rect">
            <a:avLst/>
          </a:prstGeom>
          <a:noFill/>
          <a:ln/>
        </p:spPr>
        <p:txBody>
          <a:bodyPr wrap="square" lIns="0" tIns="0" rIns="0" bIns="0" rtlCol="0" anchor="t"/>
          <a:lstStyle/>
          <a:p>
            <a:pPr indent="0" marL="0">
              <a:buNone/>
            </a:pPr>
            <a:r>
              <a:rPr lang="en-US" sz="1300" b="1" dirty="0">
                <a:solidFill>
                  <a:srgbClr val="1B2A4A"/>
                </a:solidFill>
                <a:latin typeface="Calibri" pitchFamily="34" charset="0"/>
                <a:ea typeface="Calibri" pitchFamily="34" charset="-122"/>
                <a:cs typeface="Calibri" pitchFamily="34" charset="-120"/>
              </a:rPr>
              <a:t>Somar meses: </a:t>
            </a:r>
            <a:pPr indent="0" marL="0">
              <a:buNone/>
            </a:pPr>
            <a:r>
              <a:rPr lang="en-US" sz="1300" dirty="0">
                <a:solidFill>
                  <a:srgbClr val="1F2937"/>
                </a:solidFill>
                <a:latin typeface="Calibri" pitchFamily="34" charset="0"/>
                <a:ea typeface="Calibri" pitchFamily="34" charset="-122"/>
                <a:cs typeface="Calibri" pitchFamily="34" charset="-120"/>
              </a:rPr>
              <a:t>fila de abril + fila de junho conta duas vezes quem continuou esperando. A fila é um estoque.</a:t>
            </a:r>
            <a:endParaRPr lang="en-US" sz="1300" dirty="0"/>
          </a:p>
        </p:txBody>
      </p:sp>
      <p:sp>
        <p:nvSpPr>
          <p:cNvPr id="20" name="anim:2:313"/>
          <p:cNvSpPr/>
          <p:nvPr/>
        </p:nvSpPr>
        <p:spPr>
          <a:xfrm>
            <a:off x="6400800" y="3191256"/>
            <a:ext cx="310896" cy="310896"/>
          </a:xfrm>
          <a:prstGeom prst="ellipse">
            <a:avLst/>
          </a:prstGeom>
          <a:solidFill>
            <a:srgbClr val="566175"/>
          </a:solidFill>
          <a:ln w="12700">
            <a:solidFill>
              <a:srgbClr val="566175"/>
            </a:solidFill>
            <a:prstDash val="solid"/>
          </a:ln>
        </p:spPr>
      </p:sp>
      <p:sp>
        <p:nvSpPr>
          <p:cNvPr id="21" name="anim:2:314"/>
          <p:cNvSpPr txBox="1"/>
          <p:nvPr/>
        </p:nvSpPr>
        <p:spPr>
          <a:xfrm>
            <a:off x="6400800" y="319125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22" name="anim:2:315"/>
          <p:cNvSpPr txBox="1"/>
          <p:nvPr/>
        </p:nvSpPr>
        <p:spPr>
          <a:xfrm>
            <a:off x="6858000" y="3163824"/>
            <a:ext cx="4572000" cy="566928"/>
          </a:xfrm>
          <a:prstGeom prst="rect">
            <a:avLst/>
          </a:prstGeom>
          <a:noFill/>
          <a:ln/>
        </p:spPr>
        <p:txBody>
          <a:bodyPr wrap="square" lIns="0" tIns="0" rIns="0" bIns="0" rtlCol="0" anchor="t"/>
          <a:lstStyle/>
          <a:p>
            <a:pPr indent="0" marL="0">
              <a:buNone/>
            </a:pPr>
            <a:r>
              <a:rPr lang="en-US" sz="1300" b="1" dirty="0">
                <a:solidFill>
                  <a:srgbClr val="1B2A4A"/>
                </a:solidFill>
                <a:latin typeface="Calibri" pitchFamily="34" charset="0"/>
                <a:ea typeface="Calibri" pitchFamily="34" charset="-122"/>
                <a:cs typeface="Calibri" pitchFamily="34" charset="-120"/>
              </a:rPr>
              <a:t>Taxas e médias: </a:t>
            </a:r>
            <a:pPr indent="0" marL="0">
              <a:buNone/>
            </a:pPr>
            <a:r>
              <a:rPr lang="en-US" sz="1300" dirty="0">
                <a:solidFill>
                  <a:srgbClr val="1F2937"/>
                </a:solidFill>
                <a:latin typeface="Calibri" pitchFamily="34" charset="0"/>
                <a:ea typeface="Calibri" pitchFamily="34" charset="-122"/>
                <a:cs typeface="Calibri" pitchFamily="34" charset="-120"/>
              </a:rPr>
              <a:t>nunca somar nem tirar média; recalcular das somas (abandonos ÷ matrículas).</a:t>
            </a:r>
            <a:endParaRPr lang="en-US" sz="1300" dirty="0"/>
          </a:p>
        </p:txBody>
      </p:sp>
      <p:graphicFrame>
        <p:nvGraphicFramePr>
          <p:cNvPr id="46" name="Table 2"/>
          <p:cNvGraphicFramePr>
            <a:graphicFrameLocks noGrp="1"/>
          </p:cNvGraphicFramePr>
          <p:nvPr>
            <p:extLst>
              <p:ext uri="{D42A27DB-BD31-4B8C-83A1-F6EECF244321}">
                <p14:modId xmlns:p14="http://schemas.microsoft.com/office/powerpoint/2010/main" val="1579011935"/>
              </p:ext>
            </p:extLst>
          </p:nvPr>
        </p:nvGraphicFramePr>
        <p:xfrm>
          <a:off x="548640" y="3977640"/>
          <a:ext cx="11064240" cy="914400"/>
        </p:xfrm>
        <a:graphic>
          <a:graphicData uri="http://schemas.openxmlformats.org/drawingml/2006/table">
            <a:tbl>
              <a:tblPr/>
              <a:tblGrid>
                <a:gridCol w="2194560"/>
                <a:gridCol w="3566160"/>
                <a:gridCol w="5303520"/>
              </a:tblGrid>
              <a:tr h="320040">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Tabela de fatos</a:t>
                      </a:r>
                      <a:endParaRPr lang="en-US" sz="125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1B2A4A"/>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Uma linha é</a:t>
                      </a:r>
                      <a:endParaRPr lang="en-US" sz="125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1B2A4A"/>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Pode somar?</a:t>
                      </a:r>
                      <a:endParaRPr lang="en-US" sz="125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1B2A4A"/>
                    </a:solidFill>
                  </a:tcPr>
                </a:tc>
              </a:tr>
              <a:tr h="320040">
                <a:tc>
                  <a:txBody>
                    <a:bodyPr/>
                    <a:lstStyle/>
                    <a:p>
                      <a:pPr indent="0" marL="0">
                        <a:buNone/>
                      </a:pPr>
                      <a:r>
                        <a:rPr lang="en-US" sz="1250" b="1" dirty="0">
                          <a:solidFill>
                            <a:srgbClr val="1F2937"/>
                          </a:solidFill>
                          <a:latin typeface="Calibri" pitchFamily="34" charset="0"/>
                          <a:ea typeface="Calibri" pitchFamily="34" charset="-122"/>
                          <a:cs typeface="Calibri" pitchFamily="34" charset="-120"/>
                        </a:rPr>
                        <a:t>Matrícula</a:t>
                      </a:r>
                      <a:endParaRPr lang="en-US" sz="125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um vínculo aluno-turma × ano</a:t>
                      </a:r>
                      <a:endParaRPr lang="en-US" sz="125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250" b="1" dirty="0">
                          <a:solidFill>
                            <a:srgbClr val="2E5EAA"/>
                          </a:solidFill>
                          <a:latin typeface="Calibri" pitchFamily="34" charset="0"/>
                          <a:ea typeface="Calibri" pitchFamily="34" charset="-122"/>
                          <a:cs typeface="Calibri" pitchFamily="34" charset="-120"/>
                        </a:rPr>
                        <a:t>aditivo: soma em tudo</a:t>
                      </a:r>
                      <a:endParaRPr lang="en-US" sz="125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r>
              <a:tr h="320040">
                <a:tc>
                  <a:txBody>
                    <a:bodyPr/>
                    <a:lstStyle/>
                    <a:p>
                      <a:pPr indent="0" marL="0">
                        <a:buNone/>
                      </a:pPr>
                      <a:r>
                        <a:rPr lang="en-US" sz="1250" b="1" dirty="0">
                          <a:solidFill>
                            <a:srgbClr val="1F2937"/>
                          </a:solidFill>
                          <a:latin typeface="Calibri" pitchFamily="34" charset="0"/>
                          <a:ea typeface="Calibri" pitchFamily="34" charset="-122"/>
                          <a:cs typeface="Calibri" pitchFamily="34" charset="-120"/>
                        </a:rPr>
                        <a:t>Fila</a:t>
                      </a:r>
                      <a:endParaRPr lang="en-US" sz="125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distrito × mês × etapa</a:t>
                      </a:r>
                      <a:endParaRPr lang="en-US" sz="125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c>
                  <a:txBody>
                    <a:bodyPr/>
                    <a:lstStyle/>
                    <a:p>
                      <a:pPr indent="0" marL="0">
                        <a:buNone/>
                      </a:pPr>
                      <a:r>
                        <a:rPr lang="en-US" sz="1250" b="1" dirty="0">
                          <a:solidFill>
                            <a:srgbClr val="8A5300"/>
                          </a:solidFill>
                          <a:latin typeface="Calibri" pitchFamily="34" charset="0"/>
                          <a:ea typeface="Calibri" pitchFamily="34" charset="-122"/>
                          <a:cs typeface="Calibri" pitchFamily="34" charset="-120"/>
                        </a:rPr>
                        <a:t>semiaditivo: soma distritos e etapas, não meses</a:t>
                      </a:r>
                      <a:endParaRPr lang="en-US" sz="125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r>
              <a:tr h="320040">
                <a:tc>
                  <a:txBody>
                    <a:bodyPr/>
                    <a:lstStyle/>
                    <a:p>
                      <a:pPr indent="0" marL="0">
                        <a:buNone/>
                      </a:pPr>
                      <a:r>
                        <a:rPr lang="en-US" sz="1250" b="1" dirty="0">
                          <a:solidFill>
                            <a:srgbClr val="1F2937"/>
                          </a:solidFill>
                          <a:latin typeface="Calibri" pitchFamily="34" charset="0"/>
                          <a:ea typeface="Calibri" pitchFamily="34" charset="-122"/>
                          <a:cs typeface="Calibri" pitchFamily="34" charset="-120"/>
                        </a:rPr>
                        <a:t>Desfecho</a:t>
                      </a:r>
                      <a:endParaRPr lang="en-US" sz="125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escola × ano × série</a:t>
                      </a:r>
                      <a:endParaRPr lang="en-US" sz="125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250" b="1" dirty="0">
                          <a:solidFill>
                            <a:srgbClr val="2E5EAA"/>
                          </a:solidFill>
                          <a:latin typeface="Calibri" pitchFamily="34" charset="0"/>
                          <a:ea typeface="Calibri" pitchFamily="34" charset="-122"/>
                          <a:cs typeface="Calibri" pitchFamily="34" charset="-120"/>
                        </a:rPr>
                        <a:t>aditivo nas contagens; taxas recalculadas</a:t>
                      </a:r>
                      <a:endParaRPr lang="en-US" sz="125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r>
              <a:tr h="320040">
                <a:tc>
                  <a:txBody>
                    <a:bodyPr/>
                    <a:lstStyle/>
                    <a:p>
                      <a:pPr indent="0" marL="0">
                        <a:buNone/>
                      </a:pPr>
                      <a:r>
                        <a:rPr lang="en-US" sz="1250" b="1" dirty="0">
                          <a:solidFill>
                            <a:srgbClr val="1F2937"/>
                          </a:solidFill>
                          <a:latin typeface="Calibri" pitchFamily="34" charset="0"/>
                          <a:ea typeface="Calibri" pitchFamily="34" charset="-122"/>
                          <a:cs typeface="Calibri" pitchFamily="34" charset="-120"/>
                        </a:rPr>
                        <a:t>Ocupação de Turma</a:t>
                      </a:r>
                      <a:endParaRPr lang="en-US" sz="125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turma × ano</a:t>
                      </a:r>
                      <a:endParaRPr lang="en-US" sz="125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c>
                  <a:txBody>
                    <a:bodyPr/>
                    <a:lstStyle/>
                    <a:p>
                      <a:pPr indent="0" marL="0">
                        <a:buNone/>
                      </a:pPr>
                      <a:r>
                        <a:rPr lang="en-US" sz="1250" b="1" dirty="0">
                          <a:solidFill>
                            <a:srgbClr val="2E5EAA"/>
                          </a:solidFill>
                          <a:latin typeface="Calibri" pitchFamily="34" charset="0"/>
                          <a:ea typeface="Calibri" pitchFamily="34" charset="-122"/>
                          <a:cs typeface="Calibri" pitchFamily="34" charset="-120"/>
                        </a:rPr>
                        <a:t>aditivo nas contagens; alunos por turma recalculado</a:t>
                      </a:r>
                      <a:endParaRPr lang="en-US" sz="125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r>
              <a:tr h="320040">
                <a:tc>
                  <a:txBody>
                    <a:bodyPr/>
                    <a:lstStyle/>
                    <a:p>
                      <a:pPr indent="0" marL="0">
                        <a:buNone/>
                      </a:pPr>
                      <a:r>
                        <a:rPr lang="en-US" sz="1250" b="1" dirty="0">
                          <a:solidFill>
                            <a:srgbClr val="1F2937"/>
                          </a:solidFill>
                          <a:latin typeface="Calibri" pitchFamily="34" charset="0"/>
                          <a:ea typeface="Calibri" pitchFamily="34" charset="-122"/>
                          <a:cs typeface="Calibri" pitchFamily="34" charset="-120"/>
                        </a:rPr>
                        <a:t>População</a:t>
                      </a:r>
                      <a:endParaRPr lang="en-US" sz="125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setor censitário × faixa × Censo</a:t>
                      </a:r>
                      <a:endParaRPr lang="en-US" sz="125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250" b="1" dirty="0">
                          <a:solidFill>
                            <a:srgbClr val="8A5300"/>
                          </a:solidFill>
                          <a:latin typeface="Calibri" pitchFamily="34" charset="0"/>
                          <a:ea typeface="Calibri" pitchFamily="34" charset="-122"/>
                          <a:cs typeface="Calibri" pitchFamily="34" charset="-120"/>
                        </a:rPr>
                        <a:t>semiaditivo: soma setores e faixas, não Censos</a:t>
                      </a:r>
                      <a:endParaRPr lang="en-US" sz="125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r>
            </a:tbl>
          </a:graphicData>
        </a:graphic>
      </p:graphicFrame>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15</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childTnLst>
                          </p:cTn>
                        </p:par>
                        <p:par>
                          <p:cTn id="12" fill="hold">
                            <p:stCondLst>
                              <p:cond delay="0"/>
                            </p:stCondLst>
                            <p:childTnLst>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childTnLst>
                          </p:cTn>
                        </p:par>
                        <p:par>
                          <p:cTn id="16" fill="hold">
                            <p:stCondLst>
                              <p:cond delay="0"/>
                            </p:stCondLst>
                            <p:childTnLst>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par>
                          <p:cTn id="20" fill="hold">
                            <p:stCondLst>
                              <p:cond delay="0"/>
                            </p:stCondLst>
                            <p:childTnLst>
                              <p:par>
                                <p:cTn id="21" presetID="10" presetClass="entr" presetSubtype="0" fill="hold" grpId="0" nodeType="withEffect">
                                  <p:stCondLst>
                                    <p:cond delay="0"/>
                                  </p:stCondLst>
                                  <p:childTnLst>
                                    <p:set>
                                      <p:cBhvr>
                                        <p:cTn id="22" dur="1" fill="hold">
                                          <p:stCondLst>
                                            <p:cond delay="0"/>
                                          </p:stCondLst>
                                        </p:cTn>
                                        <p:tgtEl>
                                          <p:spTgt spid="11"/>
                                        </p:tgtEl>
                                        <p:attrNameLst>
                                          <p:attrName>style.visibility</p:attrName>
                                        </p:attrNameLst>
                                      </p:cBhvr>
                                      <p:to>
                                        <p:strVal val="visible"/>
                                      </p:to>
                                    </p:set>
                                    <p:animEffect transition="in" filter="fade">
                                      <p:cBhvr>
                                        <p:cTn id="23" dur="400"/>
                                        <p:tgtEl>
                                          <p:spTgt spid="11"/>
                                        </p:tgtEl>
                                      </p:cBhvr>
                                    </p:animEffect>
                                  </p:childTnLst>
                                </p:cTn>
                              </p:par>
                            </p:childTnLst>
                          </p:cTn>
                        </p:par>
                        <p:par>
                          <p:cTn id="24" fill="hold">
                            <p:stCondLst>
                              <p:cond delay="250"/>
                            </p:stCondLst>
                            <p:childTnLst>
                              <p:par>
                                <p:cTn id="25" presetID="10" presetClass="entr" presetSubtype="0" fill="hold" grpId="0" nodeType="withEffect">
                                  <p:stCondLst>
                                    <p:cond delay="0"/>
                                  </p:stCondLst>
                                  <p:childTnLst>
                                    <p:set>
                                      <p:cBhvr>
                                        <p:cTn id="26" dur="1" fill="hold">
                                          <p:stCondLst>
                                            <p:cond delay="0"/>
                                          </p:stCondLst>
                                        </p:cTn>
                                        <p:tgtEl>
                                          <p:spTgt spid="12"/>
                                        </p:tgtEl>
                                        <p:attrNameLst>
                                          <p:attrName>style.visibility</p:attrName>
                                        </p:attrNameLst>
                                      </p:cBhvr>
                                      <p:to>
                                        <p:strVal val="visible"/>
                                      </p:to>
                                    </p:set>
                                    <p:animEffect transition="in" filter="fade">
                                      <p:cBhvr>
                                        <p:cTn id="27" dur="400"/>
                                        <p:tgtEl>
                                          <p:spTgt spid="12"/>
                                        </p:tgtEl>
                                      </p:cBhvr>
                                    </p:animEffect>
                                  </p:childTnLst>
                                </p:cTn>
                              </p:par>
                            </p:childTnLst>
                          </p:cTn>
                        </p:par>
                        <p:par>
                          <p:cTn id="28" fill="hold">
                            <p:stCondLst>
                              <p:cond delay="250"/>
                            </p:stCondLst>
                            <p:childTnLst>
                              <p:par>
                                <p:cTn id="29" presetID="10" presetClass="entr" presetSubtype="0" fill="hold" grpId="0" nodeType="withEffect">
                                  <p:stCondLst>
                                    <p:cond delay="0"/>
                                  </p:stCondLst>
                                  <p:childTnLst>
                                    <p:set>
                                      <p:cBhvr>
                                        <p:cTn id="30" dur="1" fill="hold">
                                          <p:stCondLst>
                                            <p:cond delay="0"/>
                                          </p:stCondLst>
                                        </p:cTn>
                                        <p:tgtEl>
                                          <p:spTgt spid="13"/>
                                        </p:tgtEl>
                                        <p:attrNameLst>
                                          <p:attrName>style.visibility</p:attrName>
                                        </p:attrNameLst>
                                      </p:cBhvr>
                                      <p:to>
                                        <p:strVal val="visible"/>
                                      </p:to>
                                    </p:set>
                                    <p:animEffect transition="in" filter="fade">
                                      <p:cBhvr>
                                        <p:cTn id="31" dur="400"/>
                                        <p:tgtEl>
                                          <p:spTgt spid="13"/>
                                        </p:tgtEl>
                                      </p:cBhvr>
                                    </p:animEffect>
                                  </p:childTnLst>
                                </p:cTn>
                              </p:par>
                            </p:childTnLst>
                          </p:cTn>
                        </p:par>
                        <p:par>
                          <p:cTn id="32" fill="hold">
                            <p:stCondLst>
                              <p:cond delay="250"/>
                            </p:stCondLst>
                            <p:childTnLst>
                              <p:par>
                                <p:cTn id="33" presetID="10" presetClass="entr" presetSubtype="0" fill="hold" grpId="0" nodeType="withEffect">
                                  <p:stCondLst>
                                    <p:cond delay="0"/>
                                  </p:stCondLst>
                                  <p:childTnLst>
                                    <p:set>
                                      <p:cBhvr>
                                        <p:cTn id="34" dur="1" fill="hold">
                                          <p:stCondLst>
                                            <p:cond delay="0"/>
                                          </p:stCondLst>
                                        </p:cTn>
                                        <p:tgtEl>
                                          <p:spTgt spid="14"/>
                                        </p:tgtEl>
                                        <p:attrNameLst>
                                          <p:attrName>style.visibility</p:attrName>
                                        </p:attrNameLst>
                                      </p:cBhvr>
                                      <p:to>
                                        <p:strVal val="visible"/>
                                      </p:to>
                                    </p:set>
                                    <p:animEffect transition="in" filter="fade">
                                      <p:cBhvr>
                                        <p:cTn id="35" dur="400"/>
                                        <p:tgtEl>
                                          <p:spTgt spid="14"/>
                                        </p:tgtEl>
                                      </p:cBhvr>
                                    </p:animEffect>
                                  </p:childTnLst>
                                </p:cTn>
                              </p:par>
                            </p:childTnLst>
                          </p:cTn>
                        </p:par>
                        <p:par>
                          <p:cTn id="36" fill="hold">
                            <p:stCondLst>
                              <p:cond delay="250"/>
                            </p:stCondLst>
                            <p:childTnLst>
                              <p:par>
                                <p:cTn id="37" presetID="10" presetClass="entr" presetSubtype="0" fill="hold" grpId="0" nodeType="withEffect">
                                  <p:stCondLst>
                                    <p:cond delay="0"/>
                                  </p:stCondLst>
                                  <p:childTnLst>
                                    <p:set>
                                      <p:cBhvr>
                                        <p:cTn id="38" dur="1" fill="hold">
                                          <p:stCondLst>
                                            <p:cond delay="0"/>
                                          </p:stCondLst>
                                        </p:cTn>
                                        <p:tgtEl>
                                          <p:spTgt spid="15"/>
                                        </p:tgtEl>
                                        <p:attrNameLst>
                                          <p:attrName>style.visibility</p:attrName>
                                        </p:attrNameLst>
                                      </p:cBhvr>
                                      <p:to>
                                        <p:strVal val="visible"/>
                                      </p:to>
                                    </p:set>
                                    <p:animEffect transition="in" filter="fade">
                                      <p:cBhvr>
                                        <p:cTn id="39" dur="400"/>
                                        <p:tgtEl>
                                          <p:spTgt spid="15"/>
                                        </p:tgtEl>
                                      </p:cBhvr>
                                    </p:animEffect>
                                  </p:childTnLst>
                                </p:cTn>
                              </p:par>
                            </p:childTnLst>
                          </p:cTn>
                        </p:par>
                        <p:par>
                          <p:cTn id="40" fill="hold">
                            <p:stCondLst>
                              <p:cond delay="250"/>
                            </p:stCondLst>
                            <p:childTnLst>
                              <p:par>
                                <p:cTn id="41" presetID="10" presetClass="entr" presetSubtype="0" fill="hold" grpId="0" nodeType="withEffect">
                                  <p:stCondLst>
                                    <p:cond delay="0"/>
                                  </p:stCondLst>
                                  <p:childTnLst>
                                    <p:set>
                                      <p:cBhvr>
                                        <p:cTn id="42" dur="1" fill="hold">
                                          <p:stCondLst>
                                            <p:cond delay="0"/>
                                          </p:stCondLst>
                                        </p:cTn>
                                        <p:tgtEl>
                                          <p:spTgt spid="16"/>
                                        </p:tgtEl>
                                        <p:attrNameLst>
                                          <p:attrName>style.visibility</p:attrName>
                                        </p:attrNameLst>
                                      </p:cBhvr>
                                      <p:to>
                                        <p:strVal val="visible"/>
                                      </p:to>
                                    </p:set>
                                    <p:animEffect transition="in" filter="fade">
                                      <p:cBhvr>
                                        <p:cTn id="43" dur="400"/>
                                        <p:tgtEl>
                                          <p:spTgt spid="16"/>
                                        </p:tgtEl>
                                      </p:cBhvr>
                                    </p:animEffect>
                                  </p:childTnLst>
                                </p:cTn>
                              </p:par>
                            </p:childTnLst>
                          </p:cTn>
                        </p:par>
                        <p:par>
                          <p:cTn id="44" fill="hold">
                            <p:stCondLst>
                              <p:cond delay="250"/>
                            </p:stCondLst>
                            <p:childTnLst>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childTnLst>
                          </p:cTn>
                        </p:par>
                        <p:par>
                          <p:cTn id="48" fill="hold">
                            <p:stCondLst>
                              <p:cond delay="250"/>
                            </p:stCondLst>
                            <p:childTnLst>
                              <p:par>
                                <p:cTn id="49" presetID="10" presetClass="entr" presetSubtype="0" fill="hold" grpId="0" nodeType="withEffect">
                                  <p:stCondLst>
                                    <p:cond delay="0"/>
                                  </p:stCondLst>
                                  <p:childTnLst>
                                    <p:set>
                                      <p:cBhvr>
                                        <p:cTn id="50" dur="1" fill="hold">
                                          <p:stCondLst>
                                            <p:cond delay="0"/>
                                          </p:stCondLst>
                                        </p:cTn>
                                        <p:tgtEl>
                                          <p:spTgt spid="18"/>
                                        </p:tgtEl>
                                        <p:attrNameLst>
                                          <p:attrName>style.visibility</p:attrName>
                                        </p:attrNameLst>
                                      </p:cBhvr>
                                      <p:to>
                                        <p:strVal val="visible"/>
                                      </p:to>
                                    </p:set>
                                    <p:animEffect transition="in" filter="fade">
                                      <p:cBhvr>
                                        <p:cTn id="51" dur="400"/>
                                        <p:tgtEl>
                                          <p:spTgt spid="18"/>
                                        </p:tgtEl>
                                      </p:cBhvr>
                                    </p:animEffect>
                                  </p:childTnLst>
                                </p:cTn>
                              </p:par>
                            </p:childTnLst>
                          </p:cTn>
                        </p:par>
                        <p:par>
                          <p:cTn id="52" fill="hold">
                            <p:stCondLst>
                              <p:cond delay="250"/>
                            </p:stCondLst>
                            <p:childTnLst>
                              <p:par>
                                <p:cTn id="53" presetID="10" presetClass="entr" presetSubtype="0" fill="hold" grpId="0" nodeType="withEffect">
                                  <p:stCondLst>
                                    <p:cond delay="0"/>
                                  </p:stCondLst>
                                  <p:childTnLst>
                                    <p:set>
                                      <p:cBhvr>
                                        <p:cTn id="54" dur="1" fill="hold">
                                          <p:stCondLst>
                                            <p:cond delay="0"/>
                                          </p:stCondLst>
                                        </p:cTn>
                                        <p:tgtEl>
                                          <p:spTgt spid="19"/>
                                        </p:tgtEl>
                                        <p:attrNameLst>
                                          <p:attrName>style.visibility</p:attrName>
                                        </p:attrNameLst>
                                      </p:cBhvr>
                                      <p:to>
                                        <p:strVal val="visible"/>
                                      </p:to>
                                    </p:set>
                                    <p:animEffect transition="in" filter="fade">
                                      <p:cBhvr>
                                        <p:cTn id="55" dur="400"/>
                                        <p:tgtEl>
                                          <p:spTgt spid="19"/>
                                        </p:tgtEl>
                                      </p:cBhvr>
                                    </p:animEffect>
                                  </p:childTnLst>
                                </p:cTn>
                              </p:par>
                            </p:childTnLst>
                          </p:cTn>
                        </p:par>
                        <p:par>
                          <p:cTn id="56" fill="hold">
                            <p:stCondLst>
                              <p:cond delay="250"/>
                            </p:stCondLst>
                            <p:childTnLst>
                              <p:par>
                                <p:cTn id="57" presetID="10" presetClass="entr" presetSubtype="0" fill="hold" grpId="0" nodeType="withEffect">
                                  <p:stCondLst>
                                    <p:cond delay="0"/>
                                  </p:stCondLst>
                                  <p:childTnLst>
                                    <p:set>
                                      <p:cBhvr>
                                        <p:cTn id="58" dur="1" fill="hold">
                                          <p:stCondLst>
                                            <p:cond delay="0"/>
                                          </p:stCondLst>
                                        </p:cTn>
                                        <p:tgtEl>
                                          <p:spTgt spid="20"/>
                                        </p:tgtEl>
                                        <p:attrNameLst>
                                          <p:attrName>style.visibility</p:attrName>
                                        </p:attrNameLst>
                                      </p:cBhvr>
                                      <p:to>
                                        <p:strVal val="visible"/>
                                      </p:to>
                                    </p:set>
                                    <p:animEffect transition="in" filter="fade">
                                      <p:cBhvr>
                                        <p:cTn id="59" dur="400"/>
                                        <p:tgtEl>
                                          <p:spTgt spid="20"/>
                                        </p:tgtEl>
                                      </p:cBhvr>
                                    </p:animEffect>
                                  </p:childTnLst>
                                </p:cTn>
                              </p:par>
                            </p:childTnLst>
                          </p:cTn>
                        </p:par>
                        <p:par>
                          <p:cTn id="60" fill="hold">
                            <p:stCondLst>
                              <p:cond delay="250"/>
                            </p:stCondLst>
                            <p:childTnLst>
                              <p:par>
                                <p:cTn id="61" presetID="10" presetClass="entr" presetSubtype="0" fill="hold" grpId="0" nodeType="withEffect">
                                  <p:stCondLst>
                                    <p:cond delay="0"/>
                                  </p:stCondLst>
                                  <p:childTnLst>
                                    <p:set>
                                      <p:cBhvr>
                                        <p:cTn id="62" dur="1" fill="hold">
                                          <p:stCondLst>
                                            <p:cond delay="0"/>
                                          </p:stCondLst>
                                        </p:cTn>
                                        <p:tgtEl>
                                          <p:spTgt spid="21"/>
                                        </p:tgtEl>
                                        <p:attrNameLst>
                                          <p:attrName>style.visibility</p:attrName>
                                        </p:attrNameLst>
                                      </p:cBhvr>
                                      <p:to>
                                        <p:strVal val="visible"/>
                                      </p:to>
                                    </p:set>
                                    <p:animEffect transition="in" filter="fade">
                                      <p:cBhvr>
                                        <p:cTn id="63" dur="400"/>
                                        <p:tgtEl>
                                          <p:spTgt spid="21"/>
                                        </p:tgtEl>
                                      </p:cBhvr>
                                    </p:animEffect>
                                  </p:childTnLst>
                                </p:cTn>
                              </p:par>
                            </p:childTnLst>
                          </p:cTn>
                        </p:par>
                        <p:par>
                          <p:cTn id="64" fill="hold">
                            <p:stCondLst>
                              <p:cond delay="250"/>
                            </p:stCondLst>
                            <p:childTnLst>
                              <p:par>
                                <p:cTn id="65" presetID="10" presetClass="entr" presetSubtype="0" fill="hold" grpId="0" nodeType="withEffect">
                                  <p:stCondLst>
                                    <p:cond delay="0"/>
                                  </p:stCondLst>
                                  <p:childTnLst>
                                    <p:set>
                                      <p:cBhvr>
                                        <p:cTn id="66" dur="1" fill="hold">
                                          <p:stCondLst>
                                            <p:cond delay="0"/>
                                          </p:stCondLst>
                                        </p:cTn>
                                        <p:tgtEl>
                                          <p:spTgt spid="22"/>
                                        </p:tgtEl>
                                        <p:attrNameLst>
                                          <p:attrName>style.visibility</p:attrName>
                                        </p:attrNameLst>
                                      </p:cBhvr>
                                      <p:to>
                                        <p:strVal val="visible"/>
                                      </p:to>
                                    </p:set>
                                    <p:animEffect transition="in" filter="fade">
                                      <p:cBhvr>
                                        <p:cTn id="67" dur="4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9"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2 · PASSO 1: OS DADOS · THIAGO</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Esquema estrela Matrícula</a:t>
            </a:r>
            <a:endParaRPr lang="en-US" sz="3200" dirty="0"/>
          </a:p>
        </p:txBody>
      </p:sp>
      <p:sp>
        <p:nvSpPr>
          <p:cNvPr id="5" name="anim:1:316"/>
          <p:cNvSpPr/>
          <p:nvPr/>
        </p:nvSpPr>
        <p:spPr>
          <a:xfrm>
            <a:off x="548640" y="1463040"/>
            <a:ext cx="7498080" cy="4572000"/>
          </a:xfrm>
          <a:prstGeom prst="roundRect">
            <a:avLst>
              <a:gd name="adj" fmla="val 2400"/>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pic>
        <p:nvPicPr>
          <p:cNvPr id="6" name="anim:1:317" descr="Esquema estrela Matrícula: tabela de fatos Matrícula no centro, ligada a dez dimensões">    </p:cNvPr>
          <p:cNvPicPr>
            <a:picLocks noChangeAspect="1"/>
          </p:cNvPicPr>
          <p:nvPr/>
        </p:nvPicPr>
        <p:blipFill>
          <a:blip r:embed="rId1"/>
          <a:stretch>
            <a:fillRect/>
          </a:stretch>
        </p:blipFill>
        <p:spPr>
          <a:xfrm>
            <a:off x="1368738" y="1600200"/>
            <a:ext cx="5857883" cy="4297680"/>
          </a:xfrm>
          <a:prstGeom prst="rect">
            <a:avLst/>
          </a:prstGeom>
        </p:spPr>
      </p:pic>
      <p:sp>
        <p:nvSpPr>
          <p:cNvPr id="7" name="anim:2:318"/>
          <p:cNvSpPr/>
          <p:nvPr/>
        </p:nvSpPr>
        <p:spPr>
          <a:xfrm>
            <a:off x="8275320" y="1463040"/>
            <a:ext cx="3337560" cy="4572000"/>
          </a:xfrm>
          <a:prstGeom prst="roundRect">
            <a:avLst>
              <a:gd name="adj" fmla="val 3288"/>
            </a:avLst>
          </a:prstGeom>
          <a:solidFill>
            <a:srgbClr val="EEF2F8"/>
          </a:solidFill>
          <a:ln w="9525">
            <a:solidFill>
              <a:srgbClr val="EEF2F8"/>
            </a:solidFill>
            <a:prstDash val="solid"/>
          </a:ln>
        </p:spPr>
      </p:sp>
      <p:sp>
        <p:nvSpPr>
          <p:cNvPr id="8" name="anim:2:319"/>
          <p:cNvSpPr txBox="1"/>
          <p:nvPr/>
        </p:nvSpPr>
        <p:spPr>
          <a:xfrm>
            <a:off x="8458200" y="1627632"/>
            <a:ext cx="3017520" cy="228600"/>
          </a:xfrm>
          <a:prstGeom prst="rect">
            <a:avLst/>
          </a:prstGeom>
          <a:noFill/>
          <a:ln/>
        </p:spPr>
        <p:txBody>
          <a:bodyPr wrap="square" lIns="0" tIns="0" rIns="0" bIns="0" rtlCol="0" anchor="t"/>
          <a:lstStyle/>
          <a:p>
            <a:pPr algn="l" indent="0" marL="0">
              <a:buNone/>
            </a:pPr>
            <a:r>
              <a:rPr lang="en-US" sz="1000" b="1" spc="100" kern="0" dirty="0">
                <a:solidFill>
                  <a:srgbClr val="566175"/>
                </a:solidFill>
                <a:latin typeface="Calibri" pitchFamily="34" charset="0"/>
                <a:ea typeface="Calibri" pitchFamily="34" charset="-122"/>
                <a:cs typeface="Calibri" pitchFamily="34" charset="-120"/>
              </a:rPr>
              <a:t>CADA RECURSO RESOLVE UM PROBLEMA</a:t>
            </a:r>
            <a:endParaRPr lang="en-US" sz="1000" dirty="0"/>
          </a:p>
        </p:txBody>
      </p:sp>
      <p:sp>
        <p:nvSpPr>
          <p:cNvPr id="9" name="anim:3:320"/>
          <p:cNvSpPr/>
          <p:nvPr/>
        </p:nvSpPr>
        <p:spPr>
          <a:xfrm>
            <a:off x="8458200" y="1984248"/>
            <a:ext cx="274320" cy="274320"/>
          </a:xfrm>
          <a:prstGeom prst="ellipse">
            <a:avLst/>
          </a:prstGeom>
          <a:solidFill>
            <a:srgbClr val="F2A541"/>
          </a:solidFill>
          <a:ln w="12700">
            <a:solidFill>
              <a:srgbClr val="F2A541"/>
            </a:solidFill>
            <a:prstDash val="solid"/>
          </a:ln>
        </p:spPr>
      </p:sp>
      <p:sp>
        <p:nvSpPr>
          <p:cNvPr id="10" name="anim:3:321"/>
          <p:cNvSpPr txBox="1"/>
          <p:nvPr/>
        </p:nvSpPr>
        <p:spPr>
          <a:xfrm>
            <a:off x="8458200" y="1984248"/>
            <a:ext cx="274320" cy="274320"/>
          </a:xfrm>
          <a:prstGeom prst="rect">
            <a:avLst/>
          </a:prstGeom>
          <a:noFill/>
          <a:ln/>
        </p:spPr>
        <p:txBody>
          <a:bodyPr wrap="square" lIns="0" tIns="0" rIns="0" bIns="0" rtlCol="0" anchor="ctr"/>
          <a:lstStyle/>
          <a:p>
            <a:pPr algn="ctr" indent="0" marL="0">
              <a:buNone/>
            </a:pPr>
            <a:r>
              <a:rPr lang="en-US" sz="1100" b="1" dirty="0">
                <a:solidFill>
                  <a:srgbClr val="1B2A4A"/>
                </a:solidFill>
                <a:latin typeface="Calibri" pitchFamily="34" charset="0"/>
                <a:ea typeface="Calibri" pitchFamily="34" charset="-122"/>
                <a:cs typeface="Calibri" pitchFamily="34" charset="-120"/>
              </a:rPr>
              <a:t>1</a:t>
            </a:r>
            <a:endParaRPr lang="en-US" sz="1100" dirty="0"/>
          </a:p>
        </p:txBody>
      </p:sp>
      <p:sp>
        <p:nvSpPr>
          <p:cNvPr id="11" name="anim:3:322"/>
          <p:cNvSpPr txBox="1"/>
          <p:nvPr/>
        </p:nvSpPr>
        <p:spPr>
          <a:xfrm>
            <a:off x="8823960" y="1965960"/>
            <a:ext cx="2651760" cy="749808"/>
          </a:xfrm>
          <a:prstGeom prst="rect">
            <a:avLst/>
          </a:prstGeom>
          <a:noFill/>
          <a:ln/>
        </p:spPr>
        <p:txBody>
          <a:bodyPr wrap="square" lIns="0" tIns="0" rIns="0" bIns="0" rtlCol="0" anchor="t"/>
          <a:lstStyle/>
          <a:p>
            <a:pPr indent="0" marL="0">
              <a:buNone/>
            </a:pPr>
            <a:r>
              <a:rPr lang="en-US" sz="1200" b="1" dirty="0">
                <a:solidFill>
                  <a:srgbClr val="1B2A4A"/>
                </a:solidFill>
                <a:latin typeface="Calibri" pitchFamily="34" charset="0"/>
                <a:ea typeface="Calibri" pitchFamily="34" charset="-122"/>
                <a:cs typeface="Calibri" pitchFamily="34" charset="-120"/>
              </a:rPr>
              <a:t>Data com dois papéis</a:t>
            </a:r>
            <a:pPr indent="0" marL="0">
              <a:buNone/>
            </a:pPr>
            <a:r>
              <a:rPr lang="en-US" sz="1200" dirty="0">
                <a:solidFill>
                  <a:srgbClr val="1F2937"/>
                </a:solidFill>
                <a:latin typeface="Calibri" pitchFamily="34" charset="0"/>
                <a:ea typeface="Calibri" pitchFamily="34" charset="-122"/>
                <a:cs typeface="Calibri" pitchFamily="34" charset="-120"/>
              </a:rPr>
              <a:t> (início e fim): diz se a matrícula estava ativa em 30 de junho, o número que se compara com a fila.</a:t>
            </a:r>
            <a:endParaRPr lang="en-US" sz="1200" dirty="0"/>
          </a:p>
        </p:txBody>
      </p:sp>
      <p:sp>
        <p:nvSpPr>
          <p:cNvPr id="12" name="anim:4:323"/>
          <p:cNvSpPr/>
          <p:nvPr/>
        </p:nvSpPr>
        <p:spPr>
          <a:xfrm>
            <a:off x="8458200" y="2788920"/>
            <a:ext cx="274320" cy="274320"/>
          </a:xfrm>
          <a:prstGeom prst="ellipse">
            <a:avLst/>
          </a:prstGeom>
          <a:solidFill>
            <a:srgbClr val="F2A541"/>
          </a:solidFill>
          <a:ln w="12700">
            <a:solidFill>
              <a:srgbClr val="F2A541"/>
            </a:solidFill>
            <a:prstDash val="solid"/>
          </a:ln>
        </p:spPr>
      </p:sp>
      <p:sp>
        <p:nvSpPr>
          <p:cNvPr id="13" name="anim:4:324"/>
          <p:cNvSpPr txBox="1"/>
          <p:nvPr/>
        </p:nvSpPr>
        <p:spPr>
          <a:xfrm>
            <a:off x="8458200" y="2788920"/>
            <a:ext cx="274320" cy="274320"/>
          </a:xfrm>
          <a:prstGeom prst="rect">
            <a:avLst/>
          </a:prstGeom>
          <a:noFill/>
          <a:ln/>
        </p:spPr>
        <p:txBody>
          <a:bodyPr wrap="square" lIns="0" tIns="0" rIns="0" bIns="0" rtlCol="0" anchor="ctr"/>
          <a:lstStyle/>
          <a:p>
            <a:pPr algn="ctr" indent="0" marL="0">
              <a:buNone/>
            </a:pPr>
            <a:r>
              <a:rPr lang="en-US" sz="1100" b="1" dirty="0">
                <a:solidFill>
                  <a:srgbClr val="1B2A4A"/>
                </a:solidFill>
                <a:latin typeface="Calibri" pitchFamily="34" charset="0"/>
                <a:ea typeface="Calibri" pitchFamily="34" charset="-122"/>
                <a:cs typeface="Calibri" pitchFamily="34" charset="-120"/>
              </a:rPr>
              <a:t>2</a:t>
            </a:r>
            <a:endParaRPr lang="en-US" sz="1100" dirty="0"/>
          </a:p>
        </p:txBody>
      </p:sp>
      <p:sp>
        <p:nvSpPr>
          <p:cNvPr id="14" name="anim:4:325"/>
          <p:cNvSpPr txBox="1"/>
          <p:nvPr/>
        </p:nvSpPr>
        <p:spPr>
          <a:xfrm>
            <a:off x="8823960" y="2770632"/>
            <a:ext cx="2651760" cy="749808"/>
          </a:xfrm>
          <a:prstGeom prst="rect">
            <a:avLst/>
          </a:prstGeom>
          <a:noFill/>
          <a:ln/>
        </p:spPr>
        <p:txBody>
          <a:bodyPr wrap="square" lIns="0" tIns="0" rIns="0" bIns="0" rtlCol="0" anchor="t"/>
          <a:lstStyle/>
          <a:p>
            <a:pPr indent="0" marL="0">
              <a:buNone/>
            </a:pPr>
            <a:r>
              <a:rPr lang="en-US" sz="1200" b="1" dirty="0">
                <a:solidFill>
                  <a:srgbClr val="1B2A4A"/>
                </a:solidFill>
                <a:latin typeface="Calibri" pitchFamily="34" charset="0"/>
                <a:ea typeface="Calibri" pitchFamily="34" charset="-122"/>
                <a:cs typeface="Calibri" pitchFamily="34" charset="-120"/>
              </a:rPr>
              <a:t>Campo igual a 1</a:t>
            </a:r>
            <a:pPr indent="0" marL="0">
              <a:buNone/>
            </a:pPr>
            <a:r>
              <a:rPr lang="en-US" sz="1200" dirty="0">
                <a:solidFill>
                  <a:srgbClr val="1F2937"/>
                </a:solidFill>
                <a:latin typeface="Calibri" pitchFamily="34" charset="0"/>
                <a:ea typeface="Calibri" pitchFamily="34" charset="-122"/>
                <a:cs typeface="Calibri" pitchFamily="34" charset="-120"/>
              </a:rPr>
              <a:t> em cada linha: contar matrículas vira uma soma. Dias de matrícula é a outra medida.</a:t>
            </a:r>
            <a:endParaRPr lang="en-US" sz="1200" dirty="0"/>
          </a:p>
        </p:txBody>
      </p:sp>
      <p:sp>
        <p:nvSpPr>
          <p:cNvPr id="15" name="anim:5:326"/>
          <p:cNvSpPr/>
          <p:nvPr/>
        </p:nvSpPr>
        <p:spPr>
          <a:xfrm>
            <a:off x="8458200" y="3593592"/>
            <a:ext cx="274320" cy="274320"/>
          </a:xfrm>
          <a:prstGeom prst="ellipse">
            <a:avLst/>
          </a:prstGeom>
          <a:solidFill>
            <a:srgbClr val="F2A541"/>
          </a:solidFill>
          <a:ln w="12700">
            <a:solidFill>
              <a:srgbClr val="F2A541"/>
            </a:solidFill>
            <a:prstDash val="solid"/>
          </a:ln>
        </p:spPr>
      </p:sp>
      <p:sp>
        <p:nvSpPr>
          <p:cNvPr id="16" name="anim:5:327"/>
          <p:cNvSpPr txBox="1"/>
          <p:nvPr/>
        </p:nvSpPr>
        <p:spPr>
          <a:xfrm>
            <a:off x="8458200" y="3593592"/>
            <a:ext cx="274320" cy="274320"/>
          </a:xfrm>
          <a:prstGeom prst="rect">
            <a:avLst/>
          </a:prstGeom>
          <a:noFill/>
          <a:ln/>
        </p:spPr>
        <p:txBody>
          <a:bodyPr wrap="square" lIns="0" tIns="0" rIns="0" bIns="0" rtlCol="0" anchor="ctr"/>
          <a:lstStyle/>
          <a:p>
            <a:pPr algn="ctr" indent="0" marL="0">
              <a:buNone/>
            </a:pPr>
            <a:r>
              <a:rPr lang="en-US" sz="1100" b="1" dirty="0">
                <a:solidFill>
                  <a:srgbClr val="1B2A4A"/>
                </a:solidFill>
                <a:latin typeface="Calibri" pitchFamily="34" charset="0"/>
                <a:ea typeface="Calibri" pitchFamily="34" charset="-122"/>
                <a:cs typeface="Calibri" pitchFamily="34" charset="-120"/>
              </a:rPr>
              <a:t>3</a:t>
            </a:r>
            <a:endParaRPr lang="en-US" sz="1100" dirty="0"/>
          </a:p>
        </p:txBody>
      </p:sp>
      <p:sp>
        <p:nvSpPr>
          <p:cNvPr id="17" name="anim:5:328"/>
          <p:cNvSpPr txBox="1"/>
          <p:nvPr/>
        </p:nvSpPr>
        <p:spPr>
          <a:xfrm>
            <a:off x="8823960" y="3575304"/>
            <a:ext cx="2651760" cy="749808"/>
          </a:xfrm>
          <a:prstGeom prst="rect">
            <a:avLst/>
          </a:prstGeom>
          <a:noFill/>
          <a:ln/>
        </p:spPr>
        <p:txBody>
          <a:bodyPr wrap="square" lIns="0" tIns="0" rIns="0" bIns="0" rtlCol="0" anchor="t"/>
          <a:lstStyle/>
          <a:p>
            <a:pPr indent="0" marL="0">
              <a:buNone/>
            </a:pPr>
            <a:r>
              <a:rPr lang="en-US" sz="1200" b="1" dirty="0">
                <a:solidFill>
                  <a:srgbClr val="1B2A4A"/>
                </a:solidFill>
                <a:latin typeface="Calibri" pitchFamily="34" charset="0"/>
                <a:ea typeface="Calibri" pitchFamily="34" charset="-122"/>
                <a:cs typeface="Calibri" pitchFamily="34" charset="-120"/>
              </a:rPr>
              <a:t>Bugigangas</a:t>
            </a:r>
            <a:pPr indent="0" marL="0">
              <a:buNone/>
            </a:pPr>
            <a:r>
              <a:rPr lang="en-US" sz="1200" dirty="0">
                <a:solidFill>
                  <a:srgbClr val="1F2937"/>
                </a:solidFill>
                <a:latin typeface="Calibri" pitchFamily="34" charset="0"/>
                <a:ea typeface="Calibri" pitchFamily="34" charset="-122"/>
                <a:cs typeface="Calibri" pitchFamily="34" charset="-120"/>
              </a:rPr>
              <a:t> (Perfil, Deficiência, Situação): mais de 30 indicadores em 3 dimensões, e não em 30.</a:t>
            </a:r>
            <a:endParaRPr lang="en-US" sz="1200" dirty="0"/>
          </a:p>
        </p:txBody>
      </p:sp>
      <p:sp>
        <p:nvSpPr>
          <p:cNvPr id="18" name="anim:6:329"/>
          <p:cNvSpPr/>
          <p:nvPr/>
        </p:nvSpPr>
        <p:spPr>
          <a:xfrm>
            <a:off x="8458200" y="4398264"/>
            <a:ext cx="274320" cy="274320"/>
          </a:xfrm>
          <a:prstGeom prst="ellipse">
            <a:avLst/>
          </a:prstGeom>
          <a:solidFill>
            <a:srgbClr val="F2A541"/>
          </a:solidFill>
          <a:ln w="12700">
            <a:solidFill>
              <a:srgbClr val="F2A541"/>
            </a:solidFill>
            <a:prstDash val="solid"/>
          </a:ln>
        </p:spPr>
      </p:sp>
      <p:sp>
        <p:nvSpPr>
          <p:cNvPr id="19" name="anim:6:330"/>
          <p:cNvSpPr txBox="1"/>
          <p:nvPr/>
        </p:nvSpPr>
        <p:spPr>
          <a:xfrm>
            <a:off x="8458200" y="4398264"/>
            <a:ext cx="274320" cy="274320"/>
          </a:xfrm>
          <a:prstGeom prst="rect">
            <a:avLst/>
          </a:prstGeom>
          <a:noFill/>
          <a:ln/>
        </p:spPr>
        <p:txBody>
          <a:bodyPr wrap="square" lIns="0" tIns="0" rIns="0" bIns="0" rtlCol="0" anchor="ctr"/>
          <a:lstStyle/>
          <a:p>
            <a:pPr algn="ctr" indent="0" marL="0">
              <a:buNone/>
            </a:pPr>
            <a:r>
              <a:rPr lang="en-US" sz="1100" b="1" dirty="0">
                <a:solidFill>
                  <a:srgbClr val="1B2A4A"/>
                </a:solidFill>
                <a:latin typeface="Calibri" pitchFamily="34" charset="0"/>
                <a:ea typeface="Calibri" pitchFamily="34" charset="-122"/>
                <a:cs typeface="Calibri" pitchFamily="34" charset="-120"/>
              </a:rPr>
              <a:t>4</a:t>
            </a:r>
            <a:endParaRPr lang="en-US" sz="1100" dirty="0"/>
          </a:p>
        </p:txBody>
      </p:sp>
      <p:sp>
        <p:nvSpPr>
          <p:cNvPr id="20" name="anim:6:331"/>
          <p:cNvSpPr txBox="1"/>
          <p:nvPr/>
        </p:nvSpPr>
        <p:spPr>
          <a:xfrm>
            <a:off x="8823960" y="4379976"/>
            <a:ext cx="2651760" cy="749808"/>
          </a:xfrm>
          <a:prstGeom prst="rect">
            <a:avLst/>
          </a:prstGeom>
          <a:noFill/>
          <a:ln/>
        </p:spPr>
        <p:txBody>
          <a:bodyPr wrap="square" lIns="0" tIns="0" rIns="0" bIns="0" rtlCol="0" anchor="t"/>
          <a:lstStyle/>
          <a:p>
            <a:pPr indent="0" marL="0">
              <a:buNone/>
            </a:pPr>
            <a:r>
              <a:rPr lang="en-US" sz="1200" b="1" dirty="0">
                <a:solidFill>
                  <a:srgbClr val="1B2A4A"/>
                </a:solidFill>
                <a:latin typeface="Calibri" pitchFamily="34" charset="0"/>
                <a:ea typeface="Calibri" pitchFamily="34" charset="-122"/>
                <a:cs typeface="Calibri" pitchFamily="34" charset="-120"/>
              </a:rPr>
              <a:t>Degeneradas</a:t>
            </a:r>
            <a:pPr indent="0" marL="0">
              <a:buNone/>
            </a:pPr>
            <a:r>
              <a:rPr lang="en-US" sz="1200" dirty="0">
                <a:solidFill>
                  <a:srgbClr val="1F2937"/>
                </a:solidFill>
                <a:latin typeface="Calibri" pitchFamily="34" charset="0"/>
                <a:ea typeface="Calibri" pitchFamily="34" charset="-122"/>
                <a:cs typeface="Calibri" pitchFamily="34" charset="-120"/>
              </a:rPr>
              <a:t> (id da turma, código da matrícula): identificadores que ficam no fato, sem tabela própria.</a:t>
            </a:r>
            <a:endParaRPr lang="en-US" sz="1200" dirty="0"/>
          </a:p>
        </p:txBody>
      </p:sp>
      <p:sp>
        <p:nvSpPr>
          <p:cNvPr id="21" name="anim:7:332"/>
          <p:cNvSpPr/>
          <p:nvPr/>
        </p:nvSpPr>
        <p:spPr>
          <a:xfrm>
            <a:off x="8458200" y="5202936"/>
            <a:ext cx="274320" cy="274320"/>
          </a:xfrm>
          <a:prstGeom prst="ellipse">
            <a:avLst/>
          </a:prstGeom>
          <a:solidFill>
            <a:srgbClr val="F2A541"/>
          </a:solidFill>
          <a:ln w="12700">
            <a:solidFill>
              <a:srgbClr val="F2A541"/>
            </a:solidFill>
            <a:prstDash val="solid"/>
          </a:ln>
        </p:spPr>
      </p:sp>
      <p:sp>
        <p:nvSpPr>
          <p:cNvPr id="22" name="anim:7:333"/>
          <p:cNvSpPr txBox="1"/>
          <p:nvPr/>
        </p:nvSpPr>
        <p:spPr>
          <a:xfrm>
            <a:off x="8458200" y="5202936"/>
            <a:ext cx="274320" cy="274320"/>
          </a:xfrm>
          <a:prstGeom prst="rect">
            <a:avLst/>
          </a:prstGeom>
          <a:noFill/>
          <a:ln/>
        </p:spPr>
        <p:txBody>
          <a:bodyPr wrap="square" lIns="0" tIns="0" rIns="0" bIns="0" rtlCol="0" anchor="ctr"/>
          <a:lstStyle/>
          <a:p>
            <a:pPr algn="ctr" indent="0" marL="0">
              <a:buNone/>
            </a:pPr>
            <a:r>
              <a:rPr lang="en-US" sz="1100" b="1" dirty="0">
                <a:solidFill>
                  <a:srgbClr val="1B2A4A"/>
                </a:solidFill>
                <a:latin typeface="Calibri" pitchFamily="34" charset="0"/>
                <a:ea typeface="Calibri" pitchFamily="34" charset="-122"/>
                <a:cs typeface="Calibri" pitchFamily="34" charset="-120"/>
              </a:rPr>
              <a:t>5</a:t>
            </a:r>
            <a:endParaRPr lang="en-US" sz="1100" dirty="0"/>
          </a:p>
        </p:txBody>
      </p:sp>
      <p:sp>
        <p:nvSpPr>
          <p:cNvPr id="23" name="anim:7:334"/>
          <p:cNvSpPr txBox="1"/>
          <p:nvPr/>
        </p:nvSpPr>
        <p:spPr>
          <a:xfrm>
            <a:off x="8823960" y="5184648"/>
            <a:ext cx="2651760" cy="749808"/>
          </a:xfrm>
          <a:prstGeom prst="rect">
            <a:avLst/>
          </a:prstGeom>
          <a:noFill/>
          <a:ln/>
        </p:spPr>
        <p:txBody>
          <a:bodyPr wrap="square" lIns="0" tIns="0" rIns="0" bIns="0" rtlCol="0" anchor="t"/>
          <a:lstStyle/>
          <a:p>
            <a:pPr indent="0" marL="0">
              <a:buNone/>
            </a:pPr>
            <a:r>
              <a:rPr lang="en-US" sz="1200" b="1" dirty="0">
                <a:solidFill>
                  <a:srgbClr val="1B2A4A"/>
                </a:solidFill>
                <a:latin typeface="Calibri" pitchFamily="34" charset="0"/>
                <a:ea typeface="Calibri" pitchFamily="34" charset="-122"/>
                <a:cs typeface="Calibri" pitchFamily="34" charset="-120"/>
              </a:rPr>
              <a:t>Escola tipo 2</a:t>
            </a:r>
            <a:pPr indent="0" marL="0">
              <a:buNone/>
            </a:pPr>
            <a:r>
              <a:rPr lang="en-US" sz="1200" dirty="0">
                <a:solidFill>
                  <a:srgbClr val="1F2937"/>
                </a:solidFill>
                <a:latin typeface="Calibri" pitchFamily="34" charset="0"/>
                <a:ea typeface="Calibri" pitchFamily="34" charset="-122"/>
                <a:cs typeface="Calibri" pitchFamily="34" charset="-120"/>
              </a:rPr>
              <a:t>: a escola que muda de nome ganha uma versão nova, e a matrícula antiga guarda o nome da época.</a:t>
            </a:r>
            <a:endParaRPr lang="en-US" sz="12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16</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childTnLst>
                          </p:cTn>
                        </p:par>
                        <p:par>
                          <p:cTn id="12" fill="hold">
                            <p:stCondLst>
                              <p:cond delay="250"/>
                            </p:stCondLst>
                            <p:childTnLst>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childTnLst>
                          </p:cTn>
                        </p:par>
                        <p:par>
                          <p:cTn id="16" fill="hold">
                            <p:stCondLst>
                              <p:cond delay="250"/>
                            </p:stCondLst>
                            <p:childTnLst>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00"/>
                                        <p:tgtEl>
                                          <p:spTgt spid="8"/>
                                        </p:tgtEl>
                                      </p:cBhvr>
                                    </p:animEffect>
                                  </p:childTnLst>
                                </p:cTn>
                              </p:par>
                            </p:childTnLst>
                          </p:cTn>
                        </p:par>
                        <p:par>
                          <p:cTn id="20" fill="hold">
                            <p:stCondLst>
                              <p:cond delay="500"/>
                            </p:stCondLst>
                            <p:childTnLst>
                              <p:par>
                                <p:cTn id="21" presetID="10" presetClass="entr" presetSubtype="0"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400"/>
                                        <p:tgtEl>
                                          <p:spTgt spid="9"/>
                                        </p:tgtEl>
                                      </p:cBhvr>
                                    </p:animEffect>
                                  </p:childTnLst>
                                </p:cTn>
                              </p:par>
                            </p:childTnLst>
                          </p:cTn>
                        </p:par>
                        <p:par>
                          <p:cTn id="24" fill="hold">
                            <p:stCondLst>
                              <p:cond delay="500"/>
                            </p:stCondLst>
                            <p:childTnLst>
                              <p:par>
                                <p:cTn id="25" presetID="10"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400"/>
                                        <p:tgtEl>
                                          <p:spTgt spid="10"/>
                                        </p:tgtEl>
                                      </p:cBhvr>
                                    </p:animEffect>
                                  </p:childTnLst>
                                </p:cTn>
                              </p:par>
                            </p:childTnLst>
                          </p:cTn>
                        </p:par>
                        <p:par>
                          <p:cTn id="28" fill="hold">
                            <p:stCondLst>
                              <p:cond delay="500"/>
                            </p:stCondLst>
                            <p:childTnLst>
                              <p:par>
                                <p:cTn id="29" presetID="10" presetClass="entr" presetSubtype="0"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00"/>
                                        <p:tgtEl>
                                          <p:spTgt spid="11"/>
                                        </p:tgtEl>
                                      </p:cBhvr>
                                    </p:animEffect>
                                  </p:childTnLst>
                                </p:cTn>
                              </p:par>
                            </p:childTnLst>
                          </p:cTn>
                        </p:par>
                        <p:par>
                          <p:cTn id="32" fill="hold">
                            <p:stCondLst>
                              <p:cond delay="750"/>
                            </p:stCondLst>
                            <p:childTnLst>
                              <p:par>
                                <p:cTn id="33" presetID="10" presetClass="entr" presetSubtype="0" fill="hold" grpId="0" nodeType="with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400"/>
                                        <p:tgtEl>
                                          <p:spTgt spid="12"/>
                                        </p:tgtEl>
                                      </p:cBhvr>
                                    </p:animEffect>
                                  </p:childTnLst>
                                </p:cTn>
                              </p:par>
                            </p:childTnLst>
                          </p:cTn>
                        </p:par>
                        <p:par>
                          <p:cTn id="36" fill="hold">
                            <p:stCondLst>
                              <p:cond delay="750"/>
                            </p:stCondLst>
                            <p:childTnLst>
                              <p:par>
                                <p:cTn id="37" presetID="10" presetClass="entr" presetSubtype="0" fill="hold" grpId="0" nodeType="withEffect">
                                  <p:stCondLst>
                                    <p:cond delay="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400"/>
                                        <p:tgtEl>
                                          <p:spTgt spid="13"/>
                                        </p:tgtEl>
                                      </p:cBhvr>
                                    </p:animEffect>
                                  </p:childTnLst>
                                </p:cTn>
                              </p:par>
                            </p:childTnLst>
                          </p:cTn>
                        </p:par>
                        <p:par>
                          <p:cTn id="40" fill="hold">
                            <p:stCondLst>
                              <p:cond delay="750"/>
                            </p:stCondLst>
                            <p:childTnLst>
                              <p:par>
                                <p:cTn id="41" presetID="10" presetClass="entr" presetSubtype="0" fill="hold" grpId="0" nodeType="withEffect">
                                  <p:stCondLst>
                                    <p:cond delay="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400"/>
                                        <p:tgtEl>
                                          <p:spTgt spid="14"/>
                                        </p:tgtEl>
                                      </p:cBhvr>
                                    </p:animEffect>
                                  </p:childTnLst>
                                </p:cTn>
                              </p:par>
                            </p:childTnLst>
                          </p:cTn>
                        </p:par>
                        <p:par>
                          <p:cTn id="44" fill="hold">
                            <p:stCondLst>
                              <p:cond delay="1000"/>
                            </p:stCondLst>
                            <p:childTnLst>
                              <p:par>
                                <p:cTn id="45" presetID="10" presetClass="entr" presetSubtype="0" fill="hold" grpId="0" nodeType="withEffect">
                                  <p:stCondLst>
                                    <p:cond delay="0"/>
                                  </p:stCondLst>
                                  <p:childTnLst>
                                    <p:set>
                                      <p:cBhvr>
                                        <p:cTn id="46" dur="1" fill="hold">
                                          <p:stCondLst>
                                            <p:cond delay="0"/>
                                          </p:stCondLst>
                                        </p:cTn>
                                        <p:tgtEl>
                                          <p:spTgt spid="15"/>
                                        </p:tgtEl>
                                        <p:attrNameLst>
                                          <p:attrName>style.visibility</p:attrName>
                                        </p:attrNameLst>
                                      </p:cBhvr>
                                      <p:to>
                                        <p:strVal val="visible"/>
                                      </p:to>
                                    </p:set>
                                    <p:animEffect transition="in" filter="fade">
                                      <p:cBhvr>
                                        <p:cTn id="47" dur="400"/>
                                        <p:tgtEl>
                                          <p:spTgt spid="15"/>
                                        </p:tgtEl>
                                      </p:cBhvr>
                                    </p:animEffect>
                                  </p:childTnLst>
                                </p:cTn>
                              </p:par>
                            </p:childTnLst>
                          </p:cTn>
                        </p:par>
                        <p:par>
                          <p:cTn id="48" fill="hold">
                            <p:stCondLst>
                              <p:cond delay="1000"/>
                            </p:stCondLst>
                            <p:childTnLst>
                              <p:par>
                                <p:cTn id="49" presetID="10" presetClass="entr" presetSubtype="0" fill="hold" grpId="0" nodeType="withEffect">
                                  <p:stCondLst>
                                    <p:cond delay="0"/>
                                  </p:stCondLst>
                                  <p:childTnLst>
                                    <p:set>
                                      <p:cBhvr>
                                        <p:cTn id="50" dur="1" fill="hold">
                                          <p:stCondLst>
                                            <p:cond delay="0"/>
                                          </p:stCondLst>
                                        </p:cTn>
                                        <p:tgtEl>
                                          <p:spTgt spid="16"/>
                                        </p:tgtEl>
                                        <p:attrNameLst>
                                          <p:attrName>style.visibility</p:attrName>
                                        </p:attrNameLst>
                                      </p:cBhvr>
                                      <p:to>
                                        <p:strVal val="visible"/>
                                      </p:to>
                                    </p:set>
                                    <p:animEffect transition="in" filter="fade">
                                      <p:cBhvr>
                                        <p:cTn id="51" dur="400"/>
                                        <p:tgtEl>
                                          <p:spTgt spid="16"/>
                                        </p:tgtEl>
                                      </p:cBhvr>
                                    </p:animEffect>
                                  </p:childTnLst>
                                </p:cTn>
                              </p:par>
                            </p:childTnLst>
                          </p:cTn>
                        </p:par>
                        <p:par>
                          <p:cTn id="52" fill="hold">
                            <p:stCondLst>
                              <p:cond delay="1000"/>
                            </p:stCondLst>
                            <p:childTnLst>
                              <p:par>
                                <p:cTn id="53" presetID="10" presetClass="entr" presetSubtype="0" fill="hold" grpId="0" nodeType="withEffect">
                                  <p:stCondLst>
                                    <p:cond delay="0"/>
                                  </p:stCondLst>
                                  <p:childTnLst>
                                    <p:set>
                                      <p:cBhvr>
                                        <p:cTn id="54" dur="1" fill="hold">
                                          <p:stCondLst>
                                            <p:cond delay="0"/>
                                          </p:stCondLst>
                                        </p:cTn>
                                        <p:tgtEl>
                                          <p:spTgt spid="17"/>
                                        </p:tgtEl>
                                        <p:attrNameLst>
                                          <p:attrName>style.visibility</p:attrName>
                                        </p:attrNameLst>
                                      </p:cBhvr>
                                      <p:to>
                                        <p:strVal val="visible"/>
                                      </p:to>
                                    </p:set>
                                    <p:animEffect transition="in" filter="fade">
                                      <p:cBhvr>
                                        <p:cTn id="55" dur="400"/>
                                        <p:tgtEl>
                                          <p:spTgt spid="17"/>
                                        </p:tgtEl>
                                      </p:cBhvr>
                                    </p:animEffect>
                                  </p:childTnLst>
                                </p:cTn>
                              </p:par>
                            </p:childTnLst>
                          </p:cTn>
                        </p:par>
                        <p:par>
                          <p:cTn id="56" fill="hold">
                            <p:stCondLst>
                              <p:cond delay="1250"/>
                            </p:stCondLst>
                            <p:childTnLst>
                              <p:par>
                                <p:cTn id="57" presetID="10" presetClass="entr" presetSubtype="0" fill="hold" grpId="0" nodeType="withEffect">
                                  <p:stCondLst>
                                    <p:cond delay="0"/>
                                  </p:stCondLst>
                                  <p:childTnLst>
                                    <p:set>
                                      <p:cBhvr>
                                        <p:cTn id="58" dur="1" fill="hold">
                                          <p:stCondLst>
                                            <p:cond delay="0"/>
                                          </p:stCondLst>
                                        </p:cTn>
                                        <p:tgtEl>
                                          <p:spTgt spid="18"/>
                                        </p:tgtEl>
                                        <p:attrNameLst>
                                          <p:attrName>style.visibility</p:attrName>
                                        </p:attrNameLst>
                                      </p:cBhvr>
                                      <p:to>
                                        <p:strVal val="visible"/>
                                      </p:to>
                                    </p:set>
                                    <p:animEffect transition="in" filter="fade">
                                      <p:cBhvr>
                                        <p:cTn id="59" dur="400"/>
                                        <p:tgtEl>
                                          <p:spTgt spid="18"/>
                                        </p:tgtEl>
                                      </p:cBhvr>
                                    </p:animEffect>
                                  </p:childTnLst>
                                </p:cTn>
                              </p:par>
                            </p:childTnLst>
                          </p:cTn>
                        </p:par>
                        <p:par>
                          <p:cTn id="60" fill="hold">
                            <p:stCondLst>
                              <p:cond delay="1250"/>
                            </p:stCondLst>
                            <p:childTnLst>
                              <p:par>
                                <p:cTn id="61" presetID="10" presetClass="entr" presetSubtype="0" fill="hold" grpId="0" nodeType="withEffect">
                                  <p:stCondLst>
                                    <p:cond delay="0"/>
                                  </p:stCondLst>
                                  <p:childTnLst>
                                    <p:set>
                                      <p:cBhvr>
                                        <p:cTn id="62" dur="1" fill="hold">
                                          <p:stCondLst>
                                            <p:cond delay="0"/>
                                          </p:stCondLst>
                                        </p:cTn>
                                        <p:tgtEl>
                                          <p:spTgt spid="19"/>
                                        </p:tgtEl>
                                        <p:attrNameLst>
                                          <p:attrName>style.visibility</p:attrName>
                                        </p:attrNameLst>
                                      </p:cBhvr>
                                      <p:to>
                                        <p:strVal val="visible"/>
                                      </p:to>
                                    </p:set>
                                    <p:animEffect transition="in" filter="fade">
                                      <p:cBhvr>
                                        <p:cTn id="63" dur="400"/>
                                        <p:tgtEl>
                                          <p:spTgt spid="19"/>
                                        </p:tgtEl>
                                      </p:cBhvr>
                                    </p:animEffect>
                                  </p:childTnLst>
                                </p:cTn>
                              </p:par>
                            </p:childTnLst>
                          </p:cTn>
                        </p:par>
                        <p:par>
                          <p:cTn id="64" fill="hold">
                            <p:stCondLst>
                              <p:cond delay="1250"/>
                            </p:stCondLst>
                            <p:childTnLst>
                              <p:par>
                                <p:cTn id="65" presetID="10" presetClass="entr" presetSubtype="0" fill="hold" grpId="0" nodeType="withEffect">
                                  <p:stCondLst>
                                    <p:cond delay="0"/>
                                  </p:stCondLst>
                                  <p:childTnLst>
                                    <p:set>
                                      <p:cBhvr>
                                        <p:cTn id="66" dur="1" fill="hold">
                                          <p:stCondLst>
                                            <p:cond delay="0"/>
                                          </p:stCondLst>
                                        </p:cTn>
                                        <p:tgtEl>
                                          <p:spTgt spid="20"/>
                                        </p:tgtEl>
                                        <p:attrNameLst>
                                          <p:attrName>style.visibility</p:attrName>
                                        </p:attrNameLst>
                                      </p:cBhvr>
                                      <p:to>
                                        <p:strVal val="visible"/>
                                      </p:to>
                                    </p:set>
                                    <p:animEffect transition="in" filter="fade">
                                      <p:cBhvr>
                                        <p:cTn id="67" dur="400"/>
                                        <p:tgtEl>
                                          <p:spTgt spid="20"/>
                                        </p:tgtEl>
                                      </p:cBhvr>
                                    </p:animEffect>
                                  </p:childTnLst>
                                </p:cTn>
                              </p:par>
                            </p:childTnLst>
                          </p:cTn>
                        </p:par>
                        <p:par>
                          <p:cTn id="68" fill="hold">
                            <p:stCondLst>
                              <p:cond delay="1500"/>
                            </p:stCondLst>
                            <p:childTnLst>
                              <p:par>
                                <p:cTn id="69" presetID="10" presetClass="entr" presetSubtype="0" fill="hold" grpId="0" nodeType="withEffect">
                                  <p:stCondLst>
                                    <p:cond delay="0"/>
                                  </p:stCondLst>
                                  <p:childTnLst>
                                    <p:set>
                                      <p:cBhvr>
                                        <p:cTn id="70" dur="1" fill="hold">
                                          <p:stCondLst>
                                            <p:cond delay="0"/>
                                          </p:stCondLst>
                                        </p:cTn>
                                        <p:tgtEl>
                                          <p:spTgt spid="21"/>
                                        </p:tgtEl>
                                        <p:attrNameLst>
                                          <p:attrName>style.visibility</p:attrName>
                                        </p:attrNameLst>
                                      </p:cBhvr>
                                      <p:to>
                                        <p:strVal val="visible"/>
                                      </p:to>
                                    </p:set>
                                    <p:animEffect transition="in" filter="fade">
                                      <p:cBhvr>
                                        <p:cTn id="71" dur="400"/>
                                        <p:tgtEl>
                                          <p:spTgt spid="21"/>
                                        </p:tgtEl>
                                      </p:cBhvr>
                                    </p:animEffect>
                                  </p:childTnLst>
                                </p:cTn>
                              </p:par>
                            </p:childTnLst>
                          </p:cTn>
                        </p:par>
                        <p:par>
                          <p:cTn id="72" fill="hold">
                            <p:stCondLst>
                              <p:cond delay="1500"/>
                            </p:stCondLst>
                            <p:childTnLst>
                              <p:par>
                                <p:cTn id="73" presetID="10" presetClass="entr" presetSubtype="0" fill="hold" grpId="0" nodeType="withEffect">
                                  <p:stCondLst>
                                    <p:cond delay="0"/>
                                  </p:stCondLst>
                                  <p:childTnLst>
                                    <p:set>
                                      <p:cBhvr>
                                        <p:cTn id="74" dur="1" fill="hold">
                                          <p:stCondLst>
                                            <p:cond delay="0"/>
                                          </p:stCondLst>
                                        </p:cTn>
                                        <p:tgtEl>
                                          <p:spTgt spid="22"/>
                                        </p:tgtEl>
                                        <p:attrNameLst>
                                          <p:attrName>style.visibility</p:attrName>
                                        </p:attrNameLst>
                                      </p:cBhvr>
                                      <p:to>
                                        <p:strVal val="visible"/>
                                      </p:to>
                                    </p:set>
                                    <p:animEffect transition="in" filter="fade">
                                      <p:cBhvr>
                                        <p:cTn id="75" dur="400"/>
                                        <p:tgtEl>
                                          <p:spTgt spid="22"/>
                                        </p:tgtEl>
                                      </p:cBhvr>
                                    </p:animEffect>
                                  </p:childTnLst>
                                </p:cTn>
                              </p:par>
                            </p:childTnLst>
                          </p:cTn>
                        </p:par>
                        <p:par>
                          <p:cTn id="76" fill="hold">
                            <p:stCondLst>
                              <p:cond delay="1500"/>
                            </p:stCondLst>
                            <p:childTnLst>
                              <p:par>
                                <p:cTn id="77" presetID="10" presetClass="entr" presetSubtype="0" fill="hold" grpId="0" nodeType="withEffect">
                                  <p:stCondLst>
                                    <p:cond delay="0"/>
                                  </p:stCondLst>
                                  <p:childTnLst>
                                    <p:set>
                                      <p:cBhvr>
                                        <p:cTn id="78" dur="1" fill="hold">
                                          <p:stCondLst>
                                            <p:cond delay="0"/>
                                          </p:stCondLst>
                                        </p:cTn>
                                        <p:tgtEl>
                                          <p:spTgt spid="23"/>
                                        </p:tgtEl>
                                        <p:attrNameLst>
                                          <p:attrName>style.visibility</p:attrName>
                                        </p:attrNameLst>
                                      </p:cBhvr>
                                      <p:to>
                                        <p:strVal val="visible"/>
                                      </p:to>
                                    </p:set>
                                    <p:animEffect transition="in" filter="fade">
                                      <p:cBhvr>
                                        <p:cTn id="79" dur="4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3 · PASSO 2: O MODELO · DANIEL</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Esquema estrela Fila</a:t>
            </a:r>
            <a:endParaRPr lang="en-US" sz="3200" dirty="0"/>
          </a:p>
        </p:txBody>
      </p:sp>
      <p:sp>
        <p:nvSpPr>
          <p:cNvPr id="5" name="anim:1:335"/>
          <p:cNvSpPr/>
          <p:nvPr/>
        </p:nvSpPr>
        <p:spPr>
          <a:xfrm>
            <a:off x="548640" y="1463040"/>
            <a:ext cx="11064240" cy="3703320"/>
          </a:xfrm>
          <a:prstGeom prst="roundRect">
            <a:avLst>
              <a:gd name="adj" fmla="val 2963"/>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pic>
        <p:nvPicPr>
          <p:cNvPr id="6" name="anim:1:336" descr="Esquema estrela Fila: tabela de fatos Fila ligada às dimensões Tempo, Território e Etapa">    </p:cNvPr>
          <p:cNvPicPr>
            <a:picLocks noChangeAspect="1"/>
          </p:cNvPicPr>
          <p:nvPr/>
        </p:nvPicPr>
        <p:blipFill>
          <a:blip r:embed="rId1"/>
          <a:stretch>
            <a:fillRect/>
          </a:stretch>
        </p:blipFill>
        <p:spPr>
          <a:xfrm>
            <a:off x="945583" y="1600200"/>
            <a:ext cx="10270354" cy="3429000"/>
          </a:xfrm>
          <a:prstGeom prst="rect">
            <a:avLst/>
          </a:prstGeom>
        </p:spPr>
      </p:pic>
      <p:sp>
        <p:nvSpPr>
          <p:cNvPr id="7" name="anim:2:337"/>
          <p:cNvSpPr txBox="1"/>
          <p:nvPr/>
        </p:nvSpPr>
        <p:spPr>
          <a:xfrm>
            <a:off x="548640" y="5349240"/>
            <a:ext cx="5440680" cy="960120"/>
          </a:xfrm>
          <a:prstGeom prst="rect">
            <a:avLst/>
          </a:prstGeom>
          <a:noFill/>
          <a:ln/>
        </p:spPr>
        <p:txBody>
          <a:bodyPr wrap="square" lIns="0" tIns="0" rIns="0" bIns="0" rtlCol="0" anchor="t"/>
          <a:lstStyle/>
          <a:p>
            <a:pPr marL="228600" indent="-2286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Grão: distrito × mês × etapa.</a:t>
            </a:r>
            <a:endParaRPr lang="en-US" sz="1500" dirty="0"/>
          </a:p>
          <a:p>
            <a:pPr marL="228600" indent="-2286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Estoque: SOMA no território e na etapa; um único mês no tempo.</a:t>
            </a:r>
            <a:endParaRPr lang="en-US" sz="1500" dirty="0"/>
          </a:p>
          <a:p>
            <a:pPr marL="228600" indent="-2286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Tempo: mês ≤ trimestre ≤ semestre ≤ ano e mês ≤ bimestre ≤ ano.</a:t>
            </a:r>
            <a:endParaRPr lang="en-US" sz="1500" dirty="0"/>
          </a:p>
        </p:txBody>
      </p:sp>
      <p:sp>
        <p:nvSpPr>
          <p:cNvPr id="8" name="anim:2:338"/>
          <p:cNvSpPr txBox="1"/>
          <p:nvPr/>
        </p:nvSpPr>
        <p:spPr>
          <a:xfrm>
            <a:off x="6172200" y="5349240"/>
            <a:ext cx="5440680" cy="960120"/>
          </a:xfrm>
          <a:prstGeom prst="rect">
            <a:avLst/>
          </a:prstGeom>
          <a:noFill/>
          <a:ln/>
        </p:spPr>
        <p:txBody>
          <a:bodyPr wrap="square" lIns="0" tIns="0" rIns="0" bIns="0" rtlCol="0" anchor="t"/>
          <a:lstStyle/>
          <a:p>
            <a:pPr marL="228600" indent="-2286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Território: distrito ≤ DRE ≤ município ≤ UF.</a:t>
            </a:r>
            <a:endParaRPr lang="en-US" sz="1500" dirty="0"/>
          </a:p>
          <a:p>
            <a:pPr marL="228600" indent="-2286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Formato da planilha: dimensão degenerada.</a:t>
            </a:r>
            <a:endParaRPr lang="en-US" sz="15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17</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childTnLst>
                          </p:cTn>
                        </p:par>
                        <p:par>
                          <p:cTn id="12" fill="hold">
                            <p:stCondLst>
                              <p:cond delay="250"/>
                            </p:stCondLst>
                            <p:childTnLst>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childTnLst>
                          </p:cTn>
                        </p:par>
                        <p:par>
                          <p:cTn id="16" fill="hold">
                            <p:stCondLst>
                              <p:cond delay="250"/>
                            </p:stCondLst>
                            <p:childTnLst>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7" grpId="0" animBg="1"/>
      <p:bldP spid="8"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3 · PASSO 2: O MODELO · DANIEL</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Esquema estrela Desfecho</a:t>
            </a:r>
            <a:endParaRPr lang="en-US" sz="3200" dirty="0"/>
          </a:p>
        </p:txBody>
      </p:sp>
      <p:sp>
        <p:nvSpPr>
          <p:cNvPr id="5" name="anim:1:339"/>
          <p:cNvSpPr/>
          <p:nvPr/>
        </p:nvSpPr>
        <p:spPr>
          <a:xfrm>
            <a:off x="548640" y="1463040"/>
            <a:ext cx="11064240" cy="3703320"/>
          </a:xfrm>
          <a:prstGeom prst="roundRect">
            <a:avLst>
              <a:gd name="adj" fmla="val 2963"/>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pic>
        <p:nvPicPr>
          <p:cNvPr id="6" name="anim:1:340" descr="Esquema estrela Desfecho: tabela de fatos Desfecho ligada a Ano Letivo, Escola, Território e Série">    </p:cNvPr>
          <p:cNvPicPr>
            <a:picLocks noChangeAspect="1"/>
          </p:cNvPicPr>
          <p:nvPr/>
        </p:nvPicPr>
        <p:blipFill>
          <a:blip r:embed="rId1"/>
          <a:stretch>
            <a:fillRect/>
          </a:stretch>
        </p:blipFill>
        <p:spPr>
          <a:xfrm>
            <a:off x="747080" y="1600200"/>
            <a:ext cx="10667360" cy="3429000"/>
          </a:xfrm>
          <a:prstGeom prst="rect">
            <a:avLst/>
          </a:prstGeom>
        </p:spPr>
      </p:pic>
      <p:sp>
        <p:nvSpPr>
          <p:cNvPr id="7" name="anim:2:341"/>
          <p:cNvSpPr txBox="1"/>
          <p:nvPr/>
        </p:nvSpPr>
        <p:spPr>
          <a:xfrm>
            <a:off x="548640" y="5349240"/>
            <a:ext cx="5440680" cy="960120"/>
          </a:xfrm>
          <a:prstGeom prst="rect">
            <a:avLst/>
          </a:prstGeom>
          <a:noFill/>
          <a:ln/>
        </p:spPr>
        <p:txBody>
          <a:bodyPr wrap="square" lIns="0" tIns="0" rIns="0" bIns="0" rtlCol="0" anchor="t"/>
          <a:lstStyle/>
          <a:p>
            <a:pPr marL="228600" indent="-2286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Grão: escola × ano letivo × série.</a:t>
            </a:r>
            <a:endParaRPr lang="en-US" sz="1500" dirty="0"/>
          </a:p>
          <a:p>
            <a:pPr marL="228600" indent="-2286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Fato agregado do fato Matrícula.</a:t>
            </a:r>
            <a:endParaRPr lang="en-US" sz="1500" dirty="0"/>
          </a:p>
          <a:p>
            <a:pPr marL="228600" indent="-2286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Contagens por desfecho: SOMA.</a:t>
            </a:r>
            <a:endParaRPr lang="en-US" sz="1500" dirty="0"/>
          </a:p>
        </p:txBody>
      </p:sp>
      <p:sp>
        <p:nvSpPr>
          <p:cNvPr id="8" name="anim:2:342"/>
          <p:cNvSpPr txBox="1"/>
          <p:nvPr/>
        </p:nvSpPr>
        <p:spPr>
          <a:xfrm>
            <a:off x="6172200" y="5349240"/>
            <a:ext cx="5440680" cy="960120"/>
          </a:xfrm>
          <a:prstGeom prst="rect">
            <a:avLst/>
          </a:prstGeom>
          <a:noFill/>
          <a:ln/>
        </p:spPr>
        <p:txBody>
          <a:bodyPr wrap="square" lIns="0" tIns="0" rIns="0" bIns="0" rtlCol="0" anchor="t"/>
          <a:lstStyle/>
          <a:p>
            <a:pPr marL="228600" indent="-2286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Taxas derivadas, não aditivas: recalculadas pelas contagens.</a:t>
            </a:r>
            <a:endParaRPr lang="en-US" sz="1500" dirty="0"/>
          </a:p>
          <a:p>
            <a:pPr marL="228600" indent="-2286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Série: série ≤ etapa ≤ nível.</a:t>
            </a:r>
            <a:endParaRPr lang="en-US" sz="15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18</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childTnLst>
                          </p:cTn>
                        </p:par>
                        <p:par>
                          <p:cTn id="12" fill="hold">
                            <p:stCondLst>
                              <p:cond delay="250"/>
                            </p:stCondLst>
                            <p:childTnLst>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childTnLst>
                          </p:cTn>
                        </p:par>
                        <p:par>
                          <p:cTn id="16" fill="hold">
                            <p:stCondLst>
                              <p:cond delay="250"/>
                            </p:stCondLst>
                            <p:childTnLst>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7" grpId="0" animBg="1"/>
      <p:bldP spid="8"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3 · PASSO 2: O MODELO · DANIEL</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Esquema estrela Ocupação de Turma</a:t>
            </a:r>
            <a:endParaRPr lang="en-US" sz="3200" dirty="0"/>
          </a:p>
        </p:txBody>
      </p:sp>
      <p:sp>
        <p:nvSpPr>
          <p:cNvPr id="5" name="anim:1:343"/>
          <p:cNvSpPr/>
          <p:nvPr/>
        </p:nvSpPr>
        <p:spPr>
          <a:xfrm>
            <a:off x="548640" y="1463040"/>
            <a:ext cx="11064240" cy="3703320"/>
          </a:xfrm>
          <a:prstGeom prst="roundRect">
            <a:avLst>
              <a:gd name="adj" fmla="val 2963"/>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pic>
        <p:nvPicPr>
          <p:cNvPr id="6" name="anim:1:344" descr="Esquema estrela Ocupação de Turma: tabela de fatos ligada a Ano Letivo, Escola, Território, Série e Turno">    </p:cNvPr>
          <p:cNvPicPr>
            <a:picLocks noChangeAspect="1"/>
          </p:cNvPicPr>
          <p:nvPr/>
        </p:nvPicPr>
        <p:blipFill>
          <a:blip r:embed="rId1"/>
          <a:stretch>
            <a:fillRect/>
          </a:stretch>
        </p:blipFill>
        <p:spPr>
          <a:xfrm>
            <a:off x="2088886" y="1600200"/>
            <a:ext cx="7983747" cy="3429000"/>
          </a:xfrm>
          <a:prstGeom prst="rect">
            <a:avLst/>
          </a:prstGeom>
        </p:spPr>
      </p:pic>
      <p:sp>
        <p:nvSpPr>
          <p:cNvPr id="7" name="anim:2:345"/>
          <p:cNvSpPr txBox="1"/>
          <p:nvPr/>
        </p:nvSpPr>
        <p:spPr>
          <a:xfrm>
            <a:off x="548640" y="5349240"/>
            <a:ext cx="5440680" cy="960120"/>
          </a:xfrm>
          <a:prstGeom prst="rect">
            <a:avLst/>
          </a:prstGeom>
          <a:noFill/>
          <a:ln/>
        </p:spPr>
        <p:txBody>
          <a:bodyPr wrap="square" lIns="0" tIns="0" rIns="0" bIns="0" rtlCol="0" anchor="t"/>
          <a:lstStyle/>
          <a:p>
            <a:pPr marL="228600" indent="-2286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Grão: turma × ano letivo.</a:t>
            </a:r>
            <a:endParaRPr lang="en-US" sz="1500" dirty="0"/>
          </a:p>
          <a:p>
            <a:pPr marL="228600" indent="-2286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Turmas (= 1), matrículas e ativas em 30/06: SOMA.</a:t>
            </a:r>
            <a:endParaRPr lang="en-US" sz="1500" dirty="0"/>
          </a:p>
          <a:p>
            <a:pPr marL="228600" indent="-2286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Alunos por turma: derivado, recalculado pelas somas.</a:t>
            </a:r>
            <a:endParaRPr lang="en-US" sz="1500" dirty="0"/>
          </a:p>
        </p:txBody>
      </p:sp>
      <p:sp>
        <p:nvSpPr>
          <p:cNvPr id="8" name="anim:2:346"/>
          <p:cNvSpPr txBox="1"/>
          <p:nvPr/>
        </p:nvSpPr>
        <p:spPr>
          <a:xfrm>
            <a:off x="6172200" y="5349240"/>
            <a:ext cx="5440680" cy="960120"/>
          </a:xfrm>
          <a:prstGeom prst="rect">
            <a:avLst/>
          </a:prstGeom>
          <a:noFill/>
          <a:ln/>
        </p:spPr>
        <p:txBody>
          <a:bodyPr wrap="square" lIns="0" tIns="0" rIns="0" bIns="0" rtlCol="0" anchor="t"/>
          <a:lstStyle/>
          <a:p>
            <a:pPr marL="228600" indent="-2286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Capacidade não publicada por nenhuma fonte: não é estimada.</a:t>
            </a:r>
            <a:endParaRPr lang="en-US" sz="1500" dirty="0"/>
          </a:p>
          <a:p>
            <a:pPr marL="228600" indent="-2286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id turma: dimensão degenerada.</a:t>
            </a:r>
            <a:endParaRPr lang="en-US" sz="15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19</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childTnLst>
                          </p:cTn>
                        </p:par>
                        <p:par>
                          <p:cTn id="12" fill="hold">
                            <p:stCondLst>
                              <p:cond delay="250"/>
                            </p:stCondLst>
                            <p:childTnLst>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childTnLst>
                          </p:cTn>
                        </p:par>
                        <p:par>
                          <p:cTn id="16" fill="hold">
                            <p:stCondLst>
                              <p:cond delay="250"/>
                            </p:stCondLst>
                            <p:childTnLst>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7" grpId="0" animBg="1"/>
      <p:bldP spid="8"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3 · PASSO 2: O MODELO · DANIEL</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Esquema estrela População</a:t>
            </a:r>
            <a:endParaRPr lang="en-US" sz="3200" dirty="0"/>
          </a:p>
        </p:txBody>
      </p:sp>
      <p:sp>
        <p:nvSpPr>
          <p:cNvPr id="5" name="anim:1:347"/>
          <p:cNvSpPr/>
          <p:nvPr/>
        </p:nvSpPr>
        <p:spPr>
          <a:xfrm>
            <a:off x="548640" y="1463040"/>
            <a:ext cx="11064240" cy="3703320"/>
          </a:xfrm>
          <a:prstGeom prst="roundRect">
            <a:avLst>
              <a:gd name="adj" fmla="val 2963"/>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pic>
        <p:nvPicPr>
          <p:cNvPr id="6" name="anim:1:348" descr="Esquema estrela População: tabela de fatos População ligada a Tempo, Setor Censitário, Território e Faixa Etária">    </p:cNvPr>
          <p:cNvPicPr>
            <a:picLocks noChangeAspect="1"/>
          </p:cNvPicPr>
          <p:nvPr/>
        </p:nvPicPr>
        <p:blipFill>
          <a:blip r:embed="rId1"/>
          <a:stretch>
            <a:fillRect/>
          </a:stretch>
        </p:blipFill>
        <p:spPr>
          <a:xfrm>
            <a:off x="1272367" y="1600200"/>
            <a:ext cx="9616786" cy="3429000"/>
          </a:xfrm>
          <a:prstGeom prst="rect">
            <a:avLst/>
          </a:prstGeom>
        </p:spPr>
      </p:pic>
      <p:sp>
        <p:nvSpPr>
          <p:cNvPr id="7" name="anim:2:349"/>
          <p:cNvSpPr txBox="1"/>
          <p:nvPr/>
        </p:nvSpPr>
        <p:spPr>
          <a:xfrm>
            <a:off x="548640" y="5349240"/>
            <a:ext cx="5440680" cy="960120"/>
          </a:xfrm>
          <a:prstGeom prst="rect">
            <a:avLst/>
          </a:prstGeom>
          <a:noFill/>
          <a:ln/>
        </p:spPr>
        <p:txBody>
          <a:bodyPr wrap="square" lIns="0" tIns="0" rIns="0" bIns="0" rtlCol="0" anchor="t"/>
          <a:lstStyle/>
          <a:p>
            <a:pPr marL="228600" indent="-2286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Grão: setor censitário × faixa etária × data do Censo.</a:t>
            </a:r>
            <a:endParaRPr lang="en-US" sz="1500" dirty="0"/>
          </a:p>
          <a:p>
            <a:pPr marL="228600" indent="-2286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Estoque: SOMA entre setores e faixas, não no tempo.</a:t>
            </a:r>
            <a:endParaRPr lang="en-US" sz="1500" dirty="0"/>
          </a:p>
          <a:p>
            <a:pPr marL="228600" indent="-2286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Setor censitário ≤ distrito ≤ DRE ≤ município ≤ UF.</a:t>
            </a:r>
            <a:endParaRPr lang="en-US" sz="1500" dirty="0"/>
          </a:p>
        </p:txBody>
      </p:sp>
      <p:sp>
        <p:nvSpPr>
          <p:cNvPr id="8" name="anim:2:350"/>
          <p:cNvSpPr txBox="1"/>
          <p:nvPr/>
        </p:nvSpPr>
        <p:spPr>
          <a:xfrm>
            <a:off x="6172200" y="5349240"/>
            <a:ext cx="5440680" cy="960120"/>
          </a:xfrm>
          <a:prstGeom prst="rect">
            <a:avLst/>
          </a:prstGeom>
          <a:noFill/>
          <a:ln/>
        </p:spPr>
        <p:txBody>
          <a:bodyPr wrap="square" lIns="0" tIns="0" rIns="0" bIns="0" rtlCol="0" anchor="t"/>
          <a:lstStyle/>
          <a:p>
            <a:pPr marL="228600" indent="-2286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Faixa Etária: rollup encolhido de Idade.</a:t>
            </a:r>
            <a:endParaRPr lang="en-US" sz="1500" dirty="0"/>
          </a:p>
          <a:p>
            <a:pPr marL="228600" indent="-2286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Valor suprimido pelo IBGE fica nulo.</a:t>
            </a:r>
            <a:endParaRPr lang="en-US" sz="15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20</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childTnLst>
                          </p:cTn>
                        </p:par>
                        <p:par>
                          <p:cTn id="12" fill="hold">
                            <p:stCondLst>
                              <p:cond delay="250"/>
                            </p:stCondLst>
                            <p:childTnLst>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childTnLst>
                          </p:cTn>
                        </p:par>
                        <p:par>
                          <p:cTn id="16" fill="hold">
                            <p:stCondLst>
                              <p:cond delay="250"/>
                            </p:stCondLst>
                            <p:childTnLst>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7" grpId="0" animBg="1"/>
      <p:bldP spid="8"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3 · PASSO 2: O MODELO · DANIEL</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Constelação de fatos</a:t>
            </a:r>
            <a:endParaRPr lang="en-US" sz="3200" dirty="0"/>
          </a:p>
        </p:txBody>
      </p:sp>
      <p:sp>
        <p:nvSpPr>
          <p:cNvPr id="5" name="anim:1:351"/>
          <p:cNvSpPr/>
          <p:nvPr/>
        </p:nvSpPr>
        <p:spPr>
          <a:xfrm>
            <a:off x="548640" y="1463040"/>
            <a:ext cx="11064240" cy="4389120"/>
          </a:xfrm>
          <a:prstGeom prst="roundRect">
            <a:avLst>
              <a:gd name="adj" fmla="val 2500"/>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pic>
        <p:nvPicPr>
          <p:cNvPr id="6" name="anim:1:352" descr="Constelação de fatos: cinco tabelas de fatos e catorze dimensões compartilhadas">    </p:cNvPr>
          <p:cNvPicPr>
            <a:picLocks noChangeAspect="1"/>
          </p:cNvPicPr>
          <p:nvPr/>
        </p:nvPicPr>
        <p:blipFill>
          <a:blip r:embed="rId1"/>
          <a:stretch>
            <a:fillRect/>
          </a:stretch>
        </p:blipFill>
        <p:spPr>
          <a:xfrm>
            <a:off x="1139015" y="1600200"/>
            <a:ext cx="9883491" cy="4114800"/>
          </a:xfrm>
          <a:prstGeom prst="rect">
            <a:avLst/>
          </a:prstGeom>
        </p:spPr>
      </p:pic>
      <p:sp>
        <p:nvSpPr>
          <p:cNvPr id="7" name="anim:2:353"/>
          <p:cNvSpPr txBox="1"/>
          <p:nvPr/>
        </p:nvSpPr>
        <p:spPr>
          <a:xfrm>
            <a:off x="548640" y="5943600"/>
            <a:ext cx="11064240" cy="365760"/>
          </a:xfrm>
          <a:prstGeom prst="rect">
            <a:avLst/>
          </a:prstGeom>
          <a:noFill/>
          <a:ln/>
        </p:spPr>
        <p:txBody>
          <a:bodyPr wrap="square" lIns="0" tIns="0" rIns="0" bIns="0" rtlCol="0" anchor="t"/>
          <a:lstStyle/>
          <a:p>
            <a:pPr algn="l" indent="0" marL="0">
              <a:buNone/>
            </a:pPr>
            <a:r>
              <a:rPr lang="en-US" sz="1300" i="1" dirty="0">
                <a:solidFill>
                  <a:srgbClr val="566175"/>
                </a:solidFill>
                <a:latin typeface="Calibri" pitchFamily="34" charset="0"/>
                <a:ea typeface="Calibri" pitchFamily="34" charset="-122"/>
                <a:cs typeface="Calibri" pitchFamily="34" charset="-120"/>
              </a:rPr>
              <a:t>Processo de projeto: matriz de barramento (fato × dimensão), dimensões conformadas e, onde os grãos diferem, rollups encolhidos (tracejado).</a:t>
            </a:r>
            <a:endParaRPr lang="en-US" sz="13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21</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childTnLst>
                          </p:cTn>
                        </p:par>
                        <p:par>
                          <p:cTn id="12" fill="hold">
                            <p:stCondLst>
                              <p:cond delay="250"/>
                            </p:stCondLst>
                            <p:childTnLst>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7"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4 · PASSO 3: AS RESPOSTAS · LUÍS</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Oito consultas OLAP</a:t>
            </a:r>
            <a:endParaRPr lang="en-US" sz="32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64240" cy="914400"/>
        </p:xfrm>
        <a:graphic>
          <a:graphicData uri="http://schemas.openxmlformats.org/drawingml/2006/table">
            <a:tbl>
              <a:tblPr/>
              <a:tblGrid>
                <a:gridCol w="640080"/>
                <a:gridCol w="1828800"/>
                <a:gridCol w="5486400"/>
                <a:gridCol w="3108960"/>
              </a:tblGrid>
              <a:tr h="493776">
                <a:tc>
                  <a:txBody>
                    <a:bodyPr/>
                    <a:lstStyle/>
                    <a:p>
                      <a:pPr indent="0" marL="0">
                        <a:buNone/>
                      </a:pP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1B2A4A"/>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Operação</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1B2A4A"/>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Pergunta</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1B2A4A"/>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Fatos</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1B2A4A"/>
                    </a:solidFill>
                  </a:tcPr>
                </a:tc>
              </a:tr>
              <a:tr h="493776">
                <a:tc>
                  <a:txBody>
                    <a:bodyPr/>
                    <a:lstStyle/>
                    <a:p>
                      <a:pPr indent="0" marL="0">
                        <a:buNone/>
                      </a:pPr>
                      <a:r>
                        <a:rPr lang="en-US" sz="1400" b="1" dirty="0">
                          <a:solidFill>
                            <a:srgbClr val="1F2937"/>
                          </a:solidFill>
                          <a:latin typeface="Calibri" pitchFamily="34" charset="0"/>
                          <a:ea typeface="Calibri" pitchFamily="34" charset="-122"/>
                          <a:cs typeface="Calibri" pitchFamily="34" charset="-120"/>
                        </a:rPr>
                        <a:t>C1</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400" b="1" dirty="0">
                          <a:solidFill>
                            <a:srgbClr val="2E5EAA"/>
                          </a:solidFill>
                          <a:latin typeface="Calibri" pitchFamily="34" charset="0"/>
                          <a:ea typeface="Calibri" pitchFamily="34" charset="-122"/>
                          <a:cs typeface="Calibri" pitchFamily="34" charset="-120"/>
                        </a:rPr>
                        <a:t>drill-down</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fila de creche: município → DRE → distrito</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Fila</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r>
              <a:tr h="493776">
                <a:tc>
                  <a:txBody>
                    <a:bodyPr/>
                    <a:lstStyle/>
                    <a:p>
                      <a:pPr indent="0" marL="0">
                        <a:buNone/>
                      </a:pPr>
                      <a:r>
                        <a:rPr lang="en-US" sz="1400" b="1" dirty="0">
                          <a:solidFill>
                            <a:srgbClr val="1F2937"/>
                          </a:solidFill>
                          <a:latin typeface="Calibri" pitchFamily="34" charset="0"/>
                          <a:ea typeface="Calibri" pitchFamily="34" charset="-122"/>
                          <a:cs typeface="Calibri" pitchFamily="34" charset="-120"/>
                        </a:rPr>
                        <a:t>C2</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c>
                  <a:txBody>
                    <a:bodyPr/>
                    <a:lstStyle/>
                    <a:p>
                      <a:pPr indent="0" marL="0">
                        <a:buNone/>
                      </a:pPr>
                      <a:r>
                        <a:rPr lang="en-US" sz="1400" b="1" dirty="0">
                          <a:solidFill>
                            <a:srgbClr val="2E5EAA"/>
                          </a:solidFill>
                          <a:latin typeface="Calibri" pitchFamily="34" charset="0"/>
                          <a:ea typeface="Calibri" pitchFamily="34" charset="-122"/>
                          <a:cs typeface="Calibri" pitchFamily="34" charset="-120"/>
                        </a:rPr>
                        <a:t>roll-up</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matrículas: etapa → nível → total, ano a ano</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Matrícula</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r>
              <a:tr h="493776">
                <a:tc>
                  <a:txBody>
                    <a:bodyPr/>
                    <a:lstStyle/>
                    <a:p>
                      <a:pPr indent="0" marL="0">
                        <a:buNone/>
                      </a:pPr>
                      <a:r>
                        <a:rPr lang="en-US" sz="1400" b="1" dirty="0">
                          <a:solidFill>
                            <a:srgbClr val="1F2937"/>
                          </a:solidFill>
                          <a:latin typeface="Calibri" pitchFamily="34" charset="0"/>
                          <a:ea typeface="Calibri" pitchFamily="34" charset="-122"/>
                          <a:cs typeface="Calibri" pitchFamily="34" charset="-120"/>
                        </a:rPr>
                        <a:t>C3</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400" b="1" dirty="0">
                          <a:solidFill>
                            <a:srgbClr val="2E5EAA"/>
                          </a:solidFill>
                          <a:latin typeface="Calibri" pitchFamily="34" charset="0"/>
                          <a:ea typeface="Calibri" pitchFamily="34" charset="-122"/>
                          <a:cs typeface="Calibri" pitchFamily="34" charset="-120"/>
                        </a:rPr>
                        <a:t>slice and dice</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creche por rede e jornada, 2019 e 2024</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Matrícula</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r>
              <a:tr h="493776">
                <a:tc>
                  <a:txBody>
                    <a:bodyPr/>
                    <a:lstStyle/>
                    <a:p>
                      <a:pPr indent="0" marL="0">
                        <a:buNone/>
                      </a:pPr>
                      <a:r>
                        <a:rPr lang="en-US" sz="1400" b="1" dirty="0">
                          <a:solidFill>
                            <a:srgbClr val="1F2937"/>
                          </a:solidFill>
                          <a:latin typeface="Calibri" pitchFamily="34" charset="0"/>
                          <a:ea typeface="Calibri" pitchFamily="34" charset="-122"/>
                          <a:cs typeface="Calibri" pitchFamily="34" charset="-120"/>
                        </a:rPr>
                        <a:t>C4</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c>
                  <a:txBody>
                    <a:bodyPr/>
                    <a:lstStyle/>
                    <a:p>
                      <a:pPr indent="0" marL="0">
                        <a:buNone/>
                      </a:pPr>
                      <a:r>
                        <a:rPr lang="en-US" sz="1400" b="1" dirty="0">
                          <a:solidFill>
                            <a:srgbClr val="2E5EAA"/>
                          </a:solidFill>
                          <a:latin typeface="Calibri" pitchFamily="34" charset="0"/>
                          <a:ea typeface="Calibri" pitchFamily="34" charset="-122"/>
                          <a:cs typeface="Calibri" pitchFamily="34" charset="-120"/>
                        </a:rPr>
                        <a:t>pivot</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DRE nas linhas, jornada nas colunas</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Matrícula</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r>
              <a:tr h="493776">
                <a:tc>
                  <a:txBody>
                    <a:bodyPr/>
                    <a:lstStyle/>
                    <a:p>
                      <a:pPr indent="0" marL="0">
                        <a:buNone/>
                      </a:pPr>
                      <a:r>
                        <a:rPr lang="en-US" sz="1400" b="1" dirty="0">
                          <a:solidFill>
                            <a:srgbClr val="1F2937"/>
                          </a:solidFill>
                          <a:latin typeface="Calibri" pitchFamily="34" charset="0"/>
                          <a:ea typeface="Calibri" pitchFamily="34" charset="-122"/>
                          <a:cs typeface="Calibri" pitchFamily="34" charset="-120"/>
                        </a:rPr>
                        <a:t>C5</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400" b="1" dirty="0">
                          <a:solidFill>
                            <a:srgbClr val="8A5300"/>
                          </a:solidFill>
                          <a:latin typeface="Calibri" pitchFamily="34" charset="0"/>
                          <a:ea typeface="Calibri" pitchFamily="34" charset="-122"/>
                          <a:cs typeface="Calibri" pitchFamily="34" charset="-120"/>
                        </a:rPr>
                        <a:t>drill-across</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fila contra matrícula ativa em junho, por distrito</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Fila, Matrícula</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r>
              <a:tr h="493776">
                <a:tc>
                  <a:txBody>
                    <a:bodyPr/>
                    <a:lstStyle/>
                    <a:p>
                      <a:pPr indent="0" marL="0">
                        <a:buNone/>
                      </a:pPr>
                      <a:r>
                        <a:rPr lang="en-US" sz="1400" b="1" dirty="0">
                          <a:solidFill>
                            <a:srgbClr val="1F2937"/>
                          </a:solidFill>
                          <a:latin typeface="Calibri" pitchFamily="34" charset="0"/>
                          <a:ea typeface="Calibri" pitchFamily="34" charset="-122"/>
                          <a:cs typeface="Calibri" pitchFamily="34" charset="-120"/>
                        </a:rPr>
                        <a:t>C6</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c>
                  <a:txBody>
                    <a:bodyPr/>
                    <a:lstStyle/>
                    <a:p>
                      <a:pPr indent="0" marL="0">
                        <a:buNone/>
                      </a:pPr>
                      <a:r>
                        <a:rPr lang="en-US" sz="1400" b="1" dirty="0">
                          <a:solidFill>
                            <a:srgbClr val="8A5300"/>
                          </a:solidFill>
                          <a:latin typeface="Calibri" pitchFamily="34" charset="0"/>
                          <a:ea typeface="Calibri" pitchFamily="34" charset="-122"/>
                          <a:cs typeface="Calibri" pitchFamily="34" charset="-120"/>
                        </a:rPr>
                        <a:t>drill-across</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fila de creche e abandono no fundamental, por DRE</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Fila, Matrícula, Desfecho</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r>
              <a:tr h="493776">
                <a:tc>
                  <a:txBody>
                    <a:bodyPr/>
                    <a:lstStyle/>
                    <a:p>
                      <a:pPr indent="0" marL="0">
                        <a:buNone/>
                      </a:pPr>
                      <a:r>
                        <a:rPr lang="en-US" sz="1400" b="1" dirty="0">
                          <a:solidFill>
                            <a:srgbClr val="1F2937"/>
                          </a:solidFill>
                          <a:latin typeface="Calibri" pitchFamily="34" charset="0"/>
                          <a:ea typeface="Calibri" pitchFamily="34" charset="-122"/>
                          <a:cs typeface="Calibri" pitchFamily="34" charset="-120"/>
                        </a:rPr>
                        <a:t>C7</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400" b="1" dirty="0">
                          <a:solidFill>
                            <a:srgbClr val="8A5300"/>
                          </a:solidFill>
                          <a:latin typeface="Calibri" pitchFamily="34" charset="0"/>
                          <a:ea typeface="Calibri" pitchFamily="34" charset="-122"/>
                          <a:cs typeface="Calibri" pitchFamily="34" charset="-120"/>
                        </a:rPr>
                        <a:t>drill-across</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crianças de 0 a 4 anos: residentes, matriculadas e na fila</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População, Matrícula, Fila</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r>
              <a:tr h="493776">
                <a:tc>
                  <a:txBody>
                    <a:bodyPr/>
                    <a:lstStyle/>
                    <a:p>
                      <a:pPr indent="0" marL="0">
                        <a:buNone/>
                      </a:pPr>
                      <a:r>
                        <a:rPr lang="en-US" sz="1400" b="1" dirty="0">
                          <a:solidFill>
                            <a:srgbClr val="1F2937"/>
                          </a:solidFill>
                          <a:latin typeface="Calibri" pitchFamily="34" charset="0"/>
                          <a:ea typeface="Calibri" pitchFamily="34" charset="-122"/>
                          <a:cs typeface="Calibri" pitchFamily="34" charset="-120"/>
                        </a:rPr>
                        <a:t>C8</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c>
                  <a:txBody>
                    <a:bodyPr/>
                    <a:lstStyle/>
                    <a:p>
                      <a:pPr indent="0" marL="0">
                        <a:buNone/>
                      </a:pPr>
                      <a:r>
                        <a:rPr lang="en-US" sz="1400" b="1" dirty="0">
                          <a:solidFill>
                            <a:srgbClr val="2E5EAA"/>
                          </a:solidFill>
                          <a:latin typeface="Calibri" pitchFamily="34" charset="0"/>
                          <a:ea typeface="Calibri" pitchFamily="34" charset="-122"/>
                          <a:cs typeface="Calibri" pitchFamily="34" charset="-120"/>
                        </a:rPr>
                        <a:t>drill-down</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alunos por turma: município → DRE → distrito</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Ocupação de Turma</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r>
            </a:tbl>
          </a:graphicData>
        </a:graphic>
      </p:graphicFrame>
      <p:sp>
        <p:nvSpPr>
          <p:cNvPr id="6" name="anim:1:354"/>
          <p:cNvSpPr txBox="1"/>
          <p:nvPr/>
        </p:nvSpPr>
        <p:spPr>
          <a:xfrm>
            <a:off x="548640" y="5989320"/>
            <a:ext cx="11064240" cy="292608"/>
          </a:xfrm>
          <a:prstGeom prst="rect">
            <a:avLst/>
          </a:prstGeom>
          <a:noFill/>
          <a:ln/>
        </p:spPr>
        <p:txBody>
          <a:bodyPr wrap="square" lIns="0" tIns="0" rIns="0" bIns="0" rtlCol="0" anchor="t"/>
          <a:lstStyle/>
          <a:p>
            <a:pPr algn="l" indent="0" marL="0">
              <a:buNone/>
            </a:pPr>
            <a:r>
              <a:rPr lang="en-US" sz="1300" b="1" dirty="0">
                <a:solidFill>
                  <a:srgbClr val="1B2A4A"/>
                </a:solidFill>
                <a:latin typeface="Calibri" pitchFamily="34" charset="0"/>
                <a:ea typeface="Calibri" pitchFamily="34" charset="-122"/>
                <a:cs typeface="Calibri" pitchFamily="34" charset="-120"/>
              </a:rPr>
              <a:t>Exigido: 2 roll-up ou drill-down, 1 slice and dice, 1 pivot, 1 drill-across. Feito: 3, 1, 1 e 3.</a:t>
            </a:r>
            <a:endParaRPr lang="en-US" sz="13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22</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4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4 · PASSO 3: AS RESPOSTAS · LUÍS</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Resultados: fila e oferta de creche</a:t>
            </a:r>
            <a:endParaRPr lang="en-US" sz="3200" dirty="0"/>
          </a:p>
        </p:txBody>
      </p:sp>
      <p:graphicFrame>
        <p:nvGraphicFramePr>
          <p:cNvPr id="5" name="Chart 0" descr=""/>
          <p:cNvGraphicFramePr/>
          <p:nvPr/>
        </p:nvGraphicFramePr>
        <p:xfrm>
          <a:off x="457200" y="1417320"/>
          <a:ext cx="5852160" cy="457200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6400800" y="1417320"/>
          <a:ext cx="5303520" cy="2971800"/>
        </p:xfrm>
        <a:graphic xmlns:a="http://schemas.openxmlformats.org/drawingml/2006/main">
          <a:graphicData uri="http://schemas.openxmlformats.org/drawingml/2006/chart">
            <c:chart xmlns:c="http://schemas.openxmlformats.org/drawingml/2006/chart" r:id="rId2"/>
          </a:graphicData>
        </a:graphic>
      </p:graphicFrame>
      <p:sp>
        <p:nvSpPr>
          <p:cNvPr id="7" name="anim:1:355"/>
          <p:cNvSpPr/>
          <p:nvPr/>
        </p:nvSpPr>
        <p:spPr>
          <a:xfrm>
            <a:off x="6446520" y="4526280"/>
            <a:ext cx="5166360" cy="1417320"/>
          </a:xfrm>
          <a:prstGeom prst="roundRect">
            <a:avLst>
              <a:gd name="adj" fmla="val 7742"/>
            </a:avLst>
          </a:prstGeom>
          <a:solidFill>
            <a:srgbClr val="EEF2F8"/>
          </a:solidFill>
          <a:ln w="9525">
            <a:solidFill>
              <a:srgbClr val="EEF2F8"/>
            </a:solidFill>
            <a:prstDash val="solid"/>
          </a:ln>
        </p:spPr>
      </p:sp>
      <p:sp>
        <p:nvSpPr>
          <p:cNvPr id="8" name="anim:1:356"/>
          <p:cNvSpPr txBox="1"/>
          <p:nvPr/>
        </p:nvSpPr>
        <p:spPr>
          <a:xfrm>
            <a:off x="6675120" y="4617720"/>
            <a:ext cx="1554480" cy="1234440"/>
          </a:xfrm>
          <a:prstGeom prst="rect">
            <a:avLst/>
          </a:prstGeom>
          <a:noFill/>
          <a:ln/>
        </p:spPr>
        <p:txBody>
          <a:bodyPr wrap="square" lIns="0" tIns="0" rIns="0" bIns="0" rtlCol="0" anchor="ctr"/>
          <a:lstStyle/>
          <a:p>
            <a:pPr algn="l" indent="0" marL="0">
              <a:buNone/>
            </a:pPr>
            <a:r>
              <a:rPr lang="en-US" sz="4000" b="1" dirty="0">
                <a:solidFill>
                  <a:srgbClr val="2E5EAA"/>
                </a:solidFill>
                <a:latin typeface="Calibri" pitchFamily="34" charset="0"/>
                <a:ea typeface="Calibri" pitchFamily="34" charset="-122"/>
                <a:cs typeface="Calibri" pitchFamily="34" charset="-120"/>
              </a:rPr>
              <a:t>85%</a:t>
            </a:r>
            <a:endParaRPr lang="en-US" sz="4000" dirty="0"/>
          </a:p>
        </p:txBody>
      </p:sp>
      <p:sp>
        <p:nvSpPr>
          <p:cNvPr id="9" name="anim:1:357"/>
          <p:cNvSpPr txBox="1"/>
          <p:nvPr/>
        </p:nvSpPr>
        <p:spPr>
          <a:xfrm>
            <a:off x="8275320" y="4617720"/>
            <a:ext cx="3200400" cy="1234440"/>
          </a:xfrm>
          <a:prstGeom prst="rect">
            <a:avLst/>
          </a:prstGeom>
          <a:noFill/>
          <a:ln/>
        </p:spPr>
        <p:txBody>
          <a:bodyPr wrap="square" lIns="0" tIns="0" rIns="0" bIns="0" rtlCol="0" anchor="ctr"/>
          <a:lstStyle/>
          <a:p>
            <a:pPr algn="l" indent="0" marL="0">
              <a:buNone/>
            </a:pPr>
            <a:r>
              <a:rPr lang="en-US" sz="1400" dirty="0">
                <a:solidFill>
                  <a:srgbClr val="1F2937"/>
                </a:solidFill>
                <a:latin typeface="Calibri" pitchFamily="34" charset="0"/>
                <a:ea typeface="Calibri" pitchFamily="34" charset="-122"/>
                <a:cs typeface="Calibri" pitchFamily="34" charset="-120"/>
              </a:rPr>
              <a:t>da creche é conveniada, quase toda em jornada integral, em 2019 e 2024 (consulta 3).</a:t>
            </a:r>
            <a:endParaRPr lang="en-US" sz="1400" dirty="0"/>
          </a:p>
        </p:txBody>
      </p:sp>
      <p:sp>
        <p:nvSpPr>
          <p:cNvPr id="10" name="Text 5"/>
          <p:cNvSpPr txBox="1"/>
          <p:nvPr/>
        </p:nvSpPr>
        <p:spPr>
          <a:xfrm>
            <a:off x="548640" y="6089904"/>
            <a:ext cx="10241280" cy="256032"/>
          </a:xfrm>
          <a:prstGeom prst="rect">
            <a:avLst/>
          </a:prstGeom>
          <a:noFill/>
          <a:ln/>
        </p:spPr>
        <p:txBody>
          <a:bodyPr wrap="square" lIns="0" tIns="0" rIns="0" bIns="0" rtlCol="0" anchor="t"/>
          <a:lstStyle/>
          <a:p>
            <a:pPr algn="l" indent="0" marL="0">
              <a:buNone/>
            </a:pPr>
            <a:r>
              <a:rPr lang="en-US" sz="1000" i="1" dirty="0">
                <a:solidFill>
                  <a:srgbClr val="566175"/>
                </a:solidFill>
                <a:latin typeface="Calibri" pitchFamily="34" charset="0"/>
                <a:ea typeface="Calibri" pitchFamily="34" charset="-122"/>
                <a:cs typeface="Calibri" pitchFamily="34" charset="-120"/>
              </a:rPr>
              <a:t>Fonte: SME-SP, Demanda Registrada e Matrículas e Microdados de Matrículas; consultas 3 e 5.</a:t>
            </a:r>
            <a:endParaRPr lang="en-US" sz="10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23</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00"/>
                                        <p:tgtEl>
                                          <p:spTgt spid="7"/>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400"/>
                                        <p:tgtEl>
                                          <p:spTgt spid="8"/>
                                        </p:tgtEl>
                                      </p:cBhvr>
                                    </p:animEffect>
                                  </p:childTnLst>
                                </p:cTn>
                              </p:par>
                            </p:childTnLst>
                          </p:cTn>
                        </p:par>
                        <p:par>
                          <p:cTn id="12" fill="hold">
                            <p:stCondLst>
                              <p:cond delay="0"/>
                            </p:stCondLst>
                            <p:childTnLst>
                              <p:par>
                                <p:cTn id="13" presetID="10" presetClass="entr" presetSubtype="0" fill="hold" grpId="0" nodeType="with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fade">
                                      <p:cBhvr>
                                        <p:cTn id="15" dur="4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4 · PASSO 3: AS RESPOSTAS · LUÍS</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Resultados: população e ocupação das turmas</a:t>
            </a:r>
            <a:endParaRPr lang="en-US" sz="3200" dirty="0"/>
          </a:p>
        </p:txBody>
      </p:sp>
      <p:sp>
        <p:nvSpPr>
          <p:cNvPr id="5" name="anim:1:358"/>
          <p:cNvSpPr/>
          <p:nvPr/>
        </p:nvSpPr>
        <p:spPr>
          <a:xfrm>
            <a:off x="548640" y="1463040"/>
            <a:ext cx="5440680" cy="2377440"/>
          </a:xfrm>
          <a:prstGeom prst="roundRect">
            <a:avLst>
              <a:gd name="adj" fmla="val 4615"/>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6" name="anim:1:359"/>
          <p:cNvSpPr txBox="1"/>
          <p:nvPr/>
        </p:nvSpPr>
        <p:spPr>
          <a:xfrm>
            <a:off x="822960" y="1664208"/>
            <a:ext cx="4846320" cy="274320"/>
          </a:xfrm>
          <a:prstGeom prst="rect">
            <a:avLst/>
          </a:prstGeom>
          <a:noFill/>
          <a:ln/>
        </p:spPr>
        <p:txBody>
          <a:bodyPr wrap="square" lIns="0" tIns="0" rIns="0" bIns="0" rtlCol="0" anchor="t"/>
          <a:lstStyle/>
          <a:p>
            <a:pPr algn="l" indent="0" marL="0">
              <a:buNone/>
            </a:pPr>
            <a:r>
              <a:rPr lang="en-US" sz="1200" b="1" spc="100" kern="0" dirty="0">
                <a:solidFill>
                  <a:srgbClr val="8A5300"/>
                </a:solidFill>
                <a:latin typeface="Calibri" pitchFamily="34" charset="0"/>
                <a:ea typeface="Calibri" pitchFamily="34" charset="-122"/>
                <a:cs typeface="Calibri" pitchFamily="34" charset="-120"/>
              </a:rPr>
              <a:t>CONSULTA 7 · 31/07/2022</a:t>
            </a:r>
            <a:endParaRPr lang="en-US" sz="1200" dirty="0"/>
          </a:p>
        </p:txBody>
      </p:sp>
      <p:sp>
        <p:nvSpPr>
          <p:cNvPr id="7" name="anim:1:360"/>
          <p:cNvSpPr txBox="1"/>
          <p:nvPr/>
        </p:nvSpPr>
        <p:spPr>
          <a:xfrm>
            <a:off x="822960" y="1965960"/>
            <a:ext cx="1463040" cy="960120"/>
          </a:xfrm>
          <a:prstGeom prst="rect">
            <a:avLst/>
          </a:prstGeom>
          <a:noFill/>
          <a:ln/>
        </p:spPr>
        <p:txBody>
          <a:bodyPr wrap="square" lIns="0" tIns="0" rIns="0" bIns="0" rtlCol="0" anchor="t"/>
          <a:lstStyle/>
          <a:p>
            <a:pPr algn="l" indent="0" marL="0">
              <a:buNone/>
            </a:pPr>
            <a:r>
              <a:rPr lang="en-US" sz="6000" b="1" dirty="0">
                <a:solidFill>
                  <a:srgbClr val="2E5EAA"/>
                </a:solidFill>
                <a:latin typeface="Calibri" pitchFamily="34" charset="0"/>
                <a:ea typeface="Calibri" pitchFamily="34" charset="-122"/>
                <a:cs typeface="Calibri" pitchFamily="34" charset="-120"/>
              </a:rPr>
              <a:t>86</a:t>
            </a:r>
            <a:endParaRPr lang="en-US" sz="6000" dirty="0"/>
          </a:p>
        </p:txBody>
      </p:sp>
      <p:sp>
        <p:nvSpPr>
          <p:cNvPr id="8" name="anim:1:361"/>
          <p:cNvSpPr txBox="1"/>
          <p:nvPr/>
        </p:nvSpPr>
        <p:spPr>
          <a:xfrm>
            <a:off x="2240280" y="2148840"/>
            <a:ext cx="3566160" cy="685800"/>
          </a:xfrm>
          <a:prstGeom prst="rect">
            <a:avLst/>
          </a:prstGeom>
          <a:noFill/>
          <a:ln/>
        </p:spPr>
        <p:txBody>
          <a:bodyPr wrap="square" lIns="0" tIns="0" rIns="0" bIns="0" rtlCol="0" anchor="t"/>
          <a:lstStyle/>
          <a:p>
            <a:pPr algn="l" indent="0" marL="0">
              <a:buNone/>
            </a:pPr>
            <a:r>
              <a:rPr lang="en-US" sz="1700" b="1" dirty="0">
                <a:solidFill>
                  <a:srgbClr val="1B2A4A"/>
                </a:solidFill>
                <a:latin typeface="Calibri" pitchFamily="34" charset="0"/>
                <a:ea typeface="Calibri" pitchFamily="34" charset="-122"/>
                <a:cs typeface="Calibri" pitchFamily="34" charset="-120"/>
              </a:rPr>
              <a:t>matrículas por 100 crianças de 0 a 4 anos</a:t>
            </a:r>
            <a:endParaRPr lang="en-US" sz="1700" dirty="0"/>
          </a:p>
        </p:txBody>
      </p:sp>
      <p:sp>
        <p:nvSpPr>
          <p:cNvPr id="9" name="anim:1:362"/>
          <p:cNvSpPr txBox="1"/>
          <p:nvPr/>
        </p:nvSpPr>
        <p:spPr>
          <a:xfrm>
            <a:off x="822960" y="3063240"/>
            <a:ext cx="4937760" cy="548640"/>
          </a:xfrm>
          <a:prstGeom prst="rect">
            <a:avLst/>
          </a:prstGeom>
          <a:noFill/>
          <a:ln/>
        </p:spPr>
        <p:txBody>
          <a:bodyPr wrap="square" lIns="0" tIns="0" rIns="0" bIns="0" rtlCol="0" anchor="t"/>
          <a:lstStyle/>
          <a:p>
            <a:pPr algn="l" indent="0" marL="0">
              <a:buNone/>
            </a:pPr>
            <a:r>
              <a:rPr lang="en-US" sz="1400" dirty="0">
                <a:solidFill>
                  <a:srgbClr val="566175"/>
                </a:solidFill>
                <a:latin typeface="Calibri" pitchFamily="34" charset="0"/>
                <a:ea typeface="Calibri" pitchFamily="34" charset="-122"/>
                <a:cs typeface="Calibri" pitchFamily="34" charset="-120"/>
              </a:rPr>
              <a:t>514.131 matrículas ativas para 598.406 crianças residentes.</a:t>
            </a:r>
            <a:endParaRPr lang="en-US" sz="1400" dirty="0"/>
          </a:p>
        </p:txBody>
      </p:sp>
      <p:sp>
        <p:nvSpPr>
          <p:cNvPr id="10" name="anim:2:363"/>
          <p:cNvSpPr/>
          <p:nvPr/>
        </p:nvSpPr>
        <p:spPr>
          <a:xfrm>
            <a:off x="548640" y="4023360"/>
            <a:ext cx="5440680" cy="1965960"/>
          </a:xfrm>
          <a:prstGeom prst="roundRect">
            <a:avLst>
              <a:gd name="adj" fmla="val 5581"/>
            </a:avLst>
          </a:prstGeom>
          <a:solidFill>
            <a:srgbClr val="EEF2F8"/>
          </a:solidFill>
          <a:ln w="9525">
            <a:solidFill>
              <a:srgbClr val="EEF2F8"/>
            </a:solidFill>
            <a:prstDash val="solid"/>
          </a:ln>
        </p:spPr>
      </p:sp>
      <p:sp>
        <p:nvSpPr>
          <p:cNvPr id="11" name="anim:2:364"/>
          <p:cNvSpPr txBox="1"/>
          <p:nvPr/>
        </p:nvSpPr>
        <p:spPr>
          <a:xfrm>
            <a:off x="822960" y="4187952"/>
            <a:ext cx="4846320" cy="365760"/>
          </a:xfrm>
          <a:prstGeom prst="rect">
            <a:avLst/>
          </a:prstGeom>
          <a:noFill/>
          <a:ln/>
        </p:spPr>
        <p:txBody>
          <a:bodyPr wrap="square" lIns="0" tIns="0" rIns="0" bIns="0" rtlCol="0" anchor="t"/>
          <a:lstStyle/>
          <a:p>
            <a:pPr algn="l" indent="0" marL="0">
              <a:buNone/>
            </a:pPr>
            <a:r>
              <a:rPr lang="en-US" sz="1700" b="1" dirty="0">
                <a:solidFill>
                  <a:srgbClr val="1B2A4A"/>
                </a:solidFill>
                <a:latin typeface="Calibri" pitchFamily="34" charset="0"/>
                <a:ea typeface="Calibri" pitchFamily="34" charset="-122"/>
                <a:cs typeface="Calibri" pitchFamily="34" charset="-120"/>
              </a:rPr>
              <a:t>Por distrito, longe da média</a:t>
            </a:r>
            <a:endParaRPr lang="en-US" sz="1700" dirty="0"/>
          </a:p>
        </p:txBody>
      </p:sp>
      <p:sp>
        <p:nvSpPr>
          <p:cNvPr id="12" name="anim:2:365"/>
          <p:cNvSpPr txBox="1"/>
          <p:nvPr/>
        </p:nvSpPr>
        <p:spPr>
          <a:xfrm>
            <a:off x="822960" y="4617720"/>
            <a:ext cx="4937760" cy="1280160"/>
          </a:xfrm>
          <a:prstGeom prst="rect">
            <a:avLst/>
          </a:prstGeom>
          <a:noFill/>
          <a:ln/>
        </p:spPr>
        <p:txBody>
          <a:bodyPr wrap="square" lIns="0" tIns="0" rIns="0" bIns="0" rtlCol="0" anchor="t"/>
          <a:lstStyle/>
          <a:p>
            <a:pPr algn="l" indent="0" marL="0">
              <a:buNone/>
            </a:pPr>
            <a:r>
              <a:rPr lang="en-US" sz="1400" dirty="0">
                <a:solidFill>
                  <a:srgbClr val="1F2937"/>
                </a:solidFill>
                <a:latin typeface="Calibri" pitchFamily="34" charset="0"/>
                <a:ea typeface="Calibri" pitchFamily="34" charset="-122"/>
                <a:cs typeface="Calibri" pitchFamily="34" charset="-120"/>
              </a:rPr>
              <a:t>25 distritos com menos de 50 matrículas por 100 crianças; outros 25 com mais de 100. A matrícula conta onde a escola fica; a população, onde a criança mora.</a:t>
            </a:r>
            <a:endParaRPr lang="en-US" sz="1400" dirty="0"/>
          </a:p>
        </p:txBody>
      </p:sp>
      <p:graphicFrame>
        <p:nvGraphicFramePr>
          <p:cNvPr id="13" name="Chart 0" descr=""/>
          <p:cNvGraphicFramePr/>
          <p:nvPr/>
        </p:nvGraphicFramePr>
        <p:xfrm>
          <a:off x="6263640" y="1417320"/>
          <a:ext cx="5440680" cy="4617720"/>
        </p:xfrm>
        <a:graphic xmlns:a="http://schemas.openxmlformats.org/drawingml/2006/main">
          <a:graphicData uri="http://schemas.openxmlformats.org/drawingml/2006/chart">
            <c:chart xmlns:c="http://schemas.openxmlformats.org/drawingml/2006/chart" r:id="rId1"/>
          </a:graphicData>
        </a:graphic>
      </p:graphicFrame>
      <p:sp>
        <p:nvSpPr>
          <p:cNvPr id="14" name="Text 10"/>
          <p:cNvSpPr txBox="1"/>
          <p:nvPr/>
        </p:nvSpPr>
        <p:spPr>
          <a:xfrm>
            <a:off x="548640" y="6089904"/>
            <a:ext cx="10241280" cy="256032"/>
          </a:xfrm>
          <a:prstGeom prst="rect">
            <a:avLst/>
          </a:prstGeom>
          <a:noFill/>
          <a:ln/>
        </p:spPr>
        <p:txBody>
          <a:bodyPr wrap="square" lIns="0" tIns="0" rIns="0" bIns="0" rtlCol="0" anchor="t"/>
          <a:lstStyle/>
          <a:p>
            <a:pPr algn="l" indent="0" marL="0">
              <a:buNone/>
            </a:pPr>
            <a:r>
              <a:rPr lang="en-US" sz="1000" i="1" dirty="0">
                <a:solidFill>
                  <a:srgbClr val="566175"/>
                </a:solidFill>
                <a:latin typeface="Calibri" pitchFamily="34" charset="0"/>
                <a:ea typeface="Calibri" pitchFamily="34" charset="-122"/>
                <a:cs typeface="Calibri" pitchFamily="34" charset="-120"/>
              </a:rPr>
              <a:t>Fonte: Censo 2022 (IBGE) e Microdados de Matrículas (SME-SP); consultas 7 e 8.</a:t>
            </a:r>
            <a:endParaRPr lang="en-US" sz="10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24</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childTnLst>
                          </p:cTn>
                        </p:par>
                        <p:par>
                          <p:cTn id="12" fill="hold">
                            <p:stCondLst>
                              <p:cond delay="0"/>
                            </p:stCondLst>
                            <p:childTnLst>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childTnLst>
                          </p:cTn>
                        </p:par>
                        <p:par>
                          <p:cTn id="16" fill="hold">
                            <p:stCondLst>
                              <p:cond delay="0"/>
                            </p:stCondLst>
                            <p:childTnLst>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00"/>
                                        <p:tgtEl>
                                          <p:spTgt spid="8"/>
                                        </p:tgtEl>
                                      </p:cBhvr>
                                    </p:animEffect>
                                  </p:childTnLst>
                                </p:cTn>
                              </p:par>
                            </p:childTnLst>
                          </p:cTn>
                        </p:par>
                        <p:par>
                          <p:cTn id="20" fill="hold">
                            <p:stCondLst>
                              <p:cond delay="0"/>
                            </p:stCondLst>
                            <p:childTnLst>
                              <p:par>
                                <p:cTn id="21" presetID="10" presetClass="entr" presetSubtype="0"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400"/>
                                        <p:tgtEl>
                                          <p:spTgt spid="9"/>
                                        </p:tgtEl>
                                      </p:cBhvr>
                                    </p:animEffect>
                                  </p:childTnLst>
                                </p:cTn>
                              </p:par>
                            </p:childTnLst>
                          </p:cTn>
                        </p:par>
                        <p:par>
                          <p:cTn id="24" fill="hold">
                            <p:stCondLst>
                              <p:cond delay="250"/>
                            </p:stCondLst>
                            <p:childTnLst>
                              <p:par>
                                <p:cTn id="25" presetID="10"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400"/>
                                        <p:tgtEl>
                                          <p:spTgt spid="10"/>
                                        </p:tgtEl>
                                      </p:cBhvr>
                                    </p:animEffect>
                                  </p:childTnLst>
                                </p:cTn>
                              </p:par>
                            </p:childTnLst>
                          </p:cTn>
                        </p:par>
                        <p:par>
                          <p:cTn id="28" fill="hold">
                            <p:stCondLst>
                              <p:cond delay="250"/>
                            </p:stCondLst>
                            <p:childTnLst>
                              <p:par>
                                <p:cTn id="29" presetID="10" presetClass="entr" presetSubtype="0"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00"/>
                                        <p:tgtEl>
                                          <p:spTgt spid="11"/>
                                        </p:tgtEl>
                                      </p:cBhvr>
                                    </p:animEffect>
                                  </p:childTnLst>
                                </p:cTn>
                              </p:par>
                            </p:childTnLst>
                          </p:cTn>
                        </p:par>
                        <p:par>
                          <p:cTn id="32" fill="hold">
                            <p:stCondLst>
                              <p:cond delay="250"/>
                            </p:stCondLst>
                            <p:childTnLst>
                              <p:par>
                                <p:cTn id="33" presetID="10" presetClass="entr" presetSubtype="0" fill="hold" grpId="0" nodeType="with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4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4 · PASSO 3: AS RESPOSTAS · LUÍS</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Decisões de projeto em destaque</a:t>
            </a:r>
            <a:endParaRPr lang="en-US" sz="3200" dirty="0"/>
          </a:p>
        </p:txBody>
      </p:sp>
      <p:sp>
        <p:nvSpPr>
          <p:cNvPr id="5" name="anim:1:366"/>
          <p:cNvSpPr/>
          <p:nvPr/>
        </p:nvSpPr>
        <p:spPr>
          <a:xfrm>
            <a:off x="548640" y="1508760"/>
            <a:ext cx="5440680" cy="1353312"/>
          </a:xfrm>
          <a:prstGeom prst="roundRect">
            <a:avLst>
              <a:gd name="adj" fmla="val 8108"/>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6" name="anim:1:367"/>
          <p:cNvSpPr/>
          <p:nvPr/>
        </p:nvSpPr>
        <p:spPr>
          <a:xfrm>
            <a:off x="822960" y="1911096"/>
            <a:ext cx="548640" cy="548640"/>
          </a:xfrm>
          <a:prstGeom prst="ellipse">
            <a:avLst/>
          </a:prstGeom>
          <a:solidFill>
            <a:srgbClr val="F2A541"/>
          </a:solidFill>
          <a:ln w="12700">
            <a:solidFill>
              <a:srgbClr val="F2A541"/>
            </a:solidFill>
            <a:prstDash val="solid"/>
          </a:ln>
        </p:spPr>
      </p:sp>
      <p:sp>
        <p:nvSpPr>
          <p:cNvPr id="7" name="anim:1:368"/>
          <p:cNvSpPr txBox="1"/>
          <p:nvPr/>
        </p:nvSpPr>
        <p:spPr>
          <a:xfrm>
            <a:off x="822960" y="1911096"/>
            <a:ext cx="548640" cy="548640"/>
          </a:xfrm>
          <a:prstGeom prst="rect">
            <a:avLst/>
          </a:prstGeom>
          <a:noFill/>
          <a:ln/>
        </p:spPr>
        <p:txBody>
          <a:bodyPr wrap="square" lIns="0" tIns="0" rIns="0" bIns="0" rtlCol="0" anchor="ctr"/>
          <a:lstStyle/>
          <a:p>
            <a:pPr algn="ctr" indent="0" marL="0">
              <a:buNone/>
            </a:pPr>
            <a:r>
              <a:rPr lang="en-US" sz="1500" b="1" dirty="0">
                <a:solidFill>
                  <a:srgbClr val="1B2A4A"/>
                </a:solidFill>
                <a:latin typeface="Calibri" pitchFamily="34" charset="0"/>
                <a:ea typeface="Calibri" pitchFamily="34" charset="-122"/>
                <a:cs typeface="Calibri" pitchFamily="34" charset="-120"/>
              </a:rPr>
              <a:t>1</a:t>
            </a:r>
            <a:endParaRPr lang="en-US" sz="1500" dirty="0"/>
          </a:p>
        </p:txBody>
      </p:sp>
      <p:sp>
        <p:nvSpPr>
          <p:cNvPr id="8" name="anim:1:369"/>
          <p:cNvSpPr txBox="1"/>
          <p:nvPr/>
        </p:nvSpPr>
        <p:spPr>
          <a:xfrm>
            <a:off x="1600200" y="1691640"/>
            <a:ext cx="4206240" cy="384048"/>
          </a:xfrm>
          <a:prstGeom prst="rect">
            <a:avLst/>
          </a:prstGeom>
          <a:noFill/>
          <a:ln/>
        </p:spPr>
        <p:txBody>
          <a:bodyPr wrap="square" lIns="0" tIns="0" rIns="0" bIns="0" rtlCol="0" anchor="t"/>
          <a:lstStyle/>
          <a:p>
            <a:pPr algn="l" indent="0" marL="0">
              <a:buNone/>
            </a:pPr>
            <a:r>
              <a:rPr lang="en-US" sz="1700" b="1" dirty="0">
                <a:solidFill>
                  <a:srgbClr val="1B2A4A"/>
                </a:solidFill>
                <a:latin typeface="Calibri" pitchFamily="34" charset="0"/>
                <a:ea typeface="Calibri" pitchFamily="34" charset="-122"/>
                <a:cs typeface="Calibri" pitchFamily="34" charset="-120"/>
              </a:rPr>
              <a:t>Grão mais fino na matrícula</a:t>
            </a:r>
            <a:endParaRPr lang="en-US" sz="1700" dirty="0"/>
          </a:p>
        </p:txBody>
      </p:sp>
      <p:sp>
        <p:nvSpPr>
          <p:cNvPr id="9" name="anim:1:370"/>
          <p:cNvSpPr txBox="1"/>
          <p:nvPr/>
        </p:nvSpPr>
        <p:spPr>
          <a:xfrm>
            <a:off x="1600200" y="2112264"/>
            <a:ext cx="4206240" cy="640080"/>
          </a:xfrm>
          <a:prstGeom prst="rect">
            <a:avLst/>
          </a:prstGeom>
          <a:noFill/>
          <a:ln/>
        </p:spPr>
        <p:txBody>
          <a:bodyPr wrap="square" lIns="0" tIns="0" rIns="0" bIns="0" rtlCol="0" anchor="t"/>
          <a:lstStyle/>
          <a:p>
            <a:pPr algn="l" indent="0" marL="0">
              <a:buNone/>
            </a:pPr>
            <a:r>
              <a:rPr lang="en-US" sz="1400" dirty="0">
                <a:solidFill>
                  <a:srgbClr val="1F2937"/>
                </a:solidFill>
                <a:latin typeface="Calibri" pitchFamily="34" charset="0"/>
                <a:ea typeface="Calibri" pitchFamily="34" charset="-122"/>
                <a:cs typeface="Calibri" pitchFamily="34" charset="-120"/>
              </a:rPr>
              <a:t>vínculo aluno-turma: preserva perfil e desfecho de cada aluno</a:t>
            </a:r>
            <a:endParaRPr lang="en-US" sz="1400" dirty="0"/>
          </a:p>
        </p:txBody>
      </p:sp>
      <p:sp>
        <p:nvSpPr>
          <p:cNvPr id="10" name="anim:2:371"/>
          <p:cNvSpPr/>
          <p:nvPr/>
        </p:nvSpPr>
        <p:spPr>
          <a:xfrm>
            <a:off x="6172200" y="1508760"/>
            <a:ext cx="5440680" cy="1353312"/>
          </a:xfrm>
          <a:prstGeom prst="roundRect">
            <a:avLst>
              <a:gd name="adj" fmla="val 8108"/>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11" name="anim:2:372"/>
          <p:cNvSpPr/>
          <p:nvPr/>
        </p:nvSpPr>
        <p:spPr>
          <a:xfrm>
            <a:off x="6446520" y="1911096"/>
            <a:ext cx="548640" cy="548640"/>
          </a:xfrm>
          <a:prstGeom prst="ellipse">
            <a:avLst/>
          </a:prstGeom>
          <a:solidFill>
            <a:srgbClr val="F2A541"/>
          </a:solidFill>
          <a:ln w="12700">
            <a:solidFill>
              <a:srgbClr val="F2A541"/>
            </a:solidFill>
            <a:prstDash val="solid"/>
          </a:ln>
        </p:spPr>
      </p:sp>
      <p:sp>
        <p:nvSpPr>
          <p:cNvPr id="12" name="anim:2:373"/>
          <p:cNvSpPr txBox="1"/>
          <p:nvPr/>
        </p:nvSpPr>
        <p:spPr>
          <a:xfrm>
            <a:off x="6446520" y="1911096"/>
            <a:ext cx="548640" cy="548640"/>
          </a:xfrm>
          <a:prstGeom prst="rect">
            <a:avLst/>
          </a:prstGeom>
          <a:noFill/>
          <a:ln/>
        </p:spPr>
        <p:txBody>
          <a:bodyPr wrap="square" lIns="0" tIns="0" rIns="0" bIns="0" rtlCol="0" anchor="ctr"/>
          <a:lstStyle/>
          <a:p>
            <a:pPr algn="ctr" indent="0" marL="0">
              <a:buNone/>
            </a:pPr>
            <a:r>
              <a:rPr lang="en-US" sz="1500" b="1" dirty="0">
                <a:solidFill>
                  <a:srgbClr val="1B2A4A"/>
                </a:solidFill>
                <a:latin typeface="Calibri" pitchFamily="34" charset="0"/>
                <a:ea typeface="Calibri" pitchFamily="34" charset="-122"/>
                <a:cs typeface="Calibri" pitchFamily="34" charset="-120"/>
              </a:rPr>
              <a:t>2</a:t>
            </a:r>
            <a:endParaRPr lang="en-US" sz="1500" dirty="0"/>
          </a:p>
        </p:txBody>
      </p:sp>
      <p:sp>
        <p:nvSpPr>
          <p:cNvPr id="13" name="anim:2:374"/>
          <p:cNvSpPr txBox="1"/>
          <p:nvPr/>
        </p:nvSpPr>
        <p:spPr>
          <a:xfrm>
            <a:off x="7223760" y="1691640"/>
            <a:ext cx="4206240" cy="384048"/>
          </a:xfrm>
          <a:prstGeom prst="rect">
            <a:avLst/>
          </a:prstGeom>
          <a:noFill/>
          <a:ln/>
        </p:spPr>
        <p:txBody>
          <a:bodyPr wrap="square" lIns="0" tIns="0" rIns="0" bIns="0" rtlCol="0" anchor="t"/>
          <a:lstStyle/>
          <a:p>
            <a:pPr algn="l" indent="0" marL="0">
              <a:buNone/>
            </a:pPr>
            <a:r>
              <a:rPr lang="en-US" sz="1700" b="1" dirty="0">
                <a:solidFill>
                  <a:srgbClr val="1B2A4A"/>
                </a:solidFill>
                <a:latin typeface="Calibri" pitchFamily="34" charset="0"/>
                <a:ea typeface="Calibri" pitchFamily="34" charset="-122"/>
                <a:cs typeface="Calibri" pitchFamily="34" charset="-120"/>
              </a:rPr>
              <a:t>Rollups encolhidos</a:t>
            </a:r>
            <a:endParaRPr lang="en-US" sz="1700" dirty="0"/>
          </a:p>
        </p:txBody>
      </p:sp>
      <p:sp>
        <p:nvSpPr>
          <p:cNvPr id="14" name="anim:2:375"/>
          <p:cNvSpPr txBox="1"/>
          <p:nvPr/>
        </p:nvSpPr>
        <p:spPr>
          <a:xfrm>
            <a:off x="7223760" y="2112264"/>
            <a:ext cx="4206240" cy="640080"/>
          </a:xfrm>
          <a:prstGeom prst="rect">
            <a:avLst/>
          </a:prstGeom>
          <a:noFill/>
          <a:ln/>
        </p:spPr>
        <p:txBody>
          <a:bodyPr wrap="square" lIns="0" tIns="0" rIns="0" bIns="0" rtlCol="0" anchor="t"/>
          <a:lstStyle/>
          <a:p>
            <a:pPr algn="l" indent="0" marL="0">
              <a:buNone/>
            </a:pPr>
            <a:r>
              <a:rPr lang="en-US" sz="1400" dirty="0">
                <a:solidFill>
                  <a:srgbClr val="1F2937"/>
                </a:solidFill>
                <a:latin typeface="Calibri" pitchFamily="34" charset="0"/>
                <a:ea typeface="Calibri" pitchFamily="34" charset="-122"/>
                <a:cs typeface="Calibri" pitchFamily="34" charset="-120"/>
              </a:rPr>
              <a:t>cada fato mantém o seu grão; Etapa, Tempo, Faixa Etária e Território conformam</a:t>
            </a:r>
            <a:endParaRPr lang="en-US" sz="1400" dirty="0"/>
          </a:p>
        </p:txBody>
      </p:sp>
      <p:sp>
        <p:nvSpPr>
          <p:cNvPr id="15" name="anim:3:376"/>
          <p:cNvSpPr/>
          <p:nvPr/>
        </p:nvSpPr>
        <p:spPr>
          <a:xfrm>
            <a:off x="548640" y="3044952"/>
            <a:ext cx="5440680" cy="1353312"/>
          </a:xfrm>
          <a:prstGeom prst="roundRect">
            <a:avLst>
              <a:gd name="adj" fmla="val 8108"/>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16" name="anim:3:377"/>
          <p:cNvSpPr/>
          <p:nvPr/>
        </p:nvSpPr>
        <p:spPr>
          <a:xfrm>
            <a:off x="822960" y="3447288"/>
            <a:ext cx="548640" cy="548640"/>
          </a:xfrm>
          <a:prstGeom prst="ellipse">
            <a:avLst/>
          </a:prstGeom>
          <a:solidFill>
            <a:srgbClr val="F2A541"/>
          </a:solidFill>
          <a:ln w="12700">
            <a:solidFill>
              <a:srgbClr val="F2A541"/>
            </a:solidFill>
            <a:prstDash val="solid"/>
          </a:ln>
        </p:spPr>
      </p:sp>
      <p:sp>
        <p:nvSpPr>
          <p:cNvPr id="17" name="anim:3:378"/>
          <p:cNvSpPr txBox="1"/>
          <p:nvPr/>
        </p:nvSpPr>
        <p:spPr>
          <a:xfrm>
            <a:off x="822960" y="3447288"/>
            <a:ext cx="548640" cy="548640"/>
          </a:xfrm>
          <a:prstGeom prst="rect">
            <a:avLst/>
          </a:prstGeom>
          <a:noFill/>
          <a:ln/>
        </p:spPr>
        <p:txBody>
          <a:bodyPr wrap="square" lIns="0" tIns="0" rIns="0" bIns="0" rtlCol="0" anchor="ctr"/>
          <a:lstStyle/>
          <a:p>
            <a:pPr algn="ctr" indent="0" marL="0">
              <a:buNone/>
            </a:pPr>
            <a:r>
              <a:rPr lang="en-US" sz="1500" b="1" dirty="0">
                <a:solidFill>
                  <a:srgbClr val="1B2A4A"/>
                </a:solidFill>
                <a:latin typeface="Calibri" pitchFamily="34" charset="0"/>
                <a:ea typeface="Calibri" pitchFamily="34" charset="-122"/>
                <a:cs typeface="Calibri" pitchFamily="34" charset="-120"/>
              </a:rPr>
              <a:t>3</a:t>
            </a:r>
            <a:endParaRPr lang="en-US" sz="1500" dirty="0"/>
          </a:p>
        </p:txBody>
      </p:sp>
      <p:sp>
        <p:nvSpPr>
          <p:cNvPr id="18" name="anim:3:379"/>
          <p:cNvSpPr txBox="1"/>
          <p:nvPr/>
        </p:nvSpPr>
        <p:spPr>
          <a:xfrm>
            <a:off x="1600200" y="3227832"/>
            <a:ext cx="4206240" cy="384048"/>
          </a:xfrm>
          <a:prstGeom prst="rect">
            <a:avLst/>
          </a:prstGeom>
          <a:noFill/>
          <a:ln/>
        </p:spPr>
        <p:txBody>
          <a:bodyPr wrap="square" lIns="0" tIns="0" rIns="0" bIns="0" rtlCol="0" anchor="t"/>
          <a:lstStyle/>
          <a:p>
            <a:pPr algn="l" indent="0" marL="0">
              <a:buNone/>
            </a:pPr>
            <a:r>
              <a:rPr lang="en-US" sz="1700" b="1" dirty="0">
                <a:solidFill>
                  <a:srgbClr val="1B2A4A"/>
                </a:solidFill>
                <a:latin typeface="Calibri" pitchFamily="34" charset="0"/>
                <a:ea typeface="Calibri" pitchFamily="34" charset="-122"/>
                <a:cs typeface="Calibri" pitchFamily="34" charset="-120"/>
              </a:rPr>
              <a:t>Nulo não é zero</a:t>
            </a:r>
            <a:endParaRPr lang="en-US" sz="1700" dirty="0"/>
          </a:p>
        </p:txBody>
      </p:sp>
      <p:sp>
        <p:nvSpPr>
          <p:cNvPr id="19" name="anim:3:380"/>
          <p:cNvSpPr txBox="1"/>
          <p:nvPr/>
        </p:nvSpPr>
        <p:spPr>
          <a:xfrm>
            <a:off x="1600200" y="3648456"/>
            <a:ext cx="4206240" cy="640080"/>
          </a:xfrm>
          <a:prstGeom prst="rect">
            <a:avLst/>
          </a:prstGeom>
          <a:noFill/>
          <a:ln/>
        </p:spPr>
        <p:txBody>
          <a:bodyPr wrap="square" lIns="0" tIns="0" rIns="0" bIns="0" rtlCol="0" anchor="t"/>
          <a:lstStyle/>
          <a:p>
            <a:pPr algn="l" indent="0" marL="0">
              <a:buNone/>
            </a:pPr>
            <a:r>
              <a:rPr lang="en-US" sz="1400" dirty="0">
                <a:solidFill>
                  <a:srgbClr val="1F2937"/>
                </a:solidFill>
                <a:latin typeface="Calibri" pitchFamily="34" charset="0"/>
                <a:ea typeface="Calibri" pitchFamily="34" charset="-122"/>
                <a:cs typeface="Calibri" pitchFamily="34" charset="-120"/>
              </a:rPr>
              <a:t>medida não publicada fica nula; zero faria a fila sumir</a:t>
            </a:r>
            <a:endParaRPr lang="en-US" sz="1400" dirty="0"/>
          </a:p>
        </p:txBody>
      </p:sp>
      <p:sp>
        <p:nvSpPr>
          <p:cNvPr id="20" name="anim:4:381"/>
          <p:cNvSpPr/>
          <p:nvPr/>
        </p:nvSpPr>
        <p:spPr>
          <a:xfrm>
            <a:off x="6172200" y="3044952"/>
            <a:ext cx="5440680" cy="1353312"/>
          </a:xfrm>
          <a:prstGeom prst="roundRect">
            <a:avLst>
              <a:gd name="adj" fmla="val 8108"/>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21" name="anim:4:382"/>
          <p:cNvSpPr/>
          <p:nvPr/>
        </p:nvSpPr>
        <p:spPr>
          <a:xfrm>
            <a:off x="6446520" y="3447288"/>
            <a:ext cx="548640" cy="548640"/>
          </a:xfrm>
          <a:prstGeom prst="ellipse">
            <a:avLst/>
          </a:prstGeom>
          <a:solidFill>
            <a:srgbClr val="F2A541"/>
          </a:solidFill>
          <a:ln w="12700">
            <a:solidFill>
              <a:srgbClr val="F2A541"/>
            </a:solidFill>
            <a:prstDash val="solid"/>
          </a:ln>
        </p:spPr>
      </p:sp>
      <p:sp>
        <p:nvSpPr>
          <p:cNvPr id="22" name="anim:4:383"/>
          <p:cNvSpPr txBox="1"/>
          <p:nvPr/>
        </p:nvSpPr>
        <p:spPr>
          <a:xfrm>
            <a:off x="6446520" y="3447288"/>
            <a:ext cx="548640" cy="548640"/>
          </a:xfrm>
          <a:prstGeom prst="rect">
            <a:avLst/>
          </a:prstGeom>
          <a:noFill/>
          <a:ln/>
        </p:spPr>
        <p:txBody>
          <a:bodyPr wrap="square" lIns="0" tIns="0" rIns="0" bIns="0" rtlCol="0" anchor="ctr"/>
          <a:lstStyle/>
          <a:p>
            <a:pPr algn="ctr" indent="0" marL="0">
              <a:buNone/>
            </a:pPr>
            <a:r>
              <a:rPr lang="en-US" sz="1500" b="1" dirty="0">
                <a:solidFill>
                  <a:srgbClr val="1B2A4A"/>
                </a:solidFill>
                <a:latin typeface="Calibri" pitchFamily="34" charset="0"/>
                <a:ea typeface="Calibri" pitchFamily="34" charset="-122"/>
                <a:cs typeface="Calibri" pitchFamily="34" charset="-120"/>
              </a:rPr>
              <a:t>4</a:t>
            </a:r>
            <a:endParaRPr lang="en-US" sz="1500" dirty="0"/>
          </a:p>
        </p:txBody>
      </p:sp>
      <p:sp>
        <p:nvSpPr>
          <p:cNvPr id="23" name="anim:4:384"/>
          <p:cNvSpPr txBox="1"/>
          <p:nvPr/>
        </p:nvSpPr>
        <p:spPr>
          <a:xfrm>
            <a:off x="7223760" y="3227832"/>
            <a:ext cx="4206240" cy="384048"/>
          </a:xfrm>
          <a:prstGeom prst="rect">
            <a:avLst/>
          </a:prstGeom>
          <a:noFill/>
          <a:ln/>
        </p:spPr>
        <p:txBody>
          <a:bodyPr wrap="square" lIns="0" tIns="0" rIns="0" bIns="0" rtlCol="0" anchor="t"/>
          <a:lstStyle/>
          <a:p>
            <a:pPr algn="l" indent="0" marL="0">
              <a:buNone/>
            </a:pPr>
            <a:r>
              <a:rPr lang="en-US" sz="1700" b="1" dirty="0">
                <a:solidFill>
                  <a:srgbClr val="1B2A4A"/>
                </a:solidFill>
                <a:latin typeface="Calibri" pitchFamily="34" charset="0"/>
                <a:ea typeface="Calibri" pitchFamily="34" charset="-122"/>
                <a:cs typeface="Calibri" pitchFamily="34" charset="-120"/>
              </a:rPr>
              <a:t>Escola tipo 2</a:t>
            </a:r>
            <a:endParaRPr lang="en-US" sz="1700" dirty="0"/>
          </a:p>
        </p:txBody>
      </p:sp>
      <p:sp>
        <p:nvSpPr>
          <p:cNvPr id="24" name="anim:4:385"/>
          <p:cNvSpPr txBox="1"/>
          <p:nvPr/>
        </p:nvSpPr>
        <p:spPr>
          <a:xfrm>
            <a:off x="7223760" y="3648456"/>
            <a:ext cx="4206240" cy="640080"/>
          </a:xfrm>
          <a:prstGeom prst="rect">
            <a:avLst/>
          </a:prstGeom>
          <a:noFill/>
          <a:ln/>
        </p:spPr>
        <p:txBody>
          <a:bodyPr wrap="square" lIns="0" tIns="0" rIns="0" bIns="0" rtlCol="0" anchor="t"/>
          <a:lstStyle/>
          <a:p>
            <a:pPr algn="l" indent="0" marL="0">
              <a:buNone/>
            </a:pPr>
            <a:r>
              <a:rPr lang="en-US" sz="1400" dirty="0">
                <a:solidFill>
                  <a:srgbClr val="1F2937"/>
                </a:solidFill>
                <a:latin typeface="Calibri" pitchFamily="34" charset="0"/>
                <a:ea typeface="Calibri" pitchFamily="34" charset="-122"/>
                <a:cs typeface="Calibri" pitchFamily="34" charset="-120"/>
              </a:rPr>
              <a:t>402 escolas mudam de nome, tipo, distrito ou DRE na série</a:t>
            </a:r>
            <a:endParaRPr lang="en-US" sz="1400" dirty="0"/>
          </a:p>
        </p:txBody>
      </p:sp>
      <p:sp>
        <p:nvSpPr>
          <p:cNvPr id="25" name="anim:5:386"/>
          <p:cNvSpPr/>
          <p:nvPr/>
        </p:nvSpPr>
        <p:spPr>
          <a:xfrm>
            <a:off x="548640" y="4581144"/>
            <a:ext cx="5440680" cy="1353312"/>
          </a:xfrm>
          <a:prstGeom prst="roundRect">
            <a:avLst>
              <a:gd name="adj" fmla="val 8108"/>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26" name="anim:5:387"/>
          <p:cNvSpPr/>
          <p:nvPr/>
        </p:nvSpPr>
        <p:spPr>
          <a:xfrm>
            <a:off x="822960" y="4983480"/>
            <a:ext cx="548640" cy="548640"/>
          </a:xfrm>
          <a:prstGeom prst="ellipse">
            <a:avLst/>
          </a:prstGeom>
          <a:solidFill>
            <a:srgbClr val="F2A541"/>
          </a:solidFill>
          <a:ln w="12700">
            <a:solidFill>
              <a:srgbClr val="F2A541"/>
            </a:solidFill>
            <a:prstDash val="solid"/>
          </a:ln>
        </p:spPr>
      </p:sp>
      <p:sp>
        <p:nvSpPr>
          <p:cNvPr id="27" name="anim:5:388"/>
          <p:cNvSpPr txBox="1"/>
          <p:nvPr/>
        </p:nvSpPr>
        <p:spPr>
          <a:xfrm>
            <a:off x="822960" y="4983480"/>
            <a:ext cx="548640" cy="548640"/>
          </a:xfrm>
          <a:prstGeom prst="rect">
            <a:avLst/>
          </a:prstGeom>
          <a:noFill/>
          <a:ln/>
        </p:spPr>
        <p:txBody>
          <a:bodyPr wrap="square" lIns="0" tIns="0" rIns="0" bIns="0" rtlCol="0" anchor="ctr"/>
          <a:lstStyle/>
          <a:p>
            <a:pPr algn="ctr" indent="0" marL="0">
              <a:buNone/>
            </a:pPr>
            <a:r>
              <a:rPr lang="en-US" sz="1500" b="1" dirty="0">
                <a:solidFill>
                  <a:srgbClr val="1B2A4A"/>
                </a:solidFill>
                <a:latin typeface="Calibri" pitchFamily="34" charset="0"/>
                <a:ea typeface="Calibri" pitchFamily="34" charset="-122"/>
                <a:cs typeface="Calibri" pitchFamily="34" charset="-120"/>
              </a:rPr>
              <a:t>5</a:t>
            </a:r>
            <a:endParaRPr lang="en-US" sz="1500" dirty="0"/>
          </a:p>
        </p:txBody>
      </p:sp>
      <p:sp>
        <p:nvSpPr>
          <p:cNvPr id="28" name="anim:5:389"/>
          <p:cNvSpPr txBox="1"/>
          <p:nvPr/>
        </p:nvSpPr>
        <p:spPr>
          <a:xfrm>
            <a:off x="1600200" y="4764024"/>
            <a:ext cx="4206240" cy="384048"/>
          </a:xfrm>
          <a:prstGeom prst="rect">
            <a:avLst/>
          </a:prstGeom>
          <a:noFill/>
          <a:ln/>
        </p:spPr>
        <p:txBody>
          <a:bodyPr wrap="square" lIns="0" tIns="0" rIns="0" bIns="0" rtlCol="0" anchor="t"/>
          <a:lstStyle/>
          <a:p>
            <a:pPr algn="l" indent="0" marL="0">
              <a:buNone/>
            </a:pPr>
            <a:r>
              <a:rPr lang="en-US" sz="1700" b="1" dirty="0">
                <a:solidFill>
                  <a:srgbClr val="1B2A4A"/>
                </a:solidFill>
                <a:latin typeface="Calibri" pitchFamily="34" charset="0"/>
                <a:ea typeface="Calibri" pitchFamily="34" charset="-122"/>
                <a:cs typeface="Calibri" pitchFamily="34" charset="-120"/>
              </a:rPr>
              <a:t>Capacidade não inventada</a:t>
            </a:r>
            <a:endParaRPr lang="en-US" sz="1700" dirty="0"/>
          </a:p>
        </p:txBody>
      </p:sp>
      <p:sp>
        <p:nvSpPr>
          <p:cNvPr id="29" name="anim:5:390"/>
          <p:cNvSpPr txBox="1"/>
          <p:nvPr/>
        </p:nvSpPr>
        <p:spPr>
          <a:xfrm>
            <a:off x="1600200" y="5184648"/>
            <a:ext cx="4206240" cy="640080"/>
          </a:xfrm>
          <a:prstGeom prst="rect">
            <a:avLst/>
          </a:prstGeom>
          <a:noFill/>
          <a:ln/>
        </p:spPr>
        <p:txBody>
          <a:bodyPr wrap="square" lIns="0" tIns="0" rIns="0" bIns="0" rtlCol="0" anchor="t"/>
          <a:lstStyle/>
          <a:p>
            <a:pPr algn="l" indent="0" marL="0">
              <a:buNone/>
            </a:pPr>
            <a:r>
              <a:rPr lang="en-US" sz="1400" dirty="0">
                <a:solidFill>
                  <a:srgbClr val="1F2937"/>
                </a:solidFill>
                <a:latin typeface="Calibri" pitchFamily="34" charset="0"/>
                <a:ea typeface="Calibri" pitchFamily="34" charset="-122"/>
                <a:cs typeface="Calibri" pitchFamily="34" charset="-120"/>
              </a:rPr>
              <a:t>ocupação medida pelos alunos ativos; nenhuma vaga estimada</a:t>
            </a:r>
            <a:endParaRPr lang="en-US" sz="1400" dirty="0"/>
          </a:p>
        </p:txBody>
      </p:sp>
      <p:sp>
        <p:nvSpPr>
          <p:cNvPr id="30" name="anim:6:391"/>
          <p:cNvSpPr/>
          <p:nvPr/>
        </p:nvSpPr>
        <p:spPr>
          <a:xfrm>
            <a:off x="6172200" y="4581144"/>
            <a:ext cx="5440680" cy="1353312"/>
          </a:xfrm>
          <a:prstGeom prst="roundRect">
            <a:avLst>
              <a:gd name="adj" fmla="val 8108"/>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31" name="anim:6:392"/>
          <p:cNvSpPr/>
          <p:nvPr/>
        </p:nvSpPr>
        <p:spPr>
          <a:xfrm>
            <a:off x="6446520" y="4983480"/>
            <a:ext cx="548640" cy="548640"/>
          </a:xfrm>
          <a:prstGeom prst="ellipse">
            <a:avLst/>
          </a:prstGeom>
          <a:solidFill>
            <a:srgbClr val="F2A541"/>
          </a:solidFill>
          <a:ln w="12700">
            <a:solidFill>
              <a:srgbClr val="F2A541"/>
            </a:solidFill>
            <a:prstDash val="solid"/>
          </a:ln>
        </p:spPr>
      </p:sp>
      <p:sp>
        <p:nvSpPr>
          <p:cNvPr id="32" name="anim:6:393"/>
          <p:cNvSpPr txBox="1"/>
          <p:nvPr/>
        </p:nvSpPr>
        <p:spPr>
          <a:xfrm>
            <a:off x="6446520" y="4983480"/>
            <a:ext cx="548640" cy="548640"/>
          </a:xfrm>
          <a:prstGeom prst="rect">
            <a:avLst/>
          </a:prstGeom>
          <a:noFill/>
          <a:ln/>
        </p:spPr>
        <p:txBody>
          <a:bodyPr wrap="square" lIns="0" tIns="0" rIns="0" bIns="0" rtlCol="0" anchor="ctr"/>
          <a:lstStyle/>
          <a:p>
            <a:pPr algn="ctr" indent="0" marL="0">
              <a:buNone/>
            </a:pPr>
            <a:r>
              <a:rPr lang="en-US" sz="1500" b="1" dirty="0">
                <a:solidFill>
                  <a:srgbClr val="1B2A4A"/>
                </a:solidFill>
                <a:latin typeface="Calibri" pitchFamily="34" charset="0"/>
                <a:ea typeface="Calibri" pitchFamily="34" charset="-122"/>
                <a:cs typeface="Calibri" pitchFamily="34" charset="-120"/>
              </a:rPr>
              <a:t>6</a:t>
            </a:r>
            <a:endParaRPr lang="en-US" sz="1500" dirty="0"/>
          </a:p>
        </p:txBody>
      </p:sp>
      <p:sp>
        <p:nvSpPr>
          <p:cNvPr id="33" name="anim:6:394"/>
          <p:cNvSpPr txBox="1"/>
          <p:nvPr/>
        </p:nvSpPr>
        <p:spPr>
          <a:xfrm>
            <a:off x="7223760" y="4764024"/>
            <a:ext cx="4206240" cy="384048"/>
          </a:xfrm>
          <a:prstGeom prst="rect">
            <a:avLst/>
          </a:prstGeom>
          <a:noFill/>
          <a:ln/>
        </p:spPr>
        <p:txBody>
          <a:bodyPr wrap="square" lIns="0" tIns="0" rIns="0" bIns="0" rtlCol="0" anchor="t"/>
          <a:lstStyle/>
          <a:p>
            <a:pPr algn="l" indent="0" marL="0">
              <a:buNone/>
            </a:pPr>
            <a:r>
              <a:rPr lang="en-US" sz="1700" b="1" dirty="0">
                <a:solidFill>
                  <a:srgbClr val="1B2A4A"/>
                </a:solidFill>
                <a:latin typeface="Calibri" pitchFamily="34" charset="0"/>
                <a:ea typeface="Calibri" pitchFamily="34" charset="-122"/>
                <a:cs typeface="Calibri" pitchFamily="34" charset="-120"/>
              </a:rPr>
              <a:t>Datas de referência</a:t>
            </a:r>
            <a:endParaRPr lang="en-US" sz="1700" dirty="0"/>
          </a:p>
        </p:txBody>
      </p:sp>
      <p:sp>
        <p:nvSpPr>
          <p:cNvPr id="34" name="anim:6:395"/>
          <p:cNvSpPr txBox="1"/>
          <p:nvPr/>
        </p:nvSpPr>
        <p:spPr>
          <a:xfrm>
            <a:off x="7223760" y="5184648"/>
            <a:ext cx="4206240" cy="640080"/>
          </a:xfrm>
          <a:prstGeom prst="rect">
            <a:avLst/>
          </a:prstGeom>
          <a:noFill/>
          <a:ln/>
        </p:spPr>
        <p:txBody>
          <a:bodyPr wrap="square" lIns="0" tIns="0" rIns="0" bIns="0" rtlCol="0" anchor="t"/>
          <a:lstStyle/>
          <a:p>
            <a:pPr algn="l" indent="0" marL="0">
              <a:buNone/>
            </a:pPr>
            <a:r>
              <a:rPr lang="en-US" sz="1400" dirty="0">
                <a:solidFill>
                  <a:srgbClr val="1F2937"/>
                </a:solidFill>
                <a:latin typeface="Calibri" pitchFamily="34" charset="0"/>
                <a:ea typeface="Calibri" pitchFamily="34" charset="-122"/>
                <a:cs typeface="Calibri" pitchFamily="34" charset="-120"/>
              </a:rPr>
              <a:t>junho para fila × matrícula; 31/07/2022 para população × matrícula</a:t>
            </a:r>
            <a:endParaRPr lang="en-US" sz="14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25</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childTnLst>
                          </p:cTn>
                        </p:par>
                        <p:par>
                          <p:cTn id="12" fill="hold">
                            <p:stCondLst>
                              <p:cond delay="0"/>
                            </p:stCondLst>
                            <p:childTnLst>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childTnLst>
                          </p:cTn>
                        </p:par>
                        <p:par>
                          <p:cTn id="16" fill="hold">
                            <p:stCondLst>
                              <p:cond delay="0"/>
                            </p:stCondLst>
                            <p:childTnLst>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00"/>
                                        <p:tgtEl>
                                          <p:spTgt spid="8"/>
                                        </p:tgtEl>
                                      </p:cBhvr>
                                    </p:animEffect>
                                  </p:childTnLst>
                                </p:cTn>
                              </p:par>
                            </p:childTnLst>
                          </p:cTn>
                        </p:par>
                        <p:par>
                          <p:cTn id="20" fill="hold">
                            <p:stCondLst>
                              <p:cond delay="0"/>
                            </p:stCondLst>
                            <p:childTnLst>
                              <p:par>
                                <p:cTn id="21" presetID="10" presetClass="entr" presetSubtype="0"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400"/>
                                        <p:tgtEl>
                                          <p:spTgt spid="9"/>
                                        </p:tgtEl>
                                      </p:cBhvr>
                                    </p:animEffect>
                                  </p:childTnLst>
                                </p:cTn>
                              </p:par>
                            </p:childTnLst>
                          </p:cTn>
                        </p:par>
                        <p:par>
                          <p:cTn id="24" fill="hold">
                            <p:stCondLst>
                              <p:cond delay="250"/>
                            </p:stCondLst>
                            <p:childTnLst>
                              <p:par>
                                <p:cTn id="25" presetID="10"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400"/>
                                        <p:tgtEl>
                                          <p:spTgt spid="10"/>
                                        </p:tgtEl>
                                      </p:cBhvr>
                                    </p:animEffect>
                                  </p:childTnLst>
                                </p:cTn>
                              </p:par>
                            </p:childTnLst>
                          </p:cTn>
                        </p:par>
                        <p:par>
                          <p:cTn id="28" fill="hold">
                            <p:stCondLst>
                              <p:cond delay="250"/>
                            </p:stCondLst>
                            <p:childTnLst>
                              <p:par>
                                <p:cTn id="29" presetID="10" presetClass="entr" presetSubtype="0"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00"/>
                                        <p:tgtEl>
                                          <p:spTgt spid="11"/>
                                        </p:tgtEl>
                                      </p:cBhvr>
                                    </p:animEffect>
                                  </p:childTnLst>
                                </p:cTn>
                              </p:par>
                            </p:childTnLst>
                          </p:cTn>
                        </p:par>
                        <p:par>
                          <p:cTn id="32" fill="hold">
                            <p:stCondLst>
                              <p:cond delay="250"/>
                            </p:stCondLst>
                            <p:childTnLst>
                              <p:par>
                                <p:cTn id="33" presetID="10" presetClass="entr" presetSubtype="0" fill="hold" grpId="0" nodeType="with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400"/>
                                        <p:tgtEl>
                                          <p:spTgt spid="12"/>
                                        </p:tgtEl>
                                      </p:cBhvr>
                                    </p:animEffect>
                                  </p:childTnLst>
                                </p:cTn>
                              </p:par>
                            </p:childTnLst>
                          </p:cTn>
                        </p:par>
                        <p:par>
                          <p:cTn id="36" fill="hold">
                            <p:stCondLst>
                              <p:cond delay="250"/>
                            </p:stCondLst>
                            <p:childTnLst>
                              <p:par>
                                <p:cTn id="37" presetID="10" presetClass="entr" presetSubtype="0" fill="hold" grpId="0" nodeType="withEffect">
                                  <p:stCondLst>
                                    <p:cond delay="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400"/>
                                        <p:tgtEl>
                                          <p:spTgt spid="13"/>
                                        </p:tgtEl>
                                      </p:cBhvr>
                                    </p:animEffect>
                                  </p:childTnLst>
                                </p:cTn>
                              </p:par>
                            </p:childTnLst>
                          </p:cTn>
                        </p:par>
                        <p:par>
                          <p:cTn id="40" fill="hold">
                            <p:stCondLst>
                              <p:cond delay="250"/>
                            </p:stCondLst>
                            <p:childTnLst>
                              <p:par>
                                <p:cTn id="41" presetID="10" presetClass="entr" presetSubtype="0" fill="hold" grpId="0" nodeType="withEffect">
                                  <p:stCondLst>
                                    <p:cond delay="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400"/>
                                        <p:tgtEl>
                                          <p:spTgt spid="14"/>
                                        </p:tgtEl>
                                      </p:cBhvr>
                                    </p:animEffect>
                                  </p:childTnLst>
                                </p:cTn>
                              </p:par>
                            </p:childTnLst>
                          </p:cTn>
                        </p:par>
                        <p:par>
                          <p:cTn id="44" fill="hold">
                            <p:stCondLst>
                              <p:cond delay="500"/>
                            </p:stCondLst>
                            <p:childTnLst>
                              <p:par>
                                <p:cTn id="45" presetID="10" presetClass="entr" presetSubtype="0" fill="hold" grpId="0" nodeType="withEffect">
                                  <p:stCondLst>
                                    <p:cond delay="0"/>
                                  </p:stCondLst>
                                  <p:childTnLst>
                                    <p:set>
                                      <p:cBhvr>
                                        <p:cTn id="46" dur="1" fill="hold">
                                          <p:stCondLst>
                                            <p:cond delay="0"/>
                                          </p:stCondLst>
                                        </p:cTn>
                                        <p:tgtEl>
                                          <p:spTgt spid="15"/>
                                        </p:tgtEl>
                                        <p:attrNameLst>
                                          <p:attrName>style.visibility</p:attrName>
                                        </p:attrNameLst>
                                      </p:cBhvr>
                                      <p:to>
                                        <p:strVal val="visible"/>
                                      </p:to>
                                    </p:set>
                                    <p:animEffect transition="in" filter="fade">
                                      <p:cBhvr>
                                        <p:cTn id="47" dur="400"/>
                                        <p:tgtEl>
                                          <p:spTgt spid="15"/>
                                        </p:tgtEl>
                                      </p:cBhvr>
                                    </p:animEffect>
                                  </p:childTnLst>
                                </p:cTn>
                              </p:par>
                            </p:childTnLst>
                          </p:cTn>
                        </p:par>
                        <p:par>
                          <p:cTn id="48" fill="hold">
                            <p:stCondLst>
                              <p:cond delay="500"/>
                            </p:stCondLst>
                            <p:childTnLst>
                              <p:par>
                                <p:cTn id="49" presetID="10" presetClass="entr" presetSubtype="0" fill="hold" grpId="0" nodeType="withEffect">
                                  <p:stCondLst>
                                    <p:cond delay="0"/>
                                  </p:stCondLst>
                                  <p:childTnLst>
                                    <p:set>
                                      <p:cBhvr>
                                        <p:cTn id="50" dur="1" fill="hold">
                                          <p:stCondLst>
                                            <p:cond delay="0"/>
                                          </p:stCondLst>
                                        </p:cTn>
                                        <p:tgtEl>
                                          <p:spTgt spid="16"/>
                                        </p:tgtEl>
                                        <p:attrNameLst>
                                          <p:attrName>style.visibility</p:attrName>
                                        </p:attrNameLst>
                                      </p:cBhvr>
                                      <p:to>
                                        <p:strVal val="visible"/>
                                      </p:to>
                                    </p:set>
                                    <p:animEffect transition="in" filter="fade">
                                      <p:cBhvr>
                                        <p:cTn id="51" dur="400"/>
                                        <p:tgtEl>
                                          <p:spTgt spid="16"/>
                                        </p:tgtEl>
                                      </p:cBhvr>
                                    </p:animEffect>
                                  </p:childTnLst>
                                </p:cTn>
                              </p:par>
                            </p:childTnLst>
                          </p:cTn>
                        </p:par>
                        <p:par>
                          <p:cTn id="52" fill="hold">
                            <p:stCondLst>
                              <p:cond delay="500"/>
                            </p:stCondLst>
                            <p:childTnLst>
                              <p:par>
                                <p:cTn id="53" presetID="10" presetClass="entr" presetSubtype="0" fill="hold" grpId="0" nodeType="withEffect">
                                  <p:stCondLst>
                                    <p:cond delay="0"/>
                                  </p:stCondLst>
                                  <p:childTnLst>
                                    <p:set>
                                      <p:cBhvr>
                                        <p:cTn id="54" dur="1" fill="hold">
                                          <p:stCondLst>
                                            <p:cond delay="0"/>
                                          </p:stCondLst>
                                        </p:cTn>
                                        <p:tgtEl>
                                          <p:spTgt spid="17"/>
                                        </p:tgtEl>
                                        <p:attrNameLst>
                                          <p:attrName>style.visibility</p:attrName>
                                        </p:attrNameLst>
                                      </p:cBhvr>
                                      <p:to>
                                        <p:strVal val="visible"/>
                                      </p:to>
                                    </p:set>
                                    <p:animEffect transition="in" filter="fade">
                                      <p:cBhvr>
                                        <p:cTn id="55" dur="400"/>
                                        <p:tgtEl>
                                          <p:spTgt spid="17"/>
                                        </p:tgtEl>
                                      </p:cBhvr>
                                    </p:animEffect>
                                  </p:childTnLst>
                                </p:cTn>
                              </p:par>
                            </p:childTnLst>
                          </p:cTn>
                        </p:par>
                        <p:par>
                          <p:cTn id="56" fill="hold">
                            <p:stCondLst>
                              <p:cond delay="500"/>
                            </p:stCondLst>
                            <p:childTnLst>
                              <p:par>
                                <p:cTn id="57" presetID="10" presetClass="entr" presetSubtype="0" fill="hold" grpId="0" nodeType="withEffect">
                                  <p:stCondLst>
                                    <p:cond delay="0"/>
                                  </p:stCondLst>
                                  <p:childTnLst>
                                    <p:set>
                                      <p:cBhvr>
                                        <p:cTn id="58" dur="1" fill="hold">
                                          <p:stCondLst>
                                            <p:cond delay="0"/>
                                          </p:stCondLst>
                                        </p:cTn>
                                        <p:tgtEl>
                                          <p:spTgt spid="18"/>
                                        </p:tgtEl>
                                        <p:attrNameLst>
                                          <p:attrName>style.visibility</p:attrName>
                                        </p:attrNameLst>
                                      </p:cBhvr>
                                      <p:to>
                                        <p:strVal val="visible"/>
                                      </p:to>
                                    </p:set>
                                    <p:animEffect transition="in" filter="fade">
                                      <p:cBhvr>
                                        <p:cTn id="59" dur="400"/>
                                        <p:tgtEl>
                                          <p:spTgt spid="18"/>
                                        </p:tgtEl>
                                      </p:cBhvr>
                                    </p:animEffect>
                                  </p:childTnLst>
                                </p:cTn>
                              </p:par>
                            </p:childTnLst>
                          </p:cTn>
                        </p:par>
                        <p:par>
                          <p:cTn id="60" fill="hold">
                            <p:stCondLst>
                              <p:cond delay="500"/>
                            </p:stCondLst>
                            <p:childTnLst>
                              <p:par>
                                <p:cTn id="61" presetID="10" presetClass="entr" presetSubtype="0" fill="hold" grpId="0" nodeType="withEffect">
                                  <p:stCondLst>
                                    <p:cond delay="0"/>
                                  </p:stCondLst>
                                  <p:childTnLst>
                                    <p:set>
                                      <p:cBhvr>
                                        <p:cTn id="62" dur="1" fill="hold">
                                          <p:stCondLst>
                                            <p:cond delay="0"/>
                                          </p:stCondLst>
                                        </p:cTn>
                                        <p:tgtEl>
                                          <p:spTgt spid="19"/>
                                        </p:tgtEl>
                                        <p:attrNameLst>
                                          <p:attrName>style.visibility</p:attrName>
                                        </p:attrNameLst>
                                      </p:cBhvr>
                                      <p:to>
                                        <p:strVal val="visible"/>
                                      </p:to>
                                    </p:set>
                                    <p:animEffect transition="in" filter="fade">
                                      <p:cBhvr>
                                        <p:cTn id="63" dur="400"/>
                                        <p:tgtEl>
                                          <p:spTgt spid="19"/>
                                        </p:tgtEl>
                                      </p:cBhvr>
                                    </p:animEffect>
                                  </p:childTnLst>
                                </p:cTn>
                              </p:par>
                            </p:childTnLst>
                          </p:cTn>
                        </p:par>
                        <p:par>
                          <p:cTn id="64" fill="hold">
                            <p:stCondLst>
                              <p:cond delay="750"/>
                            </p:stCondLst>
                            <p:childTnLst>
                              <p:par>
                                <p:cTn id="65" presetID="10" presetClass="entr" presetSubtype="0" fill="hold" grpId="0" nodeType="withEffect">
                                  <p:stCondLst>
                                    <p:cond delay="0"/>
                                  </p:stCondLst>
                                  <p:childTnLst>
                                    <p:set>
                                      <p:cBhvr>
                                        <p:cTn id="66" dur="1" fill="hold">
                                          <p:stCondLst>
                                            <p:cond delay="0"/>
                                          </p:stCondLst>
                                        </p:cTn>
                                        <p:tgtEl>
                                          <p:spTgt spid="20"/>
                                        </p:tgtEl>
                                        <p:attrNameLst>
                                          <p:attrName>style.visibility</p:attrName>
                                        </p:attrNameLst>
                                      </p:cBhvr>
                                      <p:to>
                                        <p:strVal val="visible"/>
                                      </p:to>
                                    </p:set>
                                    <p:animEffect transition="in" filter="fade">
                                      <p:cBhvr>
                                        <p:cTn id="67" dur="400"/>
                                        <p:tgtEl>
                                          <p:spTgt spid="20"/>
                                        </p:tgtEl>
                                      </p:cBhvr>
                                    </p:animEffect>
                                  </p:childTnLst>
                                </p:cTn>
                              </p:par>
                            </p:childTnLst>
                          </p:cTn>
                        </p:par>
                        <p:par>
                          <p:cTn id="68" fill="hold">
                            <p:stCondLst>
                              <p:cond delay="750"/>
                            </p:stCondLst>
                            <p:childTnLst>
                              <p:par>
                                <p:cTn id="69" presetID="10" presetClass="entr" presetSubtype="0" fill="hold" grpId="0" nodeType="withEffect">
                                  <p:stCondLst>
                                    <p:cond delay="0"/>
                                  </p:stCondLst>
                                  <p:childTnLst>
                                    <p:set>
                                      <p:cBhvr>
                                        <p:cTn id="70" dur="1" fill="hold">
                                          <p:stCondLst>
                                            <p:cond delay="0"/>
                                          </p:stCondLst>
                                        </p:cTn>
                                        <p:tgtEl>
                                          <p:spTgt spid="21"/>
                                        </p:tgtEl>
                                        <p:attrNameLst>
                                          <p:attrName>style.visibility</p:attrName>
                                        </p:attrNameLst>
                                      </p:cBhvr>
                                      <p:to>
                                        <p:strVal val="visible"/>
                                      </p:to>
                                    </p:set>
                                    <p:animEffect transition="in" filter="fade">
                                      <p:cBhvr>
                                        <p:cTn id="71" dur="400"/>
                                        <p:tgtEl>
                                          <p:spTgt spid="21"/>
                                        </p:tgtEl>
                                      </p:cBhvr>
                                    </p:animEffect>
                                  </p:childTnLst>
                                </p:cTn>
                              </p:par>
                            </p:childTnLst>
                          </p:cTn>
                        </p:par>
                        <p:par>
                          <p:cTn id="72" fill="hold">
                            <p:stCondLst>
                              <p:cond delay="750"/>
                            </p:stCondLst>
                            <p:childTnLst>
                              <p:par>
                                <p:cTn id="73" presetID="10" presetClass="entr" presetSubtype="0" fill="hold" grpId="0" nodeType="withEffect">
                                  <p:stCondLst>
                                    <p:cond delay="0"/>
                                  </p:stCondLst>
                                  <p:childTnLst>
                                    <p:set>
                                      <p:cBhvr>
                                        <p:cTn id="74" dur="1" fill="hold">
                                          <p:stCondLst>
                                            <p:cond delay="0"/>
                                          </p:stCondLst>
                                        </p:cTn>
                                        <p:tgtEl>
                                          <p:spTgt spid="22"/>
                                        </p:tgtEl>
                                        <p:attrNameLst>
                                          <p:attrName>style.visibility</p:attrName>
                                        </p:attrNameLst>
                                      </p:cBhvr>
                                      <p:to>
                                        <p:strVal val="visible"/>
                                      </p:to>
                                    </p:set>
                                    <p:animEffect transition="in" filter="fade">
                                      <p:cBhvr>
                                        <p:cTn id="75" dur="400"/>
                                        <p:tgtEl>
                                          <p:spTgt spid="22"/>
                                        </p:tgtEl>
                                      </p:cBhvr>
                                    </p:animEffect>
                                  </p:childTnLst>
                                </p:cTn>
                              </p:par>
                            </p:childTnLst>
                          </p:cTn>
                        </p:par>
                        <p:par>
                          <p:cTn id="76" fill="hold">
                            <p:stCondLst>
                              <p:cond delay="750"/>
                            </p:stCondLst>
                            <p:childTnLst>
                              <p:par>
                                <p:cTn id="77" presetID="10" presetClass="entr" presetSubtype="0" fill="hold" grpId="0" nodeType="withEffect">
                                  <p:stCondLst>
                                    <p:cond delay="0"/>
                                  </p:stCondLst>
                                  <p:childTnLst>
                                    <p:set>
                                      <p:cBhvr>
                                        <p:cTn id="78" dur="1" fill="hold">
                                          <p:stCondLst>
                                            <p:cond delay="0"/>
                                          </p:stCondLst>
                                        </p:cTn>
                                        <p:tgtEl>
                                          <p:spTgt spid="23"/>
                                        </p:tgtEl>
                                        <p:attrNameLst>
                                          <p:attrName>style.visibility</p:attrName>
                                        </p:attrNameLst>
                                      </p:cBhvr>
                                      <p:to>
                                        <p:strVal val="visible"/>
                                      </p:to>
                                    </p:set>
                                    <p:animEffect transition="in" filter="fade">
                                      <p:cBhvr>
                                        <p:cTn id="79" dur="400"/>
                                        <p:tgtEl>
                                          <p:spTgt spid="23"/>
                                        </p:tgtEl>
                                      </p:cBhvr>
                                    </p:animEffect>
                                  </p:childTnLst>
                                </p:cTn>
                              </p:par>
                            </p:childTnLst>
                          </p:cTn>
                        </p:par>
                        <p:par>
                          <p:cTn id="80" fill="hold">
                            <p:stCondLst>
                              <p:cond delay="750"/>
                            </p:stCondLst>
                            <p:childTnLst>
                              <p:par>
                                <p:cTn id="81" presetID="10" presetClass="entr" presetSubtype="0" fill="hold" grpId="0" nodeType="withEffect">
                                  <p:stCondLst>
                                    <p:cond delay="0"/>
                                  </p:stCondLst>
                                  <p:childTnLst>
                                    <p:set>
                                      <p:cBhvr>
                                        <p:cTn id="82" dur="1" fill="hold">
                                          <p:stCondLst>
                                            <p:cond delay="0"/>
                                          </p:stCondLst>
                                        </p:cTn>
                                        <p:tgtEl>
                                          <p:spTgt spid="24"/>
                                        </p:tgtEl>
                                        <p:attrNameLst>
                                          <p:attrName>style.visibility</p:attrName>
                                        </p:attrNameLst>
                                      </p:cBhvr>
                                      <p:to>
                                        <p:strVal val="visible"/>
                                      </p:to>
                                    </p:set>
                                    <p:animEffect transition="in" filter="fade">
                                      <p:cBhvr>
                                        <p:cTn id="83" dur="400"/>
                                        <p:tgtEl>
                                          <p:spTgt spid="24"/>
                                        </p:tgtEl>
                                      </p:cBhvr>
                                    </p:animEffect>
                                  </p:childTnLst>
                                </p:cTn>
                              </p:par>
                            </p:childTnLst>
                          </p:cTn>
                        </p:par>
                        <p:par>
                          <p:cTn id="84" fill="hold">
                            <p:stCondLst>
                              <p:cond delay="1000"/>
                            </p:stCondLst>
                            <p:childTnLst>
                              <p:par>
                                <p:cTn id="85" presetID="10" presetClass="entr" presetSubtype="0" fill="hold" grpId="0" nodeType="withEffect">
                                  <p:stCondLst>
                                    <p:cond delay="0"/>
                                  </p:stCondLst>
                                  <p:childTnLst>
                                    <p:set>
                                      <p:cBhvr>
                                        <p:cTn id="86" dur="1" fill="hold">
                                          <p:stCondLst>
                                            <p:cond delay="0"/>
                                          </p:stCondLst>
                                        </p:cTn>
                                        <p:tgtEl>
                                          <p:spTgt spid="25"/>
                                        </p:tgtEl>
                                        <p:attrNameLst>
                                          <p:attrName>style.visibility</p:attrName>
                                        </p:attrNameLst>
                                      </p:cBhvr>
                                      <p:to>
                                        <p:strVal val="visible"/>
                                      </p:to>
                                    </p:set>
                                    <p:animEffect transition="in" filter="fade">
                                      <p:cBhvr>
                                        <p:cTn id="87" dur="400"/>
                                        <p:tgtEl>
                                          <p:spTgt spid="25"/>
                                        </p:tgtEl>
                                      </p:cBhvr>
                                    </p:animEffect>
                                  </p:childTnLst>
                                </p:cTn>
                              </p:par>
                            </p:childTnLst>
                          </p:cTn>
                        </p:par>
                        <p:par>
                          <p:cTn id="88" fill="hold">
                            <p:stCondLst>
                              <p:cond delay="1000"/>
                            </p:stCondLst>
                            <p:childTnLst>
                              <p:par>
                                <p:cTn id="89" presetID="10" presetClass="entr" presetSubtype="0" fill="hold" grpId="0" nodeType="withEffect">
                                  <p:stCondLst>
                                    <p:cond delay="0"/>
                                  </p:stCondLst>
                                  <p:childTnLst>
                                    <p:set>
                                      <p:cBhvr>
                                        <p:cTn id="90" dur="1" fill="hold">
                                          <p:stCondLst>
                                            <p:cond delay="0"/>
                                          </p:stCondLst>
                                        </p:cTn>
                                        <p:tgtEl>
                                          <p:spTgt spid="26"/>
                                        </p:tgtEl>
                                        <p:attrNameLst>
                                          <p:attrName>style.visibility</p:attrName>
                                        </p:attrNameLst>
                                      </p:cBhvr>
                                      <p:to>
                                        <p:strVal val="visible"/>
                                      </p:to>
                                    </p:set>
                                    <p:animEffect transition="in" filter="fade">
                                      <p:cBhvr>
                                        <p:cTn id="91" dur="400"/>
                                        <p:tgtEl>
                                          <p:spTgt spid="26"/>
                                        </p:tgtEl>
                                      </p:cBhvr>
                                    </p:animEffect>
                                  </p:childTnLst>
                                </p:cTn>
                              </p:par>
                            </p:childTnLst>
                          </p:cTn>
                        </p:par>
                        <p:par>
                          <p:cTn id="92" fill="hold">
                            <p:stCondLst>
                              <p:cond delay="1000"/>
                            </p:stCondLst>
                            <p:childTnLst>
                              <p:par>
                                <p:cTn id="93" presetID="10" presetClass="entr" presetSubtype="0" fill="hold" grpId="0" nodeType="withEffect">
                                  <p:stCondLst>
                                    <p:cond delay="0"/>
                                  </p:stCondLst>
                                  <p:childTnLst>
                                    <p:set>
                                      <p:cBhvr>
                                        <p:cTn id="94" dur="1" fill="hold">
                                          <p:stCondLst>
                                            <p:cond delay="0"/>
                                          </p:stCondLst>
                                        </p:cTn>
                                        <p:tgtEl>
                                          <p:spTgt spid="27"/>
                                        </p:tgtEl>
                                        <p:attrNameLst>
                                          <p:attrName>style.visibility</p:attrName>
                                        </p:attrNameLst>
                                      </p:cBhvr>
                                      <p:to>
                                        <p:strVal val="visible"/>
                                      </p:to>
                                    </p:set>
                                    <p:animEffect transition="in" filter="fade">
                                      <p:cBhvr>
                                        <p:cTn id="95" dur="400"/>
                                        <p:tgtEl>
                                          <p:spTgt spid="27"/>
                                        </p:tgtEl>
                                      </p:cBhvr>
                                    </p:animEffect>
                                  </p:childTnLst>
                                </p:cTn>
                              </p:par>
                            </p:childTnLst>
                          </p:cTn>
                        </p:par>
                        <p:par>
                          <p:cTn id="96" fill="hold">
                            <p:stCondLst>
                              <p:cond delay="1000"/>
                            </p:stCondLst>
                            <p:childTnLst>
                              <p:par>
                                <p:cTn id="97" presetID="10" presetClass="entr" presetSubtype="0" fill="hold" grpId="0" nodeType="withEffect">
                                  <p:stCondLst>
                                    <p:cond delay="0"/>
                                  </p:stCondLst>
                                  <p:childTnLst>
                                    <p:set>
                                      <p:cBhvr>
                                        <p:cTn id="98" dur="1" fill="hold">
                                          <p:stCondLst>
                                            <p:cond delay="0"/>
                                          </p:stCondLst>
                                        </p:cTn>
                                        <p:tgtEl>
                                          <p:spTgt spid="28"/>
                                        </p:tgtEl>
                                        <p:attrNameLst>
                                          <p:attrName>style.visibility</p:attrName>
                                        </p:attrNameLst>
                                      </p:cBhvr>
                                      <p:to>
                                        <p:strVal val="visible"/>
                                      </p:to>
                                    </p:set>
                                    <p:animEffect transition="in" filter="fade">
                                      <p:cBhvr>
                                        <p:cTn id="99" dur="400"/>
                                        <p:tgtEl>
                                          <p:spTgt spid="28"/>
                                        </p:tgtEl>
                                      </p:cBhvr>
                                    </p:animEffect>
                                  </p:childTnLst>
                                </p:cTn>
                              </p:par>
                            </p:childTnLst>
                          </p:cTn>
                        </p:par>
                        <p:par>
                          <p:cTn id="100" fill="hold">
                            <p:stCondLst>
                              <p:cond delay="1000"/>
                            </p:stCondLst>
                            <p:childTnLst>
                              <p:par>
                                <p:cTn id="101" presetID="10" presetClass="entr" presetSubtype="0" fill="hold" grpId="0" nodeType="withEffect">
                                  <p:stCondLst>
                                    <p:cond delay="0"/>
                                  </p:stCondLst>
                                  <p:childTnLst>
                                    <p:set>
                                      <p:cBhvr>
                                        <p:cTn id="102" dur="1" fill="hold">
                                          <p:stCondLst>
                                            <p:cond delay="0"/>
                                          </p:stCondLst>
                                        </p:cTn>
                                        <p:tgtEl>
                                          <p:spTgt spid="29"/>
                                        </p:tgtEl>
                                        <p:attrNameLst>
                                          <p:attrName>style.visibility</p:attrName>
                                        </p:attrNameLst>
                                      </p:cBhvr>
                                      <p:to>
                                        <p:strVal val="visible"/>
                                      </p:to>
                                    </p:set>
                                    <p:animEffect transition="in" filter="fade">
                                      <p:cBhvr>
                                        <p:cTn id="103" dur="400"/>
                                        <p:tgtEl>
                                          <p:spTgt spid="29"/>
                                        </p:tgtEl>
                                      </p:cBhvr>
                                    </p:animEffect>
                                  </p:childTnLst>
                                </p:cTn>
                              </p:par>
                            </p:childTnLst>
                          </p:cTn>
                        </p:par>
                        <p:par>
                          <p:cTn id="104" fill="hold">
                            <p:stCondLst>
                              <p:cond delay="1250"/>
                            </p:stCondLst>
                            <p:childTnLst>
                              <p:par>
                                <p:cTn id="105" presetID="10" presetClass="entr" presetSubtype="0" fill="hold" grpId="0" nodeType="withEffect">
                                  <p:stCondLst>
                                    <p:cond delay="0"/>
                                  </p:stCondLst>
                                  <p:childTnLst>
                                    <p:set>
                                      <p:cBhvr>
                                        <p:cTn id="106" dur="1" fill="hold">
                                          <p:stCondLst>
                                            <p:cond delay="0"/>
                                          </p:stCondLst>
                                        </p:cTn>
                                        <p:tgtEl>
                                          <p:spTgt spid="30"/>
                                        </p:tgtEl>
                                        <p:attrNameLst>
                                          <p:attrName>style.visibility</p:attrName>
                                        </p:attrNameLst>
                                      </p:cBhvr>
                                      <p:to>
                                        <p:strVal val="visible"/>
                                      </p:to>
                                    </p:set>
                                    <p:animEffect transition="in" filter="fade">
                                      <p:cBhvr>
                                        <p:cTn id="107" dur="400"/>
                                        <p:tgtEl>
                                          <p:spTgt spid="30"/>
                                        </p:tgtEl>
                                      </p:cBhvr>
                                    </p:animEffect>
                                  </p:childTnLst>
                                </p:cTn>
                              </p:par>
                            </p:childTnLst>
                          </p:cTn>
                        </p:par>
                        <p:par>
                          <p:cTn id="108" fill="hold">
                            <p:stCondLst>
                              <p:cond delay="1250"/>
                            </p:stCondLst>
                            <p:childTnLst>
                              <p:par>
                                <p:cTn id="109" presetID="10" presetClass="entr" presetSubtype="0" fill="hold" grpId="0" nodeType="withEffect">
                                  <p:stCondLst>
                                    <p:cond delay="0"/>
                                  </p:stCondLst>
                                  <p:childTnLst>
                                    <p:set>
                                      <p:cBhvr>
                                        <p:cTn id="110" dur="1" fill="hold">
                                          <p:stCondLst>
                                            <p:cond delay="0"/>
                                          </p:stCondLst>
                                        </p:cTn>
                                        <p:tgtEl>
                                          <p:spTgt spid="31"/>
                                        </p:tgtEl>
                                        <p:attrNameLst>
                                          <p:attrName>style.visibility</p:attrName>
                                        </p:attrNameLst>
                                      </p:cBhvr>
                                      <p:to>
                                        <p:strVal val="visible"/>
                                      </p:to>
                                    </p:set>
                                    <p:animEffect transition="in" filter="fade">
                                      <p:cBhvr>
                                        <p:cTn id="111" dur="400"/>
                                        <p:tgtEl>
                                          <p:spTgt spid="31"/>
                                        </p:tgtEl>
                                      </p:cBhvr>
                                    </p:animEffect>
                                  </p:childTnLst>
                                </p:cTn>
                              </p:par>
                            </p:childTnLst>
                          </p:cTn>
                        </p:par>
                        <p:par>
                          <p:cTn id="112" fill="hold">
                            <p:stCondLst>
                              <p:cond delay="1250"/>
                            </p:stCondLst>
                            <p:childTnLst>
                              <p:par>
                                <p:cTn id="113" presetID="10" presetClass="entr" presetSubtype="0" fill="hold" grpId="0" nodeType="withEffect">
                                  <p:stCondLst>
                                    <p:cond delay="0"/>
                                  </p:stCondLst>
                                  <p:childTnLst>
                                    <p:set>
                                      <p:cBhvr>
                                        <p:cTn id="114" dur="1" fill="hold">
                                          <p:stCondLst>
                                            <p:cond delay="0"/>
                                          </p:stCondLst>
                                        </p:cTn>
                                        <p:tgtEl>
                                          <p:spTgt spid="32"/>
                                        </p:tgtEl>
                                        <p:attrNameLst>
                                          <p:attrName>style.visibility</p:attrName>
                                        </p:attrNameLst>
                                      </p:cBhvr>
                                      <p:to>
                                        <p:strVal val="visible"/>
                                      </p:to>
                                    </p:set>
                                    <p:animEffect transition="in" filter="fade">
                                      <p:cBhvr>
                                        <p:cTn id="115" dur="400"/>
                                        <p:tgtEl>
                                          <p:spTgt spid="32"/>
                                        </p:tgtEl>
                                      </p:cBhvr>
                                    </p:animEffect>
                                  </p:childTnLst>
                                </p:cTn>
                              </p:par>
                            </p:childTnLst>
                          </p:cTn>
                        </p:par>
                        <p:par>
                          <p:cTn id="116" fill="hold">
                            <p:stCondLst>
                              <p:cond delay="1250"/>
                            </p:stCondLst>
                            <p:childTnLst>
                              <p:par>
                                <p:cTn id="117" presetID="10" presetClass="entr" presetSubtype="0" fill="hold" grpId="0" nodeType="withEffect">
                                  <p:stCondLst>
                                    <p:cond delay="0"/>
                                  </p:stCondLst>
                                  <p:childTnLst>
                                    <p:set>
                                      <p:cBhvr>
                                        <p:cTn id="118" dur="1" fill="hold">
                                          <p:stCondLst>
                                            <p:cond delay="0"/>
                                          </p:stCondLst>
                                        </p:cTn>
                                        <p:tgtEl>
                                          <p:spTgt spid="33"/>
                                        </p:tgtEl>
                                        <p:attrNameLst>
                                          <p:attrName>style.visibility</p:attrName>
                                        </p:attrNameLst>
                                      </p:cBhvr>
                                      <p:to>
                                        <p:strVal val="visible"/>
                                      </p:to>
                                    </p:set>
                                    <p:animEffect transition="in" filter="fade">
                                      <p:cBhvr>
                                        <p:cTn id="119" dur="400"/>
                                        <p:tgtEl>
                                          <p:spTgt spid="33"/>
                                        </p:tgtEl>
                                      </p:cBhvr>
                                    </p:animEffect>
                                  </p:childTnLst>
                                </p:cTn>
                              </p:par>
                            </p:childTnLst>
                          </p:cTn>
                        </p:par>
                        <p:par>
                          <p:cTn id="120" fill="hold">
                            <p:stCondLst>
                              <p:cond delay="1250"/>
                            </p:stCondLst>
                            <p:childTnLst>
                              <p:par>
                                <p:cTn id="121" presetID="10" presetClass="entr" presetSubtype="0" fill="hold" grpId="0" nodeType="withEffect">
                                  <p:stCondLst>
                                    <p:cond delay="0"/>
                                  </p:stCondLst>
                                  <p:childTnLst>
                                    <p:set>
                                      <p:cBhvr>
                                        <p:cTn id="122" dur="1" fill="hold">
                                          <p:stCondLst>
                                            <p:cond delay="0"/>
                                          </p:stCondLst>
                                        </p:cTn>
                                        <p:tgtEl>
                                          <p:spTgt spid="34"/>
                                        </p:tgtEl>
                                        <p:attrNameLst>
                                          <p:attrName>style.visibility</p:attrName>
                                        </p:attrNameLst>
                                      </p:cBhvr>
                                      <p:to>
                                        <p:strVal val="visible"/>
                                      </p:to>
                                    </p:set>
                                    <p:animEffect transition="in" filter="fade">
                                      <p:cBhvr>
                                        <p:cTn id="123"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4 · PASSO 3: AS RESPOSTAS · LUÍS</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Um exemplo: a próxima vaga vai para o Tremembé</a:t>
            </a:r>
            <a:endParaRPr lang="en-US" sz="3200" dirty="0"/>
          </a:p>
        </p:txBody>
      </p:sp>
      <p:sp>
        <p:nvSpPr>
          <p:cNvPr id="5" name="anim:1:396"/>
          <p:cNvSpPr/>
          <p:nvPr/>
        </p:nvSpPr>
        <p:spPr>
          <a:xfrm>
            <a:off x="548640" y="1554480"/>
            <a:ext cx="5440680" cy="3383280"/>
          </a:xfrm>
          <a:prstGeom prst="roundRect">
            <a:avLst>
              <a:gd name="adj" fmla="val 3243"/>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6" name="anim:1:397"/>
          <p:cNvSpPr/>
          <p:nvPr/>
        </p:nvSpPr>
        <p:spPr>
          <a:xfrm>
            <a:off x="822960" y="1783080"/>
            <a:ext cx="2788920" cy="310896"/>
          </a:xfrm>
          <a:prstGeom prst="roundRect">
            <a:avLst>
              <a:gd name="adj" fmla="val 50000"/>
            </a:avLst>
          </a:prstGeom>
          <a:solidFill>
            <a:srgbClr val="2E5EAA"/>
          </a:solidFill>
          <a:ln w="12700">
            <a:solidFill>
              <a:srgbClr val="2E5EAA"/>
            </a:solidFill>
            <a:prstDash val="solid"/>
          </a:ln>
        </p:spPr>
      </p:sp>
      <p:sp>
        <p:nvSpPr>
          <p:cNvPr id="7" name="anim:1:398"/>
          <p:cNvSpPr txBox="1"/>
          <p:nvPr/>
        </p:nvSpPr>
        <p:spPr>
          <a:xfrm>
            <a:off x="822960" y="1783080"/>
            <a:ext cx="2788920"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GRAJAÚ · O MAIOR DISTRITO</a:t>
            </a:r>
            <a:endParaRPr lang="en-US" sz="1200" dirty="0"/>
          </a:p>
        </p:txBody>
      </p:sp>
      <p:sp>
        <p:nvSpPr>
          <p:cNvPr id="8" name="anim:1:399"/>
          <p:cNvSpPr txBox="1"/>
          <p:nvPr/>
        </p:nvSpPr>
        <p:spPr>
          <a:xfrm>
            <a:off x="822960" y="2286000"/>
            <a:ext cx="1828800" cy="685800"/>
          </a:xfrm>
          <a:prstGeom prst="rect">
            <a:avLst/>
          </a:prstGeom>
          <a:noFill/>
          <a:ln/>
        </p:spPr>
        <p:txBody>
          <a:bodyPr wrap="square" lIns="0" tIns="0" rIns="0" bIns="0" rtlCol="0" anchor="ctr"/>
          <a:lstStyle/>
          <a:p>
            <a:pPr algn="l" indent="0" marL="0">
              <a:buNone/>
            </a:pPr>
            <a:r>
              <a:rPr lang="en-US" sz="3400" b="1" dirty="0">
                <a:solidFill>
                  <a:srgbClr val="2E5EAA"/>
                </a:solidFill>
                <a:latin typeface="Calibri" pitchFamily="34" charset="0"/>
                <a:ea typeface="Calibri" pitchFamily="34" charset="-122"/>
                <a:cs typeface="Calibri" pitchFamily="34" charset="-120"/>
              </a:rPr>
              <a:t>24.398</a:t>
            </a:r>
            <a:endParaRPr lang="en-US" sz="3400" dirty="0"/>
          </a:p>
        </p:txBody>
      </p:sp>
      <p:sp>
        <p:nvSpPr>
          <p:cNvPr id="9" name="anim:1:400"/>
          <p:cNvSpPr txBox="1"/>
          <p:nvPr/>
        </p:nvSpPr>
        <p:spPr>
          <a:xfrm>
            <a:off x="2697480" y="2286000"/>
            <a:ext cx="3063240" cy="685800"/>
          </a:xfrm>
          <a:prstGeom prst="rect">
            <a:avLst/>
          </a:prstGeom>
          <a:noFill/>
          <a:ln/>
        </p:spPr>
        <p:txBody>
          <a:bodyPr wrap="square" lIns="0" tIns="0" rIns="0" bIns="0" rtlCol="0" anchor="ctr"/>
          <a:lstStyle/>
          <a:p>
            <a:pPr algn="l" indent="0" marL="0">
              <a:buNone/>
            </a:pPr>
            <a:r>
              <a:rPr lang="en-US" sz="1400" dirty="0">
                <a:solidFill>
                  <a:srgbClr val="1F2937"/>
                </a:solidFill>
                <a:latin typeface="Calibri" pitchFamily="34" charset="0"/>
                <a:ea typeface="Calibri" pitchFamily="34" charset="-122"/>
                <a:cs typeface="Calibri" pitchFamily="34" charset="-120"/>
              </a:rPr>
              <a:t>crianças de 0 a 4 anos (Censo 2022)</a:t>
            </a:r>
            <a:endParaRPr lang="en-US" sz="1400" dirty="0"/>
          </a:p>
        </p:txBody>
      </p:sp>
      <p:sp>
        <p:nvSpPr>
          <p:cNvPr id="10" name="anim:1:401"/>
          <p:cNvSpPr txBox="1"/>
          <p:nvPr/>
        </p:nvSpPr>
        <p:spPr>
          <a:xfrm>
            <a:off x="822960" y="3127248"/>
            <a:ext cx="1828800" cy="685800"/>
          </a:xfrm>
          <a:prstGeom prst="rect">
            <a:avLst/>
          </a:prstGeom>
          <a:noFill/>
          <a:ln/>
        </p:spPr>
        <p:txBody>
          <a:bodyPr wrap="square" lIns="0" tIns="0" rIns="0" bIns="0" rtlCol="0" anchor="ctr"/>
          <a:lstStyle/>
          <a:p>
            <a:pPr algn="l" indent="0" marL="0">
              <a:buNone/>
            </a:pPr>
            <a:r>
              <a:rPr lang="en-US" sz="3400" b="1" dirty="0">
                <a:solidFill>
                  <a:srgbClr val="2E5EAA"/>
                </a:solidFill>
                <a:latin typeface="Calibri" pitchFamily="34" charset="0"/>
                <a:ea typeface="Calibri" pitchFamily="34" charset="-122"/>
                <a:cs typeface="Calibri" pitchFamily="34" charset="-120"/>
              </a:rPr>
              <a:t>82,7</a:t>
            </a:r>
            <a:endParaRPr lang="en-US" sz="3400" dirty="0"/>
          </a:p>
        </p:txBody>
      </p:sp>
      <p:sp>
        <p:nvSpPr>
          <p:cNvPr id="11" name="anim:1:402"/>
          <p:cNvSpPr txBox="1"/>
          <p:nvPr/>
        </p:nvSpPr>
        <p:spPr>
          <a:xfrm>
            <a:off x="2697480" y="3127248"/>
            <a:ext cx="3063240" cy="685800"/>
          </a:xfrm>
          <a:prstGeom prst="rect">
            <a:avLst/>
          </a:prstGeom>
          <a:noFill/>
          <a:ln/>
        </p:spPr>
        <p:txBody>
          <a:bodyPr wrap="square" lIns="0" tIns="0" rIns="0" bIns="0" rtlCol="0" anchor="ctr"/>
          <a:lstStyle/>
          <a:p>
            <a:pPr algn="l" indent="0" marL="0">
              <a:buNone/>
            </a:pPr>
            <a:r>
              <a:rPr lang="en-US" sz="1400" dirty="0">
                <a:solidFill>
                  <a:srgbClr val="1F2937"/>
                </a:solidFill>
                <a:latin typeface="Calibri" pitchFamily="34" charset="0"/>
                <a:ea typeface="Calibri" pitchFamily="34" charset="-122"/>
                <a:cs typeface="Calibri" pitchFamily="34" charset="-120"/>
              </a:rPr>
              <a:t>matrículas por 100 crianças (2022)</a:t>
            </a:r>
            <a:endParaRPr lang="en-US" sz="1400" dirty="0"/>
          </a:p>
        </p:txBody>
      </p:sp>
      <p:sp>
        <p:nvSpPr>
          <p:cNvPr id="12" name="anim:1:403"/>
          <p:cNvSpPr txBox="1"/>
          <p:nvPr/>
        </p:nvSpPr>
        <p:spPr>
          <a:xfrm>
            <a:off x="822960" y="3968496"/>
            <a:ext cx="1828800" cy="685800"/>
          </a:xfrm>
          <a:prstGeom prst="rect">
            <a:avLst/>
          </a:prstGeom>
          <a:noFill/>
          <a:ln/>
        </p:spPr>
        <p:txBody>
          <a:bodyPr wrap="square" lIns="0" tIns="0" rIns="0" bIns="0" rtlCol="0" anchor="ctr"/>
          <a:lstStyle/>
          <a:p>
            <a:pPr algn="l" indent="0" marL="0">
              <a:buNone/>
            </a:pPr>
            <a:r>
              <a:rPr lang="en-US" sz="3400" b="1" dirty="0">
                <a:solidFill>
                  <a:srgbClr val="2E5EAA"/>
                </a:solidFill>
                <a:latin typeface="Calibri" pitchFamily="34" charset="0"/>
                <a:ea typeface="Calibri" pitchFamily="34" charset="-122"/>
                <a:cs typeface="Calibri" pitchFamily="34" charset="-120"/>
              </a:rPr>
              <a:t>88</a:t>
            </a:r>
            <a:endParaRPr lang="en-US" sz="3400" dirty="0"/>
          </a:p>
        </p:txBody>
      </p:sp>
      <p:sp>
        <p:nvSpPr>
          <p:cNvPr id="13" name="anim:1:404"/>
          <p:cNvSpPr txBox="1"/>
          <p:nvPr/>
        </p:nvSpPr>
        <p:spPr>
          <a:xfrm>
            <a:off x="2697480" y="3968496"/>
            <a:ext cx="3063240" cy="685800"/>
          </a:xfrm>
          <a:prstGeom prst="rect">
            <a:avLst/>
          </a:prstGeom>
          <a:noFill/>
          <a:ln/>
        </p:spPr>
        <p:txBody>
          <a:bodyPr wrap="square" lIns="0" tIns="0" rIns="0" bIns="0" rtlCol="0" anchor="ctr"/>
          <a:lstStyle/>
          <a:p>
            <a:pPr algn="l" indent="0" marL="0">
              <a:buNone/>
            </a:pPr>
            <a:r>
              <a:rPr lang="en-US" sz="1400" dirty="0">
                <a:solidFill>
                  <a:srgbClr val="1F2937"/>
                </a:solidFill>
                <a:latin typeface="Calibri" pitchFamily="34" charset="0"/>
                <a:ea typeface="Calibri" pitchFamily="34" charset="-122"/>
                <a:cs typeface="Calibri" pitchFamily="34" charset="-120"/>
              </a:rPr>
              <a:t>na fila de creche em junho de 2024; eram 8.018 em 2015</a:t>
            </a:r>
            <a:endParaRPr lang="en-US" sz="1400" dirty="0"/>
          </a:p>
        </p:txBody>
      </p:sp>
      <p:sp>
        <p:nvSpPr>
          <p:cNvPr id="14" name="anim:2:405"/>
          <p:cNvSpPr/>
          <p:nvPr/>
        </p:nvSpPr>
        <p:spPr>
          <a:xfrm>
            <a:off x="6172200" y="1554480"/>
            <a:ext cx="5440680" cy="3383280"/>
          </a:xfrm>
          <a:prstGeom prst="roundRect">
            <a:avLst>
              <a:gd name="adj" fmla="val 3243"/>
            </a:avLst>
          </a:prstGeom>
          <a:solidFill>
            <a:srgbClr val="FFFFFF"/>
          </a:solidFill>
          <a:ln w="9525">
            <a:solidFill>
              <a:srgbClr val="F2A541"/>
            </a:solidFill>
            <a:prstDash val="solid"/>
          </a:ln>
          <a:effectLst>
            <a:outerShdw sx="100000" sy="100000" kx="0" ky="0" algn="bl" rotWithShape="0" blurRad="101600" dist="25400" dir="5400000">
              <a:srgbClr val="1B2A4A">
                <a:alpha val="14000"/>
              </a:srgbClr>
            </a:outerShdw>
          </a:effectLst>
        </p:spPr>
      </p:sp>
      <p:sp>
        <p:nvSpPr>
          <p:cNvPr id="15" name="anim:2:406"/>
          <p:cNvSpPr/>
          <p:nvPr/>
        </p:nvSpPr>
        <p:spPr>
          <a:xfrm>
            <a:off x="6446520" y="1783080"/>
            <a:ext cx="1325880" cy="310896"/>
          </a:xfrm>
          <a:prstGeom prst="roundRect">
            <a:avLst>
              <a:gd name="adj" fmla="val 50000"/>
            </a:avLst>
          </a:prstGeom>
          <a:solidFill>
            <a:srgbClr val="F2A541"/>
          </a:solidFill>
          <a:ln w="12700">
            <a:solidFill>
              <a:srgbClr val="F2A541"/>
            </a:solidFill>
            <a:prstDash val="solid"/>
          </a:ln>
        </p:spPr>
      </p:sp>
      <p:sp>
        <p:nvSpPr>
          <p:cNvPr id="16" name="anim:2:407"/>
          <p:cNvSpPr txBox="1"/>
          <p:nvPr/>
        </p:nvSpPr>
        <p:spPr>
          <a:xfrm>
            <a:off x="6446520" y="1783080"/>
            <a:ext cx="1325880" cy="310896"/>
          </a:xfrm>
          <a:prstGeom prst="rect">
            <a:avLst/>
          </a:prstGeom>
          <a:noFill/>
          <a:ln/>
        </p:spPr>
        <p:txBody>
          <a:bodyPr wrap="square" lIns="0" tIns="0" rIns="0" bIns="0" rtlCol="0" anchor="ctr"/>
          <a:lstStyle/>
          <a:p>
            <a:pPr algn="ctr" indent="0" marL="0">
              <a:buNone/>
            </a:pPr>
            <a:r>
              <a:rPr lang="en-US" sz="1200" b="1" dirty="0">
                <a:solidFill>
                  <a:srgbClr val="1B2A4A"/>
                </a:solidFill>
                <a:latin typeface="Calibri" pitchFamily="34" charset="0"/>
                <a:ea typeface="Calibri" pitchFamily="34" charset="-122"/>
                <a:cs typeface="Calibri" pitchFamily="34" charset="-120"/>
              </a:rPr>
              <a:t>TREMEMBÉ</a:t>
            </a:r>
            <a:endParaRPr lang="en-US" sz="1200" dirty="0"/>
          </a:p>
        </p:txBody>
      </p:sp>
      <p:sp>
        <p:nvSpPr>
          <p:cNvPr id="17" name="anim:2:408"/>
          <p:cNvSpPr txBox="1"/>
          <p:nvPr/>
        </p:nvSpPr>
        <p:spPr>
          <a:xfrm>
            <a:off x="6446520" y="2286000"/>
            <a:ext cx="1828800" cy="685800"/>
          </a:xfrm>
          <a:prstGeom prst="rect">
            <a:avLst/>
          </a:prstGeom>
          <a:noFill/>
          <a:ln/>
        </p:spPr>
        <p:txBody>
          <a:bodyPr wrap="square" lIns="0" tIns="0" rIns="0" bIns="0" rtlCol="0" anchor="ctr"/>
          <a:lstStyle/>
          <a:p>
            <a:pPr algn="l" indent="0" marL="0">
              <a:buNone/>
            </a:pPr>
            <a:r>
              <a:rPr lang="en-US" sz="3400" b="1" dirty="0">
                <a:solidFill>
                  <a:srgbClr val="1B2A4A"/>
                </a:solidFill>
                <a:latin typeface="Calibri" pitchFamily="34" charset="0"/>
                <a:ea typeface="Calibri" pitchFamily="34" charset="-122"/>
                <a:cs typeface="Calibri" pitchFamily="34" charset="-120"/>
              </a:rPr>
              <a:t>11.498</a:t>
            </a:r>
            <a:endParaRPr lang="en-US" sz="3400" dirty="0"/>
          </a:p>
        </p:txBody>
      </p:sp>
      <p:sp>
        <p:nvSpPr>
          <p:cNvPr id="18" name="anim:2:409"/>
          <p:cNvSpPr txBox="1"/>
          <p:nvPr/>
        </p:nvSpPr>
        <p:spPr>
          <a:xfrm>
            <a:off x="8321040" y="2286000"/>
            <a:ext cx="3063240" cy="685800"/>
          </a:xfrm>
          <a:prstGeom prst="rect">
            <a:avLst/>
          </a:prstGeom>
          <a:noFill/>
          <a:ln/>
        </p:spPr>
        <p:txBody>
          <a:bodyPr wrap="square" lIns="0" tIns="0" rIns="0" bIns="0" rtlCol="0" anchor="ctr"/>
          <a:lstStyle/>
          <a:p>
            <a:pPr algn="l" indent="0" marL="0">
              <a:buNone/>
            </a:pPr>
            <a:r>
              <a:rPr lang="en-US" sz="1400" dirty="0">
                <a:solidFill>
                  <a:srgbClr val="1F2937"/>
                </a:solidFill>
                <a:latin typeface="Calibri" pitchFamily="34" charset="0"/>
                <a:ea typeface="Calibri" pitchFamily="34" charset="-122"/>
                <a:cs typeface="Calibri" pitchFamily="34" charset="-120"/>
              </a:rPr>
              <a:t>crianças de 0 a 4 anos (Censo 2022)</a:t>
            </a:r>
            <a:endParaRPr lang="en-US" sz="1400" dirty="0"/>
          </a:p>
        </p:txBody>
      </p:sp>
      <p:sp>
        <p:nvSpPr>
          <p:cNvPr id="19" name="anim:2:410"/>
          <p:cNvSpPr txBox="1"/>
          <p:nvPr/>
        </p:nvSpPr>
        <p:spPr>
          <a:xfrm>
            <a:off x="6446520" y="3127248"/>
            <a:ext cx="1828800" cy="685800"/>
          </a:xfrm>
          <a:prstGeom prst="rect">
            <a:avLst/>
          </a:prstGeom>
          <a:noFill/>
          <a:ln/>
        </p:spPr>
        <p:txBody>
          <a:bodyPr wrap="square" lIns="0" tIns="0" rIns="0" bIns="0" rtlCol="0" anchor="ctr"/>
          <a:lstStyle/>
          <a:p>
            <a:pPr algn="l" indent="0" marL="0">
              <a:buNone/>
            </a:pPr>
            <a:r>
              <a:rPr lang="en-US" sz="3400" b="1" dirty="0">
                <a:solidFill>
                  <a:srgbClr val="1B2A4A"/>
                </a:solidFill>
                <a:latin typeface="Calibri" pitchFamily="34" charset="0"/>
                <a:ea typeface="Calibri" pitchFamily="34" charset="-122"/>
                <a:cs typeface="Calibri" pitchFamily="34" charset="-120"/>
              </a:rPr>
              <a:t>71,6</a:t>
            </a:r>
            <a:endParaRPr lang="en-US" sz="3400" dirty="0"/>
          </a:p>
        </p:txBody>
      </p:sp>
      <p:sp>
        <p:nvSpPr>
          <p:cNvPr id="20" name="anim:2:411"/>
          <p:cNvSpPr txBox="1"/>
          <p:nvPr/>
        </p:nvSpPr>
        <p:spPr>
          <a:xfrm>
            <a:off x="8321040" y="3127248"/>
            <a:ext cx="3063240" cy="685800"/>
          </a:xfrm>
          <a:prstGeom prst="rect">
            <a:avLst/>
          </a:prstGeom>
          <a:noFill/>
          <a:ln/>
        </p:spPr>
        <p:txBody>
          <a:bodyPr wrap="square" lIns="0" tIns="0" rIns="0" bIns="0" rtlCol="0" anchor="ctr"/>
          <a:lstStyle/>
          <a:p>
            <a:pPr algn="l" indent="0" marL="0">
              <a:buNone/>
            </a:pPr>
            <a:r>
              <a:rPr lang="en-US" sz="1400" dirty="0">
                <a:solidFill>
                  <a:srgbClr val="1F2937"/>
                </a:solidFill>
                <a:latin typeface="Calibri" pitchFamily="34" charset="0"/>
                <a:ea typeface="Calibri" pitchFamily="34" charset="-122"/>
                <a:cs typeface="Calibri" pitchFamily="34" charset="-120"/>
              </a:rPr>
              <a:t>matrículas por 100 crianças, abaixo da média de 86</a:t>
            </a:r>
            <a:endParaRPr lang="en-US" sz="1400" dirty="0"/>
          </a:p>
        </p:txBody>
      </p:sp>
      <p:sp>
        <p:nvSpPr>
          <p:cNvPr id="21" name="anim:2:412"/>
          <p:cNvSpPr txBox="1"/>
          <p:nvPr/>
        </p:nvSpPr>
        <p:spPr>
          <a:xfrm>
            <a:off x="6446520" y="3968496"/>
            <a:ext cx="1828800" cy="685800"/>
          </a:xfrm>
          <a:prstGeom prst="rect">
            <a:avLst/>
          </a:prstGeom>
          <a:noFill/>
          <a:ln/>
        </p:spPr>
        <p:txBody>
          <a:bodyPr wrap="square" lIns="0" tIns="0" rIns="0" bIns="0" rtlCol="0" anchor="ctr"/>
          <a:lstStyle/>
          <a:p>
            <a:pPr algn="l" indent="0" marL="0">
              <a:buNone/>
            </a:pPr>
            <a:r>
              <a:rPr lang="en-US" sz="3400" b="1" dirty="0">
                <a:solidFill>
                  <a:srgbClr val="1B2A4A"/>
                </a:solidFill>
                <a:latin typeface="Calibri" pitchFamily="34" charset="0"/>
                <a:ea typeface="Calibri" pitchFamily="34" charset="-122"/>
                <a:cs typeface="Calibri" pitchFamily="34" charset="-120"/>
              </a:rPr>
              <a:t>153</a:t>
            </a:r>
            <a:endParaRPr lang="en-US" sz="3400" dirty="0"/>
          </a:p>
        </p:txBody>
      </p:sp>
      <p:sp>
        <p:nvSpPr>
          <p:cNvPr id="22" name="anim:2:413"/>
          <p:cNvSpPr txBox="1"/>
          <p:nvPr/>
        </p:nvSpPr>
        <p:spPr>
          <a:xfrm>
            <a:off x="8321040" y="3968496"/>
            <a:ext cx="3063240" cy="685800"/>
          </a:xfrm>
          <a:prstGeom prst="rect">
            <a:avLst/>
          </a:prstGeom>
          <a:noFill/>
          <a:ln/>
        </p:spPr>
        <p:txBody>
          <a:bodyPr wrap="square" lIns="0" tIns="0" rIns="0" bIns="0" rtlCol="0" anchor="ctr"/>
          <a:lstStyle/>
          <a:p>
            <a:pPr algn="l" indent="0" marL="0">
              <a:buNone/>
            </a:pPr>
            <a:r>
              <a:rPr lang="en-US" sz="1400" dirty="0">
                <a:solidFill>
                  <a:srgbClr val="1F2937"/>
                </a:solidFill>
                <a:latin typeface="Calibri" pitchFamily="34" charset="0"/>
                <a:ea typeface="Calibri" pitchFamily="34" charset="-122"/>
                <a:cs typeface="Calibri" pitchFamily="34" charset="-120"/>
              </a:rPr>
              <a:t>na fila de creche em junho de 2024, a segunda maior da cidade</a:t>
            </a:r>
            <a:endParaRPr lang="en-US" sz="1400" dirty="0"/>
          </a:p>
        </p:txBody>
      </p:sp>
      <p:sp>
        <p:nvSpPr>
          <p:cNvPr id="23" name="anim:3:414"/>
          <p:cNvSpPr/>
          <p:nvPr/>
        </p:nvSpPr>
        <p:spPr>
          <a:xfrm>
            <a:off x="548640" y="5120640"/>
            <a:ext cx="11064240" cy="868680"/>
          </a:xfrm>
          <a:prstGeom prst="roundRect">
            <a:avLst>
              <a:gd name="adj" fmla="val 12632"/>
            </a:avLst>
          </a:prstGeom>
          <a:solidFill>
            <a:srgbClr val="EEF2F8"/>
          </a:solidFill>
          <a:ln w="9525">
            <a:solidFill>
              <a:srgbClr val="EEF2F8"/>
            </a:solidFill>
            <a:prstDash val="solid"/>
          </a:ln>
        </p:spPr>
      </p:sp>
      <p:sp>
        <p:nvSpPr>
          <p:cNvPr id="24" name="anim:3:415"/>
          <p:cNvSpPr/>
          <p:nvPr/>
        </p:nvSpPr>
        <p:spPr>
          <a:xfrm>
            <a:off x="777240" y="5303520"/>
            <a:ext cx="512064" cy="512064"/>
          </a:xfrm>
          <a:prstGeom prst="ellipse">
            <a:avLst/>
          </a:prstGeom>
          <a:solidFill>
            <a:srgbClr val="F2A541"/>
          </a:solidFill>
          <a:ln w="12700">
            <a:solidFill>
              <a:srgbClr val="F2A541"/>
            </a:solidFill>
            <a:prstDash val="solid"/>
          </a:ln>
        </p:spPr>
      </p:sp>
      <p:sp>
        <p:nvSpPr>
          <p:cNvPr id="25" name="anim:3:416"/>
          <p:cNvSpPr txBox="1"/>
          <p:nvPr/>
        </p:nvSpPr>
        <p:spPr>
          <a:xfrm>
            <a:off x="777240" y="5303520"/>
            <a:ext cx="512064" cy="512064"/>
          </a:xfrm>
          <a:prstGeom prst="rect">
            <a:avLst/>
          </a:prstGeom>
          <a:noFill/>
          <a:ln/>
        </p:spPr>
        <p:txBody>
          <a:bodyPr wrap="square" lIns="0" tIns="0" rIns="0" bIns="0" rtlCol="0" anchor="ctr"/>
          <a:lstStyle/>
          <a:p>
            <a:pPr algn="ctr" indent="0" marL="0">
              <a:buNone/>
            </a:pPr>
            <a:r>
              <a:rPr lang="en-US" sz="1800" b="1" dirty="0">
                <a:solidFill>
                  <a:srgbClr val="1B2A4A"/>
                </a:solidFill>
                <a:latin typeface="Calibri" pitchFamily="34" charset="0"/>
                <a:ea typeface="Calibri" pitchFamily="34" charset="-122"/>
                <a:cs typeface="Calibri" pitchFamily="34" charset="-120"/>
              </a:rPr>
              <a:t>!</a:t>
            </a:r>
            <a:endParaRPr lang="en-US" sz="1800" dirty="0"/>
          </a:p>
        </p:txBody>
      </p:sp>
      <p:sp>
        <p:nvSpPr>
          <p:cNvPr id="26" name="anim:3:417"/>
          <p:cNvSpPr txBox="1"/>
          <p:nvPr/>
        </p:nvSpPr>
        <p:spPr>
          <a:xfrm>
            <a:off x="1508760" y="5166360"/>
            <a:ext cx="9966960" cy="777240"/>
          </a:xfrm>
          <a:prstGeom prst="rect">
            <a:avLst/>
          </a:prstGeom>
          <a:noFill/>
          <a:ln/>
        </p:spPr>
        <p:txBody>
          <a:bodyPr wrap="square" lIns="0" tIns="0" rIns="0" bIns="0" rtlCol="0" anchor="ctr"/>
          <a:lstStyle/>
          <a:p>
            <a:pPr indent="0" marL="0">
              <a:buNone/>
            </a:pPr>
            <a:r>
              <a:rPr lang="en-US" sz="1500" b="1" dirty="0">
                <a:solidFill>
                  <a:srgbClr val="1B2A4A"/>
                </a:solidFill>
                <a:latin typeface="Calibri" pitchFamily="34" charset="0"/>
                <a:ea typeface="Calibri" pitchFamily="34" charset="-122"/>
                <a:cs typeface="Calibri" pitchFamily="34" charset="-120"/>
              </a:rPr>
              <a:t>O que o cruzamento mostra: </a:t>
            </a:r>
            <a:pPr indent="0" marL="0">
              <a:buNone/>
            </a:pPr>
            <a:r>
              <a:rPr lang="en-US" sz="1500" dirty="0">
                <a:solidFill>
                  <a:srgbClr val="1F2937"/>
                </a:solidFill>
                <a:latin typeface="Calibri" pitchFamily="34" charset="0"/>
                <a:ea typeface="Calibri" pitchFamily="34" charset="-122"/>
                <a:cs typeface="Calibri" pitchFamily="34" charset="-120"/>
              </a:rPr>
              <a:t>pelo tamanho, a escolha seria o Grajaú; com fila, oferta e população lado a lado, a próxima vaga pesa mais no Tremembé.</a:t>
            </a:r>
            <a:endParaRPr lang="en-US" sz="1500" dirty="0"/>
          </a:p>
        </p:txBody>
      </p:sp>
      <p:sp>
        <p:nvSpPr>
          <p:cNvPr id="27" name="Text 24"/>
          <p:cNvSpPr txBox="1"/>
          <p:nvPr/>
        </p:nvSpPr>
        <p:spPr>
          <a:xfrm>
            <a:off x="548640" y="6089904"/>
            <a:ext cx="10241280" cy="256032"/>
          </a:xfrm>
          <a:prstGeom prst="rect">
            <a:avLst/>
          </a:prstGeom>
          <a:noFill/>
          <a:ln/>
        </p:spPr>
        <p:txBody>
          <a:bodyPr wrap="square" lIns="0" tIns="0" rIns="0" bIns="0" rtlCol="0" anchor="t"/>
          <a:lstStyle/>
          <a:p>
            <a:pPr algn="l" indent="0" marL="0">
              <a:buNone/>
            </a:pPr>
            <a:r>
              <a:rPr lang="en-US" sz="1000" i="1" dirty="0">
                <a:solidFill>
                  <a:srgbClr val="566175"/>
                </a:solidFill>
                <a:latin typeface="Calibri" pitchFamily="34" charset="0"/>
                <a:ea typeface="Calibri" pitchFamily="34" charset="-122"/>
                <a:cs typeface="Calibri" pitchFamily="34" charset="-120"/>
              </a:rPr>
              <a:t>Fonte: consultas 5 e 7; a matrícula conta onde fica a escola, e a população, onde mora a criança.</a:t>
            </a:r>
            <a:endParaRPr lang="en-US" sz="10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26</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childTnLst>
                          </p:cTn>
                        </p:par>
                        <p:par>
                          <p:cTn id="12" fill="hold">
                            <p:stCondLst>
                              <p:cond delay="0"/>
                            </p:stCondLst>
                            <p:childTnLst>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childTnLst>
                          </p:cTn>
                        </p:par>
                        <p:par>
                          <p:cTn id="16" fill="hold">
                            <p:stCondLst>
                              <p:cond delay="0"/>
                            </p:stCondLst>
                            <p:childTnLst>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00"/>
                                        <p:tgtEl>
                                          <p:spTgt spid="8"/>
                                        </p:tgtEl>
                                      </p:cBhvr>
                                    </p:animEffect>
                                  </p:childTnLst>
                                </p:cTn>
                              </p:par>
                            </p:childTnLst>
                          </p:cTn>
                        </p:par>
                        <p:par>
                          <p:cTn id="20" fill="hold">
                            <p:stCondLst>
                              <p:cond delay="0"/>
                            </p:stCondLst>
                            <p:childTnLst>
                              <p:par>
                                <p:cTn id="21" presetID="10" presetClass="entr" presetSubtype="0"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400"/>
                                        <p:tgtEl>
                                          <p:spTgt spid="9"/>
                                        </p:tgtEl>
                                      </p:cBhvr>
                                    </p:animEffect>
                                  </p:childTnLst>
                                </p:cTn>
                              </p:par>
                            </p:childTnLst>
                          </p:cTn>
                        </p:par>
                        <p:par>
                          <p:cTn id="24" fill="hold">
                            <p:stCondLst>
                              <p:cond delay="0"/>
                            </p:stCondLst>
                            <p:childTnLst>
                              <p:par>
                                <p:cTn id="25" presetID="10"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400"/>
                                        <p:tgtEl>
                                          <p:spTgt spid="10"/>
                                        </p:tgtEl>
                                      </p:cBhvr>
                                    </p:animEffect>
                                  </p:childTnLst>
                                </p:cTn>
                              </p:par>
                            </p:childTnLst>
                          </p:cTn>
                        </p:par>
                        <p:par>
                          <p:cTn id="28" fill="hold">
                            <p:stCondLst>
                              <p:cond delay="0"/>
                            </p:stCondLst>
                            <p:childTnLst>
                              <p:par>
                                <p:cTn id="29" presetID="10" presetClass="entr" presetSubtype="0"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00"/>
                                        <p:tgtEl>
                                          <p:spTgt spid="11"/>
                                        </p:tgtEl>
                                      </p:cBhvr>
                                    </p:animEffect>
                                  </p:childTnLst>
                                </p:cTn>
                              </p:par>
                            </p:childTnLst>
                          </p:cTn>
                        </p:par>
                        <p:par>
                          <p:cTn id="32" fill="hold">
                            <p:stCondLst>
                              <p:cond delay="0"/>
                            </p:stCondLst>
                            <p:childTnLst>
                              <p:par>
                                <p:cTn id="33" presetID="10" presetClass="entr" presetSubtype="0" fill="hold" grpId="0" nodeType="with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400"/>
                                        <p:tgtEl>
                                          <p:spTgt spid="12"/>
                                        </p:tgtEl>
                                      </p:cBhvr>
                                    </p:animEffect>
                                  </p:childTnLst>
                                </p:cTn>
                              </p:par>
                            </p:childTnLst>
                          </p:cTn>
                        </p:par>
                        <p:par>
                          <p:cTn id="36" fill="hold">
                            <p:stCondLst>
                              <p:cond delay="0"/>
                            </p:stCondLst>
                            <p:childTnLst>
                              <p:par>
                                <p:cTn id="37" presetID="10" presetClass="entr" presetSubtype="0" fill="hold" grpId="0" nodeType="withEffect">
                                  <p:stCondLst>
                                    <p:cond delay="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400"/>
                                        <p:tgtEl>
                                          <p:spTgt spid="13"/>
                                        </p:tgtEl>
                                      </p:cBhvr>
                                    </p:animEffect>
                                  </p:childTnLst>
                                </p:cTn>
                              </p:par>
                            </p:childTnLst>
                          </p:cTn>
                        </p:par>
                        <p:par>
                          <p:cTn id="40" fill="hold">
                            <p:stCondLst>
                              <p:cond delay="250"/>
                            </p:stCondLst>
                            <p:childTnLst>
                              <p:par>
                                <p:cTn id="41" presetID="10" presetClass="entr" presetSubtype="0" fill="hold" grpId="0" nodeType="withEffect">
                                  <p:stCondLst>
                                    <p:cond delay="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400"/>
                                        <p:tgtEl>
                                          <p:spTgt spid="14"/>
                                        </p:tgtEl>
                                      </p:cBhvr>
                                    </p:animEffect>
                                  </p:childTnLst>
                                </p:cTn>
                              </p:par>
                            </p:childTnLst>
                          </p:cTn>
                        </p:par>
                        <p:par>
                          <p:cTn id="44" fill="hold">
                            <p:stCondLst>
                              <p:cond delay="250"/>
                            </p:stCondLst>
                            <p:childTnLst>
                              <p:par>
                                <p:cTn id="45" presetID="10" presetClass="entr" presetSubtype="0" fill="hold" grpId="0" nodeType="withEffect">
                                  <p:stCondLst>
                                    <p:cond delay="0"/>
                                  </p:stCondLst>
                                  <p:childTnLst>
                                    <p:set>
                                      <p:cBhvr>
                                        <p:cTn id="46" dur="1" fill="hold">
                                          <p:stCondLst>
                                            <p:cond delay="0"/>
                                          </p:stCondLst>
                                        </p:cTn>
                                        <p:tgtEl>
                                          <p:spTgt spid="15"/>
                                        </p:tgtEl>
                                        <p:attrNameLst>
                                          <p:attrName>style.visibility</p:attrName>
                                        </p:attrNameLst>
                                      </p:cBhvr>
                                      <p:to>
                                        <p:strVal val="visible"/>
                                      </p:to>
                                    </p:set>
                                    <p:animEffect transition="in" filter="fade">
                                      <p:cBhvr>
                                        <p:cTn id="47" dur="400"/>
                                        <p:tgtEl>
                                          <p:spTgt spid="15"/>
                                        </p:tgtEl>
                                      </p:cBhvr>
                                    </p:animEffect>
                                  </p:childTnLst>
                                </p:cTn>
                              </p:par>
                            </p:childTnLst>
                          </p:cTn>
                        </p:par>
                        <p:par>
                          <p:cTn id="48" fill="hold">
                            <p:stCondLst>
                              <p:cond delay="250"/>
                            </p:stCondLst>
                            <p:childTnLst>
                              <p:par>
                                <p:cTn id="49" presetID="10" presetClass="entr" presetSubtype="0" fill="hold" grpId="0" nodeType="withEffect">
                                  <p:stCondLst>
                                    <p:cond delay="0"/>
                                  </p:stCondLst>
                                  <p:childTnLst>
                                    <p:set>
                                      <p:cBhvr>
                                        <p:cTn id="50" dur="1" fill="hold">
                                          <p:stCondLst>
                                            <p:cond delay="0"/>
                                          </p:stCondLst>
                                        </p:cTn>
                                        <p:tgtEl>
                                          <p:spTgt spid="16"/>
                                        </p:tgtEl>
                                        <p:attrNameLst>
                                          <p:attrName>style.visibility</p:attrName>
                                        </p:attrNameLst>
                                      </p:cBhvr>
                                      <p:to>
                                        <p:strVal val="visible"/>
                                      </p:to>
                                    </p:set>
                                    <p:animEffect transition="in" filter="fade">
                                      <p:cBhvr>
                                        <p:cTn id="51" dur="400"/>
                                        <p:tgtEl>
                                          <p:spTgt spid="16"/>
                                        </p:tgtEl>
                                      </p:cBhvr>
                                    </p:animEffect>
                                  </p:childTnLst>
                                </p:cTn>
                              </p:par>
                            </p:childTnLst>
                          </p:cTn>
                        </p:par>
                        <p:par>
                          <p:cTn id="52" fill="hold">
                            <p:stCondLst>
                              <p:cond delay="250"/>
                            </p:stCondLst>
                            <p:childTnLst>
                              <p:par>
                                <p:cTn id="53" presetID="10" presetClass="entr" presetSubtype="0" fill="hold" grpId="0" nodeType="withEffect">
                                  <p:stCondLst>
                                    <p:cond delay="0"/>
                                  </p:stCondLst>
                                  <p:childTnLst>
                                    <p:set>
                                      <p:cBhvr>
                                        <p:cTn id="54" dur="1" fill="hold">
                                          <p:stCondLst>
                                            <p:cond delay="0"/>
                                          </p:stCondLst>
                                        </p:cTn>
                                        <p:tgtEl>
                                          <p:spTgt spid="17"/>
                                        </p:tgtEl>
                                        <p:attrNameLst>
                                          <p:attrName>style.visibility</p:attrName>
                                        </p:attrNameLst>
                                      </p:cBhvr>
                                      <p:to>
                                        <p:strVal val="visible"/>
                                      </p:to>
                                    </p:set>
                                    <p:animEffect transition="in" filter="fade">
                                      <p:cBhvr>
                                        <p:cTn id="55" dur="400"/>
                                        <p:tgtEl>
                                          <p:spTgt spid="17"/>
                                        </p:tgtEl>
                                      </p:cBhvr>
                                    </p:animEffect>
                                  </p:childTnLst>
                                </p:cTn>
                              </p:par>
                            </p:childTnLst>
                          </p:cTn>
                        </p:par>
                        <p:par>
                          <p:cTn id="56" fill="hold">
                            <p:stCondLst>
                              <p:cond delay="250"/>
                            </p:stCondLst>
                            <p:childTnLst>
                              <p:par>
                                <p:cTn id="57" presetID="10" presetClass="entr" presetSubtype="0" fill="hold" grpId="0" nodeType="withEffect">
                                  <p:stCondLst>
                                    <p:cond delay="0"/>
                                  </p:stCondLst>
                                  <p:childTnLst>
                                    <p:set>
                                      <p:cBhvr>
                                        <p:cTn id="58" dur="1" fill="hold">
                                          <p:stCondLst>
                                            <p:cond delay="0"/>
                                          </p:stCondLst>
                                        </p:cTn>
                                        <p:tgtEl>
                                          <p:spTgt spid="18"/>
                                        </p:tgtEl>
                                        <p:attrNameLst>
                                          <p:attrName>style.visibility</p:attrName>
                                        </p:attrNameLst>
                                      </p:cBhvr>
                                      <p:to>
                                        <p:strVal val="visible"/>
                                      </p:to>
                                    </p:set>
                                    <p:animEffect transition="in" filter="fade">
                                      <p:cBhvr>
                                        <p:cTn id="59" dur="400"/>
                                        <p:tgtEl>
                                          <p:spTgt spid="18"/>
                                        </p:tgtEl>
                                      </p:cBhvr>
                                    </p:animEffect>
                                  </p:childTnLst>
                                </p:cTn>
                              </p:par>
                            </p:childTnLst>
                          </p:cTn>
                        </p:par>
                        <p:par>
                          <p:cTn id="60" fill="hold">
                            <p:stCondLst>
                              <p:cond delay="250"/>
                            </p:stCondLst>
                            <p:childTnLst>
                              <p:par>
                                <p:cTn id="61" presetID="10" presetClass="entr" presetSubtype="0" fill="hold" grpId="0" nodeType="withEffect">
                                  <p:stCondLst>
                                    <p:cond delay="0"/>
                                  </p:stCondLst>
                                  <p:childTnLst>
                                    <p:set>
                                      <p:cBhvr>
                                        <p:cTn id="62" dur="1" fill="hold">
                                          <p:stCondLst>
                                            <p:cond delay="0"/>
                                          </p:stCondLst>
                                        </p:cTn>
                                        <p:tgtEl>
                                          <p:spTgt spid="19"/>
                                        </p:tgtEl>
                                        <p:attrNameLst>
                                          <p:attrName>style.visibility</p:attrName>
                                        </p:attrNameLst>
                                      </p:cBhvr>
                                      <p:to>
                                        <p:strVal val="visible"/>
                                      </p:to>
                                    </p:set>
                                    <p:animEffect transition="in" filter="fade">
                                      <p:cBhvr>
                                        <p:cTn id="63" dur="400"/>
                                        <p:tgtEl>
                                          <p:spTgt spid="19"/>
                                        </p:tgtEl>
                                      </p:cBhvr>
                                    </p:animEffect>
                                  </p:childTnLst>
                                </p:cTn>
                              </p:par>
                            </p:childTnLst>
                          </p:cTn>
                        </p:par>
                        <p:par>
                          <p:cTn id="64" fill="hold">
                            <p:stCondLst>
                              <p:cond delay="250"/>
                            </p:stCondLst>
                            <p:childTnLst>
                              <p:par>
                                <p:cTn id="65" presetID="10" presetClass="entr" presetSubtype="0" fill="hold" grpId="0" nodeType="withEffect">
                                  <p:stCondLst>
                                    <p:cond delay="0"/>
                                  </p:stCondLst>
                                  <p:childTnLst>
                                    <p:set>
                                      <p:cBhvr>
                                        <p:cTn id="66" dur="1" fill="hold">
                                          <p:stCondLst>
                                            <p:cond delay="0"/>
                                          </p:stCondLst>
                                        </p:cTn>
                                        <p:tgtEl>
                                          <p:spTgt spid="20"/>
                                        </p:tgtEl>
                                        <p:attrNameLst>
                                          <p:attrName>style.visibility</p:attrName>
                                        </p:attrNameLst>
                                      </p:cBhvr>
                                      <p:to>
                                        <p:strVal val="visible"/>
                                      </p:to>
                                    </p:set>
                                    <p:animEffect transition="in" filter="fade">
                                      <p:cBhvr>
                                        <p:cTn id="67" dur="400"/>
                                        <p:tgtEl>
                                          <p:spTgt spid="20"/>
                                        </p:tgtEl>
                                      </p:cBhvr>
                                    </p:animEffect>
                                  </p:childTnLst>
                                </p:cTn>
                              </p:par>
                            </p:childTnLst>
                          </p:cTn>
                        </p:par>
                        <p:par>
                          <p:cTn id="68" fill="hold">
                            <p:stCondLst>
                              <p:cond delay="250"/>
                            </p:stCondLst>
                            <p:childTnLst>
                              <p:par>
                                <p:cTn id="69" presetID="10" presetClass="entr" presetSubtype="0" fill="hold" grpId="0" nodeType="withEffect">
                                  <p:stCondLst>
                                    <p:cond delay="0"/>
                                  </p:stCondLst>
                                  <p:childTnLst>
                                    <p:set>
                                      <p:cBhvr>
                                        <p:cTn id="70" dur="1" fill="hold">
                                          <p:stCondLst>
                                            <p:cond delay="0"/>
                                          </p:stCondLst>
                                        </p:cTn>
                                        <p:tgtEl>
                                          <p:spTgt spid="21"/>
                                        </p:tgtEl>
                                        <p:attrNameLst>
                                          <p:attrName>style.visibility</p:attrName>
                                        </p:attrNameLst>
                                      </p:cBhvr>
                                      <p:to>
                                        <p:strVal val="visible"/>
                                      </p:to>
                                    </p:set>
                                    <p:animEffect transition="in" filter="fade">
                                      <p:cBhvr>
                                        <p:cTn id="71" dur="400"/>
                                        <p:tgtEl>
                                          <p:spTgt spid="21"/>
                                        </p:tgtEl>
                                      </p:cBhvr>
                                    </p:animEffect>
                                  </p:childTnLst>
                                </p:cTn>
                              </p:par>
                            </p:childTnLst>
                          </p:cTn>
                        </p:par>
                        <p:par>
                          <p:cTn id="72" fill="hold">
                            <p:stCondLst>
                              <p:cond delay="250"/>
                            </p:stCondLst>
                            <p:childTnLst>
                              <p:par>
                                <p:cTn id="73" presetID="10" presetClass="entr" presetSubtype="0" fill="hold" grpId="0" nodeType="withEffect">
                                  <p:stCondLst>
                                    <p:cond delay="0"/>
                                  </p:stCondLst>
                                  <p:childTnLst>
                                    <p:set>
                                      <p:cBhvr>
                                        <p:cTn id="74" dur="1" fill="hold">
                                          <p:stCondLst>
                                            <p:cond delay="0"/>
                                          </p:stCondLst>
                                        </p:cTn>
                                        <p:tgtEl>
                                          <p:spTgt spid="22"/>
                                        </p:tgtEl>
                                        <p:attrNameLst>
                                          <p:attrName>style.visibility</p:attrName>
                                        </p:attrNameLst>
                                      </p:cBhvr>
                                      <p:to>
                                        <p:strVal val="visible"/>
                                      </p:to>
                                    </p:set>
                                    <p:animEffect transition="in" filter="fade">
                                      <p:cBhvr>
                                        <p:cTn id="75" dur="400"/>
                                        <p:tgtEl>
                                          <p:spTgt spid="22"/>
                                        </p:tgtEl>
                                      </p:cBhvr>
                                    </p:animEffect>
                                  </p:childTnLst>
                                </p:cTn>
                              </p:par>
                            </p:childTnLst>
                          </p:cTn>
                        </p:par>
                        <p:par>
                          <p:cTn id="76" fill="hold">
                            <p:stCondLst>
                              <p:cond delay="500"/>
                            </p:stCondLst>
                            <p:childTnLst>
                              <p:par>
                                <p:cTn id="77" presetID="10" presetClass="entr" presetSubtype="0" fill="hold" grpId="0" nodeType="withEffect">
                                  <p:stCondLst>
                                    <p:cond delay="0"/>
                                  </p:stCondLst>
                                  <p:childTnLst>
                                    <p:set>
                                      <p:cBhvr>
                                        <p:cTn id="78" dur="1" fill="hold">
                                          <p:stCondLst>
                                            <p:cond delay="0"/>
                                          </p:stCondLst>
                                        </p:cTn>
                                        <p:tgtEl>
                                          <p:spTgt spid="23"/>
                                        </p:tgtEl>
                                        <p:attrNameLst>
                                          <p:attrName>style.visibility</p:attrName>
                                        </p:attrNameLst>
                                      </p:cBhvr>
                                      <p:to>
                                        <p:strVal val="visible"/>
                                      </p:to>
                                    </p:set>
                                    <p:animEffect transition="in" filter="fade">
                                      <p:cBhvr>
                                        <p:cTn id="79" dur="400"/>
                                        <p:tgtEl>
                                          <p:spTgt spid="23"/>
                                        </p:tgtEl>
                                      </p:cBhvr>
                                    </p:animEffect>
                                  </p:childTnLst>
                                </p:cTn>
                              </p:par>
                            </p:childTnLst>
                          </p:cTn>
                        </p:par>
                        <p:par>
                          <p:cTn id="80" fill="hold">
                            <p:stCondLst>
                              <p:cond delay="500"/>
                            </p:stCondLst>
                            <p:childTnLst>
                              <p:par>
                                <p:cTn id="81" presetID="10" presetClass="entr" presetSubtype="0" fill="hold" grpId="0" nodeType="withEffect">
                                  <p:stCondLst>
                                    <p:cond delay="0"/>
                                  </p:stCondLst>
                                  <p:childTnLst>
                                    <p:set>
                                      <p:cBhvr>
                                        <p:cTn id="82" dur="1" fill="hold">
                                          <p:stCondLst>
                                            <p:cond delay="0"/>
                                          </p:stCondLst>
                                        </p:cTn>
                                        <p:tgtEl>
                                          <p:spTgt spid="24"/>
                                        </p:tgtEl>
                                        <p:attrNameLst>
                                          <p:attrName>style.visibility</p:attrName>
                                        </p:attrNameLst>
                                      </p:cBhvr>
                                      <p:to>
                                        <p:strVal val="visible"/>
                                      </p:to>
                                    </p:set>
                                    <p:animEffect transition="in" filter="fade">
                                      <p:cBhvr>
                                        <p:cTn id="83" dur="400"/>
                                        <p:tgtEl>
                                          <p:spTgt spid="24"/>
                                        </p:tgtEl>
                                      </p:cBhvr>
                                    </p:animEffect>
                                  </p:childTnLst>
                                </p:cTn>
                              </p:par>
                            </p:childTnLst>
                          </p:cTn>
                        </p:par>
                        <p:par>
                          <p:cTn id="84" fill="hold">
                            <p:stCondLst>
                              <p:cond delay="500"/>
                            </p:stCondLst>
                            <p:childTnLst>
                              <p:par>
                                <p:cTn id="85" presetID="10" presetClass="entr" presetSubtype="0" fill="hold" grpId="0" nodeType="withEffect">
                                  <p:stCondLst>
                                    <p:cond delay="0"/>
                                  </p:stCondLst>
                                  <p:childTnLst>
                                    <p:set>
                                      <p:cBhvr>
                                        <p:cTn id="86" dur="1" fill="hold">
                                          <p:stCondLst>
                                            <p:cond delay="0"/>
                                          </p:stCondLst>
                                        </p:cTn>
                                        <p:tgtEl>
                                          <p:spTgt spid="25"/>
                                        </p:tgtEl>
                                        <p:attrNameLst>
                                          <p:attrName>style.visibility</p:attrName>
                                        </p:attrNameLst>
                                      </p:cBhvr>
                                      <p:to>
                                        <p:strVal val="visible"/>
                                      </p:to>
                                    </p:set>
                                    <p:animEffect transition="in" filter="fade">
                                      <p:cBhvr>
                                        <p:cTn id="87" dur="400"/>
                                        <p:tgtEl>
                                          <p:spTgt spid="25"/>
                                        </p:tgtEl>
                                      </p:cBhvr>
                                    </p:animEffect>
                                  </p:childTnLst>
                                </p:cTn>
                              </p:par>
                            </p:childTnLst>
                          </p:cTn>
                        </p:par>
                        <p:par>
                          <p:cTn id="88" fill="hold">
                            <p:stCondLst>
                              <p:cond delay="500"/>
                            </p:stCondLst>
                            <p:childTnLst>
                              <p:par>
                                <p:cTn id="89" presetID="10" presetClass="entr" presetSubtype="0" fill="hold" grpId="0" nodeType="withEffect">
                                  <p:stCondLst>
                                    <p:cond delay="0"/>
                                  </p:stCondLst>
                                  <p:childTnLst>
                                    <p:set>
                                      <p:cBhvr>
                                        <p:cTn id="90" dur="1" fill="hold">
                                          <p:stCondLst>
                                            <p:cond delay="0"/>
                                          </p:stCondLst>
                                        </p:cTn>
                                        <p:tgtEl>
                                          <p:spTgt spid="26"/>
                                        </p:tgtEl>
                                        <p:attrNameLst>
                                          <p:attrName>style.visibility</p:attrName>
                                        </p:attrNameLst>
                                      </p:cBhvr>
                                      <p:to>
                                        <p:strVal val="visible"/>
                                      </p:to>
                                    </p:set>
                                    <p:animEffect transition="in" filter="fade">
                                      <p:cBhvr>
                                        <p:cTn id="91" dur="4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4 · PASSO 3: AS RESPOSTAS · LUÍS</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De volta à pergunta: e se fosse o seu filho?</a:t>
            </a:r>
            <a:endParaRPr lang="en-US" sz="3200" dirty="0"/>
          </a:p>
        </p:txBody>
      </p:sp>
      <p:sp>
        <p:nvSpPr>
          <p:cNvPr id="5" name="anim:1:418"/>
          <p:cNvSpPr/>
          <p:nvPr/>
        </p:nvSpPr>
        <p:spPr>
          <a:xfrm>
            <a:off x="548640" y="1554480"/>
            <a:ext cx="4846320" cy="3520440"/>
          </a:xfrm>
          <a:prstGeom prst="roundRect">
            <a:avLst>
              <a:gd name="adj" fmla="val 3117"/>
            </a:avLst>
          </a:prstGeom>
          <a:solidFill>
            <a:srgbClr val="1B2A4A"/>
          </a:solidFill>
          <a:ln w="9525">
            <a:solidFill>
              <a:srgbClr val="1B2A4A"/>
            </a:solidFill>
            <a:prstDash val="solid"/>
          </a:ln>
          <a:effectLst>
            <a:outerShdw sx="100000" sy="100000" kx="0" ky="0" algn="bl" rotWithShape="0" blurRad="101600" dist="25400" dir="5400000">
              <a:srgbClr val="1B2A4A">
                <a:alpha val="14000"/>
              </a:srgbClr>
            </a:outerShdw>
          </a:effectLst>
        </p:spPr>
      </p:sp>
      <p:sp>
        <p:nvSpPr>
          <p:cNvPr id="6" name="anim:1:419"/>
          <p:cNvSpPr/>
          <p:nvPr/>
        </p:nvSpPr>
        <p:spPr>
          <a:xfrm>
            <a:off x="822960" y="1783080"/>
            <a:ext cx="2240280" cy="310896"/>
          </a:xfrm>
          <a:prstGeom prst="roundRect">
            <a:avLst>
              <a:gd name="adj" fmla="val 50000"/>
            </a:avLst>
          </a:prstGeom>
          <a:solidFill>
            <a:srgbClr val="F2A541"/>
          </a:solidFill>
          <a:ln w="12700">
            <a:solidFill>
              <a:srgbClr val="F2A541"/>
            </a:solidFill>
            <a:prstDash val="solid"/>
          </a:ln>
        </p:spPr>
      </p:sp>
      <p:sp>
        <p:nvSpPr>
          <p:cNvPr id="7" name="anim:1:420"/>
          <p:cNvSpPr txBox="1"/>
          <p:nvPr/>
        </p:nvSpPr>
        <p:spPr>
          <a:xfrm>
            <a:off x="822960" y="1783080"/>
            <a:ext cx="2240280" cy="310896"/>
          </a:xfrm>
          <a:prstGeom prst="rect">
            <a:avLst/>
          </a:prstGeom>
          <a:noFill/>
          <a:ln/>
        </p:spPr>
        <p:txBody>
          <a:bodyPr wrap="square" lIns="0" tIns="0" rIns="0" bIns="0" rtlCol="0" anchor="ctr"/>
          <a:lstStyle/>
          <a:p>
            <a:pPr algn="ctr" indent="0" marL="0">
              <a:buNone/>
            </a:pPr>
            <a:r>
              <a:rPr lang="en-US" sz="1200" b="1" dirty="0">
                <a:solidFill>
                  <a:srgbClr val="1B2A4A"/>
                </a:solidFill>
                <a:latin typeface="Calibri" pitchFamily="34" charset="0"/>
                <a:ea typeface="Calibri" pitchFamily="34" charset="-122"/>
                <a:cs typeface="Calibri" pitchFamily="34" charset="-120"/>
              </a:rPr>
              <a:t>CENÁRIO HIPOTÉTICO</a:t>
            </a:r>
            <a:endParaRPr lang="en-US" sz="1200" dirty="0"/>
          </a:p>
        </p:txBody>
      </p:sp>
      <p:sp>
        <p:nvSpPr>
          <p:cNvPr id="8" name="anim:2:421"/>
          <p:cNvSpPr/>
          <p:nvPr/>
        </p:nvSpPr>
        <p:spPr>
          <a:xfrm>
            <a:off x="822960" y="2468880"/>
            <a:ext cx="457200" cy="457200"/>
          </a:xfrm>
          <a:prstGeom prst="ellipse">
            <a:avLst/>
          </a:prstGeom>
          <a:solidFill>
            <a:srgbClr val="F2A541"/>
          </a:solidFill>
          <a:ln w="12700">
            <a:solidFill>
              <a:srgbClr val="F2A541"/>
            </a:solidFill>
            <a:prstDash val="solid"/>
          </a:ln>
        </p:spPr>
      </p:sp>
      <p:sp>
        <p:nvSpPr>
          <p:cNvPr id="9" name="anim:2:422"/>
          <p:cNvSpPr txBox="1"/>
          <p:nvPr/>
        </p:nvSpPr>
        <p:spPr>
          <a:xfrm>
            <a:off x="822960" y="2468880"/>
            <a:ext cx="457200" cy="457200"/>
          </a:xfrm>
          <a:prstGeom prst="rect">
            <a:avLst/>
          </a:prstGeom>
          <a:noFill/>
          <a:ln/>
        </p:spPr>
        <p:txBody>
          <a:bodyPr wrap="square" lIns="0" tIns="0" rIns="0" bIns="0" rtlCol="0" anchor="ctr"/>
          <a:lstStyle/>
          <a:p>
            <a:pPr algn="ctr" indent="0" marL="0">
              <a:buNone/>
            </a:pPr>
            <a:r>
              <a:rPr lang="en-US" sz="1400" b="1" dirty="0">
                <a:solidFill>
                  <a:srgbClr val="1B2A4A"/>
                </a:solidFill>
                <a:latin typeface="Calibri" pitchFamily="34" charset="0"/>
                <a:ea typeface="Calibri" pitchFamily="34" charset="-122"/>
                <a:cs typeface="Calibri" pitchFamily="34" charset="-120"/>
              </a:rPr>
              <a:t>1</a:t>
            </a:r>
            <a:endParaRPr lang="en-US" sz="1400" dirty="0"/>
          </a:p>
        </p:txBody>
      </p:sp>
      <p:sp>
        <p:nvSpPr>
          <p:cNvPr id="10" name="anim:2:423"/>
          <p:cNvSpPr txBox="1"/>
          <p:nvPr/>
        </p:nvSpPr>
        <p:spPr>
          <a:xfrm>
            <a:off x="1463040" y="2377440"/>
            <a:ext cx="3703320" cy="685800"/>
          </a:xfrm>
          <a:prstGeom prst="rect">
            <a:avLst/>
          </a:prstGeom>
          <a:noFill/>
          <a:ln/>
        </p:spPr>
        <p:txBody>
          <a:bodyPr wrap="square" lIns="0" tIns="0" rIns="0" bIns="0" rtlCol="0" anchor="ctr"/>
          <a:lstStyle/>
          <a:p>
            <a:pPr algn="l" indent="0" marL="0">
              <a:buNone/>
            </a:pPr>
            <a:r>
              <a:rPr lang="en-US" sz="1600" dirty="0">
                <a:solidFill>
                  <a:srgbClr val="FFFFFF"/>
                </a:solidFill>
                <a:latin typeface="Calibri" pitchFamily="34" charset="0"/>
                <a:ea typeface="Calibri" pitchFamily="34" charset="-122"/>
                <a:cs typeface="Calibri" pitchFamily="34" charset="-120"/>
              </a:rPr>
              <a:t>A prefeitura abre vagas de creche onde a fila resiste, como no Tremembé.</a:t>
            </a:r>
            <a:endParaRPr lang="en-US" sz="1600" dirty="0"/>
          </a:p>
        </p:txBody>
      </p:sp>
      <p:sp>
        <p:nvSpPr>
          <p:cNvPr id="11" name="anim:3:424"/>
          <p:cNvSpPr/>
          <p:nvPr/>
        </p:nvSpPr>
        <p:spPr>
          <a:xfrm>
            <a:off x="822960" y="3337560"/>
            <a:ext cx="457200" cy="457200"/>
          </a:xfrm>
          <a:prstGeom prst="ellipse">
            <a:avLst/>
          </a:prstGeom>
          <a:solidFill>
            <a:srgbClr val="F2A541"/>
          </a:solidFill>
          <a:ln w="12700">
            <a:solidFill>
              <a:srgbClr val="F2A541"/>
            </a:solidFill>
            <a:prstDash val="solid"/>
          </a:ln>
        </p:spPr>
      </p:sp>
      <p:sp>
        <p:nvSpPr>
          <p:cNvPr id="12" name="anim:3:425"/>
          <p:cNvSpPr txBox="1"/>
          <p:nvPr/>
        </p:nvSpPr>
        <p:spPr>
          <a:xfrm>
            <a:off x="822960" y="3337560"/>
            <a:ext cx="457200" cy="457200"/>
          </a:xfrm>
          <a:prstGeom prst="rect">
            <a:avLst/>
          </a:prstGeom>
          <a:noFill/>
          <a:ln/>
        </p:spPr>
        <p:txBody>
          <a:bodyPr wrap="square" lIns="0" tIns="0" rIns="0" bIns="0" rtlCol="0" anchor="ctr"/>
          <a:lstStyle/>
          <a:p>
            <a:pPr algn="ctr" indent="0" marL="0">
              <a:buNone/>
            </a:pPr>
            <a:r>
              <a:rPr lang="en-US" sz="1400" b="1" dirty="0">
                <a:solidFill>
                  <a:srgbClr val="1B2A4A"/>
                </a:solidFill>
                <a:latin typeface="Calibri" pitchFamily="34" charset="0"/>
                <a:ea typeface="Calibri" pitchFamily="34" charset="-122"/>
                <a:cs typeface="Calibri" pitchFamily="34" charset="-120"/>
              </a:rPr>
              <a:t>2</a:t>
            </a:r>
            <a:endParaRPr lang="en-US" sz="1400" dirty="0"/>
          </a:p>
        </p:txBody>
      </p:sp>
      <p:sp>
        <p:nvSpPr>
          <p:cNvPr id="13" name="anim:3:426"/>
          <p:cNvSpPr txBox="1"/>
          <p:nvPr/>
        </p:nvSpPr>
        <p:spPr>
          <a:xfrm>
            <a:off x="1463040" y="3246120"/>
            <a:ext cx="3703320" cy="685800"/>
          </a:xfrm>
          <a:prstGeom prst="rect">
            <a:avLst/>
          </a:prstGeom>
          <a:noFill/>
          <a:ln/>
        </p:spPr>
        <p:txBody>
          <a:bodyPr wrap="square" lIns="0" tIns="0" rIns="0" bIns="0" rtlCol="0" anchor="ctr"/>
          <a:lstStyle/>
          <a:p>
            <a:pPr algn="l" indent="0" marL="0">
              <a:buNone/>
            </a:pPr>
            <a:r>
              <a:rPr lang="en-US" sz="1600" dirty="0">
                <a:solidFill>
                  <a:srgbClr val="FFFFFF"/>
                </a:solidFill>
                <a:latin typeface="Calibri" pitchFamily="34" charset="0"/>
                <a:ea typeface="Calibri" pitchFamily="34" charset="-122"/>
                <a:cs typeface="Calibri" pitchFamily="34" charset="-120"/>
              </a:rPr>
              <a:t>A criança sai da fila e vira uma linha do fato Matrícula.</a:t>
            </a:r>
            <a:endParaRPr lang="en-US" sz="1600" dirty="0"/>
          </a:p>
        </p:txBody>
      </p:sp>
      <p:sp>
        <p:nvSpPr>
          <p:cNvPr id="14" name="anim:4:427"/>
          <p:cNvSpPr/>
          <p:nvPr/>
        </p:nvSpPr>
        <p:spPr>
          <a:xfrm>
            <a:off x="822960" y="4206240"/>
            <a:ext cx="457200" cy="457200"/>
          </a:xfrm>
          <a:prstGeom prst="ellipse">
            <a:avLst/>
          </a:prstGeom>
          <a:solidFill>
            <a:srgbClr val="F2A541"/>
          </a:solidFill>
          <a:ln w="12700">
            <a:solidFill>
              <a:srgbClr val="F2A541"/>
            </a:solidFill>
            <a:prstDash val="solid"/>
          </a:ln>
        </p:spPr>
      </p:sp>
      <p:sp>
        <p:nvSpPr>
          <p:cNvPr id="15" name="anim:4:428"/>
          <p:cNvSpPr txBox="1"/>
          <p:nvPr/>
        </p:nvSpPr>
        <p:spPr>
          <a:xfrm>
            <a:off x="822960" y="4206240"/>
            <a:ext cx="457200" cy="457200"/>
          </a:xfrm>
          <a:prstGeom prst="rect">
            <a:avLst/>
          </a:prstGeom>
          <a:noFill/>
          <a:ln/>
        </p:spPr>
        <p:txBody>
          <a:bodyPr wrap="square" lIns="0" tIns="0" rIns="0" bIns="0" rtlCol="0" anchor="ctr"/>
          <a:lstStyle/>
          <a:p>
            <a:pPr algn="ctr" indent="0" marL="0">
              <a:buNone/>
            </a:pPr>
            <a:r>
              <a:rPr lang="en-US" sz="1400" b="1" dirty="0">
                <a:solidFill>
                  <a:srgbClr val="1B2A4A"/>
                </a:solidFill>
                <a:latin typeface="Calibri" pitchFamily="34" charset="0"/>
                <a:ea typeface="Calibri" pitchFamily="34" charset="-122"/>
                <a:cs typeface="Calibri" pitchFamily="34" charset="-120"/>
              </a:rPr>
              <a:t>3</a:t>
            </a:r>
            <a:endParaRPr lang="en-US" sz="1400" dirty="0"/>
          </a:p>
        </p:txBody>
      </p:sp>
      <p:sp>
        <p:nvSpPr>
          <p:cNvPr id="16" name="anim:4:429"/>
          <p:cNvSpPr txBox="1"/>
          <p:nvPr/>
        </p:nvSpPr>
        <p:spPr>
          <a:xfrm>
            <a:off x="1463040" y="4114800"/>
            <a:ext cx="3703320" cy="685800"/>
          </a:xfrm>
          <a:prstGeom prst="rect">
            <a:avLst/>
          </a:prstGeom>
          <a:noFill/>
          <a:ln/>
        </p:spPr>
        <p:txBody>
          <a:bodyPr wrap="square" lIns="0" tIns="0" rIns="0" bIns="0" rtlCol="0" anchor="ctr"/>
          <a:lstStyle/>
          <a:p>
            <a:pPr algn="l" indent="0" marL="0">
              <a:buNone/>
            </a:pPr>
            <a:r>
              <a:rPr lang="en-US" sz="1600" dirty="0">
                <a:solidFill>
                  <a:srgbClr val="FFFFFF"/>
                </a:solidFill>
                <a:latin typeface="Calibri" pitchFamily="34" charset="0"/>
                <a:ea typeface="Calibri" pitchFamily="34" charset="-122"/>
                <a:cs typeface="Calibri" pitchFamily="34" charset="-120"/>
              </a:rPr>
              <a:t>A família volta a trabalhar com o filho na creche.</a:t>
            </a:r>
            <a:endParaRPr lang="en-US" sz="1600" dirty="0"/>
          </a:p>
        </p:txBody>
      </p:sp>
      <p:sp>
        <p:nvSpPr>
          <p:cNvPr id="17" name="anim:5:430"/>
          <p:cNvSpPr/>
          <p:nvPr/>
        </p:nvSpPr>
        <p:spPr>
          <a:xfrm>
            <a:off x="5623560" y="1554480"/>
            <a:ext cx="5989320" cy="3520440"/>
          </a:xfrm>
          <a:prstGeom prst="roundRect">
            <a:avLst>
              <a:gd name="adj" fmla="val 3117"/>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18" name="anim:5:431"/>
          <p:cNvSpPr txBox="1"/>
          <p:nvPr/>
        </p:nvSpPr>
        <p:spPr>
          <a:xfrm>
            <a:off x="5897880" y="1755648"/>
            <a:ext cx="5394960" cy="274320"/>
          </a:xfrm>
          <a:prstGeom prst="rect">
            <a:avLst/>
          </a:prstGeom>
          <a:noFill/>
          <a:ln/>
        </p:spPr>
        <p:txBody>
          <a:bodyPr wrap="square" lIns="0" tIns="0" rIns="0" bIns="0" rtlCol="0" anchor="t"/>
          <a:lstStyle/>
          <a:p>
            <a:pPr algn="l" indent="0" marL="0">
              <a:buNone/>
            </a:pPr>
            <a:r>
              <a:rPr lang="en-US" sz="1200" b="1" spc="100" kern="0" dirty="0">
                <a:solidFill>
                  <a:srgbClr val="566175"/>
                </a:solidFill>
                <a:latin typeface="Calibri" pitchFamily="34" charset="0"/>
                <a:ea typeface="Calibri" pitchFamily="34" charset="-122"/>
                <a:cs typeface="Calibri" pitchFamily="34" charset="-120"/>
              </a:rPr>
              <a:t>O QUE A PROPOSTA ENTREGA</a:t>
            </a:r>
            <a:endParaRPr lang="en-US" sz="1200" dirty="0"/>
          </a:p>
        </p:txBody>
      </p:sp>
      <p:sp>
        <p:nvSpPr>
          <p:cNvPr id="19" name="anim:6:432"/>
          <p:cNvSpPr txBox="1"/>
          <p:nvPr/>
        </p:nvSpPr>
        <p:spPr>
          <a:xfrm>
            <a:off x="5897880" y="2148840"/>
            <a:ext cx="5440680" cy="320040"/>
          </a:xfrm>
          <a:prstGeom prst="rect">
            <a:avLst/>
          </a:prstGeom>
          <a:noFill/>
          <a:ln/>
        </p:spPr>
        <p:txBody>
          <a:bodyPr wrap="square" lIns="0" tIns="0" rIns="0" bIns="0" rtlCol="0" anchor="t"/>
          <a:lstStyle/>
          <a:p>
            <a:pPr algn="l" indent="0" marL="0">
              <a:buNone/>
            </a:pPr>
            <a:r>
              <a:rPr lang="en-US" sz="1500" b="1" dirty="0">
                <a:solidFill>
                  <a:srgbClr val="1B2A4A"/>
                </a:solidFill>
                <a:latin typeface="Calibri" pitchFamily="34" charset="0"/>
                <a:ea typeface="Calibri" pitchFamily="34" charset="-122"/>
                <a:cs typeface="Calibri" pitchFamily="34" charset="-120"/>
              </a:rPr>
              <a:t>Uma consulta no lugar de três bases</a:t>
            </a:r>
            <a:endParaRPr lang="en-US" sz="1500" dirty="0"/>
          </a:p>
        </p:txBody>
      </p:sp>
      <p:sp>
        <p:nvSpPr>
          <p:cNvPr id="20" name="anim:6:433"/>
          <p:cNvSpPr txBox="1"/>
          <p:nvPr/>
        </p:nvSpPr>
        <p:spPr>
          <a:xfrm>
            <a:off x="5897880" y="2450592"/>
            <a:ext cx="5440680" cy="320040"/>
          </a:xfrm>
          <a:prstGeom prst="rect">
            <a:avLst/>
          </a:prstGeom>
          <a:noFill/>
          <a:ln/>
        </p:spPr>
        <p:txBody>
          <a:bodyPr wrap="square" lIns="0" tIns="0" rIns="0" bIns="0" rtlCol="0" anchor="t"/>
          <a:lstStyle/>
          <a:p>
            <a:pPr algn="l" indent="0" marL="0">
              <a:buNone/>
            </a:pPr>
            <a:r>
              <a:rPr lang="en-US" sz="1300" dirty="0">
                <a:solidFill>
                  <a:srgbClr val="1F2937"/>
                </a:solidFill>
                <a:latin typeface="Calibri" pitchFamily="34" charset="0"/>
                <a:ea typeface="Calibri" pitchFamily="34" charset="-122"/>
                <a:cs typeface="Calibri" pitchFamily="34" charset="-120"/>
              </a:rPr>
              <a:t>fila, matrícula, ocupação e população lado a lado, por distrito</a:t>
            </a:r>
            <a:endParaRPr lang="en-US" sz="1300" dirty="0"/>
          </a:p>
        </p:txBody>
      </p:sp>
      <p:sp>
        <p:nvSpPr>
          <p:cNvPr id="21" name="anim:7:434"/>
          <p:cNvSpPr txBox="1"/>
          <p:nvPr/>
        </p:nvSpPr>
        <p:spPr>
          <a:xfrm>
            <a:off x="5897880" y="2862072"/>
            <a:ext cx="5440680" cy="320040"/>
          </a:xfrm>
          <a:prstGeom prst="rect">
            <a:avLst/>
          </a:prstGeom>
          <a:noFill/>
          <a:ln/>
        </p:spPr>
        <p:txBody>
          <a:bodyPr wrap="square" lIns="0" tIns="0" rIns="0" bIns="0" rtlCol="0" anchor="t"/>
          <a:lstStyle/>
          <a:p>
            <a:pPr algn="l" indent="0" marL="0">
              <a:buNone/>
            </a:pPr>
            <a:r>
              <a:rPr lang="en-US" sz="1500" b="1" dirty="0">
                <a:solidFill>
                  <a:srgbClr val="1B2A4A"/>
                </a:solidFill>
                <a:latin typeface="Calibri" pitchFamily="34" charset="0"/>
                <a:ea typeface="Calibri" pitchFamily="34" charset="-122"/>
                <a:cs typeface="Calibri" pitchFamily="34" charset="-120"/>
              </a:rPr>
              <a:t>Respostas em menos de um segundo</a:t>
            </a:r>
            <a:endParaRPr lang="en-US" sz="1500" dirty="0"/>
          </a:p>
        </p:txBody>
      </p:sp>
      <p:sp>
        <p:nvSpPr>
          <p:cNvPr id="22" name="anim:7:435"/>
          <p:cNvSpPr txBox="1"/>
          <p:nvPr/>
        </p:nvSpPr>
        <p:spPr>
          <a:xfrm>
            <a:off x="5897880" y="3163824"/>
            <a:ext cx="5440680" cy="320040"/>
          </a:xfrm>
          <a:prstGeom prst="rect">
            <a:avLst/>
          </a:prstGeom>
          <a:noFill/>
          <a:ln/>
        </p:spPr>
        <p:txBody>
          <a:bodyPr wrap="square" lIns="0" tIns="0" rIns="0" bIns="0" rtlCol="0" anchor="t"/>
          <a:lstStyle/>
          <a:p>
            <a:pPr algn="l" indent="0" marL="0">
              <a:buNone/>
            </a:pPr>
            <a:r>
              <a:rPr lang="en-US" sz="1300" dirty="0">
                <a:solidFill>
                  <a:srgbClr val="1F2937"/>
                </a:solidFill>
                <a:latin typeface="Calibri" pitchFamily="34" charset="0"/>
                <a:ea typeface="Calibri" pitchFamily="34" charset="-122"/>
                <a:cs typeface="Calibri" pitchFamily="34" charset="-120"/>
              </a:rPr>
              <a:t>as oito consultas rodam em 0,42 s sobre os dados reais</a:t>
            </a:r>
            <a:endParaRPr lang="en-US" sz="1300" dirty="0"/>
          </a:p>
        </p:txBody>
      </p:sp>
      <p:sp>
        <p:nvSpPr>
          <p:cNvPr id="23" name="anim:8:436"/>
          <p:cNvSpPr txBox="1"/>
          <p:nvPr/>
        </p:nvSpPr>
        <p:spPr>
          <a:xfrm>
            <a:off x="5897880" y="3575304"/>
            <a:ext cx="5440680" cy="320040"/>
          </a:xfrm>
          <a:prstGeom prst="rect">
            <a:avLst/>
          </a:prstGeom>
          <a:noFill/>
          <a:ln/>
        </p:spPr>
        <p:txBody>
          <a:bodyPr wrap="square" lIns="0" tIns="0" rIns="0" bIns="0" rtlCol="0" anchor="t"/>
          <a:lstStyle/>
          <a:p>
            <a:pPr algn="l" indent="0" marL="0">
              <a:buNone/>
            </a:pPr>
            <a:r>
              <a:rPr lang="en-US" sz="1500" b="1" dirty="0">
                <a:solidFill>
                  <a:srgbClr val="1B2A4A"/>
                </a:solidFill>
                <a:latin typeface="Calibri" pitchFamily="34" charset="0"/>
                <a:ea typeface="Calibri" pitchFamily="34" charset="-122"/>
                <a:cs typeface="Calibri" pitchFamily="34" charset="-120"/>
              </a:rPr>
              <a:t>Números conferidos</a:t>
            </a:r>
            <a:endParaRPr lang="en-US" sz="1500" dirty="0"/>
          </a:p>
        </p:txBody>
      </p:sp>
      <p:sp>
        <p:nvSpPr>
          <p:cNvPr id="24" name="anim:8:437"/>
          <p:cNvSpPr txBox="1"/>
          <p:nvPr/>
        </p:nvSpPr>
        <p:spPr>
          <a:xfrm>
            <a:off x="5897880" y="3877056"/>
            <a:ext cx="5440680" cy="320040"/>
          </a:xfrm>
          <a:prstGeom prst="rect">
            <a:avLst/>
          </a:prstGeom>
          <a:noFill/>
          <a:ln/>
        </p:spPr>
        <p:txBody>
          <a:bodyPr wrap="square" lIns="0" tIns="0" rIns="0" bIns="0" rtlCol="0" anchor="t"/>
          <a:lstStyle/>
          <a:p>
            <a:pPr algn="l" indent="0" marL="0">
              <a:buNone/>
            </a:pPr>
            <a:r>
              <a:rPr lang="en-US" sz="1300" dirty="0">
                <a:solidFill>
                  <a:srgbClr val="1F2937"/>
                </a:solidFill>
                <a:latin typeface="Calibri" pitchFamily="34" charset="0"/>
                <a:ea typeface="Calibri" pitchFamily="34" charset="-122"/>
                <a:cs typeface="Calibri" pitchFamily="34" charset="-120"/>
              </a:rPr>
              <a:t>14 verificações a cada carga e a contagem em dobro à vista</a:t>
            </a:r>
            <a:endParaRPr lang="en-US" sz="1300" dirty="0"/>
          </a:p>
        </p:txBody>
      </p:sp>
      <p:sp>
        <p:nvSpPr>
          <p:cNvPr id="25" name="anim:9:438"/>
          <p:cNvSpPr txBox="1"/>
          <p:nvPr/>
        </p:nvSpPr>
        <p:spPr>
          <a:xfrm>
            <a:off x="5897880" y="4288536"/>
            <a:ext cx="5440680" cy="320040"/>
          </a:xfrm>
          <a:prstGeom prst="rect">
            <a:avLst/>
          </a:prstGeom>
          <a:noFill/>
          <a:ln/>
        </p:spPr>
        <p:txBody>
          <a:bodyPr wrap="square" lIns="0" tIns="0" rIns="0" bIns="0" rtlCol="0" anchor="t"/>
          <a:lstStyle/>
          <a:p>
            <a:pPr algn="l" indent="0" marL="0">
              <a:buNone/>
            </a:pPr>
            <a:r>
              <a:rPr lang="en-US" sz="1500" b="1" dirty="0">
                <a:solidFill>
                  <a:srgbClr val="1B2A4A"/>
                </a:solidFill>
                <a:latin typeface="Calibri" pitchFamily="34" charset="0"/>
                <a:ea typeface="Calibri" pitchFamily="34" charset="-122"/>
                <a:cs typeface="Calibri" pitchFamily="34" charset="-120"/>
              </a:rPr>
              <a:t>Dez anos de histórico</a:t>
            </a:r>
            <a:endParaRPr lang="en-US" sz="1500" dirty="0"/>
          </a:p>
        </p:txBody>
      </p:sp>
      <p:sp>
        <p:nvSpPr>
          <p:cNvPr id="26" name="anim:9:439"/>
          <p:cNvSpPr txBox="1"/>
          <p:nvPr/>
        </p:nvSpPr>
        <p:spPr>
          <a:xfrm>
            <a:off x="5897880" y="4590288"/>
            <a:ext cx="5440680" cy="320040"/>
          </a:xfrm>
          <a:prstGeom prst="rect">
            <a:avLst/>
          </a:prstGeom>
          <a:noFill/>
          <a:ln/>
        </p:spPr>
        <p:txBody>
          <a:bodyPr wrap="square" lIns="0" tIns="0" rIns="0" bIns="0" rtlCol="0" anchor="t"/>
          <a:lstStyle/>
          <a:p>
            <a:pPr algn="l" indent="0" marL="0">
              <a:buNone/>
            </a:pPr>
            <a:r>
              <a:rPr lang="en-US" sz="1300" dirty="0">
                <a:solidFill>
                  <a:srgbClr val="1F2937"/>
                </a:solidFill>
                <a:latin typeface="Calibri" pitchFamily="34" charset="0"/>
                <a:ea typeface="Calibri" pitchFamily="34" charset="-122"/>
                <a:cs typeface="Calibri" pitchFamily="34" charset="-120"/>
              </a:rPr>
              <a:t>onde a fila caiu e onde ela resiste</a:t>
            </a:r>
            <a:endParaRPr lang="en-US" sz="1300" dirty="0"/>
          </a:p>
        </p:txBody>
      </p:sp>
      <p:sp>
        <p:nvSpPr>
          <p:cNvPr id="27" name="anim:10:440"/>
          <p:cNvSpPr/>
          <p:nvPr/>
        </p:nvSpPr>
        <p:spPr>
          <a:xfrm>
            <a:off x="548640" y="5257800"/>
            <a:ext cx="11064240" cy="731520"/>
          </a:xfrm>
          <a:prstGeom prst="roundRect">
            <a:avLst>
              <a:gd name="adj" fmla="val 15000"/>
            </a:avLst>
          </a:prstGeom>
          <a:solidFill>
            <a:srgbClr val="EEF2F8"/>
          </a:solidFill>
          <a:ln w="9525">
            <a:solidFill>
              <a:srgbClr val="EEF2F8"/>
            </a:solidFill>
            <a:prstDash val="solid"/>
          </a:ln>
        </p:spPr>
      </p:sp>
      <p:sp>
        <p:nvSpPr>
          <p:cNvPr id="28" name="anim:10:441"/>
          <p:cNvSpPr/>
          <p:nvPr/>
        </p:nvSpPr>
        <p:spPr>
          <a:xfrm>
            <a:off x="777240" y="5376672"/>
            <a:ext cx="493776" cy="493776"/>
          </a:xfrm>
          <a:prstGeom prst="ellipse">
            <a:avLst/>
          </a:prstGeom>
          <a:solidFill>
            <a:srgbClr val="F2A541"/>
          </a:solidFill>
          <a:ln w="12700">
            <a:solidFill>
              <a:srgbClr val="F2A541"/>
            </a:solidFill>
            <a:prstDash val="solid"/>
          </a:ln>
        </p:spPr>
      </p:sp>
      <p:sp>
        <p:nvSpPr>
          <p:cNvPr id="29" name="anim:10:442"/>
          <p:cNvSpPr txBox="1"/>
          <p:nvPr/>
        </p:nvSpPr>
        <p:spPr>
          <a:xfrm>
            <a:off x="777240" y="5376672"/>
            <a:ext cx="493776" cy="493776"/>
          </a:xfrm>
          <a:prstGeom prst="rect">
            <a:avLst/>
          </a:prstGeom>
          <a:noFill/>
          <a:ln/>
        </p:spPr>
        <p:txBody>
          <a:bodyPr wrap="square" lIns="0" tIns="0" rIns="0" bIns="0" rtlCol="0" anchor="ctr"/>
          <a:lstStyle/>
          <a:p>
            <a:pPr algn="ctr" indent="0" marL="0">
              <a:buNone/>
            </a:pPr>
            <a:r>
              <a:rPr lang="en-US" sz="1600" b="1" dirty="0">
                <a:solidFill>
                  <a:srgbClr val="1B2A4A"/>
                </a:solidFill>
                <a:latin typeface="Calibri" pitchFamily="34" charset="0"/>
                <a:ea typeface="Calibri" pitchFamily="34" charset="-122"/>
                <a:cs typeface="Calibri" pitchFamily="34" charset="-120"/>
              </a:rPr>
              <a:t>✓</a:t>
            </a:r>
            <a:endParaRPr lang="en-US" sz="1600" dirty="0"/>
          </a:p>
        </p:txBody>
      </p:sp>
      <p:sp>
        <p:nvSpPr>
          <p:cNvPr id="30" name="anim:10:443"/>
          <p:cNvSpPr txBox="1"/>
          <p:nvPr/>
        </p:nvSpPr>
        <p:spPr>
          <a:xfrm>
            <a:off x="1463040" y="5257800"/>
            <a:ext cx="9966960" cy="731520"/>
          </a:xfrm>
          <a:prstGeom prst="rect">
            <a:avLst/>
          </a:prstGeom>
          <a:noFill/>
          <a:ln/>
        </p:spPr>
        <p:txBody>
          <a:bodyPr wrap="square" lIns="0" tIns="0" rIns="0" bIns="0" rtlCol="0" anchor="ctr"/>
          <a:lstStyle/>
          <a:p>
            <a:pPr algn="l" indent="0" marL="0">
              <a:buNone/>
            </a:pPr>
            <a:r>
              <a:rPr lang="en-US" sz="1500" b="1" dirty="0">
                <a:solidFill>
                  <a:srgbClr val="1B2A4A"/>
                </a:solidFill>
                <a:latin typeface="Calibri" pitchFamily="34" charset="0"/>
                <a:ea typeface="Calibri" pitchFamily="34" charset="-122"/>
                <a:cs typeface="Calibri" pitchFamily="34" charset="-120"/>
              </a:rPr>
              <a:t>Cada vaga aberta no lugar certo é uma criança a menos na fila.</a:t>
            </a:r>
            <a:endParaRPr lang="en-US" sz="1500" dirty="0"/>
          </a:p>
        </p:txBody>
      </p:sp>
      <p:sp>
        <p:nvSpPr>
          <p:cNvPr id="31" name="Text 28"/>
          <p:cNvSpPr txBox="1"/>
          <p:nvPr/>
        </p:nvSpPr>
        <p:spPr>
          <a:xfrm>
            <a:off x="548640" y="6089904"/>
            <a:ext cx="10241280" cy="256032"/>
          </a:xfrm>
          <a:prstGeom prst="rect">
            <a:avLst/>
          </a:prstGeom>
          <a:noFill/>
          <a:ln/>
        </p:spPr>
        <p:txBody>
          <a:bodyPr wrap="square" lIns="0" tIns="0" rIns="0" bIns="0" rtlCol="0" anchor="t"/>
          <a:lstStyle/>
          <a:p>
            <a:pPr algn="l" indent="0" marL="0">
              <a:buNone/>
            </a:pPr>
            <a:r>
              <a:rPr lang="en-US" sz="1000" i="1" dirty="0">
                <a:solidFill>
                  <a:srgbClr val="566175"/>
                </a:solidFill>
                <a:latin typeface="Calibri" pitchFamily="34" charset="0"/>
                <a:ea typeface="Calibri" pitchFamily="34" charset="-122"/>
                <a:cs typeface="Calibri" pitchFamily="34" charset="-120"/>
              </a:rPr>
              <a:t>Cenário hipotético. Números reais das consultas 5, 7 e 8 e da nossa carga.</a:t>
            </a:r>
            <a:endParaRPr lang="en-US" sz="10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27</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childTnLst>
                          </p:cTn>
                        </p:par>
                        <p:par>
                          <p:cTn id="12" fill="hold">
                            <p:stCondLst>
                              <p:cond delay="0"/>
                            </p:stCondLst>
                            <p:childTnLst>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childTnLst>
                          </p:cTn>
                        </p:par>
                        <p:par>
                          <p:cTn id="16" fill="hold">
                            <p:stCondLst>
                              <p:cond delay="250"/>
                            </p:stCondLst>
                            <p:childTnLst>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00"/>
                                        <p:tgtEl>
                                          <p:spTgt spid="8"/>
                                        </p:tgtEl>
                                      </p:cBhvr>
                                    </p:animEffect>
                                  </p:childTnLst>
                                </p:cTn>
                              </p:par>
                            </p:childTnLst>
                          </p:cTn>
                        </p:par>
                        <p:par>
                          <p:cTn id="20" fill="hold">
                            <p:stCondLst>
                              <p:cond delay="250"/>
                            </p:stCondLst>
                            <p:childTnLst>
                              <p:par>
                                <p:cTn id="21" presetID="10" presetClass="entr" presetSubtype="0"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400"/>
                                        <p:tgtEl>
                                          <p:spTgt spid="9"/>
                                        </p:tgtEl>
                                      </p:cBhvr>
                                    </p:animEffect>
                                  </p:childTnLst>
                                </p:cTn>
                              </p:par>
                            </p:childTnLst>
                          </p:cTn>
                        </p:par>
                        <p:par>
                          <p:cTn id="24" fill="hold">
                            <p:stCondLst>
                              <p:cond delay="250"/>
                            </p:stCondLst>
                            <p:childTnLst>
                              <p:par>
                                <p:cTn id="25" presetID="10"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400"/>
                                        <p:tgtEl>
                                          <p:spTgt spid="10"/>
                                        </p:tgtEl>
                                      </p:cBhvr>
                                    </p:animEffect>
                                  </p:childTnLst>
                                </p:cTn>
                              </p:par>
                            </p:childTnLst>
                          </p:cTn>
                        </p:par>
                        <p:par>
                          <p:cTn id="28" fill="hold">
                            <p:stCondLst>
                              <p:cond delay="500"/>
                            </p:stCondLst>
                            <p:childTnLst>
                              <p:par>
                                <p:cTn id="29" presetID="10" presetClass="entr" presetSubtype="0"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00"/>
                                        <p:tgtEl>
                                          <p:spTgt spid="11"/>
                                        </p:tgtEl>
                                      </p:cBhvr>
                                    </p:animEffect>
                                  </p:childTnLst>
                                </p:cTn>
                              </p:par>
                            </p:childTnLst>
                          </p:cTn>
                        </p:par>
                        <p:par>
                          <p:cTn id="32" fill="hold">
                            <p:stCondLst>
                              <p:cond delay="500"/>
                            </p:stCondLst>
                            <p:childTnLst>
                              <p:par>
                                <p:cTn id="33" presetID="10" presetClass="entr" presetSubtype="0" fill="hold" grpId="0" nodeType="with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400"/>
                                        <p:tgtEl>
                                          <p:spTgt spid="12"/>
                                        </p:tgtEl>
                                      </p:cBhvr>
                                    </p:animEffect>
                                  </p:childTnLst>
                                </p:cTn>
                              </p:par>
                            </p:childTnLst>
                          </p:cTn>
                        </p:par>
                        <p:par>
                          <p:cTn id="36" fill="hold">
                            <p:stCondLst>
                              <p:cond delay="500"/>
                            </p:stCondLst>
                            <p:childTnLst>
                              <p:par>
                                <p:cTn id="37" presetID="10" presetClass="entr" presetSubtype="0" fill="hold" grpId="0" nodeType="withEffect">
                                  <p:stCondLst>
                                    <p:cond delay="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400"/>
                                        <p:tgtEl>
                                          <p:spTgt spid="13"/>
                                        </p:tgtEl>
                                      </p:cBhvr>
                                    </p:animEffect>
                                  </p:childTnLst>
                                </p:cTn>
                              </p:par>
                            </p:childTnLst>
                          </p:cTn>
                        </p:par>
                        <p:par>
                          <p:cTn id="40" fill="hold">
                            <p:stCondLst>
                              <p:cond delay="750"/>
                            </p:stCondLst>
                            <p:childTnLst>
                              <p:par>
                                <p:cTn id="41" presetID="10" presetClass="entr" presetSubtype="0" fill="hold" grpId="0" nodeType="withEffect">
                                  <p:stCondLst>
                                    <p:cond delay="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400"/>
                                        <p:tgtEl>
                                          <p:spTgt spid="14"/>
                                        </p:tgtEl>
                                      </p:cBhvr>
                                    </p:animEffect>
                                  </p:childTnLst>
                                </p:cTn>
                              </p:par>
                            </p:childTnLst>
                          </p:cTn>
                        </p:par>
                        <p:par>
                          <p:cTn id="44" fill="hold">
                            <p:stCondLst>
                              <p:cond delay="750"/>
                            </p:stCondLst>
                            <p:childTnLst>
                              <p:par>
                                <p:cTn id="45" presetID="10" presetClass="entr" presetSubtype="0" fill="hold" grpId="0" nodeType="withEffect">
                                  <p:stCondLst>
                                    <p:cond delay="0"/>
                                  </p:stCondLst>
                                  <p:childTnLst>
                                    <p:set>
                                      <p:cBhvr>
                                        <p:cTn id="46" dur="1" fill="hold">
                                          <p:stCondLst>
                                            <p:cond delay="0"/>
                                          </p:stCondLst>
                                        </p:cTn>
                                        <p:tgtEl>
                                          <p:spTgt spid="15"/>
                                        </p:tgtEl>
                                        <p:attrNameLst>
                                          <p:attrName>style.visibility</p:attrName>
                                        </p:attrNameLst>
                                      </p:cBhvr>
                                      <p:to>
                                        <p:strVal val="visible"/>
                                      </p:to>
                                    </p:set>
                                    <p:animEffect transition="in" filter="fade">
                                      <p:cBhvr>
                                        <p:cTn id="47" dur="400"/>
                                        <p:tgtEl>
                                          <p:spTgt spid="15"/>
                                        </p:tgtEl>
                                      </p:cBhvr>
                                    </p:animEffect>
                                  </p:childTnLst>
                                </p:cTn>
                              </p:par>
                            </p:childTnLst>
                          </p:cTn>
                        </p:par>
                        <p:par>
                          <p:cTn id="48" fill="hold">
                            <p:stCondLst>
                              <p:cond delay="750"/>
                            </p:stCondLst>
                            <p:childTnLst>
                              <p:par>
                                <p:cTn id="49" presetID="10" presetClass="entr" presetSubtype="0" fill="hold" grpId="0" nodeType="withEffect">
                                  <p:stCondLst>
                                    <p:cond delay="0"/>
                                  </p:stCondLst>
                                  <p:childTnLst>
                                    <p:set>
                                      <p:cBhvr>
                                        <p:cTn id="50" dur="1" fill="hold">
                                          <p:stCondLst>
                                            <p:cond delay="0"/>
                                          </p:stCondLst>
                                        </p:cTn>
                                        <p:tgtEl>
                                          <p:spTgt spid="16"/>
                                        </p:tgtEl>
                                        <p:attrNameLst>
                                          <p:attrName>style.visibility</p:attrName>
                                        </p:attrNameLst>
                                      </p:cBhvr>
                                      <p:to>
                                        <p:strVal val="visible"/>
                                      </p:to>
                                    </p:set>
                                    <p:animEffect transition="in" filter="fade">
                                      <p:cBhvr>
                                        <p:cTn id="51" dur="400"/>
                                        <p:tgtEl>
                                          <p:spTgt spid="16"/>
                                        </p:tgtEl>
                                      </p:cBhvr>
                                    </p:animEffect>
                                  </p:childTnLst>
                                </p:cTn>
                              </p:par>
                            </p:childTnLst>
                          </p:cTn>
                        </p:par>
                        <p:par>
                          <p:cTn id="52" fill="hold">
                            <p:stCondLst>
                              <p:cond delay="1000"/>
                            </p:stCondLst>
                            <p:childTnLst>
                              <p:par>
                                <p:cTn id="53" presetID="10" presetClass="entr" presetSubtype="0" fill="hold" grpId="0" nodeType="withEffect">
                                  <p:stCondLst>
                                    <p:cond delay="0"/>
                                  </p:stCondLst>
                                  <p:childTnLst>
                                    <p:set>
                                      <p:cBhvr>
                                        <p:cTn id="54" dur="1" fill="hold">
                                          <p:stCondLst>
                                            <p:cond delay="0"/>
                                          </p:stCondLst>
                                        </p:cTn>
                                        <p:tgtEl>
                                          <p:spTgt spid="17"/>
                                        </p:tgtEl>
                                        <p:attrNameLst>
                                          <p:attrName>style.visibility</p:attrName>
                                        </p:attrNameLst>
                                      </p:cBhvr>
                                      <p:to>
                                        <p:strVal val="visible"/>
                                      </p:to>
                                    </p:set>
                                    <p:animEffect transition="in" filter="fade">
                                      <p:cBhvr>
                                        <p:cTn id="55" dur="400"/>
                                        <p:tgtEl>
                                          <p:spTgt spid="17"/>
                                        </p:tgtEl>
                                      </p:cBhvr>
                                    </p:animEffect>
                                  </p:childTnLst>
                                </p:cTn>
                              </p:par>
                            </p:childTnLst>
                          </p:cTn>
                        </p:par>
                        <p:par>
                          <p:cTn id="56" fill="hold">
                            <p:stCondLst>
                              <p:cond delay="1000"/>
                            </p:stCondLst>
                            <p:childTnLst>
                              <p:par>
                                <p:cTn id="57" presetID="10" presetClass="entr" presetSubtype="0" fill="hold" grpId="0" nodeType="withEffect">
                                  <p:stCondLst>
                                    <p:cond delay="0"/>
                                  </p:stCondLst>
                                  <p:childTnLst>
                                    <p:set>
                                      <p:cBhvr>
                                        <p:cTn id="58" dur="1" fill="hold">
                                          <p:stCondLst>
                                            <p:cond delay="0"/>
                                          </p:stCondLst>
                                        </p:cTn>
                                        <p:tgtEl>
                                          <p:spTgt spid="18"/>
                                        </p:tgtEl>
                                        <p:attrNameLst>
                                          <p:attrName>style.visibility</p:attrName>
                                        </p:attrNameLst>
                                      </p:cBhvr>
                                      <p:to>
                                        <p:strVal val="visible"/>
                                      </p:to>
                                    </p:set>
                                    <p:animEffect transition="in" filter="fade">
                                      <p:cBhvr>
                                        <p:cTn id="59" dur="400"/>
                                        <p:tgtEl>
                                          <p:spTgt spid="18"/>
                                        </p:tgtEl>
                                      </p:cBhvr>
                                    </p:animEffect>
                                  </p:childTnLst>
                                </p:cTn>
                              </p:par>
                            </p:childTnLst>
                          </p:cTn>
                        </p:par>
                        <p:par>
                          <p:cTn id="60" fill="hold">
                            <p:stCondLst>
                              <p:cond delay="1250"/>
                            </p:stCondLst>
                            <p:childTnLst>
                              <p:par>
                                <p:cTn id="61" presetID="10" presetClass="entr" presetSubtype="0" fill="hold" grpId="0" nodeType="withEffect">
                                  <p:stCondLst>
                                    <p:cond delay="0"/>
                                  </p:stCondLst>
                                  <p:childTnLst>
                                    <p:set>
                                      <p:cBhvr>
                                        <p:cTn id="62" dur="1" fill="hold">
                                          <p:stCondLst>
                                            <p:cond delay="0"/>
                                          </p:stCondLst>
                                        </p:cTn>
                                        <p:tgtEl>
                                          <p:spTgt spid="19"/>
                                        </p:tgtEl>
                                        <p:attrNameLst>
                                          <p:attrName>style.visibility</p:attrName>
                                        </p:attrNameLst>
                                      </p:cBhvr>
                                      <p:to>
                                        <p:strVal val="visible"/>
                                      </p:to>
                                    </p:set>
                                    <p:animEffect transition="in" filter="fade">
                                      <p:cBhvr>
                                        <p:cTn id="63" dur="400"/>
                                        <p:tgtEl>
                                          <p:spTgt spid="19"/>
                                        </p:tgtEl>
                                      </p:cBhvr>
                                    </p:animEffect>
                                  </p:childTnLst>
                                </p:cTn>
                              </p:par>
                            </p:childTnLst>
                          </p:cTn>
                        </p:par>
                        <p:par>
                          <p:cTn id="64" fill="hold">
                            <p:stCondLst>
                              <p:cond delay="1250"/>
                            </p:stCondLst>
                            <p:childTnLst>
                              <p:par>
                                <p:cTn id="65" presetID="10" presetClass="entr" presetSubtype="0" fill="hold" grpId="0" nodeType="withEffect">
                                  <p:stCondLst>
                                    <p:cond delay="0"/>
                                  </p:stCondLst>
                                  <p:childTnLst>
                                    <p:set>
                                      <p:cBhvr>
                                        <p:cTn id="66" dur="1" fill="hold">
                                          <p:stCondLst>
                                            <p:cond delay="0"/>
                                          </p:stCondLst>
                                        </p:cTn>
                                        <p:tgtEl>
                                          <p:spTgt spid="20"/>
                                        </p:tgtEl>
                                        <p:attrNameLst>
                                          <p:attrName>style.visibility</p:attrName>
                                        </p:attrNameLst>
                                      </p:cBhvr>
                                      <p:to>
                                        <p:strVal val="visible"/>
                                      </p:to>
                                    </p:set>
                                    <p:animEffect transition="in" filter="fade">
                                      <p:cBhvr>
                                        <p:cTn id="67" dur="400"/>
                                        <p:tgtEl>
                                          <p:spTgt spid="20"/>
                                        </p:tgtEl>
                                      </p:cBhvr>
                                    </p:animEffect>
                                  </p:childTnLst>
                                </p:cTn>
                              </p:par>
                            </p:childTnLst>
                          </p:cTn>
                        </p:par>
                        <p:par>
                          <p:cTn id="68" fill="hold">
                            <p:stCondLst>
                              <p:cond delay="1500"/>
                            </p:stCondLst>
                            <p:childTnLst>
                              <p:par>
                                <p:cTn id="69" presetID="10" presetClass="entr" presetSubtype="0" fill="hold" grpId="0" nodeType="withEffect">
                                  <p:stCondLst>
                                    <p:cond delay="0"/>
                                  </p:stCondLst>
                                  <p:childTnLst>
                                    <p:set>
                                      <p:cBhvr>
                                        <p:cTn id="70" dur="1" fill="hold">
                                          <p:stCondLst>
                                            <p:cond delay="0"/>
                                          </p:stCondLst>
                                        </p:cTn>
                                        <p:tgtEl>
                                          <p:spTgt spid="21"/>
                                        </p:tgtEl>
                                        <p:attrNameLst>
                                          <p:attrName>style.visibility</p:attrName>
                                        </p:attrNameLst>
                                      </p:cBhvr>
                                      <p:to>
                                        <p:strVal val="visible"/>
                                      </p:to>
                                    </p:set>
                                    <p:animEffect transition="in" filter="fade">
                                      <p:cBhvr>
                                        <p:cTn id="71" dur="400"/>
                                        <p:tgtEl>
                                          <p:spTgt spid="21"/>
                                        </p:tgtEl>
                                      </p:cBhvr>
                                    </p:animEffect>
                                  </p:childTnLst>
                                </p:cTn>
                              </p:par>
                            </p:childTnLst>
                          </p:cTn>
                        </p:par>
                        <p:par>
                          <p:cTn id="72" fill="hold">
                            <p:stCondLst>
                              <p:cond delay="1500"/>
                            </p:stCondLst>
                            <p:childTnLst>
                              <p:par>
                                <p:cTn id="73" presetID="10" presetClass="entr" presetSubtype="0" fill="hold" grpId="0" nodeType="withEffect">
                                  <p:stCondLst>
                                    <p:cond delay="0"/>
                                  </p:stCondLst>
                                  <p:childTnLst>
                                    <p:set>
                                      <p:cBhvr>
                                        <p:cTn id="74" dur="1" fill="hold">
                                          <p:stCondLst>
                                            <p:cond delay="0"/>
                                          </p:stCondLst>
                                        </p:cTn>
                                        <p:tgtEl>
                                          <p:spTgt spid="22"/>
                                        </p:tgtEl>
                                        <p:attrNameLst>
                                          <p:attrName>style.visibility</p:attrName>
                                        </p:attrNameLst>
                                      </p:cBhvr>
                                      <p:to>
                                        <p:strVal val="visible"/>
                                      </p:to>
                                    </p:set>
                                    <p:animEffect transition="in" filter="fade">
                                      <p:cBhvr>
                                        <p:cTn id="75" dur="400"/>
                                        <p:tgtEl>
                                          <p:spTgt spid="22"/>
                                        </p:tgtEl>
                                      </p:cBhvr>
                                    </p:animEffect>
                                  </p:childTnLst>
                                </p:cTn>
                              </p:par>
                            </p:childTnLst>
                          </p:cTn>
                        </p:par>
                        <p:par>
                          <p:cTn id="76" fill="hold">
                            <p:stCondLst>
                              <p:cond delay="1750"/>
                            </p:stCondLst>
                            <p:childTnLst>
                              <p:par>
                                <p:cTn id="77" presetID="10" presetClass="entr" presetSubtype="0" fill="hold" grpId="0" nodeType="withEffect">
                                  <p:stCondLst>
                                    <p:cond delay="0"/>
                                  </p:stCondLst>
                                  <p:childTnLst>
                                    <p:set>
                                      <p:cBhvr>
                                        <p:cTn id="78" dur="1" fill="hold">
                                          <p:stCondLst>
                                            <p:cond delay="0"/>
                                          </p:stCondLst>
                                        </p:cTn>
                                        <p:tgtEl>
                                          <p:spTgt spid="23"/>
                                        </p:tgtEl>
                                        <p:attrNameLst>
                                          <p:attrName>style.visibility</p:attrName>
                                        </p:attrNameLst>
                                      </p:cBhvr>
                                      <p:to>
                                        <p:strVal val="visible"/>
                                      </p:to>
                                    </p:set>
                                    <p:animEffect transition="in" filter="fade">
                                      <p:cBhvr>
                                        <p:cTn id="79" dur="400"/>
                                        <p:tgtEl>
                                          <p:spTgt spid="23"/>
                                        </p:tgtEl>
                                      </p:cBhvr>
                                    </p:animEffect>
                                  </p:childTnLst>
                                </p:cTn>
                              </p:par>
                            </p:childTnLst>
                          </p:cTn>
                        </p:par>
                        <p:par>
                          <p:cTn id="80" fill="hold">
                            <p:stCondLst>
                              <p:cond delay="1750"/>
                            </p:stCondLst>
                            <p:childTnLst>
                              <p:par>
                                <p:cTn id="81" presetID="10" presetClass="entr" presetSubtype="0" fill="hold" grpId="0" nodeType="withEffect">
                                  <p:stCondLst>
                                    <p:cond delay="0"/>
                                  </p:stCondLst>
                                  <p:childTnLst>
                                    <p:set>
                                      <p:cBhvr>
                                        <p:cTn id="82" dur="1" fill="hold">
                                          <p:stCondLst>
                                            <p:cond delay="0"/>
                                          </p:stCondLst>
                                        </p:cTn>
                                        <p:tgtEl>
                                          <p:spTgt spid="24"/>
                                        </p:tgtEl>
                                        <p:attrNameLst>
                                          <p:attrName>style.visibility</p:attrName>
                                        </p:attrNameLst>
                                      </p:cBhvr>
                                      <p:to>
                                        <p:strVal val="visible"/>
                                      </p:to>
                                    </p:set>
                                    <p:animEffect transition="in" filter="fade">
                                      <p:cBhvr>
                                        <p:cTn id="83" dur="400"/>
                                        <p:tgtEl>
                                          <p:spTgt spid="24"/>
                                        </p:tgtEl>
                                      </p:cBhvr>
                                    </p:animEffect>
                                  </p:childTnLst>
                                </p:cTn>
                              </p:par>
                            </p:childTnLst>
                          </p:cTn>
                        </p:par>
                        <p:par>
                          <p:cTn id="84" fill="hold">
                            <p:stCondLst>
                              <p:cond delay="2000"/>
                            </p:stCondLst>
                            <p:childTnLst>
                              <p:par>
                                <p:cTn id="85" presetID="10" presetClass="entr" presetSubtype="0" fill="hold" grpId="0" nodeType="withEffect">
                                  <p:stCondLst>
                                    <p:cond delay="0"/>
                                  </p:stCondLst>
                                  <p:childTnLst>
                                    <p:set>
                                      <p:cBhvr>
                                        <p:cTn id="86" dur="1" fill="hold">
                                          <p:stCondLst>
                                            <p:cond delay="0"/>
                                          </p:stCondLst>
                                        </p:cTn>
                                        <p:tgtEl>
                                          <p:spTgt spid="25"/>
                                        </p:tgtEl>
                                        <p:attrNameLst>
                                          <p:attrName>style.visibility</p:attrName>
                                        </p:attrNameLst>
                                      </p:cBhvr>
                                      <p:to>
                                        <p:strVal val="visible"/>
                                      </p:to>
                                    </p:set>
                                    <p:animEffect transition="in" filter="fade">
                                      <p:cBhvr>
                                        <p:cTn id="87" dur="400"/>
                                        <p:tgtEl>
                                          <p:spTgt spid="25"/>
                                        </p:tgtEl>
                                      </p:cBhvr>
                                    </p:animEffect>
                                  </p:childTnLst>
                                </p:cTn>
                              </p:par>
                            </p:childTnLst>
                          </p:cTn>
                        </p:par>
                        <p:par>
                          <p:cTn id="88" fill="hold">
                            <p:stCondLst>
                              <p:cond delay="2000"/>
                            </p:stCondLst>
                            <p:childTnLst>
                              <p:par>
                                <p:cTn id="89" presetID="10" presetClass="entr" presetSubtype="0" fill="hold" grpId="0" nodeType="withEffect">
                                  <p:stCondLst>
                                    <p:cond delay="0"/>
                                  </p:stCondLst>
                                  <p:childTnLst>
                                    <p:set>
                                      <p:cBhvr>
                                        <p:cTn id="90" dur="1" fill="hold">
                                          <p:stCondLst>
                                            <p:cond delay="0"/>
                                          </p:stCondLst>
                                        </p:cTn>
                                        <p:tgtEl>
                                          <p:spTgt spid="26"/>
                                        </p:tgtEl>
                                        <p:attrNameLst>
                                          <p:attrName>style.visibility</p:attrName>
                                        </p:attrNameLst>
                                      </p:cBhvr>
                                      <p:to>
                                        <p:strVal val="visible"/>
                                      </p:to>
                                    </p:set>
                                    <p:animEffect transition="in" filter="fade">
                                      <p:cBhvr>
                                        <p:cTn id="91" dur="400"/>
                                        <p:tgtEl>
                                          <p:spTgt spid="26"/>
                                        </p:tgtEl>
                                      </p:cBhvr>
                                    </p:animEffect>
                                  </p:childTnLst>
                                </p:cTn>
                              </p:par>
                            </p:childTnLst>
                          </p:cTn>
                        </p:par>
                        <p:par>
                          <p:cTn id="92" fill="hold">
                            <p:stCondLst>
                              <p:cond delay="2250"/>
                            </p:stCondLst>
                            <p:childTnLst>
                              <p:par>
                                <p:cTn id="93" presetID="10" presetClass="entr" presetSubtype="0" fill="hold" grpId="0" nodeType="withEffect">
                                  <p:stCondLst>
                                    <p:cond delay="0"/>
                                  </p:stCondLst>
                                  <p:childTnLst>
                                    <p:set>
                                      <p:cBhvr>
                                        <p:cTn id="94" dur="1" fill="hold">
                                          <p:stCondLst>
                                            <p:cond delay="0"/>
                                          </p:stCondLst>
                                        </p:cTn>
                                        <p:tgtEl>
                                          <p:spTgt spid="27"/>
                                        </p:tgtEl>
                                        <p:attrNameLst>
                                          <p:attrName>style.visibility</p:attrName>
                                        </p:attrNameLst>
                                      </p:cBhvr>
                                      <p:to>
                                        <p:strVal val="visible"/>
                                      </p:to>
                                    </p:set>
                                    <p:animEffect transition="in" filter="fade">
                                      <p:cBhvr>
                                        <p:cTn id="95" dur="400"/>
                                        <p:tgtEl>
                                          <p:spTgt spid="27"/>
                                        </p:tgtEl>
                                      </p:cBhvr>
                                    </p:animEffect>
                                  </p:childTnLst>
                                </p:cTn>
                              </p:par>
                            </p:childTnLst>
                          </p:cTn>
                        </p:par>
                        <p:par>
                          <p:cTn id="96" fill="hold">
                            <p:stCondLst>
                              <p:cond delay="2250"/>
                            </p:stCondLst>
                            <p:childTnLst>
                              <p:par>
                                <p:cTn id="97" presetID="10" presetClass="entr" presetSubtype="0" fill="hold" grpId="0" nodeType="withEffect">
                                  <p:stCondLst>
                                    <p:cond delay="0"/>
                                  </p:stCondLst>
                                  <p:childTnLst>
                                    <p:set>
                                      <p:cBhvr>
                                        <p:cTn id="98" dur="1" fill="hold">
                                          <p:stCondLst>
                                            <p:cond delay="0"/>
                                          </p:stCondLst>
                                        </p:cTn>
                                        <p:tgtEl>
                                          <p:spTgt spid="28"/>
                                        </p:tgtEl>
                                        <p:attrNameLst>
                                          <p:attrName>style.visibility</p:attrName>
                                        </p:attrNameLst>
                                      </p:cBhvr>
                                      <p:to>
                                        <p:strVal val="visible"/>
                                      </p:to>
                                    </p:set>
                                    <p:animEffect transition="in" filter="fade">
                                      <p:cBhvr>
                                        <p:cTn id="99" dur="400"/>
                                        <p:tgtEl>
                                          <p:spTgt spid="28"/>
                                        </p:tgtEl>
                                      </p:cBhvr>
                                    </p:animEffect>
                                  </p:childTnLst>
                                </p:cTn>
                              </p:par>
                            </p:childTnLst>
                          </p:cTn>
                        </p:par>
                        <p:par>
                          <p:cTn id="100" fill="hold">
                            <p:stCondLst>
                              <p:cond delay="2250"/>
                            </p:stCondLst>
                            <p:childTnLst>
                              <p:par>
                                <p:cTn id="101" presetID="10" presetClass="entr" presetSubtype="0" fill="hold" grpId="0" nodeType="withEffect">
                                  <p:stCondLst>
                                    <p:cond delay="0"/>
                                  </p:stCondLst>
                                  <p:childTnLst>
                                    <p:set>
                                      <p:cBhvr>
                                        <p:cTn id="102" dur="1" fill="hold">
                                          <p:stCondLst>
                                            <p:cond delay="0"/>
                                          </p:stCondLst>
                                        </p:cTn>
                                        <p:tgtEl>
                                          <p:spTgt spid="29"/>
                                        </p:tgtEl>
                                        <p:attrNameLst>
                                          <p:attrName>style.visibility</p:attrName>
                                        </p:attrNameLst>
                                      </p:cBhvr>
                                      <p:to>
                                        <p:strVal val="visible"/>
                                      </p:to>
                                    </p:set>
                                    <p:animEffect transition="in" filter="fade">
                                      <p:cBhvr>
                                        <p:cTn id="103" dur="400"/>
                                        <p:tgtEl>
                                          <p:spTgt spid="29"/>
                                        </p:tgtEl>
                                      </p:cBhvr>
                                    </p:animEffect>
                                  </p:childTnLst>
                                </p:cTn>
                              </p:par>
                            </p:childTnLst>
                          </p:cTn>
                        </p:par>
                        <p:par>
                          <p:cTn id="104" fill="hold">
                            <p:stCondLst>
                              <p:cond delay="2250"/>
                            </p:stCondLst>
                            <p:childTnLst>
                              <p:par>
                                <p:cTn id="105" presetID="10" presetClass="entr" presetSubtype="0" fill="hold" grpId="0" nodeType="withEffect">
                                  <p:stCondLst>
                                    <p:cond delay="0"/>
                                  </p:stCondLst>
                                  <p:childTnLst>
                                    <p:set>
                                      <p:cBhvr>
                                        <p:cTn id="106" dur="1" fill="hold">
                                          <p:stCondLst>
                                            <p:cond delay="0"/>
                                          </p:stCondLst>
                                        </p:cTn>
                                        <p:tgtEl>
                                          <p:spTgt spid="30"/>
                                        </p:tgtEl>
                                        <p:attrNameLst>
                                          <p:attrName>style.visibility</p:attrName>
                                        </p:attrNameLst>
                                      </p:cBhvr>
                                      <p:to>
                                        <p:strVal val="visible"/>
                                      </p:to>
                                    </p:set>
                                    <p:animEffect transition="in" filter="fade">
                                      <p:cBhvr>
                                        <p:cTn id="107"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Lst>
  </p:timing>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F2A541"/>
                </a:solidFill>
                <a:latin typeface="Calibri" pitchFamily="34" charset="0"/>
                <a:ea typeface="Calibri" pitchFamily="34" charset="-122"/>
                <a:cs typeface="Calibri" pitchFamily="34" charset="-120"/>
              </a:rPr>
              <a:t>BLOCO 4 · PASSO 3: AS RESPOSTAS · LUÍS</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FFFFFF"/>
                </a:solidFill>
                <a:latin typeface="Calibri" pitchFamily="34" charset="0"/>
                <a:ea typeface="Calibri" pitchFamily="34" charset="-122"/>
                <a:cs typeface="Calibri" pitchFamily="34" charset="-120"/>
              </a:rPr>
              <a:t>Obrigado. Perguntas?</a:t>
            </a:r>
            <a:endParaRPr lang="en-US" sz="3200" dirty="0"/>
          </a:p>
        </p:txBody>
      </p:sp>
      <p:sp>
        <p:nvSpPr>
          <p:cNvPr id="5" name="anim:1:444"/>
          <p:cNvSpPr/>
          <p:nvPr/>
        </p:nvSpPr>
        <p:spPr>
          <a:xfrm>
            <a:off x="548640" y="1600200"/>
            <a:ext cx="3566160" cy="1371600"/>
          </a:xfrm>
          <a:prstGeom prst="roundRect">
            <a:avLst>
              <a:gd name="adj" fmla="val 8000"/>
            </a:avLst>
          </a:prstGeom>
          <a:solidFill>
            <a:srgbClr val="FFFFFF">
              <a:alpha val="10000"/>
            </a:srgbClr>
          </a:solidFill>
          <a:ln w="9525">
            <a:solidFill>
              <a:srgbClr val="3A4D73"/>
            </a:solidFill>
            <a:prstDash val="solid"/>
          </a:ln>
        </p:spPr>
      </p:sp>
      <p:sp>
        <p:nvSpPr>
          <p:cNvPr id="6" name="anim:1:445"/>
          <p:cNvSpPr txBox="1"/>
          <p:nvPr/>
        </p:nvSpPr>
        <p:spPr>
          <a:xfrm>
            <a:off x="822960" y="1719072"/>
            <a:ext cx="3017520" cy="685800"/>
          </a:xfrm>
          <a:prstGeom prst="rect">
            <a:avLst/>
          </a:prstGeom>
          <a:noFill/>
          <a:ln/>
        </p:spPr>
        <p:txBody>
          <a:bodyPr wrap="square" lIns="0" tIns="0" rIns="0" bIns="0" rtlCol="0" anchor="t"/>
          <a:lstStyle/>
          <a:p>
            <a:pPr algn="l" indent="0" marL="0">
              <a:buNone/>
            </a:pPr>
            <a:r>
              <a:rPr lang="en-US" sz="3400" b="1" dirty="0">
                <a:solidFill>
                  <a:srgbClr val="F2A541"/>
                </a:solidFill>
                <a:latin typeface="Calibri" pitchFamily="34" charset="0"/>
                <a:ea typeface="Calibri" pitchFamily="34" charset="-122"/>
                <a:cs typeface="Calibri" pitchFamily="34" charset="-120"/>
              </a:rPr>
              <a:t>13,4 mi</a:t>
            </a:r>
            <a:endParaRPr lang="en-US" sz="3400" dirty="0"/>
          </a:p>
        </p:txBody>
      </p:sp>
      <p:sp>
        <p:nvSpPr>
          <p:cNvPr id="7" name="anim:1:446"/>
          <p:cNvSpPr txBox="1"/>
          <p:nvPr/>
        </p:nvSpPr>
        <p:spPr>
          <a:xfrm>
            <a:off x="822960" y="2404872"/>
            <a:ext cx="3017520" cy="411480"/>
          </a:xfrm>
          <a:prstGeom prst="rect">
            <a:avLst/>
          </a:prstGeom>
          <a:noFill/>
          <a:ln/>
        </p:spPr>
        <p:txBody>
          <a:bodyPr wrap="square" lIns="0" tIns="0" rIns="0" bIns="0" rtlCol="0" anchor="t"/>
          <a:lstStyle/>
          <a:p>
            <a:pPr algn="l" indent="0" marL="0">
              <a:buNone/>
            </a:pPr>
            <a:r>
              <a:rPr lang="en-US" sz="1400" dirty="0">
                <a:solidFill>
                  <a:srgbClr val="C9D3E6"/>
                </a:solidFill>
                <a:latin typeface="Calibri" pitchFamily="34" charset="0"/>
                <a:ea typeface="Calibri" pitchFamily="34" charset="-122"/>
                <a:cs typeface="Calibri" pitchFamily="34" charset="-120"/>
              </a:rPr>
              <a:t>matrículas de 2015 a 2024</a:t>
            </a:r>
            <a:endParaRPr lang="en-US" sz="1400" dirty="0"/>
          </a:p>
        </p:txBody>
      </p:sp>
      <p:sp>
        <p:nvSpPr>
          <p:cNvPr id="8" name="anim:2:447"/>
          <p:cNvSpPr/>
          <p:nvPr/>
        </p:nvSpPr>
        <p:spPr>
          <a:xfrm>
            <a:off x="4297680" y="1600200"/>
            <a:ext cx="3566160" cy="1371600"/>
          </a:xfrm>
          <a:prstGeom prst="roundRect">
            <a:avLst>
              <a:gd name="adj" fmla="val 8000"/>
            </a:avLst>
          </a:prstGeom>
          <a:solidFill>
            <a:srgbClr val="FFFFFF">
              <a:alpha val="10000"/>
            </a:srgbClr>
          </a:solidFill>
          <a:ln w="9525">
            <a:solidFill>
              <a:srgbClr val="3A4D73"/>
            </a:solidFill>
            <a:prstDash val="solid"/>
          </a:ln>
        </p:spPr>
      </p:sp>
      <p:sp>
        <p:nvSpPr>
          <p:cNvPr id="9" name="anim:2:448"/>
          <p:cNvSpPr txBox="1"/>
          <p:nvPr/>
        </p:nvSpPr>
        <p:spPr>
          <a:xfrm>
            <a:off x="4572000" y="1719072"/>
            <a:ext cx="3017520" cy="685800"/>
          </a:xfrm>
          <a:prstGeom prst="rect">
            <a:avLst/>
          </a:prstGeom>
          <a:noFill/>
          <a:ln/>
        </p:spPr>
        <p:txBody>
          <a:bodyPr wrap="square" lIns="0" tIns="0" rIns="0" bIns="0" rtlCol="0" anchor="t"/>
          <a:lstStyle/>
          <a:p>
            <a:pPr algn="l" indent="0" marL="0">
              <a:buNone/>
            </a:pPr>
            <a:r>
              <a:rPr lang="en-US" sz="3400" b="1" dirty="0">
                <a:solidFill>
                  <a:srgbClr val="F2A541"/>
                </a:solidFill>
                <a:latin typeface="Calibri" pitchFamily="34" charset="0"/>
                <a:ea typeface="Calibri" pitchFamily="34" charset="-122"/>
                <a:cs typeface="Calibri" pitchFamily="34" charset="-120"/>
              </a:rPr>
              <a:t>551 mil</a:t>
            </a:r>
            <a:endParaRPr lang="en-US" sz="3400" dirty="0"/>
          </a:p>
        </p:txBody>
      </p:sp>
      <p:sp>
        <p:nvSpPr>
          <p:cNvPr id="10" name="anim:2:449"/>
          <p:cNvSpPr txBox="1"/>
          <p:nvPr/>
        </p:nvSpPr>
        <p:spPr>
          <a:xfrm>
            <a:off x="4572000" y="2404872"/>
            <a:ext cx="3017520" cy="411480"/>
          </a:xfrm>
          <a:prstGeom prst="rect">
            <a:avLst/>
          </a:prstGeom>
          <a:noFill/>
          <a:ln/>
        </p:spPr>
        <p:txBody>
          <a:bodyPr wrap="square" lIns="0" tIns="0" rIns="0" bIns="0" rtlCol="0" anchor="t"/>
          <a:lstStyle/>
          <a:p>
            <a:pPr algn="l" indent="0" marL="0">
              <a:buNone/>
            </a:pPr>
            <a:r>
              <a:rPr lang="en-US" sz="1400" dirty="0">
                <a:solidFill>
                  <a:srgbClr val="C9D3E6"/>
                </a:solidFill>
                <a:latin typeface="Calibri" pitchFamily="34" charset="0"/>
                <a:ea typeface="Calibri" pitchFamily="34" charset="-122"/>
                <a:cs typeface="Calibri" pitchFamily="34" charset="-120"/>
              </a:rPr>
              <a:t>turmas carregadas</a:t>
            </a:r>
            <a:endParaRPr lang="en-US" sz="1400" dirty="0"/>
          </a:p>
        </p:txBody>
      </p:sp>
      <p:sp>
        <p:nvSpPr>
          <p:cNvPr id="11" name="anim:3:450"/>
          <p:cNvSpPr/>
          <p:nvPr/>
        </p:nvSpPr>
        <p:spPr>
          <a:xfrm>
            <a:off x="8046720" y="1600200"/>
            <a:ext cx="3566160" cy="1371600"/>
          </a:xfrm>
          <a:prstGeom prst="roundRect">
            <a:avLst>
              <a:gd name="adj" fmla="val 8000"/>
            </a:avLst>
          </a:prstGeom>
          <a:solidFill>
            <a:srgbClr val="FFFFFF">
              <a:alpha val="10000"/>
            </a:srgbClr>
          </a:solidFill>
          <a:ln w="9525">
            <a:solidFill>
              <a:srgbClr val="3A4D73"/>
            </a:solidFill>
            <a:prstDash val="solid"/>
          </a:ln>
        </p:spPr>
      </p:sp>
      <p:sp>
        <p:nvSpPr>
          <p:cNvPr id="12" name="anim:3:451"/>
          <p:cNvSpPr txBox="1"/>
          <p:nvPr/>
        </p:nvSpPr>
        <p:spPr>
          <a:xfrm>
            <a:off x="8321040" y="1719072"/>
            <a:ext cx="3017520" cy="685800"/>
          </a:xfrm>
          <a:prstGeom prst="rect">
            <a:avLst/>
          </a:prstGeom>
          <a:noFill/>
          <a:ln/>
        </p:spPr>
        <p:txBody>
          <a:bodyPr wrap="square" lIns="0" tIns="0" rIns="0" bIns="0" rtlCol="0" anchor="t"/>
          <a:lstStyle/>
          <a:p>
            <a:pPr algn="l" indent="0" marL="0">
              <a:buNone/>
            </a:pPr>
            <a:r>
              <a:rPr lang="en-US" sz="3400" b="1" dirty="0">
                <a:solidFill>
                  <a:srgbClr val="F2A541"/>
                </a:solidFill>
                <a:latin typeface="Calibri" pitchFamily="34" charset="0"/>
                <a:ea typeface="Calibri" pitchFamily="34" charset="-122"/>
                <a:cs typeface="Calibri" pitchFamily="34" charset="-120"/>
              </a:rPr>
              <a:t>26.889</a:t>
            </a:r>
            <a:endParaRPr lang="en-US" sz="3400" dirty="0"/>
          </a:p>
        </p:txBody>
      </p:sp>
      <p:sp>
        <p:nvSpPr>
          <p:cNvPr id="13" name="anim:3:452"/>
          <p:cNvSpPr txBox="1"/>
          <p:nvPr/>
        </p:nvSpPr>
        <p:spPr>
          <a:xfrm>
            <a:off x="8321040" y="2404872"/>
            <a:ext cx="3017520" cy="411480"/>
          </a:xfrm>
          <a:prstGeom prst="rect">
            <a:avLst/>
          </a:prstGeom>
          <a:noFill/>
          <a:ln/>
        </p:spPr>
        <p:txBody>
          <a:bodyPr wrap="square" lIns="0" tIns="0" rIns="0" bIns="0" rtlCol="0" anchor="t"/>
          <a:lstStyle/>
          <a:p>
            <a:pPr algn="l" indent="0" marL="0">
              <a:buNone/>
            </a:pPr>
            <a:r>
              <a:rPr lang="en-US" sz="1400" dirty="0">
                <a:solidFill>
                  <a:srgbClr val="C9D3E6"/>
                </a:solidFill>
                <a:latin typeface="Calibri" pitchFamily="34" charset="0"/>
                <a:ea typeface="Calibri" pitchFamily="34" charset="-122"/>
                <a:cs typeface="Calibri" pitchFamily="34" charset="-120"/>
              </a:rPr>
              <a:t>setores censitários</a:t>
            </a:r>
            <a:endParaRPr lang="en-US" sz="1400" dirty="0"/>
          </a:p>
        </p:txBody>
      </p:sp>
      <p:sp>
        <p:nvSpPr>
          <p:cNvPr id="14" name="anim:4:453"/>
          <p:cNvSpPr txBox="1"/>
          <p:nvPr/>
        </p:nvSpPr>
        <p:spPr>
          <a:xfrm>
            <a:off x="548640" y="3246120"/>
            <a:ext cx="10972800" cy="182880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FFFFFF"/>
                </a:solidFill>
                <a:latin typeface="Calibri" pitchFamily="34" charset="0"/>
                <a:ea typeface="Calibri" pitchFamily="34" charset="-122"/>
                <a:cs typeface="Calibri" pitchFamily="34" charset="-120"/>
              </a:rPr>
              <a:t>Relatório: descrição do problema, povoamento atributo por atributo, cinco estrelas, constelação e oito consultas.</a:t>
            </a:r>
            <a:endParaRPr lang="en-US" sz="1600" dirty="0"/>
          </a:p>
          <a:p>
            <a:pPr marL="228600" indent="-228600">
              <a:spcAft>
                <a:spcPts val="600"/>
              </a:spcAft>
              <a:buSzPct val="100000"/>
              <a:buChar char="•"/>
            </a:pPr>
            <a:r>
              <a:rPr lang="en-US" sz="1600" dirty="0">
                <a:solidFill>
                  <a:srgbClr val="FFFFFF"/>
                </a:solidFill>
                <a:latin typeface="Calibri" pitchFamily="34" charset="0"/>
                <a:ea typeface="Calibri" pitchFamily="34" charset="-122"/>
                <a:cs typeface="Calibri" pitchFamily="34" charset="-120"/>
              </a:rPr>
              <a:t>Repositório: pipeline do portal ao DuckDB, 14 verificações de qualidade e testes automáticos, inclusive da modelagem.</a:t>
            </a:r>
            <a:endParaRPr lang="en-US" sz="1600" dirty="0"/>
          </a:p>
          <a:p>
            <a:pPr marL="228600" indent="-228600">
              <a:spcAft>
                <a:spcPts val="600"/>
              </a:spcAft>
              <a:buSzPct val="100000"/>
              <a:buChar char="•"/>
            </a:pPr>
            <a:r>
              <a:rPr lang="en-US" sz="1600" dirty="0">
                <a:solidFill>
                  <a:srgbClr val="FFFFFF"/>
                </a:solidFill>
                <a:latin typeface="Calibri" pitchFamily="34" charset="0"/>
                <a:ea typeface="Calibri" pitchFamily="34" charset="-122"/>
                <a:cs typeface="Calibri" pitchFamily="34" charset="-120"/>
              </a:rPr>
              <a:t>Carga real: 13,4 milhões de matrículas, 551 mil turmas e 26.889 setores censitários em 3,5 minutos, sem nenhuma FALHA nas verificações.</a:t>
            </a:r>
            <a:endParaRPr lang="en-US" sz="1600" dirty="0"/>
          </a:p>
        </p:txBody>
      </p:sp>
      <p:sp>
        <p:nvSpPr>
          <p:cNvPr id="15" name="anim:5:454"/>
          <p:cNvSpPr txBox="1"/>
          <p:nvPr/>
        </p:nvSpPr>
        <p:spPr>
          <a:xfrm>
            <a:off x="548640" y="5212080"/>
            <a:ext cx="10789920" cy="411480"/>
          </a:xfrm>
          <a:prstGeom prst="rect">
            <a:avLst/>
          </a:prstGeom>
          <a:noFill/>
          <a:ln/>
        </p:spPr>
        <p:txBody>
          <a:bodyPr wrap="square" lIns="0" tIns="0" rIns="0" bIns="0" rtlCol="0" anchor="t"/>
          <a:lstStyle/>
          <a:p>
            <a:pPr algn="l" indent="0" marL="0">
              <a:buNone/>
            </a:pPr>
            <a:r>
              <a:rPr lang="en-US" sz="1800" b="1" dirty="0">
                <a:solidFill>
                  <a:srgbClr val="F2A541"/>
                </a:solidFill>
                <a:latin typeface="Calibri" pitchFamily="34" charset="0"/>
                <a:ea typeface="Calibri" pitchFamily="34" charset="-122"/>
                <a:cs typeface="Calibri" pitchFamily="34" charset="-120"/>
              </a:rPr>
              <a:t>github.com/kevennlaranjeira/OLAP2026</a:t>
            </a:r>
            <a:endParaRPr lang="en-US" sz="1800" dirty="0"/>
          </a:p>
        </p:txBody>
      </p:sp>
      <p:sp>
        <p:nvSpPr>
          <p:cNvPr id="16" name="anim:5:455"/>
          <p:cNvSpPr txBox="1"/>
          <p:nvPr/>
        </p:nvSpPr>
        <p:spPr>
          <a:xfrm>
            <a:off x="548640" y="5760720"/>
            <a:ext cx="10789920" cy="365760"/>
          </a:xfrm>
          <a:prstGeom prst="rect">
            <a:avLst/>
          </a:prstGeom>
          <a:noFill/>
          <a:ln/>
        </p:spPr>
        <p:txBody>
          <a:bodyPr wrap="square" lIns="0" tIns="0" rIns="0" bIns="0" rtlCol="0" anchor="t"/>
          <a:lstStyle/>
          <a:p>
            <a:pPr algn="l" indent="0" marL="0">
              <a:buNone/>
            </a:pPr>
            <a:r>
              <a:rPr lang="en-US" sz="1400" dirty="0">
                <a:solidFill>
                  <a:srgbClr val="C9D3E6"/>
                </a:solidFill>
                <a:latin typeface="Calibri" pitchFamily="34" charset="0"/>
                <a:ea typeface="Calibri" pitchFamily="34" charset="-122"/>
                <a:cs typeface="Calibri" pitchFamily="34" charset="-120"/>
              </a:rPr>
              <a:t>Kevenn Laranjeira de Oliveira  ·  Thiago Rodrigues Gouveia da Silva  ·  Daniel Afonso Borges dos Santos  ·  Luís Antônio Arruda Soares</a:t>
            </a:r>
            <a:endParaRPr lang="en-US" sz="14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F2A541"/>
                </a:solidFill>
                <a:latin typeface="Calibri"/>
                <a:ea typeface="Calibri"/>
                <a:cs typeface="Calibri"/>
              </a:defRPr>
            </a:lvl1pPr>
          </a:lstStyle>
          <a:p>
            <a:pPr algn="r"/>
            <a:fld id="{F7021451-1387-4CA6-816F-3879F97B5CBC}" type="slidenum">
              <a:rPr b="1" lang="en-US"/>
              <a:t>28</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childTnLst>
                          </p:cTn>
                        </p:par>
                        <p:par>
                          <p:cTn id="12" fill="hold">
                            <p:stCondLst>
                              <p:cond delay="0"/>
                            </p:stCondLst>
                            <p:childTnLst>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childTnLst>
                          </p:cTn>
                        </p:par>
                        <p:par>
                          <p:cTn id="16" fill="hold">
                            <p:stCondLst>
                              <p:cond delay="250"/>
                            </p:stCondLst>
                            <p:childTnLst>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00"/>
                                        <p:tgtEl>
                                          <p:spTgt spid="8"/>
                                        </p:tgtEl>
                                      </p:cBhvr>
                                    </p:animEffect>
                                  </p:childTnLst>
                                </p:cTn>
                              </p:par>
                            </p:childTnLst>
                          </p:cTn>
                        </p:par>
                        <p:par>
                          <p:cTn id="20" fill="hold">
                            <p:stCondLst>
                              <p:cond delay="250"/>
                            </p:stCondLst>
                            <p:childTnLst>
                              <p:par>
                                <p:cTn id="21" presetID="10" presetClass="entr" presetSubtype="0"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400"/>
                                        <p:tgtEl>
                                          <p:spTgt spid="9"/>
                                        </p:tgtEl>
                                      </p:cBhvr>
                                    </p:animEffect>
                                  </p:childTnLst>
                                </p:cTn>
                              </p:par>
                            </p:childTnLst>
                          </p:cTn>
                        </p:par>
                        <p:par>
                          <p:cTn id="24" fill="hold">
                            <p:stCondLst>
                              <p:cond delay="250"/>
                            </p:stCondLst>
                            <p:childTnLst>
                              <p:par>
                                <p:cTn id="25" presetID="10"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400"/>
                                        <p:tgtEl>
                                          <p:spTgt spid="10"/>
                                        </p:tgtEl>
                                      </p:cBhvr>
                                    </p:animEffect>
                                  </p:childTnLst>
                                </p:cTn>
                              </p:par>
                            </p:childTnLst>
                          </p:cTn>
                        </p:par>
                        <p:par>
                          <p:cTn id="28" fill="hold">
                            <p:stCondLst>
                              <p:cond delay="500"/>
                            </p:stCondLst>
                            <p:childTnLst>
                              <p:par>
                                <p:cTn id="29" presetID="10" presetClass="entr" presetSubtype="0"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00"/>
                                        <p:tgtEl>
                                          <p:spTgt spid="11"/>
                                        </p:tgtEl>
                                      </p:cBhvr>
                                    </p:animEffect>
                                  </p:childTnLst>
                                </p:cTn>
                              </p:par>
                            </p:childTnLst>
                          </p:cTn>
                        </p:par>
                        <p:par>
                          <p:cTn id="32" fill="hold">
                            <p:stCondLst>
                              <p:cond delay="500"/>
                            </p:stCondLst>
                            <p:childTnLst>
                              <p:par>
                                <p:cTn id="33" presetID="10" presetClass="entr" presetSubtype="0" fill="hold" grpId="0" nodeType="with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400"/>
                                        <p:tgtEl>
                                          <p:spTgt spid="12"/>
                                        </p:tgtEl>
                                      </p:cBhvr>
                                    </p:animEffect>
                                  </p:childTnLst>
                                </p:cTn>
                              </p:par>
                            </p:childTnLst>
                          </p:cTn>
                        </p:par>
                        <p:par>
                          <p:cTn id="36" fill="hold">
                            <p:stCondLst>
                              <p:cond delay="500"/>
                            </p:stCondLst>
                            <p:childTnLst>
                              <p:par>
                                <p:cTn id="37" presetID="10" presetClass="entr" presetSubtype="0" fill="hold" grpId="0" nodeType="withEffect">
                                  <p:stCondLst>
                                    <p:cond delay="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400"/>
                                        <p:tgtEl>
                                          <p:spTgt spid="13"/>
                                        </p:tgtEl>
                                      </p:cBhvr>
                                    </p:animEffect>
                                  </p:childTnLst>
                                </p:cTn>
                              </p:par>
                            </p:childTnLst>
                          </p:cTn>
                        </p:par>
                        <p:par>
                          <p:cTn id="40" fill="hold">
                            <p:stCondLst>
                              <p:cond delay="750"/>
                            </p:stCondLst>
                            <p:childTnLst>
                              <p:par>
                                <p:cTn id="41" presetID="10" presetClass="entr" presetSubtype="0" fill="hold" grpId="0" nodeType="withEffect">
                                  <p:stCondLst>
                                    <p:cond delay="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400"/>
                                        <p:tgtEl>
                                          <p:spTgt spid="14"/>
                                        </p:tgtEl>
                                      </p:cBhvr>
                                    </p:animEffect>
                                  </p:childTnLst>
                                </p:cTn>
                              </p:par>
                            </p:childTnLst>
                          </p:cTn>
                        </p:par>
                        <p:par>
                          <p:cTn id="44" fill="hold">
                            <p:stCondLst>
                              <p:cond delay="1000"/>
                            </p:stCondLst>
                            <p:childTnLst>
                              <p:par>
                                <p:cTn id="45" presetID="10" presetClass="entr" presetSubtype="0" fill="hold" grpId="0" nodeType="withEffect">
                                  <p:stCondLst>
                                    <p:cond delay="0"/>
                                  </p:stCondLst>
                                  <p:childTnLst>
                                    <p:set>
                                      <p:cBhvr>
                                        <p:cTn id="46" dur="1" fill="hold">
                                          <p:stCondLst>
                                            <p:cond delay="0"/>
                                          </p:stCondLst>
                                        </p:cTn>
                                        <p:tgtEl>
                                          <p:spTgt spid="15"/>
                                        </p:tgtEl>
                                        <p:attrNameLst>
                                          <p:attrName>style.visibility</p:attrName>
                                        </p:attrNameLst>
                                      </p:cBhvr>
                                      <p:to>
                                        <p:strVal val="visible"/>
                                      </p:to>
                                    </p:set>
                                    <p:animEffect transition="in" filter="fade">
                                      <p:cBhvr>
                                        <p:cTn id="47" dur="400"/>
                                        <p:tgtEl>
                                          <p:spTgt spid="15"/>
                                        </p:tgtEl>
                                      </p:cBhvr>
                                    </p:animEffect>
                                  </p:childTnLst>
                                </p:cTn>
                              </p:par>
                            </p:childTnLst>
                          </p:cTn>
                        </p:par>
                        <p:par>
                          <p:cTn id="48" fill="hold">
                            <p:stCondLst>
                              <p:cond delay="1000"/>
                            </p:stCondLst>
                            <p:childTnLst>
                              <p:par>
                                <p:cTn id="49" presetID="10" presetClass="entr" presetSubtype="0" fill="hold" grpId="0" nodeType="withEffect">
                                  <p:stCondLst>
                                    <p:cond delay="0"/>
                                  </p:stCondLst>
                                  <p:childTnLst>
                                    <p:set>
                                      <p:cBhvr>
                                        <p:cTn id="50" dur="1" fill="hold">
                                          <p:stCondLst>
                                            <p:cond delay="0"/>
                                          </p:stCondLst>
                                        </p:cTn>
                                        <p:tgtEl>
                                          <p:spTgt spid="16"/>
                                        </p:tgtEl>
                                        <p:attrNameLst>
                                          <p:attrName>style.visibility</p:attrName>
                                        </p:attrNameLst>
                                      </p:cBhvr>
                                      <p:to>
                                        <p:strVal val="visible"/>
                                      </p:to>
                                    </p:set>
                                    <p:animEffect transition="in" filter="fade">
                                      <p:cBhvr>
                                        <p:cTn id="51" dur="4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B2A4A"/>
      </a:dk2>
      <a:lt2>
        <a:srgbClr val="EEF2F8"/>
      </a:lt2>
      <a:accent1>
        <a:srgbClr val="2E5EAA"/>
      </a:accent1>
      <a:accent2>
        <a:srgbClr val="F2A541"/>
      </a:accent2>
      <a:accent3>
        <a:srgbClr val="566175"/>
      </a:accent3>
      <a:accent4>
        <a:srgbClr val="8FA6CB"/>
      </a:accent4>
      <a:accent5>
        <a:srgbClr val="8A5300"/>
      </a:accent5>
      <a:accent6>
        <a:srgbClr val="D6E0F0"/>
      </a:accent6>
      <a:hlink>
        <a:srgbClr val="0563C1"/>
      </a:hlink>
      <a:folHlink>
        <a:srgbClr val="954F72"/>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Rede Municipal Paulistana: oferta escolar e demanda não atendida</dc:title>
  <dc:subject>PptxGenJS Presentation</dc:subject>
  <dc:creator>Grupo 7, SCC0245</dc:creator>
  <cp:lastModifiedBy>Grupo 7, SCC0245</cp:lastModifiedBy>
  <cp:revision>1</cp:revision>
  <dcterms:created xsi:type="dcterms:W3CDTF">2026-10-29T15:44:18Z</dcterms:created>
  <dcterms:modified xsi:type="dcterms:W3CDTF">2026-10-29T15:44:18Z</dcterms:modified>
</cp:coreProperties>
</file>