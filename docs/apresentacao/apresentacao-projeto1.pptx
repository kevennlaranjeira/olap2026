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124741</c:v>
                </c:pt>
                <c:pt idx="1">
                  <c:v>103496</c:v>
                </c:pt>
                <c:pt idx="2">
                  <c:v>104268</c:v>
                </c:pt>
                <c:pt idx="3">
                  <c:v>66714</c:v>
                </c:pt>
                <c:pt idx="4">
                  <c:v>48910</c:v>
                </c:pt>
                <c:pt idx="5">
                  <c:v>22732</c:v>
                </c:pt>
                <c:pt idx="6">
                  <c:v>8767</c:v>
                </c:pt>
                <c:pt idx="7">
                  <c:v>4761</c:v>
                </c:pt>
                <c:pt idx="8">
                  <c:v>4913</c:v>
                </c:pt>
                <c:pt idx="9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34.1</c:v>
                </c:pt>
                <c:pt idx="1">
                  <c:v>27.1</c:v>
                </c:pt>
                <c:pt idx="2">
                  <c:v>26.6</c:v>
                </c:pt>
                <c:pt idx="3">
                  <c:v>17.5</c:v>
                </c:pt>
                <c:pt idx="4">
                  <c:v>12.8</c:v>
                </c:pt>
                <c:pt idx="5">
                  <c:v>6.2</c:v>
                </c:pt>
                <c:pt idx="6">
                  <c:v>2.4</c:v>
                </c:pt>
                <c:pt idx="7">
                  <c:v>1.3</c:v>
                </c:pt>
                <c:pt idx="8">
                  <c:v>1.4</c:v>
                </c:pt>
                <c:pt idx="9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Alunos por turma em 30 de junho (consulta 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30.7</c:v>
                </c:pt>
                <c:pt idx="2">
                  <c:v>28.7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26.9</c:v>
                </c:pt>
                <c:pt idx="2">
                  <c:v>30.6</c:v>
                </c:pt>
                <c:pt idx="3">
                  <c:v>31.6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Mostrar a divisão: cada integrante apresenta um bloco, com o mesmo tempo previsto. Os quatro blocos seguem a ordem pedida no enunciado: motivação; fontes; esquemas estrela e constelação; consultas e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Os cinco assuntos são os registrados na planilha do grupo, e cada um responde a uma parte da decisão de onde abrir vagas. Matrícula é a oferta usada; fila é quem pediu e não conseguiu; ocupação diz se a oferta que existe está cheia; população é a demanda potencial, que existe mesmo sem pedido; oferta por setor mostra onde e por qual rede a vaga é oferecida. Quatro assuntos viram tabelas de fatos; a oferta por setor é respondida pelas dimensões Escola, Território e Setor Censitário. O quinto processo, desfecho da matrícula,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Na carga real entraram 26.889 setores do município, todos ligados a um distrito da SME.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carga; na carga real nenhuma deu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Fila: medidas nulas onde a prefeitura não publicou a quebra; formato da planilha como dimensão degenerada. Tempo tem duas hierarquias porque a fila foi trimestral até 2022 e bimestral depois. A fila é estoque: soma entre distritos e etapas, mas no tempo se escolhe um mês, nunca se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Desfecho: fato agregado do fato de matrícula, porque taxa de rendimento só faz sentido sobre um conjunto de alunos. As contagens somam; as taxas são recalculadas pelas contagens em qualquer nível, nunca como média de taxas. Na educação infantil não há aprovação, então a taxa fica nula.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Ocupação de turma: agregado do fato de matrícula pelo id da turma. A capacidade não é publicada, então medimos os alunos ativos em 30 de junho por turma em funcionamento. A média é sempre soma de alunos dividida por soma de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População: Censo 2022 no grão de setor censitário, a menor unidade territorial do modelo. Na carga real são 26.889 setores, todos ligados a um distrito da SME, e 11,4 milhões de moradores. Faixa Etária é o rollup encolhido de Idade que conforma com a matrícula.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Cinco fatos, catorze dimensões. Território é compartilhado pelos cinco. Processo de projeto: matriz de barramento com fato e dimensão, dimensões conformadas e, onde os grãos diferem,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1,5 min.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5 na carga com os dados reais de 2015 a 2024. A fila de creche em junho caiu 97% em dez anos e a fração da demanda fora da rede passou de 34% para 1%. A queda maior foi de 2017 a 2021. Consulta 3: 85% das matrículas de creche estão na rede conveniada, quase todas em jornada integral, em 2019 e em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7, na data do Censo: 598.406 crianças de 0 a 4 anos moram no município e a rede municipal tinha 514.131 matrículas ativas dessa idade, 86 por 100. A média esconde distâncias grandes: 25 distritos têm menos de 50 matrículas por 100 crianças residentes e outros 25 passam de 100, porque a matrícula conta onde a escola fica e a população onde a criança mora. Consulta 8: a creche funciona com perto de 11 crianças por turma em todas as DREs; no fundamental são de 28 a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0,5 min.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85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PROCESSAMENTO ANALÍTICO DE DADOS · PRIMEIRO TRABALHO PRÁTICO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143000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anim:1:1"/>
          <p:cNvSpPr/>
          <p:nvPr/>
        </p:nvSpPr>
        <p:spPr>
          <a:xfrm>
            <a:off x="731520" y="39776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"/>
          <p:cNvSpPr txBox="1"/>
          <p:nvPr/>
        </p:nvSpPr>
        <p:spPr>
          <a:xfrm>
            <a:off x="731520" y="39776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</a:t>
            </a:r>
            <a:endParaRPr lang="en-US" sz="1200" dirty="0"/>
          </a:p>
        </p:txBody>
      </p:sp>
      <p:sp>
        <p:nvSpPr>
          <p:cNvPr id="8" name="anim:2:3"/>
          <p:cNvSpPr/>
          <p:nvPr/>
        </p:nvSpPr>
        <p:spPr>
          <a:xfrm>
            <a:off x="73152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4"/>
          <p:cNvSpPr txBox="1"/>
          <p:nvPr/>
        </p:nvSpPr>
        <p:spPr>
          <a:xfrm>
            <a:off x="91440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400" dirty="0"/>
          </a:p>
        </p:txBody>
      </p:sp>
      <p:sp>
        <p:nvSpPr>
          <p:cNvPr id="10" name="anim:2:5"/>
          <p:cNvSpPr txBox="1"/>
          <p:nvPr/>
        </p:nvSpPr>
        <p:spPr>
          <a:xfrm>
            <a:off x="91440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18046529</a:t>
            </a:r>
            <a:endParaRPr lang="en-US" sz="1200" dirty="0"/>
          </a:p>
        </p:txBody>
      </p:sp>
      <p:sp>
        <p:nvSpPr>
          <p:cNvPr id="11" name="anim:3:6"/>
          <p:cNvSpPr/>
          <p:nvPr/>
        </p:nvSpPr>
        <p:spPr>
          <a:xfrm>
            <a:off x="443484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7"/>
          <p:cNvSpPr txBox="1"/>
          <p:nvPr/>
        </p:nvSpPr>
        <p:spPr>
          <a:xfrm>
            <a:off x="461772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400" dirty="0"/>
          </a:p>
        </p:txBody>
      </p:sp>
      <p:sp>
        <p:nvSpPr>
          <p:cNvPr id="13" name="anim:3:8"/>
          <p:cNvSpPr txBox="1"/>
          <p:nvPr/>
        </p:nvSpPr>
        <p:spPr>
          <a:xfrm>
            <a:off x="461772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18066911</a:t>
            </a:r>
            <a:endParaRPr lang="en-US" sz="1200" dirty="0"/>
          </a:p>
        </p:txBody>
      </p:sp>
      <p:sp>
        <p:nvSpPr>
          <p:cNvPr id="14" name="anim:4:9"/>
          <p:cNvSpPr/>
          <p:nvPr/>
        </p:nvSpPr>
        <p:spPr>
          <a:xfrm>
            <a:off x="73152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5" name="anim:4:10"/>
          <p:cNvSpPr txBox="1"/>
          <p:nvPr/>
        </p:nvSpPr>
        <p:spPr>
          <a:xfrm>
            <a:off x="91440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400" dirty="0"/>
          </a:p>
        </p:txBody>
      </p:sp>
      <p:sp>
        <p:nvSpPr>
          <p:cNvPr id="16" name="anim:4:11"/>
          <p:cNvSpPr txBox="1"/>
          <p:nvPr/>
        </p:nvSpPr>
        <p:spPr>
          <a:xfrm>
            <a:off x="91440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12608581</a:t>
            </a:r>
            <a:endParaRPr lang="en-US" sz="1200" dirty="0"/>
          </a:p>
        </p:txBody>
      </p:sp>
      <p:sp>
        <p:nvSpPr>
          <p:cNvPr id="17" name="anim:5:12"/>
          <p:cNvSpPr/>
          <p:nvPr/>
        </p:nvSpPr>
        <p:spPr>
          <a:xfrm>
            <a:off x="443484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8" name="anim:5:13"/>
          <p:cNvSpPr txBox="1"/>
          <p:nvPr/>
        </p:nvSpPr>
        <p:spPr>
          <a:xfrm>
            <a:off x="461772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400" dirty="0"/>
          </a:p>
        </p:txBody>
      </p:sp>
      <p:sp>
        <p:nvSpPr>
          <p:cNvPr id="19" name="anim:5:14"/>
          <p:cNvSpPr txBox="1"/>
          <p:nvPr/>
        </p:nvSpPr>
        <p:spPr>
          <a:xfrm>
            <a:off x="461772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12559486</a:t>
            </a:r>
            <a:endParaRPr lang="en-US" sz="1200" dirty="0"/>
          </a:p>
        </p:txBody>
      </p:sp>
      <p:sp>
        <p:nvSpPr>
          <p:cNvPr id="20" name="anim:6:15"/>
          <p:cNvSpPr txBox="1"/>
          <p:nvPr/>
        </p:nvSpPr>
        <p:spPr>
          <a:xfrm>
            <a:off x="8549640" y="1234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4000" dirty="0"/>
          </a:p>
        </p:txBody>
      </p:sp>
      <p:sp>
        <p:nvSpPr>
          <p:cNvPr id="21" name="anim:6:16"/>
          <p:cNvSpPr txBox="1"/>
          <p:nvPr/>
        </p:nvSpPr>
        <p:spPr>
          <a:xfrm>
            <a:off x="85496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300" dirty="0"/>
          </a:p>
        </p:txBody>
      </p:sp>
      <p:sp>
        <p:nvSpPr>
          <p:cNvPr id="22" name="anim:7:17"/>
          <p:cNvSpPr txBox="1"/>
          <p:nvPr/>
        </p:nvSpPr>
        <p:spPr>
          <a:xfrm>
            <a:off x="8549640" y="2651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4000" dirty="0"/>
          </a:p>
        </p:txBody>
      </p:sp>
      <p:sp>
        <p:nvSpPr>
          <p:cNvPr id="23" name="anim:7:18"/>
          <p:cNvSpPr txBox="1"/>
          <p:nvPr/>
        </p:nvSpPr>
        <p:spPr>
          <a:xfrm>
            <a:off x="854964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fila por distrito</a:t>
            </a:r>
            <a:endParaRPr lang="en-US" sz="1300" dirty="0"/>
          </a:p>
        </p:txBody>
      </p:sp>
      <p:sp>
        <p:nvSpPr>
          <p:cNvPr id="24" name="anim:8:19"/>
          <p:cNvSpPr txBox="1"/>
          <p:nvPr/>
        </p:nvSpPr>
        <p:spPr>
          <a:xfrm>
            <a:off x="8549640" y="4069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4000" dirty="0"/>
          </a:p>
        </p:txBody>
      </p:sp>
      <p:sp>
        <p:nvSpPr>
          <p:cNvPr id="25" name="anim:8:20"/>
          <p:cNvSpPr txBox="1"/>
          <p:nvPr/>
        </p:nvSpPr>
        <p:spPr>
          <a:xfrm>
            <a:off x="854964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 do Censo 2022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 · ICMC-USP, São Carlos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Roteiro: quatro integrantes, quatro blocos</a:t>
            </a:r>
            <a:endParaRPr lang="en-US" sz="3200" dirty="0"/>
          </a:p>
        </p:txBody>
      </p:sp>
      <p:sp>
        <p:nvSpPr>
          <p:cNvPr id="5" name="anim:1:246"/>
          <p:cNvSpPr/>
          <p:nvPr/>
        </p:nvSpPr>
        <p:spPr>
          <a:xfrm>
            <a:off x="54864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47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48"/>
          <p:cNvSpPr txBox="1"/>
          <p:nvPr/>
        </p:nvSpPr>
        <p:spPr>
          <a:xfrm>
            <a:off x="777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249"/>
          <p:cNvSpPr txBox="1"/>
          <p:nvPr/>
        </p:nvSpPr>
        <p:spPr>
          <a:xfrm>
            <a:off x="77724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600" dirty="0"/>
          </a:p>
        </p:txBody>
      </p:sp>
      <p:sp>
        <p:nvSpPr>
          <p:cNvPr id="9" name="anim:1:250"/>
          <p:cNvSpPr txBox="1"/>
          <p:nvPr/>
        </p:nvSpPr>
        <p:spPr>
          <a:xfrm>
            <a:off x="77724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 a 6</a:t>
            </a:r>
            <a:endParaRPr lang="en-US" sz="1300" dirty="0"/>
          </a:p>
        </p:txBody>
      </p:sp>
      <p:sp>
        <p:nvSpPr>
          <p:cNvPr id="10" name="anim:1:251"/>
          <p:cNvSpPr txBox="1"/>
          <p:nvPr/>
        </p:nvSpPr>
        <p:spPr>
          <a:xfrm>
            <a:off x="77724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Motivação: o problema, as perguntas do gestor, a escolha de São Paulo e os cinco assuntos de interesse.</a:t>
            </a:r>
            <a:endParaRPr lang="en-US" sz="1600" dirty="0"/>
          </a:p>
        </p:txBody>
      </p:sp>
      <p:sp>
        <p:nvSpPr>
          <p:cNvPr id="11" name="anim:2:252"/>
          <p:cNvSpPr/>
          <p:nvPr/>
        </p:nvSpPr>
        <p:spPr>
          <a:xfrm>
            <a:off x="336042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2" name="anim:2:253"/>
          <p:cNvSpPr/>
          <p:nvPr/>
        </p:nvSpPr>
        <p:spPr>
          <a:xfrm>
            <a:off x="358902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anim:2:254"/>
          <p:cNvSpPr txBox="1"/>
          <p:nvPr/>
        </p:nvSpPr>
        <p:spPr>
          <a:xfrm>
            <a:off x="35890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anim:2:255"/>
          <p:cNvSpPr txBox="1"/>
          <p:nvPr/>
        </p:nvSpPr>
        <p:spPr>
          <a:xfrm>
            <a:off x="358902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600" dirty="0"/>
          </a:p>
        </p:txBody>
      </p:sp>
      <p:sp>
        <p:nvSpPr>
          <p:cNvPr id="15" name="anim:2:256"/>
          <p:cNvSpPr txBox="1"/>
          <p:nvPr/>
        </p:nvSpPr>
        <p:spPr>
          <a:xfrm>
            <a:off x="358902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 a 11</a:t>
            </a:r>
            <a:endParaRPr lang="en-US" sz="1300" dirty="0"/>
          </a:p>
        </p:txBody>
      </p:sp>
      <p:sp>
        <p:nvSpPr>
          <p:cNvPr id="16" name="anim:2:257"/>
          <p:cNvSpPr txBox="1"/>
          <p:nvPr/>
        </p:nvSpPr>
        <p:spPr>
          <a:xfrm>
            <a:off x="358902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dados, integração, problemas nos dados, grão e aditividade e a estrela Matrícula.</a:t>
            </a:r>
            <a:endParaRPr lang="en-US" sz="1600" dirty="0"/>
          </a:p>
        </p:txBody>
      </p:sp>
      <p:sp>
        <p:nvSpPr>
          <p:cNvPr id="17" name="anim:3:258"/>
          <p:cNvSpPr/>
          <p:nvPr/>
        </p:nvSpPr>
        <p:spPr>
          <a:xfrm>
            <a:off x="617220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anim:3:259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anim:3:260"/>
          <p:cNvSpPr txBox="1"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anim:3:261"/>
          <p:cNvSpPr txBox="1"/>
          <p:nvPr/>
        </p:nvSpPr>
        <p:spPr>
          <a:xfrm>
            <a:off x="640080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600" dirty="0"/>
          </a:p>
        </p:txBody>
      </p:sp>
      <p:sp>
        <p:nvSpPr>
          <p:cNvPr id="21" name="anim:3:262"/>
          <p:cNvSpPr txBox="1"/>
          <p:nvPr/>
        </p:nvSpPr>
        <p:spPr>
          <a:xfrm>
            <a:off x="640080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12 a 16</a:t>
            </a:r>
            <a:endParaRPr lang="en-US" sz="1300" dirty="0"/>
          </a:p>
        </p:txBody>
      </p:sp>
      <p:sp>
        <p:nvSpPr>
          <p:cNvPr id="22" name="anim:3:263"/>
          <p:cNvSpPr txBox="1"/>
          <p:nvPr/>
        </p:nvSpPr>
        <p:spPr>
          <a:xfrm>
            <a:off x="640080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Estrelas Fila, Desfecho, Ocupação de Turma e População; constelação de fatos.</a:t>
            </a:r>
            <a:endParaRPr lang="en-US" sz="1600" dirty="0"/>
          </a:p>
        </p:txBody>
      </p:sp>
      <p:sp>
        <p:nvSpPr>
          <p:cNvPr id="23" name="anim:4:264"/>
          <p:cNvSpPr/>
          <p:nvPr/>
        </p:nvSpPr>
        <p:spPr>
          <a:xfrm>
            <a:off x="898398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4" name="anim:4:265"/>
          <p:cNvSpPr/>
          <p:nvPr/>
        </p:nvSpPr>
        <p:spPr>
          <a:xfrm>
            <a:off x="921258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anim:4:266"/>
          <p:cNvSpPr txBox="1"/>
          <p:nvPr/>
        </p:nvSpPr>
        <p:spPr>
          <a:xfrm>
            <a:off x="92125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anim:4:267"/>
          <p:cNvSpPr txBox="1"/>
          <p:nvPr/>
        </p:nvSpPr>
        <p:spPr>
          <a:xfrm>
            <a:off x="921258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600" dirty="0"/>
          </a:p>
        </p:txBody>
      </p:sp>
      <p:sp>
        <p:nvSpPr>
          <p:cNvPr id="27" name="anim:4:268"/>
          <p:cNvSpPr txBox="1"/>
          <p:nvPr/>
        </p:nvSpPr>
        <p:spPr>
          <a:xfrm>
            <a:off x="921258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17 a 21</a:t>
            </a:r>
            <a:endParaRPr lang="en-US" sz="1300" dirty="0"/>
          </a:p>
        </p:txBody>
      </p:sp>
      <p:sp>
        <p:nvSpPr>
          <p:cNvPr id="28" name="anim:4:269"/>
          <p:cNvSpPr txBox="1"/>
          <p:nvPr/>
        </p:nvSpPr>
        <p:spPr>
          <a:xfrm>
            <a:off x="921258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OLAP, resultados com os dados reais e decisões de projeto.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5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5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75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75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falta de vaga na educação infantil</a:t>
            </a:r>
            <a:endParaRPr lang="en-US" sz="3200" dirty="0"/>
          </a:p>
        </p:txBody>
      </p:sp>
      <p:sp>
        <p:nvSpPr>
          <p:cNvPr id="5" name="anim:1:21"/>
          <p:cNvSpPr txBox="1"/>
          <p:nvPr/>
        </p:nvSpPr>
        <p:spPr>
          <a:xfrm>
            <a:off x="548640" y="164592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700" dirty="0"/>
          </a:p>
        </p:txBody>
      </p:sp>
      <p:sp>
        <p:nvSpPr>
          <p:cNvPr id="6" name="anim:2:22"/>
          <p:cNvSpPr/>
          <p:nvPr/>
        </p:nvSpPr>
        <p:spPr>
          <a:xfrm>
            <a:off x="6583680" y="1600200"/>
            <a:ext cx="5029200" cy="4343400"/>
          </a:xfrm>
          <a:prstGeom prst="roundRect">
            <a:avLst>
              <a:gd name="adj" fmla="val 252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2:23"/>
          <p:cNvSpPr txBox="1"/>
          <p:nvPr/>
        </p:nvSpPr>
        <p:spPr>
          <a:xfrm>
            <a:off x="6903720" y="18105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</a:t>
            </a:r>
            <a:endParaRPr lang="en-US" sz="1200" dirty="0"/>
          </a:p>
        </p:txBody>
      </p:sp>
      <p:sp>
        <p:nvSpPr>
          <p:cNvPr id="8" name="anim:2:24"/>
          <p:cNvSpPr txBox="1"/>
          <p:nvPr/>
        </p:nvSpPr>
        <p:spPr>
          <a:xfrm>
            <a:off x="6903720" y="2240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500" dirty="0"/>
          </a:p>
        </p:txBody>
      </p:sp>
      <p:sp>
        <p:nvSpPr>
          <p:cNvPr id="9" name="anim:2:25"/>
          <p:cNvSpPr txBox="1"/>
          <p:nvPr/>
        </p:nvSpPr>
        <p:spPr>
          <a:xfrm>
            <a:off x="6903720" y="2560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124.741</a:t>
            </a:r>
            <a:endParaRPr lang="en-US" sz="4800" dirty="0"/>
          </a:p>
        </p:txBody>
      </p:sp>
      <p:sp>
        <p:nvSpPr>
          <p:cNvPr id="10" name="anim:2:26"/>
          <p:cNvSpPr txBox="1"/>
          <p:nvPr/>
        </p:nvSpPr>
        <p:spPr>
          <a:xfrm>
            <a:off x="6903720" y="3383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34% da demanda fora da rede</a:t>
            </a:r>
            <a:endParaRPr lang="en-US" sz="1400" dirty="0"/>
          </a:p>
        </p:txBody>
      </p:sp>
      <p:sp>
        <p:nvSpPr>
          <p:cNvPr id="11" name="anim:3:27"/>
          <p:cNvSpPr/>
          <p:nvPr/>
        </p:nvSpPr>
        <p:spPr>
          <a:xfrm>
            <a:off x="10287000" y="3639312"/>
            <a:ext cx="1005840" cy="384048"/>
          </a:xfrm>
          <a:prstGeom prst="roundRect">
            <a:avLst>
              <a:gd name="adj" fmla="val 4047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3:28"/>
          <p:cNvSpPr txBox="1"/>
          <p:nvPr/>
        </p:nvSpPr>
        <p:spPr>
          <a:xfrm>
            <a:off x="10287000" y="36393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-97%</a:t>
            </a:r>
            <a:endParaRPr lang="en-US" sz="1400" dirty="0"/>
          </a:p>
        </p:txBody>
      </p:sp>
      <p:sp>
        <p:nvSpPr>
          <p:cNvPr id="13" name="anim:4:29"/>
          <p:cNvSpPr txBox="1"/>
          <p:nvPr/>
        </p:nvSpPr>
        <p:spPr>
          <a:xfrm>
            <a:off x="6903720" y="4069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500" dirty="0"/>
          </a:p>
        </p:txBody>
      </p:sp>
      <p:sp>
        <p:nvSpPr>
          <p:cNvPr id="14" name="anim:4:30"/>
          <p:cNvSpPr txBox="1"/>
          <p:nvPr/>
        </p:nvSpPr>
        <p:spPr>
          <a:xfrm>
            <a:off x="6903720" y="4389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3.633</a:t>
            </a:r>
            <a:endParaRPr lang="en-US" sz="4800" dirty="0"/>
          </a:p>
        </p:txBody>
      </p:sp>
      <p:sp>
        <p:nvSpPr>
          <p:cNvPr id="15" name="anim:4:31"/>
          <p:cNvSpPr txBox="1"/>
          <p:nvPr/>
        </p:nvSpPr>
        <p:spPr>
          <a:xfrm>
            <a:off x="6903720" y="5212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1% da demanda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que o data warehouse responde</a:t>
            </a:r>
            <a:endParaRPr lang="en-US" sz="3200" dirty="0"/>
          </a:p>
        </p:txBody>
      </p:sp>
      <p:sp>
        <p:nvSpPr>
          <p:cNvPr id="5" name="anim:1:32"/>
          <p:cNvSpPr/>
          <p:nvPr/>
        </p:nvSpPr>
        <p:spPr>
          <a:xfrm>
            <a:off x="54864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33"/>
          <p:cNvSpPr/>
          <p:nvPr/>
        </p:nvSpPr>
        <p:spPr>
          <a:xfrm>
            <a:off x="82296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34"/>
          <p:cNvSpPr txBox="1"/>
          <p:nvPr/>
        </p:nvSpPr>
        <p:spPr>
          <a:xfrm>
            <a:off x="82296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35"/>
          <p:cNvSpPr txBox="1"/>
          <p:nvPr/>
        </p:nvSpPr>
        <p:spPr>
          <a:xfrm>
            <a:off x="160020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9" name="anim:1:36"/>
          <p:cNvSpPr txBox="1"/>
          <p:nvPr/>
        </p:nvSpPr>
        <p:spPr>
          <a:xfrm>
            <a:off x="160020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10" name="anim:1:37"/>
          <p:cNvSpPr/>
          <p:nvPr/>
        </p:nvSpPr>
        <p:spPr>
          <a:xfrm>
            <a:off x="16002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1" name="anim:1:38"/>
          <p:cNvSpPr txBox="1"/>
          <p:nvPr/>
        </p:nvSpPr>
        <p:spPr>
          <a:xfrm>
            <a:off x="16002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200" dirty="0"/>
          </a:p>
        </p:txBody>
      </p:sp>
      <p:sp>
        <p:nvSpPr>
          <p:cNvPr id="12" name="anim:1:39"/>
          <p:cNvSpPr/>
          <p:nvPr/>
        </p:nvSpPr>
        <p:spPr>
          <a:xfrm>
            <a:off x="22860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3" name="anim:1:40"/>
          <p:cNvSpPr txBox="1"/>
          <p:nvPr/>
        </p:nvSpPr>
        <p:spPr>
          <a:xfrm>
            <a:off x="22860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1200" dirty="0"/>
          </a:p>
        </p:txBody>
      </p:sp>
      <p:sp>
        <p:nvSpPr>
          <p:cNvPr id="14" name="anim:1:41"/>
          <p:cNvSpPr/>
          <p:nvPr/>
        </p:nvSpPr>
        <p:spPr>
          <a:xfrm>
            <a:off x="29718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1:42"/>
          <p:cNvSpPr txBox="1"/>
          <p:nvPr/>
        </p:nvSpPr>
        <p:spPr>
          <a:xfrm>
            <a:off x="29718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</a:t>
            </a:r>
            <a:endParaRPr lang="en-US" sz="1200" dirty="0"/>
          </a:p>
        </p:txBody>
      </p:sp>
      <p:sp>
        <p:nvSpPr>
          <p:cNvPr id="16" name="anim:2:43"/>
          <p:cNvSpPr/>
          <p:nvPr/>
        </p:nvSpPr>
        <p:spPr>
          <a:xfrm>
            <a:off x="617220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7" name="anim:2:44"/>
          <p:cNvSpPr/>
          <p:nvPr/>
        </p:nvSpPr>
        <p:spPr>
          <a:xfrm>
            <a:off x="644652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anim:2:45"/>
          <p:cNvSpPr txBox="1"/>
          <p:nvPr/>
        </p:nvSpPr>
        <p:spPr>
          <a:xfrm>
            <a:off x="644652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anim:2:46"/>
          <p:cNvSpPr txBox="1"/>
          <p:nvPr/>
        </p:nvSpPr>
        <p:spPr>
          <a:xfrm>
            <a:off x="722376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20" name="anim:2:47"/>
          <p:cNvSpPr txBox="1"/>
          <p:nvPr/>
        </p:nvSpPr>
        <p:spPr>
          <a:xfrm>
            <a:off x="722376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21" name="anim:2:48"/>
          <p:cNvSpPr/>
          <p:nvPr/>
        </p:nvSpPr>
        <p:spPr>
          <a:xfrm>
            <a:off x="72237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2" name="anim:2:49"/>
          <p:cNvSpPr txBox="1"/>
          <p:nvPr/>
        </p:nvSpPr>
        <p:spPr>
          <a:xfrm>
            <a:off x="72237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200" dirty="0"/>
          </a:p>
        </p:txBody>
      </p:sp>
      <p:sp>
        <p:nvSpPr>
          <p:cNvPr id="23" name="anim:2:50"/>
          <p:cNvSpPr/>
          <p:nvPr/>
        </p:nvSpPr>
        <p:spPr>
          <a:xfrm>
            <a:off x="79095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4" name="anim:2:51"/>
          <p:cNvSpPr txBox="1"/>
          <p:nvPr/>
        </p:nvSpPr>
        <p:spPr>
          <a:xfrm>
            <a:off x="79095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200" dirty="0"/>
          </a:p>
        </p:txBody>
      </p:sp>
      <p:sp>
        <p:nvSpPr>
          <p:cNvPr id="25" name="anim:3:52"/>
          <p:cNvSpPr/>
          <p:nvPr/>
        </p:nvSpPr>
        <p:spPr>
          <a:xfrm>
            <a:off x="54864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3:53"/>
          <p:cNvSpPr/>
          <p:nvPr/>
        </p:nvSpPr>
        <p:spPr>
          <a:xfrm>
            <a:off x="82296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3:54"/>
          <p:cNvSpPr txBox="1"/>
          <p:nvPr/>
        </p:nvSpPr>
        <p:spPr>
          <a:xfrm>
            <a:off x="82296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anim:3:55"/>
          <p:cNvSpPr txBox="1"/>
          <p:nvPr/>
        </p:nvSpPr>
        <p:spPr>
          <a:xfrm>
            <a:off x="160020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29" name="anim:3:56"/>
          <p:cNvSpPr txBox="1"/>
          <p:nvPr/>
        </p:nvSpPr>
        <p:spPr>
          <a:xfrm>
            <a:off x="160020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30" name="anim:3:57"/>
          <p:cNvSpPr/>
          <p:nvPr/>
        </p:nvSpPr>
        <p:spPr>
          <a:xfrm>
            <a:off x="160020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1" name="anim:3:58"/>
          <p:cNvSpPr txBox="1"/>
          <p:nvPr/>
        </p:nvSpPr>
        <p:spPr>
          <a:xfrm>
            <a:off x="160020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200" dirty="0"/>
          </a:p>
        </p:txBody>
      </p:sp>
      <p:sp>
        <p:nvSpPr>
          <p:cNvPr id="32" name="anim:4:59"/>
          <p:cNvSpPr/>
          <p:nvPr/>
        </p:nvSpPr>
        <p:spPr>
          <a:xfrm>
            <a:off x="617220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3" name="anim:4:60"/>
          <p:cNvSpPr/>
          <p:nvPr/>
        </p:nvSpPr>
        <p:spPr>
          <a:xfrm>
            <a:off x="644652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anim:4:61"/>
          <p:cNvSpPr txBox="1"/>
          <p:nvPr/>
        </p:nvSpPr>
        <p:spPr>
          <a:xfrm>
            <a:off x="644652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anim:4:62"/>
          <p:cNvSpPr txBox="1"/>
          <p:nvPr/>
        </p:nvSpPr>
        <p:spPr>
          <a:xfrm>
            <a:off x="722376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36" name="anim:4:63"/>
          <p:cNvSpPr txBox="1"/>
          <p:nvPr/>
        </p:nvSpPr>
        <p:spPr>
          <a:xfrm>
            <a:off x="722376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37" name="anim:4:64"/>
          <p:cNvSpPr/>
          <p:nvPr/>
        </p:nvSpPr>
        <p:spPr>
          <a:xfrm>
            <a:off x="722376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8" name="anim:4:65"/>
          <p:cNvSpPr txBox="1"/>
          <p:nvPr/>
        </p:nvSpPr>
        <p:spPr>
          <a:xfrm>
            <a:off x="722376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0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7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7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75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75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75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75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São Paulo, e não São Carlos</a:t>
            </a:r>
            <a:endParaRPr lang="en-US" sz="3200" dirty="0"/>
          </a:p>
        </p:txBody>
      </p:sp>
      <p:sp>
        <p:nvSpPr>
          <p:cNvPr id="5" name="anim:1:66"/>
          <p:cNvSpPr/>
          <p:nvPr/>
        </p:nvSpPr>
        <p:spPr>
          <a:xfrm>
            <a:off x="54864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67"/>
          <p:cNvSpPr/>
          <p:nvPr/>
        </p:nvSpPr>
        <p:spPr>
          <a:xfrm>
            <a:off x="822960" y="182880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7" name="anim:1:68"/>
          <p:cNvSpPr txBox="1"/>
          <p:nvPr/>
        </p:nvSpPr>
        <p:spPr>
          <a:xfrm>
            <a:off x="822960" y="18288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</a:t>
            </a:r>
            <a:endParaRPr lang="en-US" sz="1200" dirty="0"/>
          </a:p>
        </p:txBody>
      </p:sp>
      <p:sp>
        <p:nvSpPr>
          <p:cNvPr id="8" name="anim:1:69"/>
          <p:cNvSpPr txBox="1"/>
          <p:nvPr/>
        </p:nvSpPr>
        <p:spPr>
          <a:xfrm>
            <a:off x="82296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Carlos</a:t>
            </a:r>
            <a:endParaRPr lang="en-US" sz="2400" dirty="0"/>
          </a:p>
        </p:txBody>
      </p:sp>
      <p:sp>
        <p:nvSpPr>
          <p:cNvPr id="9" name="anim:1:70"/>
          <p:cNvSpPr txBox="1"/>
          <p:nvPr/>
        </p:nvSpPr>
        <p:spPr>
          <a:xfrm>
            <a:off x="82296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 Sem dado aberto de vaga nem de fila, a demanda não atendida teria de ser estimada.</a:t>
            </a:r>
            <a:endParaRPr lang="en-US" sz="1600" dirty="0"/>
          </a:p>
        </p:txBody>
      </p:sp>
      <p:sp>
        <p:nvSpPr>
          <p:cNvPr id="10" name="anim:2:71"/>
          <p:cNvSpPr/>
          <p:nvPr/>
        </p:nvSpPr>
        <p:spPr>
          <a:xfrm>
            <a:off x="617220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72"/>
          <p:cNvSpPr/>
          <p:nvPr/>
        </p:nvSpPr>
        <p:spPr>
          <a:xfrm>
            <a:off x="6446520" y="18288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2" name="anim:2:73"/>
          <p:cNvSpPr txBox="1"/>
          <p:nvPr/>
        </p:nvSpPr>
        <p:spPr>
          <a:xfrm>
            <a:off x="6446520" y="18288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</a:t>
            </a:r>
            <a:endParaRPr lang="en-US" sz="1200" dirty="0"/>
          </a:p>
        </p:txBody>
      </p:sp>
      <p:sp>
        <p:nvSpPr>
          <p:cNvPr id="13" name="anim:2:74"/>
          <p:cNvSpPr txBox="1"/>
          <p:nvPr/>
        </p:nvSpPr>
        <p:spPr>
          <a:xfrm>
            <a:off x="644652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2400" dirty="0"/>
          </a:p>
        </p:txBody>
      </p:sp>
      <p:sp>
        <p:nvSpPr>
          <p:cNvPr id="14" name="anim:2:75"/>
          <p:cNvSpPr txBox="1"/>
          <p:nvPr/>
        </p:nvSpPr>
        <p:spPr>
          <a:xfrm>
            <a:off x="644652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 13,4 milhões de matrículas de 2015 a 2024.</a:t>
            </a:r>
            <a:endParaRPr lang="en-US" sz="1600" dirty="0"/>
          </a:p>
        </p:txBody>
      </p:sp>
      <p:sp>
        <p:nvSpPr>
          <p:cNvPr id="15" name="anim:3:76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anim:3:77"/>
          <p:cNvSpPr/>
          <p:nvPr/>
        </p:nvSpPr>
        <p:spPr>
          <a:xfrm>
            <a:off x="822960" y="50474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78"/>
          <p:cNvSpPr txBox="1"/>
          <p:nvPr/>
        </p:nvSpPr>
        <p:spPr>
          <a:xfrm>
            <a:off x="822960" y="5047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anim:3:79"/>
          <p:cNvSpPr txBox="1"/>
          <p:nvPr/>
        </p:nvSpPr>
        <p:spPr>
          <a:xfrm>
            <a:off x="1600200" y="481888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assuntos de interesse e por que importam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63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79476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MODELO</a:t>
            </a:r>
            <a:endParaRPr lang="en-US" sz="1100" dirty="0"/>
          </a:p>
        </p:txBody>
      </p:sp>
      <p:sp>
        <p:nvSpPr>
          <p:cNvPr id="8" name="anim:1:80"/>
          <p:cNvSpPr/>
          <p:nvPr/>
        </p:nvSpPr>
        <p:spPr>
          <a:xfrm>
            <a:off x="548640" y="17830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9" name="anim:1:81"/>
          <p:cNvSpPr/>
          <p:nvPr/>
        </p:nvSpPr>
        <p:spPr>
          <a:xfrm>
            <a:off x="685800" y="188366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0" name="anim:1:82"/>
          <p:cNvSpPr txBox="1"/>
          <p:nvPr/>
        </p:nvSpPr>
        <p:spPr>
          <a:xfrm>
            <a:off x="685800" y="188366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</a:t>
            </a:r>
            <a:endParaRPr lang="en-US" sz="1200" dirty="0"/>
          </a:p>
        </p:txBody>
      </p:sp>
      <p:sp>
        <p:nvSpPr>
          <p:cNvPr id="11" name="anim:1:83"/>
          <p:cNvSpPr txBox="1"/>
          <p:nvPr/>
        </p:nvSpPr>
        <p:spPr>
          <a:xfrm>
            <a:off x="37947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efetivamente usada, com o perfil de cada aluno</a:t>
            </a:r>
            <a:endParaRPr lang="en-US" sz="1500" dirty="0"/>
          </a:p>
        </p:txBody>
      </p:sp>
      <p:sp>
        <p:nvSpPr>
          <p:cNvPr id="12" name="anim:1:84"/>
          <p:cNvSpPr txBox="1"/>
          <p:nvPr/>
        </p:nvSpPr>
        <p:spPr>
          <a:xfrm>
            <a:off x="8732520" y="17830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Matrícula</a:t>
            </a:r>
            <a:endParaRPr lang="en-US" sz="1300" dirty="0"/>
          </a:p>
        </p:txBody>
      </p:sp>
      <p:sp>
        <p:nvSpPr>
          <p:cNvPr id="13" name="anim:2:85"/>
          <p:cNvSpPr/>
          <p:nvPr/>
        </p:nvSpPr>
        <p:spPr>
          <a:xfrm>
            <a:off x="548640" y="24231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4" name="anim:2:86"/>
          <p:cNvSpPr/>
          <p:nvPr/>
        </p:nvSpPr>
        <p:spPr>
          <a:xfrm>
            <a:off x="685800" y="252374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2:87"/>
          <p:cNvSpPr txBox="1"/>
          <p:nvPr/>
        </p:nvSpPr>
        <p:spPr>
          <a:xfrm>
            <a:off x="685800" y="252374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(demanda registrada)</a:t>
            </a:r>
            <a:endParaRPr lang="en-US" sz="1200" dirty="0"/>
          </a:p>
        </p:txBody>
      </p:sp>
      <p:sp>
        <p:nvSpPr>
          <p:cNvPr id="16" name="anim:2:88"/>
          <p:cNvSpPr txBox="1"/>
          <p:nvPr/>
        </p:nvSpPr>
        <p:spPr>
          <a:xfrm>
            <a:off x="3794760" y="24231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pediu vaga e não foi atendido</a:t>
            </a:r>
            <a:endParaRPr lang="en-US" sz="1500" dirty="0"/>
          </a:p>
        </p:txBody>
      </p:sp>
      <p:sp>
        <p:nvSpPr>
          <p:cNvPr id="17" name="anim:2:89"/>
          <p:cNvSpPr txBox="1"/>
          <p:nvPr/>
        </p:nvSpPr>
        <p:spPr>
          <a:xfrm>
            <a:off x="8732520" y="24231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Fila</a:t>
            </a:r>
            <a:endParaRPr lang="en-US" sz="1300" dirty="0"/>
          </a:p>
        </p:txBody>
      </p:sp>
      <p:sp>
        <p:nvSpPr>
          <p:cNvPr id="18" name="anim:3:90"/>
          <p:cNvSpPr/>
          <p:nvPr/>
        </p:nvSpPr>
        <p:spPr>
          <a:xfrm>
            <a:off x="548640" y="30632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9" name="anim:3:91"/>
          <p:cNvSpPr/>
          <p:nvPr/>
        </p:nvSpPr>
        <p:spPr>
          <a:xfrm>
            <a:off x="685800" y="316382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0" name="anim:3:92"/>
          <p:cNvSpPr txBox="1"/>
          <p:nvPr/>
        </p:nvSpPr>
        <p:spPr>
          <a:xfrm>
            <a:off x="685800" y="316382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e ocupação das turmas</a:t>
            </a:r>
            <a:endParaRPr lang="en-US" sz="1200" dirty="0"/>
          </a:p>
        </p:txBody>
      </p:sp>
      <p:sp>
        <p:nvSpPr>
          <p:cNvPr id="21" name="anim:3:93"/>
          <p:cNvSpPr txBox="1"/>
          <p:nvPr/>
        </p:nvSpPr>
        <p:spPr>
          <a:xfrm>
            <a:off x="3794760" y="3063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oferta existente está cheia: turma nova ou lugar ocioso</a:t>
            </a:r>
            <a:endParaRPr lang="en-US" sz="1500" dirty="0"/>
          </a:p>
        </p:txBody>
      </p:sp>
      <p:sp>
        <p:nvSpPr>
          <p:cNvPr id="22" name="anim:3:94"/>
          <p:cNvSpPr txBox="1"/>
          <p:nvPr/>
        </p:nvSpPr>
        <p:spPr>
          <a:xfrm>
            <a:off x="8732520" y="3063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Ocupação de Turma</a:t>
            </a:r>
            <a:endParaRPr lang="en-US" sz="1300" dirty="0"/>
          </a:p>
        </p:txBody>
      </p:sp>
      <p:sp>
        <p:nvSpPr>
          <p:cNvPr id="23" name="anim:4:95"/>
          <p:cNvSpPr/>
          <p:nvPr/>
        </p:nvSpPr>
        <p:spPr>
          <a:xfrm>
            <a:off x="548640" y="37033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4" name="anim:4:96"/>
          <p:cNvSpPr/>
          <p:nvPr/>
        </p:nvSpPr>
        <p:spPr>
          <a:xfrm>
            <a:off x="685800" y="380390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5" name="anim:4:97"/>
          <p:cNvSpPr txBox="1"/>
          <p:nvPr/>
        </p:nvSpPr>
        <p:spPr>
          <a:xfrm>
            <a:off x="685800" y="380390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em idade escolar</a:t>
            </a:r>
            <a:endParaRPr lang="en-US" sz="1200" dirty="0"/>
          </a:p>
        </p:txBody>
      </p:sp>
      <p:sp>
        <p:nvSpPr>
          <p:cNvPr id="26" name="anim:4:98"/>
          <p:cNvSpPr txBox="1"/>
          <p:nvPr/>
        </p:nvSpPr>
        <p:spPr>
          <a:xfrm>
            <a:off x="3794760" y="37033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potencial, mesmo sem pedido de vaga</a:t>
            </a:r>
            <a:endParaRPr lang="en-US" sz="1500" dirty="0"/>
          </a:p>
        </p:txBody>
      </p:sp>
      <p:sp>
        <p:nvSpPr>
          <p:cNvPr id="27" name="anim:4:99"/>
          <p:cNvSpPr txBox="1"/>
          <p:nvPr/>
        </p:nvSpPr>
        <p:spPr>
          <a:xfrm>
            <a:off x="8732520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População</a:t>
            </a:r>
            <a:endParaRPr lang="en-US" sz="1300" dirty="0"/>
          </a:p>
        </p:txBody>
      </p:sp>
      <p:sp>
        <p:nvSpPr>
          <p:cNvPr id="28" name="anim:5:100"/>
          <p:cNvSpPr/>
          <p:nvPr/>
        </p:nvSpPr>
        <p:spPr>
          <a:xfrm>
            <a:off x="548640" y="4343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9" name="anim:5:101"/>
          <p:cNvSpPr/>
          <p:nvPr/>
        </p:nvSpPr>
        <p:spPr>
          <a:xfrm>
            <a:off x="685800" y="444398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0" name="anim:5:102"/>
          <p:cNvSpPr txBox="1"/>
          <p:nvPr/>
        </p:nvSpPr>
        <p:spPr>
          <a:xfrm>
            <a:off x="685800" y="444398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</a:t>
            </a:r>
            <a:endParaRPr lang="en-US" sz="1200" dirty="0"/>
          </a:p>
        </p:txBody>
      </p:sp>
      <p:sp>
        <p:nvSpPr>
          <p:cNvPr id="31" name="anim:5:103"/>
          <p:cNvSpPr txBox="1"/>
          <p:nvPr/>
        </p:nvSpPr>
        <p:spPr>
          <a:xfrm>
            <a:off x="3794760" y="4343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 por qual rede (direta ou conveniada) a vaga é oferecida</a:t>
            </a:r>
            <a:endParaRPr lang="en-US" sz="1500" dirty="0"/>
          </a:p>
        </p:txBody>
      </p:sp>
      <p:sp>
        <p:nvSpPr>
          <p:cNvPr id="32" name="anim:5:104"/>
          <p:cNvSpPr txBox="1"/>
          <p:nvPr/>
        </p:nvSpPr>
        <p:spPr>
          <a:xfrm>
            <a:off x="8732520" y="4343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Escola, Território, Setor</a:t>
            </a:r>
            <a:endParaRPr lang="en-US" sz="1300" dirty="0"/>
          </a:p>
        </p:txBody>
      </p:sp>
      <p:sp>
        <p:nvSpPr>
          <p:cNvPr id="33" name="anim:6:105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4" name="anim:6:106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anim:6:107"/>
          <p:cNvSpPr txBox="1"/>
          <p:nvPr/>
        </p:nvSpPr>
        <p:spPr>
          <a:xfrm>
            <a:off x="777240" y="5321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anim:6:108"/>
          <p:cNvSpPr txBox="1"/>
          <p:nvPr/>
        </p:nvSpPr>
        <p:spPr>
          <a:xfrm>
            <a:off x="150876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processo: desfecho da matrícula.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o que acontece depois do acesso: aprovação, reprovação, abandono e transferência.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de dados reais e oficiais</a:t>
            </a:r>
            <a:endParaRPr lang="en-US" sz="3200" dirty="0"/>
          </a:p>
        </p:txBody>
      </p:sp>
      <p:sp>
        <p:nvSpPr>
          <p:cNvPr id="5" name="anim:1:109"/>
          <p:cNvSpPr/>
          <p:nvPr/>
        </p:nvSpPr>
        <p:spPr>
          <a:xfrm>
            <a:off x="54864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10"/>
          <p:cNvSpPr txBox="1"/>
          <p:nvPr/>
        </p:nvSpPr>
        <p:spPr>
          <a:xfrm>
            <a:off x="82296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100" dirty="0"/>
          </a:p>
        </p:txBody>
      </p:sp>
      <p:sp>
        <p:nvSpPr>
          <p:cNvPr id="7" name="anim:1:111"/>
          <p:cNvSpPr txBox="1"/>
          <p:nvPr/>
        </p:nvSpPr>
        <p:spPr>
          <a:xfrm>
            <a:off x="82296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8" name="anim:1:112"/>
          <p:cNvSpPr txBox="1"/>
          <p:nvPr/>
        </p:nvSpPr>
        <p:spPr>
          <a:xfrm>
            <a:off x="82296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600" dirty="0"/>
          </a:p>
        </p:txBody>
      </p:sp>
      <p:sp>
        <p:nvSpPr>
          <p:cNvPr id="9" name="anim:1:113"/>
          <p:cNvSpPr txBox="1"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escolarização, 2015 a 2024</a:t>
            </a:r>
            <a:endParaRPr lang="en-US" sz="1200" dirty="0"/>
          </a:p>
        </p:txBody>
      </p:sp>
      <p:sp>
        <p:nvSpPr>
          <p:cNvPr id="10" name="anim:1:114"/>
          <p:cNvSpPr txBox="1"/>
          <p:nvPr/>
        </p:nvSpPr>
        <p:spPr>
          <a:xfrm>
            <a:off x="82296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</p:txBody>
      </p:sp>
      <p:sp>
        <p:nvSpPr>
          <p:cNvPr id="11" name="anim:2:115"/>
          <p:cNvSpPr/>
          <p:nvPr/>
        </p:nvSpPr>
        <p:spPr>
          <a:xfrm>
            <a:off x="429768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2" name="anim:2:116"/>
          <p:cNvSpPr txBox="1"/>
          <p:nvPr/>
        </p:nvSpPr>
        <p:spPr>
          <a:xfrm>
            <a:off x="457200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 E BIMESTRAL</a:t>
            </a:r>
            <a:endParaRPr lang="en-US" sz="1100" dirty="0"/>
          </a:p>
        </p:txBody>
      </p:sp>
      <p:sp>
        <p:nvSpPr>
          <p:cNvPr id="13" name="anim:2:117"/>
          <p:cNvSpPr txBox="1"/>
          <p:nvPr/>
        </p:nvSpPr>
        <p:spPr>
          <a:xfrm>
            <a:off x="457200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4" name="anim:2:118"/>
          <p:cNvSpPr txBox="1"/>
          <p:nvPr/>
        </p:nvSpPr>
        <p:spPr>
          <a:xfrm>
            <a:off x="457200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</a:t>
            </a:r>
            <a:endParaRPr lang="en-US" sz="3600" dirty="0"/>
          </a:p>
        </p:txBody>
      </p:sp>
      <p:sp>
        <p:nvSpPr>
          <p:cNvPr id="15" name="anim:2:119"/>
          <p:cNvSpPr txBox="1"/>
          <p:nvPr/>
        </p:nvSpPr>
        <p:spPr>
          <a:xfrm>
            <a:off x="457200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 (33 arquivos) × 96 distritos no recorte</a:t>
            </a:r>
            <a:endParaRPr lang="en-US" sz="1200" dirty="0"/>
          </a:p>
        </p:txBody>
      </p:sp>
      <p:sp>
        <p:nvSpPr>
          <p:cNvPr id="16" name="anim:2:120"/>
          <p:cNvSpPr txBox="1"/>
          <p:nvPr/>
        </p:nvSpPr>
        <p:spPr>
          <a:xfrm>
            <a:off x="457200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 Trimestral até 2022, bimestral desde 2023; sete formatos diferentes.</a:t>
            </a:r>
            <a:endParaRPr lang="en-US" sz="1400" dirty="0"/>
          </a:p>
        </p:txBody>
      </p:sp>
      <p:sp>
        <p:nvSpPr>
          <p:cNvPr id="17" name="anim:3:121"/>
          <p:cNvSpPr/>
          <p:nvPr/>
        </p:nvSpPr>
        <p:spPr>
          <a:xfrm>
            <a:off x="804672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anim:3:122"/>
          <p:cNvSpPr txBox="1"/>
          <p:nvPr/>
        </p:nvSpPr>
        <p:spPr>
          <a:xfrm>
            <a:off x="832104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100" dirty="0"/>
          </a:p>
        </p:txBody>
      </p:sp>
      <p:sp>
        <p:nvSpPr>
          <p:cNvPr id="19" name="anim:3:123"/>
          <p:cNvSpPr txBox="1"/>
          <p:nvPr/>
        </p:nvSpPr>
        <p:spPr>
          <a:xfrm>
            <a:off x="832104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20" name="anim:3:124"/>
          <p:cNvSpPr txBox="1"/>
          <p:nvPr/>
        </p:nvSpPr>
        <p:spPr>
          <a:xfrm>
            <a:off x="832104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600" dirty="0"/>
          </a:p>
        </p:txBody>
      </p:sp>
      <p:sp>
        <p:nvSpPr>
          <p:cNvPr id="21" name="anim:3:125"/>
          <p:cNvSpPr txBox="1"/>
          <p:nvPr/>
        </p:nvSpPr>
        <p:spPr>
          <a:xfrm>
            <a:off x="832104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município, 11,4 milhões de moradores</a:t>
            </a:r>
            <a:endParaRPr lang="en-US" sz="1200" dirty="0"/>
          </a:p>
        </p:txBody>
      </p:sp>
      <p:sp>
        <p:nvSpPr>
          <p:cNvPr id="22" name="anim:3:126"/>
          <p:cNvSpPr txBox="1"/>
          <p:nvPr/>
        </p:nvSpPr>
        <p:spPr>
          <a:xfrm>
            <a:off x="832104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V01041); referência 31/07/2022.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Integração: o mesmo dado em formas diferentes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127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1:128"/>
          <p:cNvSpPr txBox="1"/>
          <p:nvPr/>
        </p:nvSpPr>
        <p:spPr>
          <a:xfrm>
            <a:off x="822960" y="46634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1%</a:t>
            </a:r>
            <a:endParaRPr lang="en-US" sz="4400" dirty="0"/>
          </a:p>
        </p:txBody>
      </p:sp>
      <p:sp>
        <p:nvSpPr>
          <p:cNvPr id="8" name="anim:1:129"/>
          <p:cNvSpPr txBox="1"/>
          <p:nvPr/>
        </p:nvSpPr>
        <p:spPr>
          <a:xfrm>
            <a:off x="2926080" y="46634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reais nos dados e como foram tratados</a:t>
            </a:r>
            <a:endParaRPr lang="en-US" sz="3200" dirty="0"/>
          </a:p>
        </p:txBody>
      </p:sp>
      <p:sp>
        <p:nvSpPr>
          <p:cNvPr id="5" name="anim:1:130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31"/>
          <p:cNvSpPr/>
          <p:nvPr/>
        </p:nvSpPr>
        <p:spPr>
          <a:xfrm>
            <a:off x="77724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132"/>
          <p:cNvSpPr txBox="1"/>
          <p:nvPr/>
        </p:nvSpPr>
        <p:spPr>
          <a:xfrm>
            <a:off x="77724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anim:1:133"/>
          <p:cNvSpPr txBox="1"/>
          <p:nvPr/>
        </p:nvSpPr>
        <p:spPr>
          <a:xfrm>
            <a:off x="137160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00" dirty="0"/>
          </a:p>
        </p:txBody>
      </p:sp>
      <p:sp>
        <p:nvSpPr>
          <p:cNvPr id="9" name="anim:1:13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10" name="anim:2:135"/>
          <p:cNvSpPr/>
          <p:nvPr/>
        </p:nvSpPr>
        <p:spPr>
          <a:xfrm>
            <a:off x="429768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136"/>
          <p:cNvSpPr/>
          <p:nvPr/>
        </p:nvSpPr>
        <p:spPr>
          <a:xfrm>
            <a:off x="452628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137"/>
          <p:cNvSpPr txBox="1"/>
          <p:nvPr/>
        </p:nvSpPr>
        <p:spPr>
          <a:xfrm>
            <a:off x="452628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nim:2:138"/>
          <p:cNvSpPr txBox="1"/>
          <p:nvPr/>
        </p:nvSpPr>
        <p:spPr>
          <a:xfrm>
            <a:off x="512064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00" dirty="0"/>
          </a:p>
        </p:txBody>
      </p:sp>
      <p:sp>
        <p:nvSpPr>
          <p:cNvPr id="14" name="anim:2:139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5" name="anim:3:140"/>
          <p:cNvSpPr/>
          <p:nvPr/>
        </p:nvSpPr>
        <p:spPr>
          <a:xfrm>
            <a:off x="804672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141"/>
          <p:cNvSpPr/>
          <p:nvPr/>
        </p:nvSpPr>
        <p:spPr>
          <a:xfrm>
            <a:off x="827532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142"/>
          <p:cNvSpPr txBox="1"/>
          <p:nvPr/>
        </p:nvSpPr>
        <p:spPr>
          <a:xfrm>
            <a:off x="827532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anim:3:143"/>
          <p:cNvSpPr txBox="1"/>
          <p:nvPr/>
        </p:nvSpPr>
        <p:spPr>
          <a:xfrm>
            <a:off x="886968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00" dirty="0"/>
          </a:p>
        </p:txBody>
      </p:sp>
      <p:sp>
        <p:nvSpPr>
          <p:cNvPr id="19" name="anim:3:144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20" name="anim:4:145"/>
          <p:cNvSpPr/>
          <p:nvPr/>
        </p:nvSpPr>
        <p:spPr>
          <a:xfrm>
            <a:off x="54864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146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147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anim:4:148"/>
          <p:cNvSpPr txBox="1"/>
          <p:nvPr/>
        </p:nvSpPr>
        <p:spPr>
          <a:xfrm>
            <a:off x="137160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00" dirty="0"/>
          </a:p>
        </p:txBody>
      </p:sp>
      <p:sp>
        <p:nvSpPr>
          <p:cNvPr id="24" name="anim:4:149"/>
          <p:cNvSpPr txBox="1"/>
          <p:nvPr/>
        </p:nvSpPr>
        <p:spPr>
          <a:xfrm>
            <a:off x="82296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25" name="anim:5:150"/>
          <p:cNvSpPr/>
          <p:nvPr/>
        </p:nvSpPr>
        <p:spPr>
          <a:xfrm>
            <a:off x="429768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151"/>
          <p:cNvSpPr/>
          <p:nvPr/>
        </p:nvSpPr>
        <p:spPr>
          <a:xfrm>
            <a:off x="452628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152"/>
          <p:cNvSpPr txBox="1"/>
          <p:nvPr/>
        </p:nvSpPr>
        <p:spPr>
          <a:xfrm>
            <a:off x="452628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anim:5:153"/>
          <p:cNvSpPr txBox="1"/>
          <p:nvPr/>
        </p:nvSpPr>
        <p:spPr>
          <a:xfrm>
            <a:off x="512064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00" dirty="0"/>
          </a:p>
        </p:txBody>
      </p:sp>
      <p:sp>
        <p:nvSpPr>
          <p:cNvPr id="29" name="anim:5:154"/>
          <p:cNvSpPr txBox="1"/>
          <p:nvPr/>
        </p:nvSpPr>
        <p:spPr>
          <a:xfrm>
            <a:off x="457200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30" name="anim:6:155"/>
          <p:cNvSpPr/>
          <p:nvPr/>
        </p:nvSpPr>
        <p:spPr>
          <a:xfrm>
            <a:off x="804672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156"/>
          <p:cNvSpPr/>
          <p:nvPr/>
        </p:nvSpPr>
        <p:spPr>
          <a:xfrm>
            <a:off x="827532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157"/>
          <p:cNvSpPr txBox="1"/>
          <p:nvPr/>
        </p:nvSpPr>
        <p:spPr>
          <a:xfrm>
            <a:off x="827532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anim:6:158"/>
          <p:cNvSpPr txBox="1"/>
          <p:nvPr/>
        </p:nvSpPr>
        <p:spPr>
          <a:xfrm>
            <a:off x="886968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suprimidos pelo IBGE em setores pequenos</a:t>
            </a:r>
            <a:endParaRPr lang="en-US" sz="1500" dirty="0"/>
          </a:p>
        </p:txBody>
      </p:sp>
      <p:sp>
        <p:nvSpPr>
          <p:cNvPr id="34" name="anim:6:159"/>
          <p:cNvSpPr txBox="1"/>
          <p:nvPr/>
        </p:nvSpPr>
        <p:spPr>
          <a:xfrm>
            <a:off x="832104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6.543 valores ficam nulos, nunca zero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e aditividade dos fatos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anim:1:160"/>
          <p:cNvSpPr/>
          <p:nvPr/>
        </p:nvSpPr>
        <p:spPr>
          <a:xfrm>
            <a:off x="54864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7" name="anim:1:161"/>
          <p:cNvSpPr txBox="1"/>
          <p:nvPr/>
        </p:nvSpPr>
        <p:spPr>
          <a:xfrm>
            <a:off x="54864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aditivo</a:t>
            </a:r>
            <a:endParaRPr lang="en-US" sz="1200" dirty="0"/>
          </a:p>
        </p:txBody>
      </p:sp>
      <p:sp>
        <p:nvSpPr>
          <p:cNvPr id="8" name="anim:1:162"/>
          <p:cNvSpPr txBox="1"/>
          <p:nvPr/>
        </p:nvSpPr>
        <p:spPr>
          <a:xfrm>
            <a:off x="210312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em todas as dimensões</a:t>
            </a:r>
            <a:endParaRPr lang="en-US" sz="1200" dirty="0"/>
          </a:p>
        </p:txBody>
      </p:sp>
      <p:sp>
        <p:nvSpPr>
          <p:cNvPr id="9" name="anim:2:163"/>
          <p:cNvSpPr/>
          <p:nvPr/>
        </p:nvSpPr>
        <p:spPr>
          <a:xfrm>
            <a:off x="429768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 w="12700">
            <a:solidFill>
              <a:srgbClr val="8A5300"/>
            </a:solidFill>
            <a:prstDash val="solid"/>
          </a:ln>
        </p:spPr>
      </p:sp>
      <p:sp>
        <p:nvSpPr>
          <p:cNvPr id="10" name="anim:2:164"/>
          <p:cNvSpPr txBox="1"/>
          <p:nvPr/>
        </p:nvSpPr>
        <p:spPr>
          <a:xfrm>
            <a:off x="429768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semiaditivo</a:t>
            </a:r>
            <a:endParaRPr lang="en-US" sz="1200" dirty="0"/>
          </a:p>
        </p:txBody>
      </p:sp>
      <p:sp>
        <p:nvSpPr>
          <p:cNvPr id="11" name="anim:2:165"/>
          <p:cNvSpPr txBox="1"/>
          <p:nvPr/>
        </p:nvSpPr>
        <p:spPr>
          <a:xfrm>
            <a:off x="585216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não soma no tempo</a:t>
            </a:r>
            <a:endParaRPr lang="en-US" sz="1200" dirty="0"/>
          </a:p>
        </p:txBody>
      </p:sp>
      <p:sp>
        <p:nvSpPr>
          <p:cNvPr id="12" name="anim:3:166"/>
          <p:cNvSpPr/>
          <p:nvPr/>
        </p:nvSpPr>
        <p:spPr>
          <a:xfrm>
            <a:off x="804672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13" name="anim:3:167"/>
          <p:cNvSpPr txBox="1"/>
          <p:nvPr/>
        </p:nvSpPr>
        <p:spPr>
          <a:xfrm>
            <a:off x="804672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aditivo</a:t>
            </a:r>
            <a:endParaRPr lang="en-US" sz="1200" dirty="0"/>
          </a:p>
        </p:txBody>
      </p:sp>
      <p:sp>
        <p:nvSpPr>
          <p:cNvPr id="14" name="anim:3:168"/>
          <p:cNvSpPr txBox="1"/>
          <p:nvPr/>
        </p:nvSpPr>
        <p:spPr>
          <a:xfrm>
            <a:off x="960120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recalculado a partir das somas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Matrícula</a:t>
            </a:r>
            <a:endParaRPr lang="en-US" sz="3200" dirty="0"/>
          </a:p>
        </p:txBody>
      </p:sp>
      <p:sp>
        <p:nvSpPr>
          <p:cNvPr id="5" name="anim:1:169"/>
          <p:cNvSpPr/>
          <p:nvPr/>
        </p:nvSpPr>
        <p:spPr>
          <a:xfrm>
            <a:off x="548640" y="1463040"/>
            <a:ext cx="749808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0" descr="Esquema estrela Matrícula: tabela de fatos Matrícula no centro, ligada a dez dimen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8738" y="1600200"/>
            <a:ext cx="5857883" cy="4297680"/>
          </a:xfrm>
          <a:prstGeom prst="rect">
            <a:avLst/>
          </a:prstGeom>
        </p:spPr>
      </p:pic>
      <p:sp>
        <p:nvSpPr>
          <p:cNvPr id="7" name="anim:2:171"/>
          <p:cNvSpPr/>
          <p:nvPr/>
        </p:nvSpPr>
        <p:spPr>
          <a:xfrm>
            <a:off x="8275320" y="1463040"/>
            <a:ext cx="3337560" cy="4572000"/>
          </a:xfrm>
          <a:prstGeom prst="roundRect">
            <a:avLst>
              <a:gd name="adj" fmla="val 3288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2:172"/>
          <p:cNvSpPr txBox="1"/>
          <p:nvPr/>
        </p:nvSpPr>
        <p:spPr>
          <a:xfrm>
            <a:off x="8458200" y="1645920"/>
            <a:ext cx="30175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Fila</a:t>
            </a:r>
            <a:endParaRPr lang="en-US" sz="3200" dirty="0"/>
          </a:p>
        </p:txBody>
      </p:sp>
      <p:sp>
        <p:nvSpPr>
          <p:cNvPr id="5" name="anim:1:173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4" descr="Esquema estrela Fila: tabela de fatos Fila ligada às dimensões Tempo, Território e Et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583" y="1600200"/>
            <a:ext cx="10270354" cy="3429000"/>
          </a:xfrm>
          <a:prstGeom prst="rect">
            <a:avLst/>
          </a:prstGeom>
        </p:spPr>
      </p:pic>
      <p:sp>
        <p:nvSpPr>
          <p:cNvPr id="7" name="anim:2:175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distrito × mês × etapa.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no território e na etapa; um único mês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500" dirty="0"/>
          </a:p>
        </p:txBody>
      </p:sp>
      <p:sp>
        <p:nvSpPr>
          <p:cNvPr id="8" name="anim:2:176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planilha: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Desfecho</a:t>
            </a:r>
            <a:endParaRPr lang="en-US" sz="3200" dirty="0"/>
          </a:p>
        </p:txBody>
      </p:sp>
      <p:sp>
        <p:nvSpPr>
          <p:cNvPr id="5" name="anim:1:177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8" descr="Esquema estrela Desfecho: tabela de fatos Desfecho ligada a Ano Letivo, Escola, Território e Sé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80" y="1600200"/>
            <a:ext cx="10667360" cy="3429000"/>
          </a:xfrm>
          <a:prstGeom prst="rect">
            <a:avLst/>
          </a:prstGeom>
        </p:spPr>
      </p:pic>
      <p:sp>
        <p:nvSpPr>
          <p:cNvPr id="7" name="anim:2:179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escola × ano letivo × série.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agregado do fato Matrícula.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por desfecho: SOMA.</a:t>
            </a:r>
            <a:endParaRPr lang="en-US" sz="1500" dirty="0"/>
          </a:p>
        </p:txBody>
      </p:sp>
      <p:sp>
        <p:nvSpPr>
          <p:cNvPr id="8" name="anim:2:180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derivadas, não aditivas: recalculadas pelas contagens.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Série: série ≤ etapa ≤ nível.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Ocupação de Turma</a:t>
            </a:r>
            <a:endParaRPr lang="en-US" sz="3200" dirty="0"/>
          </a:p>
        </p:txBody>
      </p:sp>
      <p:sp>
        <p:nvSpPr>
          <p:cNvPr id="5" name="anim:1:181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82" descr="Esquema estrela Ocupação de Turma: tabela de fatos ligada a Ano Letivo, Escola, Território, Série e Tur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886" y="1600200"/>
            <a:ext cx="7983747" cy="3429000"/>
          </a:xfrm>
          <a:prstGeom prst="rect">
            <a:avLst/>
          </a:prstGeom>
        </p:spPr>
      </p:pic>
      <p:sp>
        <p:nvSpPr>
          <p:cNvPr id="7" name="anim:2:183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turma × ano letivo.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(= 1), matrículas e ativas em 30/06: SOMA.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turma: derivado, recalculado pelas somas.</a:t>
            </a:r>
            <a:endParaRPr lang="en-US" sz="1500" dirty="0"/>
          </a:p>
        </p:txBody>
      </p:sp>
      <p:sp>
        <p:nvSpPr>
          <p:cNvPr id="8" name="anim:2:184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turma: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População</a:t>
            </a:r>
            <a:endParaRPr lang="en-US" sz="3200" dirty="0"/>
          </a:p>
        </p:txBody>
      </p:sp>
      <p:sp>
        <p:nvSpPr>
          <p:cNvPr id="5" name="anim:1:185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86" descr="Esquema estrela População: tabela de fatos População ligada a Tempo, Setor Censitário, Território e Faixa Etá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67" y="1600200"/>
            <a:ext cx="9616786" cy="3429000"/>
          </a:xfrm>
          <a:prstGeom prst="rect">
            <a:avLst/>
          </a:prstGeom>
        </p:spPr>
      </p:pic>
      <p:sp>
        <p:nvSpPr>
          <p:cNvPr id="7" name="anim:2:187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setor censitário × faixa etária × data do Censo.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entre setores e faixas, não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500" dirty="0"/>
          </a:p>
        </p:txBody>
      </p:sp>
      <p:sp>
        <p:nvSpPr>
          <p:cNvPr id="8" name="anim:2:188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Etária: rollup encolhido de Idade.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suprimido pelo IBGE fica nulo.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Constelação de fatos</a:t>
            </a:r>
            <a:endParaRPr lang="en-US" sz="3200" dirty="0"/>
          </a:p>
        </p:txBody>
      </p:sp>
      <p:sp>
        <p:nvSpPr>
          <p:cNvPr id="5" name="anim:1:189"/>
          <p:cNvSpPr/>
          <p:nvPr/>
        </p:nvSpPr>
        <p:spPr>
          <a:xfrm>
            <a:off x="548640" y="1463040"/>
            <a:ext cx="110642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90" descr="Constelação de fatos: cinco tabelas de fatos e catorze dimensões compartilh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015" y="1600200"/>
            <a:ext cx="9883491" cy="4114800"/>
          </a:xfrm>
          <a:prstGeom prst="rect">
            <a:avLst/>
          </a:prstGeom>
        </p:spPr>
      </p:pic>
      <p:sp>
        <p:nvSpPr>
          <p:cNvPr id="7" name="anim:2:19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projeto: matriz de barramento (fato × dimensão), dimensões conformadas e, onde os grãos diferem, rollups encolhidos (tracejado).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consultas OLAP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192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Exigido: 2 roll-up ou drill-down, 1 slice and dice, 1 pivot, 1 drill-across. Feito: 3, 1, 1 e 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fila e oferta de creche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1417320"/>
          <a:ext cx="53035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anim:1:193"/>
          <p:cNvSpPr/>
          <p:nvPr/>
        </p:nvSpPr>
        <p:spPr>
          <a:xfrm>
            <a:off x="6446520" y="4526280"/>
            <a:ext cx="5166360" cy="1417320"/>
          </a:xfrm>
          <a:prstGeom prst="roundRect">
            <a:avLst>
              <a:gd name="adj" fmla="val 7742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1:194"/>
          <p:cNvSpPr txBox="1"/>
          <p:nvPr/>
        </p:nvSpPr>
        <p:spPr>
          <a:xfrm>
            <a:off x="6675120" y="461772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000" dirty="0"/>
          </a:p>
        </p:txBody>
      </p:sp>
      <p:sp>
        <p:nvSpPr>
          <p:cNvPr id="9" name="anim:1:195"/>
          <p:cNvSpPr txBox="1"/>
          <p:nvPr/>
        </p:nvSpPr>
        <p:spPr>
          <a:xfrm>
            <a:off x="8275320" y="46177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creche é conveniada, quase toda em jornada integral, em 2019 e 2024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população e ocupação das turmas</a:t>
            </a:r>
            <a:endParaRPr lang="en-US" sz="3200" dirty="0"/>
          </a:p>
        </p:txBody>
      </p:sp>
      <p:sp>
        <p:nvSpPr>
          <p:cNvPr id="5" name="anim:1:196"/>
          <p:cNvSpPr/>
          <p:nvPr/>
        </p:nvSpPr>
        <p:spPr>
          <a:xfrm>
            <a:off x="548640" y="14630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97"/>
          <p:cNvSpPr txBox="1"/>
          <p:nvPr/>
        </p:nvSpPr>
        <p:spPr>
          <a:xfrm>
            <a:off x="82296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7 · 31/07/2022</a:t>
            </a:r>
            <a:endParaRPr lang="en-US" sz="1200" dirty="0"/>
          </a:p>
        </p:txBody>
      </p:sp>
      <p:sp>
        <p:nvSpPr>
          <p:cNvPr id="7" name="anim:1:198"/>
          <p:cNvSpPr txBox="1"/>
          <p:nvPr/>
        </p:nvSpPr>
        <p:spPr>
          <a:xfrm>
            <a:off x="822960" y="196596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000" dirty="0"/>
          </a:p>
        </p:txBody>
      </p:sp>
      <p:sp>
        <p:nvSpPr>
          <p:cNvPr id="8" name="anim:1:199"/>
          <p:cNvSpPr txBox="1"/>
          <p:nvPr/>
        </p:nvSpPr>
        <p:spPr>
          <a:xfrm>
            <a:off x="2240280" y="21488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por 100 crianças de 0 a 4 anos</a:t>
            </a:r>
            <a:endParaRPr lang="en-US" sz="1700" dirty="0"/>
          </a:p>
        </p:txBody>
      </p:sp>
      <p:sp>
        <p:nvSpPr>
          <p:cNvPr id="9" name="anim:1:200"/>
          <p:cNvSpPr txBox="1"/>
          <p:nvPr/>
        </p:nvSpPr>
        <p:spPr>
          <a:xfrm>
            <a:off x="822960" y="3063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514.131 matrículas ativas para 598.406 crianças residentes.</a:t>
            </a:r>
            <a:endParaRPr lang="en-US" sz="1400" dirty="0"/>
          </a:p>
        </p:txBody>
      </p:sp>
      <p:sp>
        <p:nvSpPr>
          <p:cNvPr id="10" name="anim:2:201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1" name="anim:2:202"/>
          <p:cNvSpPr txBox="1"/>
          <p:nvPr/>
        </p:nvSpPr>
        <p:spPr>
          <a:xfrm>
            <a:off x="82296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distrito, longe da média</a:t>
            </a:r>
            <a:endParaRPr lang="en-US" sz="1700" dirty="0"/>
          </a:p>
        </p:txBody>
      </p:sp>
      <p:sp>
        <p:nvSpPr>
          <p:cNvPr id="12" name="anim:2:203"/>
          <p:cNvSpPr txBox="1"/>
          <p:nvPr/>
        </p:nvSpPr>
        <p:spPr>
          <a:xfrm>
            <a:off x="822960" y="46177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distritos com menos de 50 matrículas por 100 crianças; outros 25 com mais de 100. A matrícula conta onde a escola fica; a população, onde a criança mora.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263640" y="1417320"/>
          <a:ext cx="544068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Censo 2022 (IBGE) e Microdados de Matrículas (SME-SP); consultas 7 e 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projeto em destaque</a:t>
            </a:r>
            <a:endParaRPr lang="en-US" sz="3200" dirty="0"/>
          </a:p>
        </p:txBody>
      </p:sp>
      <p:sp>
        <p:nvSpPr>
          <p:cNvPr id="5" name="anim:1:204"/>
          <p:cNvSpPr/>
          <p:nvPr/>
        </p:nvSpPr>
        <p:spPr>
          <a:xfrm>
            <a:off x="54864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05"/>
          <p:cNvSpPr/>
          <p:nvPr/>
        </p:nvSpPr>
        <p:spPr>
          <a:xfrm>
            <a:off x="82296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06"/>
          <p:cNvSpPr txBox="1"/>
          <p:nvPr/>
        </p:nvSpPr>
        <p:spPr>
          <a:xfrm>
            <a:off x="82296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207"/>
          <p:cNvSpPr txBox="1"/>
          <p:nvPr/>
        </p:nvSpPr>
        <p:spPr>
          <a:xfrm>
            <a:off x="160020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anim:1:208"/>
          <p:cNvSpPr txBox="1"/>
          <p:nvPr/>
        </p:nvSpPr>
        <p:spPr>
          <a:xfrm>
            <a:off x="160020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anim:2:209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210"/>
          <p:cNvSpPr/>
          <p:nvPr/>
        </p:nvSpPr>
        <p:spPr>
          <a:xfrm>
            <a:off x="644652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211"/>
          <p:cNvSpPr txBox="1"/>
          <p:nvPr/>
        </p:nvSpPr>
        <p:spPr>
          <a:xfrm>
            <a:off x="644652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anim:2:212"/>
          <p:cNvSpPr txBox="1"/>
          <p:nvPr/>
        </p:nvSpPr>
        <p:spPr>
          <a:xfrm>
            <a:off x="722376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anim:2:213"/>
          <p:cNvSpPr txBox="1"/>
          <p:nvPr/>
        </p:nvSpPr>
        <p:spPr>
          <a:xfrm>
            <a:off x="722376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anim:3:214"/>
          <p:cNvSpPr/>
          <p:nvPr/>
        </p:nvSpPr>
        <p:spPr>
          <a:xfrm>
            <a:off x="54864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215"/>
          <p:cNvSpPr/>
          <p:nvPr/>
        </p:nvSpPr>
        <p:spPr>
          <a:xfrm>
            <a:off x="82296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216"/>
          <p:cNvSpPr txBox="1"/>
          <p:nvPr/>
        </p:nvSpPr>
        <p:spPr>
          <a:xfrm>
            <a:off x="82296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anim:3:217"/>
          <p:cNvSpPr txBox="1"/>
          <p:nvPr/>
        </p:nvSpPr>
        <p:spPr>
          <a:xfrm>
            <a:off x="160020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anim:3:218"/>
          <p:cNvSpPr txBox="1"/>
          <p:nvPr/>
        </p:nvSpPr>
        <p:spPr>
          <a:xfrm>
            <a:off x="160020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anim:4:219"/>
          <p:cNvSpPr/>
          <p:nvPr/>
        </p:nvSpPr>
        <p:spPr>
          <a:xfrm>
            <a:off x="617220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220"/>
          <p:cNvSpPr/>
          <p:nvPr/>
        </p:nvSpPr>
        <p:spPr>
          <a:xfrm>
            <a:off x="644652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221"/>
          <p:cNvSpPr txBox="1"/>
          <p:nvPr/>
        </p:nvSpPr>
        <p:spPr>
          <a:xfrm>
            <a:off x="644652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anim:4:222"/>
          <p:cNvSpPr txBox="1"/>
          <p:nvPr/>
        </p:nvSpPr>
        <p:spPr>
          <a:xfrm>
            <a:off x="722376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anim:4:223"/>
          <p:cNvSpPr txBox="1"/>
          <p:nvPr/>
        </p:nvSpPr>
        <p:spPr>
          <a:xfrm>
            <a:off x="722376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anim:5:224"/>
          <p:cNvSpPr/>
          <p:nvPr/>
        </p:nvSpPr>
        <p:spPr>
          <a:xfrm>
            <a:off x="54864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225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226"/>
          <p:cNvSpPr txBox="1"/>
          <p:nvPr/>
        </p:nvSpPr>
        <p:spPr>
          <a:xfrm>
            <a:off x="82296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anim:5:227"/>
          <p:cNvSpPr txBox="1"/>
          <p:nvPr/>
        </p:nvSpPr>
        <p:spPr>
          <a:xfrm>
            <a:off x="160020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anim:5:228"/>
          <p:cNvSpPr txBox="1"/>
          <p:nvPr/>
        </p:nvSpPr>
        <p:spPr>
          <a:xfrm>
            <a:off x="160020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anim:6:229"/>
          <p:cNvSpPr/>
          <p:nvPr/>
        </p:nvSpPr>
        <p:spPr>
          <a:xfrm>
            <a:off x="617220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230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231"/>
          <p:cNvSpPr txBox="1"/>
          <p:nvPr/>
        </p:nvSpPr>
        <p:spPr>
          <a:xfrm>
            <a:off x="644652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anim:6:232"/>
          <p:cNvSpPr txBox="1"/>
          <p:nvPr/>
        </p:nvSpPr>
        <p:spPr>
          <a:xfrm>
            <a:off x="722376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anim:6:233"/>
          <p:cNvSpPr txBox="1"/>
          <p:nvPr/>
        </p:nvSpPr>
        <p:spPr>
          <a:xfrm>
            <a:off x="722376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Perguntas?</a:t>
            </a:r>
            <a:endParaRPr lang="en-US" sz="3200" dirty="0"/>
          </a:p>
        </p:txBody>
      </p:sp>
      <p:sp>
        <p:nvSpPr>
          <p:cNvPr id="5" name="anim:1:234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6" name="anim:1:235"/>
          <p:cNvSpPr txBox="1"/>
          <p:nvPr/>
        </p:nvSpPr>
        <p:spPr>
          <a:xfrm>
            <a:off x="82296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400" dirty="0"/>
          </a:p>
        </p:txBody>
      </p:sp>
      <p:sp>
        <p:nvSpPr>
          <p:cNvPr id="7" name="anim:1:236"/>
          <p:cNvSpPr txBox="1"/>
          <p:nvPr/>
        </p:nvSpPr>
        <p:spPr>
          <a:xfrm>
            <a:off x="82296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400" dirty="0"/>
          </a:p>
        </p:txBody>
      </p:sp>
      <p:sp>
        <p:nvSpPr>
          <p:cNvPr id="8" name="anim:2:237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238"/>
          <p:cNvSpPr txBox="1"/>
          <p:nvPr/>
        </p:nvSpPr>
        <p:spPr>
          <a:xfrm>
            <a:off x="457200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 mil</a:t>
            </a:r>
            <a:endParaRPr lang="en-US" sz="3400" dirty="0"/>
          </a:p>
        </p:txBody>
      </p:sp>
      <p:sp>
        <p:nvSpPr>
          <p:cNvPr id="10" name="anim:2:239"/>
          <p:cNvSpPr txBox="1"/>
          <p:nvPr/>
        </p:nvSpPr>
        <p:spPr>
          <a:xfrm>
            <a:off x="457200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carregadas</a:t>
            </a:r>
            <a:endParaRPr lang="en-US" sz="1400" dirty="0"/>
          </a:p>
        </p:txBody>
      </p:sp>
      <p:sp>
        <p:nvSpPr>
          <p:cNvPr id="11" name="anim:3:240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241"/>
          <p:cNvSpPr txBox="1"/>
          <p:nvPr/>
        </p:nvSpPr>
        <p:spPr>
          <a:xfrm>
            <a:off x="832104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400" dirty="0"/>
          </a:p>
        </p:txBody>
      </p:sp>
      <p:sp>
        <p:nvSpPr>
          <p:cNvPr id="13" name="anim:3:242"/>
          <p:cNvSpPr txBox="1"/>
          <p:nvPr/>
        </p:nvSpPr>
        <p:spPr>
          <a:xfrm>
            <a:off x="832104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</a:t>
            </a:r>
            <a:endParaRPr lang="en-US" sz="1400" dirty="0"/>
          </a:p>
        </p:txBody>
      </p:sp>
      <p:sp>
        <p:nvSpPr>
          <p:cNvPr id="14" name="anim:4:243"/>
          <p:cNvSpPr txBox="1"/>
          <p:nvPr/>
        </p:nvSpPr>
        <p:spPr>
          <a:xfrm>
            <a:off x="548640" y="32461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real: 13,4 milhões de matrículas, 551 mil turmas e 26.889 setores censitários em 3,5 minutos, sem nenhuma FALHA nas verificações.</a:t>
            </a:r>
            <a:endParaRPr lang="en-US" sz="1600" dirty="0"/>
          </a:p>
        </p:txBody>
      </p:sp>
      <p:sp>
        <p:nvSpPr>
          <p:cNvPr id="15" name="anim:5:244"/>
          <p:cNvSpPr txBox="1"/>
          <p:nvPr/>
        </p:nvSpPr>
        <p:spPr>
          <a:xfrm>
            <a:off x="548640" y="5212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16" name="anim:5:245"/>
          <p:cNvSpPr txBox="1"/>
          <p:nvPr/>
        </p:nvSpPr>
        <p:spPr>
          <a:xfrm>
            <a:off x="54864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B2A4A"/>
      </a:dk2>
      <a:lt2>
        <a:srgbClr val="EEF2F8"/>
      </a:lt2>
      <a:accent1>
        <a:srgbClr val="2E5EAA"/>
      </a:accent1>
      <a:accent2>
        <a:srgbClr val="F2A541"/>
      </a:accent2>
      <a:accent3>
        <a:srgbClr val="566175"/>
      </a:accent3>
      <a:accent4>
        <a:srgbClr val="8FA6CB"/>
      </a:accent4>
      <a:accent5>
        <a:srgbClr val="8A5300"/>
      </a:accent5>
      <a:accent6>
        <a:srgbClr val="D6E0F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2026-10-22T04:26:20Z</dcterms:created>
  <dcterms:modified xsi:type="dcterms:W3CDTF">2026-10-22T04:26:20Z</dcterms:modified>
</cp:coreProperties>
</file>