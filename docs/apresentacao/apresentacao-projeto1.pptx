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Começar pelo que deu certo.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Só que 3.633 não é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Pausa, falando para a plateia. Em junho de 2024 ainda havia 3.633 crianças esperando vaga em creche, e havia fila nos 96 distritos. E se uma delas fosse o seu filho? Ele passaria meses fora da creche e poderia chegar à escola atrás das crianças que tiveram educação infantil. Você teria de faltar ao trabalho, pagar alguém para cuidar ou deixar o emprego até a vaga sair, e avós e vizinhos cobririam o horário da creche. As consequências são um cenário ilustrativo; o número de crianças é real. Para essas famílias, a espera continua, e a pergunta deste trabalho é como fazer essa fila cair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planilha da prefeitura separa dois grupos. Quem aceita qualquer unidade não espera muito: em junho de 2024, eram 1.131 crianças, e nenhuma estava na fila havia mais de 30 dias. As outras 2.502, quase sete em cada dez, esperavam uma unidade específica, escolhida pela família, perto de casa ou do trabalho. E a fila está nos 96 distritos, com oferta que vai de menos de 50 a mais de 100 matrículas por 100 crianças de 0 a 4 anos, conforme o distrito.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é difícil responder onde? Porque os dados publicados atrapalham, e estes quatro casos são reais, da nossa carga. Matrícula em dobro: em junho de 2022, o microdado mostrava 378.954 matrículas de creche ativas, mas, contando cada aluno uma vez, eram 340.085; transferências saem sem data de fim, e a rede parece atender 38.869 crianças a mais. Código repetido: em 2024, 193 códigos cobriam 4.011 escolas, em notação científica. Totais que não fecham: na fila de junho de 2023, a soma dos distritos dava 2.926 crianças com opção, e o total publicado, 2.904. Zero que não é zero: até setembro de 2020 a fila não separava quem esperava havia mais de 30 dias, e gravar zero faria essa espera sumir. No passo 1, o Thiago mostra como tratamos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Para achar o lugar certo entre 96 distritos, o gestor precisa cruzar quatro coisas: quem está na fila, quem já tem vaga, se as turmas estão cheias e quantas crianças moram em cada lugar. Hoje cada uma está numa base diferente. Nossa solução junta as três num data warehouse: um comando baixa, limpa, carrega e confere tudo, e cinco fatos e catorze dimensões se cruzam por distrito, etapa e data.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que a proposta melhora, com números da nossa carga real. Mais rápida: as oito consultas, somadas, rodam em 0,42 segundo sobre 13,4 milhões de matrículas, e a carga leva 3,5 minutos, com um comando. Mais confiável: catorze verificações rodam a cada carga, e na carga real nenhuma deu FALHA; as duas bases da SME concordam com diferença abaixo de 1% de 2015 a 2020, e de 2022 em diante a diferença fica à vista em vez de se misturar. E uma linguagem só: distrito, etapa e idade têm a mesma representação nas três bases, nulo quer dizer não publicado, e a Secretaria e as 13 Diretorias olham o mesmo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medir a fila em vez de estimar.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responde a uma parte da decisão de onde abrir vagas: quem espera, quem já tem vaga, se as turmas estão cheias, quantas crianças moram em cada lugar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Agora a proposta vira plano.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os resultados e um exemplo de onde abrir a próxima vaga, e volta à pergunta do começo. A adoção é um cenário hipotético; os números são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Para decidir onde abrir vaga, precisamos de três respostas sobre cada distrito, e cada uma vem de uma fonte. Quem já tem vaga: o microdado de matrículas da SME, 13,4 milhões de linhas, uma por aluno numa turma. Quem espera vaga: a planilha de demanda da SME, 44 meses de fila, uma linha por distrito com uma coluna por etapa. Quantas crianças moram ali: o Censo 2022 do IBGE, 26.889 setores, uma linha por setor com uma coluna por faixa de idade. Repare que cada fonte tem um tamanho de linha diferente; é isso que os próximos slides resolvem. Para não ficar abstrato, vamos seguir um distrito, o Tremembé: 153 crianças na fila de creche em junho de 2024 e 11.498 crianças de 0 a 4 anos morando lá.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Integrar é fazer as fontes falarem a mesma língua. Leia cada linha da esquerda para a direita: como o dado chega, a regra que aplicamos e o que fica no data warehouse. Distrito: a fila escreve TREMEMBE com um espaço sobrando no fim, a matrícula escreve TREMEMBE, o IBGE escreve Tremembé com acento; a mesma regra de normalização transforma os três numa única linha da dimensão Território. Idade: a matrícula traz a idade exata, o IBGE só o grupo de 0 a 4; cada idade ganha a faixa do IBGE, e as duas bases passam a ser comparadas na mesma faixa. Setor: as duas bases usam o nome CD_SETOR para coisas diferentes, setor administrativo de 4 dígitos e setor censitário de 15; é um homônimo, então viram atributos separados e nunca são cruzados. Como sabemos que deu certo: contamos a mesma coisa nas duas bases da SME. Matrículas de creche ativas em junho de 2015: 240.905 no microdado e 240.840 na planilha. De 2015 a 2020 a diferença fica abaixo 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Cada linha se lê da esquerda para a direita: o problema, como o dado chegou, a regra que aplicamos e por que ela importa. Cada regra foi medida nos dados reais e tem teste. Gastar metade do minuto na primeira linha: em 2022 o código da escola vem embaralhado e em 2023 e 2024 chega em notação científica, como 9,20961E+15, e o mesmo código passa a valer para centenas de escolas. Medimos isso ano a ano no próprio dado e, nos anos ruins, achamos cada escola pelo nome, tipo e distrito no último ano confiável; assim 94,8% a 98,6% das matrículas ficam com o código real, e o resto recebe uma chave sintética, nunca um chute. Depois, uma frase por linha: a coluna (2) da fila muda de sentido, e lemos o sentido no rodapé; o turno de 2021 é o código de 2020 mais 3; a idade é recalculada pela data de nascimento; 45397 é 15 de abril de 2024 no Excel; e os 6.543 X do IBGE ficam nulos, porque nulo quer dizer não publicado e zero quer dizer nenhuma criança. Depois de cada carga rodam catorze verificações automáticas, e na carga real nenhuma deu FALHA.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Dois conceitos, cada um com uma pergunta. Grão: o que uma linha da tabela representa? É a primeira decisão do modelo, tomada antes das dimensões. No fato Fila, uma linha é o Tremembé, junho de 2024, creche, com o número 153. No fato Matrícula, uma linha é um aluno numa turma, com o número 1. Por isso uma criança não é uma linha da fila: ela é uma das 153; quando consegue a vaga, vira uma linha do fato Matrícula. Aditividade: posso somar essa medida? Somar distritos pode: 153 do Tremembé mais 88 do Grajaú dá 241 crianças na fila. Somar meses não pode: a fila é um estoque, um retrato numa data, e quem esperou de abril a junho apareceria duas vezes. Taxas e médias nunca se somam: recalculamos a partir das contagens. A tabela embaixo resume os cinco fatos: matrícula, desfecho e ocupação somam; fila e população são estoques.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A primeira estrela do modelo: o fato Matrícula no centro, dez dimensões em volta, e cada recurso de modelagem resolve um problema concreto. Um: a dimensão Data entra duas vezes, como início e fim da matrícula, como a internação e a alta do artigo da disciplina; com as duas datas sabemos se a matrícula estava ativa em 30 de junho, que é o número que se compara com a fila. Dois: cada linha tem um campo igual a 1, técnica das tabelas de fatos sem fato, e contar matrículas vira uma soma; a outra medida é dias de matrícula. Três: sexo, raça, deficiências e situação são mais de 30 indicadores; em vez de 30 dimensões minúsculas, ficam em 3 dimensões bugiganga. Quatro: id da turma e código da matrícula ficam no fato, sem tabela própria; são dimensões degeneradas. Cinco: a escola é mudança lenta tipo 2; 402 escolas mudam de nome ou tipo na série, e a matrícula de 2017 continua com o nome que a escola tinha em 2017. Fechar o passo 1: os dados estão limpos e integrados, e o passo 2 é o modelo. Passar a palavra ao Daniel.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fica nesta estrela: por exemplo,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quem sai da fila e consegue a vaga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um distrito, como o Tremembé,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decidir onde abrir vaga,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Um exemplo do passo de localizar, com números reais.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Voltar à pergunta do começo. Se fosse o seu filho, o que mudaria com o data warehouse? A prefeitura enxergaria onde a fila resiste, como no Tremembé, e abriria vaga lá. A criança sairia da fila e viraria uma linha do fato Matrícula, e a família voltaria a trabalhar com o filho na creche. O que faz a diferença é juntar números que já existem: uma consulta no lugar de três bases, respostas em menos de um segundo, catorze verificações a cada carga e dez anos de histórico. É um cenário hipotético; a prefeitura não usa o nosso data warehouse, mas tudo o que ele mostra sai dos dados reais. Cada vaga aberta no lugar certo é uma criança a menos 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Em dez anos, a fila de creche caiu 97%</a:t>
            </a:r>
            <a:endParaRPr lang="en-US" sz="3200" dirty="0"/>
          </a:p>
        </p:txBody>
      </p:sp>
      <p:sp>
        <p:nvSpPr>
          <p:cNvPr id="5" name="anim:1:21"/>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cidade avançou: a demanda de creche fora da rede passou de 34% para 1%.</a:t>
            </a:r>
            <a:endParaRPr lang="en-US" sz="1700" dirty="0"/>
          </a:p>
        </p:txBody>
      </p:sp>
      <p:sp>
        <p:nvSpPr>
          <p:cNvPr id="6" name="anim:2:22"/>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23"/>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24"/>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25"/>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26"/>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27"/>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28"/>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29"/>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30"/>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31"/>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consulta 5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32"/>
          <p:cNvSpPr txBox="1"/>
          <p:nvPr/>
        </p:nvSpPr>
        <p:spPr>
          <a:xfrm>
            <a:off x="548640" y="1554480"/>
            <a:ext cx="502920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33"/>
          <p:cNvSpPr txBox="1"/>
          <p:nvPr/>
        </p:nvSpPr>
        <p:spPr>
          <a:xfrm>
            <a:off x="548640" y="2880360"/>
            <a:ext cx="5029200" cy="91440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ainda esperavam vaga em creche em junho de 2024, em todos os 96 distritos</a:t>
            </a:r>
            <a:endParaRPr lang="en-US" sz="2000" dirty="0"/>
          </a:p>
        </p:txBody>
      </p:sp>
      <p:sp>
        <p:nvSpPr>
          <p:cNvPr id="7" name="anim:2:34"/>
          <p:cNvSpPr/>
          <p:nvPr/>
        </p:nvSpPr>
        <p:spPr>
          <a:xfrm>
            <a:off x="5989320" y="1554480"/>
            <a:ext cx="5623560" cy="932688"/>
          </a:xfrm>
          <a:prstGeom prst="roundRect">
            <a:avLst>
              <a:gd name="adj" fmla="val 11765"/>
            </a:avLst>
          </a:prstGeom>
          <a:solidFill>
            <a:srgbClr val="FFFFFF">
              <a:alpha val="10000"/>
            </a:srgbClr>
          </a:solidFill>
          <a:ln w="9525">
            <a:solidFill>
              <a:srgbClr val="3A4D73"/>
            </a:solidFill>
            <a:prstDash val="solid"/>
          </a:ln>
        </p:spPr>
      </p:sp>
      <p:sp>
        <p:nvSpPr>
          <p:cNvPr id="8" name="anim:2:35"/>
          <p:cNvSpPr txBox="1"/>
          <p:nvPr/>
        </p:nvSpPr>
        <p:spPr>
          <a:xfrm>
            <a:off x="6217920" y="1664208"/>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FILHO</a:t>
            </a:r>
            <a:endParaRPr lang="en-US" sz="1200" dirty="0"/>
          </a:p>
        </p:txBody>
      </p:sp>
      <p:sp>
        <p:nvSpPr>
          <p:cNvPr id="9" name="anim:2:36"/>
          <p:cNvSpPr txBox="1"/>
          <p:nvPr/>
        </p:nvSpPr>
        <p:spPr>
          <a:xfrm>
            <a:off x="6217920" y="1920240"/>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Meses fora da creche. Poderia chegar à escola atrás das crianças que tiveram educação infantil.</a:t>
            </a:r>
            <a:endParaRPr lang="en-US" sz="1400" dirty="0"/>
          </a:p>
        </p:txBody>
      </p:sp>
      <p:sp>
        <p:nvSpPr>
          <p:cNvPr id="10" name="anim:3:37"/>
          <p:cNvSpPr/>
          <p:nvPr/>
        </p:nvSpPr>
        <p:spPr>
          <a:xfrm>
            <a:off x="5989320" y="2633472"/>
            <a:ext cx="5623560" cy="932688"/>
          </a:xfrm>
          <a:prstGeom prst="roundRect">
            <a:avLst>
              <a:gd name="adj" fmla="val 11765"/>
            </a:avLst>
          </a:prstGeom>
          <a:solidFill>
            <a:srgbClr val="FFFFFF">
              <a:alpha val="10000"/>
            </a:srgbClr>
          </a:solidFill>
          <a:ln w="9525">
            <a:solidFill>
              <a:srgbClr val="3A4D73"/>
            </a:solidFill>
            <a:prstDash val="solid"/>
          </a:ln>
        </p:spPr>
      </p:sp>
      <p:sp>
        <p:nvSpPr>
          <p:cNvPr id="11" name="anim:3:38"/>
          <p:cNvSpPr txBox="1"/>
          <p:nvPr/>
        </p:nvSpPr>
        <p:spPr>
          <a:xfrm>
            <a:off x="6217920" y="2743200"/>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TRABALHO</a:t>
            </a:r>
            <a:endParaRPr lang="en-US" sz="1200" dirty="0"/>
          </a:p>
        </p:txBody>
      </p:sp>
      <p:sp>
        <p:nvSpPr>
          <p:cNvPr id="12" name="anim:3:39"/>
          <p:cNvSpPr txBox="1"/>
          <p:nvPr/>
        </p:nvSpPr>
        <p:spPr>
          <a:xfrm>
            <a:off x="6217920" y="2999232"/>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Faltas, um cuidador pago ou o emprego deixado de lado até a vaga sair.</a:t>
            </a:r>
            <a:endParaRPr lang="en-US" sz="1400" dirty="0"/>
          </a:p>
        </p:txBody>
      </p:sp>
      <p:sp>
        <p:nvSpPr>
          <p:cNvPr id="13" name="anim:4:40"/>
          <p:cNvSpPr/>
          <p:nvPr/>
        </p:nvSpPr>
        <p:spPr>
          <a:xfrm>
            <a:off x="5989320" y="3712464"/>
            <a:ext cx="5623560" cy="932688"/>
          </a:xfrm>
          <a:prstGeom prst="roundRect">
            <a:avLst>
              <a:gd name="adj" fmla="val 11765"/>
            </a:avLst>
          </a:prstGeom>
          <a:solidFill>
            <a:srgbClr val="FFFFFF">
              <a:alpha val="10000"/>
            </a:srgbClr>
          </a:solidFill>
          <a:ln w="9525">
            <a:solidFill>
              <a:srgbClr val="3A4D73"/>
            </a:solidFill>
            <a:prstDash val="solid"/>
          </a:ln>
        </p:spPr>
      </p:sp>
      <p:sp>
        <p:nvSpPr>
          <p:cNvPr id="14" name="anim:4:41"/>
          <p:cNvSpPr txBox="1"/>
          <p:nvPr/>
        </p:nvSpPr>
        <p:spPr>
          <a:xfrm>
            <a:off x="6217920" y="3822192"/>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SUA CASA</a:t>
            </a:r>
            <a:endParaRPr lang="en-US" sz="1200" dirty="0"/>
          </a:p>
        </p:txBody>
      </p:sp>
      <p:sp>
        <p:nvSpPr>
          <p:cNvPr id="15" name="anim:4:42"/>
          <p:cNvSpPr txBox="1"/>
          <p:nvPr/>
        </p:nvSpPr>
        <p:spPr>
          <a:xfrm>
            <a:off x="6217920" y="4078224"/>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Avós, vizinhos e irmãos mais velhos cobrindo o horário da creche.</a:t>
            </a:r>
            <a:endParaRPr lang="en-US" sz="1400" dirty="0"/>
          </a:p>
        </p:txBody>
      </p:sp>
      <p:sp>
        <p:nvSpPr>
          <p:cNvPr id="16" name="anim:5:43"/>
          <p:cNvSpPr txBox="1"/>
          <p:nvPr/>
        </p:nvSpPr>
        <p:spPr>
          <a:xfrm>
            <a:off x="548640" y="4937760"/>
            <a:ext cx="11064240" cy="54864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Para essas famílias, a espera continua.</a:t>
            </a:r>
            <a:endParaRPr lang="en-US" sz="2400" dirty="0"/>
          </a:p>
        </p:txBody>
      </p:sp>
      <p:sp>
        <p:nvSpPr>
          <p:cNvPr id="17" name="Text 14"/>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As consequências são um cenário ilustrativo.</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4"/>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Quem aceita qualquer unidade não espera muito: em junho de 2024, nenhuma criança desse grupo estava na fila havia mais de 30 dias.</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Quase sete em cada dez crianças da fila esperavam uma unidade específica, escolhida pela família.</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fila está nos 96 distritos, e a oferta vai de menos de 50 a mais de 100 matrículas por 100 crianças (Censo 2022).</a:t>
            </a:r>
            <a:endParaRPr lang="en-US" sz="1700" dirty="0"/>
          </a:p>
        </p:txBody>
      </p:sp>
      <p:sp>
        <p:nvSpPr>
          <p:cNvPr id="6" name="anim:2:45"/>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6"/>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JUNHO DE 2024</a:t>
            </a:r>
            <a:endParaRPr lang="en-US" sz="1200" dirty="0"/>
          </a:p>
        </p:txBody>
      </p:sp>
      <p:sp>
        <p:nvSpPr>
          <p:cNvPr id="8" name="anim:2:47"/>
          <p:cNvSpPr txBox="1"/>
          <p:nvPr/>
        </p:nvSpPr>
        <p:spPr>
          <a:xfrm>
            <a:off x="6903720" y="214884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3.633</a:t>
            </a:r>
            <a:endParaRPr lang="en-US" sz="4800" dirty="0"/>
          </a:p>
        </p:txBody>
      </p:sp>
      <p:sp>
        <p:nvSpPr>
          <p:cNvPr id="9" name="anim:2:48"/>
          <p:cNvSpPr txBox="1"/>
          <p:nvPr/>
        </p:nvSpPr>
        <p:spPr>
          <a:xfrm>
            <a:off x="6903720" y="2926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esperando vaga</a:t>
            </a:r>
            <a:endParaRPr lang="en-US" sz="1400" dirty="0"/>
          </a:p>
        </p:txBody>
      </p:sp>
      <p:sp>
        <p:nvSpPr>
          <p:cNvPr id="10" name="anim:3:49"/>
          <p:cNvSpPr/>
          <p:nvPr/>
        </p:nvSpPr>
        <p:spPr>
          <a:xfrm>
            <a:off x="6903720" y="3520440"/>
            <a:ext cx="3022730" cy="274320"/>
          </a:xfrm>
          <a:prstGeom prst="roundRect">
            <a:avLst>
              <a:gd name="adj" fmla="val 26667"/>
            </a:avLst>
          </a:prstGeom>
          <a:solidFill>
            <a:srgbClr val="1B2A4A"/>
          </a:solidFill>
          <a:ln w="12700">
            <a:solidFill>
              <a:srgbClr val="1B2A4A"/>
            </a:solidFill>
            <a:prstDash val="solid"/>
          </a:ln>
        </p:spPr>
      </p:sp>
      <p:sp>
        <p:nvSpPr>
          <p:cNvPr id="11" name="anim:3:50"/>
          <p:cNvSpPr txBox="1"/>
          <p:nvPr/>
        </p:nvSpPr>
        <p:spPr>
          <a:xfrm>
            <a:off x="6903720" y="3849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2.502 </a:t>
            </a:r>
            <a:pPr indent="0" marL="0">
              <a:buNone/>
            </a:pPr>
            <a:r>
              <a:rPr lang="en-US" sz="1300" dirty="0">
                <a:solidFill>
                  <a:srgbClr val="1F2937"/>
                </a:solidFill>
                <a:latin typeface="Calibri" pitchFamily="34" charset="0"/>
                <a:ea typeface="Calibri" pitchFamily="34" charset="-122"/>
                <a:cs typeface="Calibri" pitchFamily="34" charset="-120"/>
              </a:rPr>
              <a:t>esperavam uma unidade específica, escolhida pela família</a:t>
            </a:r>
            <a:endParaRPr lang="en-US" sz="1300" dirty="0"/>
          </a:p>
        </p:txBody>
      </p:sp>
      <p:sp>
        <p:nvSpPr>
          <p:cNvPr id="12" name="anim:4:51"/>
          <p:cNvSpPr/>
          <p:nvPr/>
        </p:nvSpPr>
        <p:spPr>
          <a:xfrm>
            <a:off x="6903720" y="4663440"/>
            <a:ext cx="1366390" cy="274320"/>
          </a:xfrm>
          <a:prstGeom prst="roundRect">
            <a:avLst>
              <a:gd name="adj" fmla="val 26667"/>
            </a:avLst>
          </a:prstGeom>
          <a:solidFill>
            <a:srgbClr val="2E5EAA"/>
          </a:solidFill>
          <a:ln w="12700">
            <a:solidFill>
              <a:srgbClr val="2E5EAA"/>
            </a:solidFill>
            <a:prstDash val="solid"/>
          </a:ln>
        </p:spPr>
      </p:sp>
      <p:sp>
        <p:nvSpPr>
          <p:cNvPr id="13" name="anim:4:52"/>
          <p:cNvSpPr txBox="1"/>
          <p:nvPr/>
        </p:nvSpPr>
        <p:spPr>
          <a:xfrm>
            <a:off x="6903720" y="4992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1.131 </a:t>
            </a:r>
            <a:pPr indent="0" marL="0">
              <a:buNone/>
            </a:pPr>
            <a:r>
              <a:rPr lang="en-US" sz="1300" dirty="0">
                <a:solidFill>
                  <a:srgbClr val="1F2937"/>
                </a:solidFill>
                <a:latin typeface="Calibri" pitchFamily="34" charset="0"/>
                <a:ea typeface="Calibri" pitchFamily="34" charset="-122"/>
                <a:cs typeface="Calibri" pitchFamily="34" charset="-120"/>
              </a:rPr>
              <a:t>aceitavam qualquer unidade; nenhuma esperava havia mais de 30 dias</a:t>
            </a:r>
            <a:endParaRPr lang="en-US" sz="1300" dirty="0"/>
          </a:p>
        </p:txBody>
      </p:sp>
      <p:sp>
        <p:nvSpPr>
          <p:cNvPr id="14" name="Text 1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junho de 2024, no fato Fila; Censo 2022 (IBGE), consulta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Hoje, os dados se repetem e não conversam</a:t>
            </a:r>
            <a:endParaRPr lang="en-US" sz="3200" dirty="0"/>
          </a:p>
        </p:txBody>
      </p:sp>
      <p:sp>
        <p:nvSpPr>
          <p:cNvPr id="5" name="anim:1:53"/>
          <p:cNvSpPr/>
          <p:nvPr/>
        </p:nvSpPr>
        <p:spPr>
          <a:xfrm>
            <a:off x="54864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4"/>
          <p:cNvSpPr/>
          <p:nvPr/>
        </p:nvSpPr>
        <p:spPr>
          <a:xfrm>
            <a:off x="777240" y="1783080"/>
            <a:ext cx="457200" cy="457200"/>
          </a:xfrm>
          <a:prstGeom prst="ellipse">
            <a:avLst/>
          </a:prstGeom>
          <a:solidFill>
            <a:srgbClr val="F2A541"/>
          </a:solidFill>
          <a:ln w="12700">
            <a:solidFill>
              <a:srgbClr val="F2A541"/>
            </a:solidFill>
            <a:prstDash val="solid"/>
          </a:ln>
        </p:spPr>
      </p:sp>
      <p:sp>
        <p:nvSpPr>
          <p:cNvPr id="7" name="anim:1:55"/>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56"/>
          <p:cNvSpPr txBox="1"/>
          <p:nvPr/>
        </p:nvSpPr>
        <p:spPr>
          <a:xfrm>
            <a:off x="141732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 contada em dobro</a:t>
            </a:r>
            <a:endParaRPr lang="en-US" sz="1700" dirty="0"/>
          </a:p>
        </p:txBody>
      </p:sp>
      <p:sp>
        <p:nvSpPr>
          <p:cNvPr id="9" name="anim:1:57"/>
          <p:cNvSpPr txBox="1"/>
          <p:nvPr/>
        </p:nvSpPr>
        <p:spPr>
          <a:xfrm>
            <a:off x="141732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Junho de 2022: 378.954 matrículas de creche ativas no microdado, mas 340.085 alunos.</a:t>
            </a:r>
            <a:endParaRPr lang="en-US" sz="1300" dirty="0"/>
          </a:p>
        </p:txBody>
      </p:sp>
      <p:sp>
        <p:nvSpPr>
          <p:cNvPr id="10" name="anim:1:58"/>
          <p:cNvSpPr txBox="1"/>
          <p:nvPr/>
        </p:nvSpPr>
        <p:spPr>
          <a:xfrm>
            <a:off x="141732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A rede parece atender 38.869 crianças a mais.</a:t>
            </a:r>
            <a:endParaRPr lang="en-US" sz="1300" dirty="0"/>
          </a:p>
        </p:txBody>
      </p:sp>
      <p:sp>
        <p:nvSpPr>
          <p:cNvPr id="11" name="anim:2:59"/>
          <p:cNvSpPr/>
          <p:nvPr/>
        </p:nvSpPr>
        <p:spPr>
          <a:xfrm>
            <a:off x="617220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60"/>
          <p:cNvSpPr/>
          <p:nvPr/>
        </p:nvSpPr>
        <p:spPr>
          <a:xfrm>
            <a:off x="6400800" y="1783080"/>
            <a:ext cx="457200" cy="457200"/>
          </a:xfrm>
          <a:prstGeom prst="ellipse">
            <a:avLst/>
          </a:prstGeom>
          <a:solidFill>
            <a:srgbClr val="F2A541"/>
          </a:solidFill>
          <a:ln w="12700">
            <a:solidFill>
              <a:srgbClr val="F2A541"/>
            </a:solidFill>
            <a:prstDash val="solid"/>
          </a:ln>
        </p:spPr>
      </p:sp>
      <p:sp>
        <p:nvSpPr>
          <p:cNvPr id="13" name="anim:2:61"/>
          <p:cNvSpPr txBox="1"/>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4" name="anim:2:62"/>
          <p:cNvSpPr txBox="1"/>
          <p:nvPr/>
        </p:nvSpPr>
        <p:spPr>
          <a:xfrm>
            <a:off x="704088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Escolas diferentes, um código só</a:t>
            </a:r>
            <a:endParaRPr lang="en-US" sz="1700" dirty="0"/>
          </a:p>
        </p:txBody>
      </p:sp>
      <p:sp>
        <p:nvSpPr>
          <p:cNvPr id="15" name="anim:2:63"/>
          <p:cNvSpPr txBox="1"/>
          <p:nvPr/>
        </p:nvSpPr>
        <p:spPr>
          <a:xfrm>
            <a:off x="704088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2024: 193 códigos para 4.011 escolas, em notação científica.</a:t>
            </a:r>
            <a:endParaRPr lang="en-US" sz="1300" dirty="0"/>
          </a:p>
        </p:txBody>
      </p:sp>
      <p:sp>
        <p:nvSpPr>
          <p:cNvPr id="16" name="anim:2:64"/>
          <p:cNvSpPr txBox="1"/>
          <p:nvPr/>
        </p:nvSpPr>
        <p:spPr>
          <a:xfrm>
            <a:off x="704088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Não dá para saber em qual escola está a vaga.</a:t>
            </a:r>
            <a:endParaRPr lang="en-US" sz="1300" dirty="0"/>
          </a:p>
        </p:txBody>
      </p:sp>
      <p:sp>
        <p:nvSpPr>
          <p:cNvPr id="17" name="anim:3:65"/>
          <p:cNvSpPr/>
          <p:nvPr/>
        </p:nvSpPr>
        <p:spPr>
          <a:xfrm>
            <a:off x="54864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66"/>
          <p:cNvSpPr/>
          <p:nvPr/>
        </p:nvSpPr>
        <p:spPr>
          <a:xfrm>
            <a:off x="777240" y="4023360"/>
            <a:ext cx="457200" cy="457200"/>
          </a:xfrm>
          <a:prstGeom prst="ellipse">
            <a:avLst/>
          </a:prstGeom>
          <a:solidFill>
            <a:srgbClr val="F2A541"/>
          </a:solidFill>
          <a:ln w="12700">
            <a:solidFill>
              <a:srgbClr val="F2A541"/>
            </a:solidFill>
            <a:prstDash val="solid"/>
          </a:ln>
        </p:spPr>
      </p:sp>
      <p:sp>
        <p:nvSpPr>
          <p:cNvPr id="19" name="anim:3:67"/>
          <p:cNvSpPr txBox="1"/>
          <p:nvPr/>
        </p:nvSpPr>
        <p:spPr>
          <a:xfrm>
            <a:off x="77724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20" name="anim:3:68"/>
          <p:cNvSpPr txBox="1"/>
          <p:nvPr/>
        </p:nvSpPr>
        <p:spPr>
          <a:xfrm>
            <a:off x="141732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Totais que não fecham</a:t>
            </a:r>
            <a:endParaRPr lang="en-US" sz="1700" dirty="0"/>
          </a:p>
        </p:txBody>
      </p:sp>
      <p:sp>
        <p:nvSpPr>
          <p:cNvPr id="21" name="anim:3:69"/>
          <p:cNvSpPr txBox="1"/>
          <p:nvPr/>
        </p:nvSpPr>
        <p:spPr>
          <a:xfrm>
            <a:off x="141732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de junho de 2023: a soma dos distritos dá 2.926 crianças com opção; o total publicado, 2.904.</a:t>
            </a:r>
            <a:endParaRPr lang="en-US" sz="1300" dirty="0"/>
          </a:p>
        </p:txBody>
      </p:sp>
      <p:sp>
        <p:nvSpPr>
          <p:cNvPr id="22" name="anim:3:70"/>
          <p:cNvSpPr txBox="1"/>
          <p:nvPr/>
        </p:nvSpPr>
        <p:spPr>
          <a:xfrm>
            <a:off x="141732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Cada área pode chegar a um número diferente.</a:t>
            </a:r>
            <a:endParaRPr lang="en-US" sz="1300" dirty="0"/>
          </a:p>
        </p:txBody>
      </p:sp>
      <p:sp>
        <p:nvSpPr>
          <p:cNvPr id="23" name="anim:4:71"/>
          <p:cNvSpPr/>
          <p:nvPr/>
        </p:nvSpPr>
        <p:spPr>
          <a:xfrm>
            <a:off x="617220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72"/>
          <p:cNvSpPr/>
          <p:nvPr/>
        </p:nvSpPr>
        <p:spPr>
          <a:xfrm>
            <a:off x="6400800" y="4023360"/>
            <a:ext cx="457200" cy="457200"/>
          </a:xfrm>
          <a:prstGeom prst="ellipse">
            <a:avLst/>
          </a:prstGeom>
          <a:solidFill>
            <a:srgbClr val="F2A541"/>
          </a:solidFill>
          <a:ln w="12700">
            <a:solidFill>
              <a:srgbClr val="F2A541"/>
            </a:solidFill>
            <a:prstDash val="solid"/>
          </a:ln>
        </p:spPr>
      </p:sp>
      <p:sp>
        <p:nvSpPr>
          <p:cNvPr id="25" name="anim:4:73"/>
          <p:cNvSpPr txBox="1"/>
          <p:nvPr/>
        </p:nvSpPr>
        <p:spPr>
          <a:xfrm>
            <a:off x="640080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6" name="anim:4:74"/>
          <p:cNvSpPr txBox="1"/>
          <p:nvPr/>
        </p:nvSpPr>
        <p:spPr>
          <a:xfrm>
            <a:off x="704088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Zero que não é zero</a:t>
            </a:r>
            <a:endParaRPr lang="en-US" sz="1700" dirty="0"/>
          </a:p>
        </p:txBody>
      </p:sp>
      <p:sp>
        <p:nvSpPr>
          <p:cNvPr id="27" name="anim:4:75"/>
          <p:cNvSpPr txBox="1"/>
          <p:nvPr/>
        </p:nvSpPr>
        <p:spPr>
          <a:xfrm>
            <a:off x="704088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Até setembro de 2020, a fila não separava quem esperava havia mais de 30 dias.</a:t>
            </a:r>
            <a:endParaRPr lang="en-US" sz="1300" dirty="0"/>
          </a:p>
        </p:txBody>
      </p:sp>
      <p:sp>
        <p:nvSpPr>
          <p:cNvPr id="28" name="anim:4:76"/>
          <p:cNvSpPr txBox="1"/>
          <p:nvPr/>
        </p:nvSpPr>
        <p:spPr>
          <a:xfrm>
            <a:off x="704088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Gravar zero faria essa espera sumir.</a:t>
            </a:r>
            <a:endParaRPr lang="en-US" sz="1300" dirty="0"/>
          </a:p>
        </p:txBody>
      </p:sp>
      <p:sp>
        <p:nvSpPr>
          <p:cNvPr id="29" name="Text 26"/>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nossa carga com os dados reais da SME-SP; o tratamento de cada caso está em docs/04 e no bloco 2.</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77"/>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8"/>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79"/>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80"/>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81"/>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82"/>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83"/>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84"/>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85"/>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86"/>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87"/>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88"/>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89"/>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90"/>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91"/>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Consultas mais confiáveis e mais rápidas</a:t>
            </a:r>
            <a:endParaRPr lang="en-US" sz="3200" dirty="0"/>
          </a:p>
        </p:txBody>
      </p:sp>
      <p:sp>
        <p:nvSpPr>
          <p:cNvPr id="5" name="anim:1:92"/>
          <p:cNvSpPr/>
          <p:nvPr/>
        </p:nvSpPr>
        <p:spPr>
          <a:xfrm>
            <a:off x="548640"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3"/>
          <p:cNvSpPr txBox="1"/>
          <p:nvPr/>
        </p:nvSpPr>
        <p:spPr>
          <a:xfrm>
            <a:off x="777240"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7" name="anim:1:94"/>
          <p:cNvSpPr txBox="1"/>
          <p:nvPr/>
        </p:nvSpPr>
        <p:spPr>
          <a:xfrm>
            <a:off x="777240"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0,42 s</a:t>
            </a:r>
            <a:endParaRPr lang="en-US" sz="3400" dirty="0"/>
          </a:p>
        </p:txBody>
      </p:sp>
      <p:sp>
        <p:nvSpPr>
          <p:cNvPr id="8" name="anim:1:95"/>
          <p:cNvSpPr txBox="1"/>
          <p:nvPr/>
        </p:nvSpPr>
        <p:spPr>
          <a:xfrm>
            <a:off x="777240"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as oito consultas OLAP, somadas, sobre 13,4 milhões de matrículas</a:t>
            </a:r>
            <a:endParaRPr lang="en-US" sz="1300" dirty="0"/>
          </a:p>
        </p:txBody>
      </p:sp>
      <p:sp>
        <p:nvSpPr>
          <p:cNvPr id="9" name="anim:2:96"/>
          <p:cNvSpPr/>
          <p:nvPr/>
        </p:nvSpPr>
        <p:spPr>
          <a:xfrm>
            <a:off x="3364992"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0" name="anim:2:97"/>
          <p:cNvSpPr txBox="1"/>
          <p:nvPr/>
        </p:nvSpPr>
        <p:spPr>
          <a:xfrm>
            <a:off x="3593592"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11" name="anim:2:98"/>
          <p:cNvSpPr txBox="1"/>
          <p:nvPr/>
        </p:nvSpPr>
        <p:spPr>
          <a:xfrm>
            <a:off x="3593592"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3,5 min</a:t>
            </a:r>
            <a:endParaRPr lang="en-US" sz="3400" dirty="0"/>
          </a:p>
        </p:txBody>
      </p:sp>
      <p:sp>
        <p:nvSpPr>
          <p:cNvPr id="12" name="anim:2:99"/>
          <p:cNvSpPr txBox="1"/>
          <p:nvPr/>
        </p:nvSpPr>
        <p:spPr>
          <a:xfrm>
            <a:off x="3593592"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carregar tudo no banco, com um comando</a:t>
            </a:r>
            <a:endParaRPr lang="en-US" sz="1300" dirty="0"/>
          </a:p>
        </p:txBody>
      </p:sp>
      <p:sp>
        <p:nvSpPr>
          <p:cNvPr id="13" name="anim:3:100"/>
          <p:cNvSpPr/>
          <p:nvPr/>
        </p:nvSpPr>
        <p:spPr>
          <a:xfrm>
            <a:off x="6181344"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3:101"/>
          <p:cNvSpPr txBox="1"/>
          <p:nvPr/>
        </p:nvSpPr>
        <p:spPr>
          <a:xfrm>
            <a:off x="6409944"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5" name="anim:3:102"/>
          <p:cNvSpPr txBox="1"/>
          <p:nvPr/>
        </p:nvSpPr>
        <p:spPr>
          <a:xfrm>
            <a:off x="6409944"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14</a:t>
            </a:r>
            <a:endParaRPr lang="en-US" sz="3400" dirty="0"/>
          </a:p>
        </p:txBody>
      </p:sp>
      <p:sp>
        <p:nvSpPr>
          <p:cNvPr id="16" name="anim:3:103"/>
          <p:cNvSpPr txBox="1"/>
          <p:nvPr/>
        </p:nvSpPr>
        <p:spPr>
          <a:xfrm>
            <a:off x="6409944"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verificações a cada carga; nenhuma FALHA na carga real</a:t>
            </a:r>
            <a:endParaRPr lang="en-US" sz="1300" dirty="0"/>
          </a:p>
        </p:txBody>
      </p:sp>
      <p:sp>
        <p:nvSpPr>
          <p:cNvPr id="17" name="anim:4:104"/>
          <p:cNvSpPr/>
          <p:nvPr/>
        </p:nvSpPr>
        <p:spPr>
          <a:xfrm>
            <a:off x="8997696"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4:105"/>
          <p:cNvSpPr txBox="1"/>
          <p:nvPr/>
        </p:nvSpPr>
        <p:spPr>
          <a:xfrm>
            <a:off x="9226296"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9" name="anim:4:106"/>
          <p:cNvSpPr txBox="1"/>
          <p:nvPr/>
        </p:nvSpPr>
        <p:spPr>
          <a:xfrm>
            <a:off x="9226296"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&lt; 1%</a:t>
            </a:r>
            <a:endParaRPr lang="en-US" sz="3400" dirty="0"/>
          </a:p>
        </p:txBody>
      </p:sp>
      <p:sp>
        <p:nvSpPr>
          <p:cNvPr id="20" name="anim:4:107"/>
          <p:cNvSpPr txBox="1"/>
          <p:nvPr/>
        </p:nvSpPr>
        <p:spPr>
          <a:xfrm>
            <a:off x="9226296"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de diferença entre as bases da SME de 2015 a 2020; depois, a diferença fica à vista</a:t>
            </a:r>
            <a:endParaRPr lang="en-US" sz="1300" dirty="0"/>
          </a:p>
        </p:txBody>
      </p:sp>
      <p:sp>
        <p:nvSpPr>
          <p:cNvPr id="21" name="anim:5:108"/>
          <p:cNvSpPr/>
          <p:nvPr/>
        </p:nvSpPr>
        <p:spPr>
          <a:xfrm>
            <a:off x="548640" y="4343400"/>
            <a:ext cx="11064240" cy="1371600"/>
          </a:xfrm>
          <a:prstGeom prst="roundRect">
            <a:avLst>
              <a:gd name="adj" fmla="val 8000"/>
            </a:avLst>
          </a:prstGeom>
          <a:solidFill>
            <a:srgbClr val="EEF2F8"/>
          </a:solidFill>
          <a:ln w="9525">
            <a:solidFill>
              <a:srgbClr val="EEF2F8"/>
            </a:solidFill>
            <a:prstDash val="solid"/>
          </a:ln>
        </p:spPr>
      </p:sp>
      <p:sp>
        <p:nvSpPr>
          <p:cNvPr id="22" name="anim:5:109"/>
          <p:cNvSpPr/>
          <p:nvPr/>
        </p:nvSpPr>
        <p:spPr>
          <a:xfrm>
            <a:off x="777240" y="4599432"/>
            <a:ext cx="512064" cy="512064"/>
          </a:xfrm>
          <a:prstGeom prst="ellipse">
            <a:avLst/>
          </a:prstGeom>
          <a:solidFill>
            <a:srgbClr val="F2A541"/>
          </a:solidFill>
          <a:ln w="12700">
            <a:solidFill>
              <a:srgbClr val="F2A541"/>
            </a:solidFill>
            <a:prstDash val="solid"/>
          </a:ln>
        </p:spPr>
      </p:sp>
      <p:sp>
        <p:nvSpPr>
          <p:cNvPr id="23" name="anim:5:110"/>
          <p:cNvSpPr txBox="1"/>
          <p:nvPr/>
        </p:nvSpPr>
        <p:spPr>
          <a:xfrm>
            <a:off x="777240" y="4599432"/>
            <a:ext cx="512064" cy="512064"/>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24" name="anim:5:111"/>
          <p:cNvSpPr txBox="1"/>
          <p:nvPr/>
        </p:nvSpPr>
        <p:spPr>
          <a:xfrm>
            <a:off x="1508760" y="4553712"/>
            <a:ext cx="98755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Uma linguagem só</a:t>
            </a:r>
            <a:endParaRPr lang="en-US" sz="1700" dirty="0"/>
          </a:p>
        </p:txBody>
      </p:sp>
      <p:sp>
        <p:nvSpPr>
          <p:cNvPr id="25" name="anim:5:112"/>
          <p:cNvSpPr txBox="1"/>
          <p:nvPr/>
        </p:nvSpPr>
        <p:spPr>
          <a:xfrm>
            <a:off x="1508760" y="4937760"/>
            <a:ext cx="9875520" cy="91440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Distrito, etapa e idade com a mesma representação nas três bases; nulo quer dizer não publicado, nunca zero; a contagem em dobro do microdado fica ao lado da matrícula da planilha, sem se misturar. A Secretaria e as 13 Diretorias olham o mesmo número.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0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113"/>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1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11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116"/>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117"/>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118"/>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119"/>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120"/>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121"/>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12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12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124"/>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125"/>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126"/>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127"/>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128"/>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129"/>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130"/>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131"/>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132"/>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133"/>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134"/>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13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136"/>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137"/>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38"/>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39"/>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40"/>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41"/>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42"/>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43"/>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44"/>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45"/>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46"/>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47"/>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48"/>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49"/>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50"/>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51"/>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52"/>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53"/>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54"/>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55"/>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56"/>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57"/>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5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5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6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6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6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6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6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6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6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6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6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7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7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7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7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7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7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7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7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7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7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8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8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8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8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8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8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8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8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8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8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9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9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9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9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9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9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9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9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9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9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20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433"/>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3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43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436"/>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437"/>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11</a:t>
            </a:r>
            <a:endParaRPr lang="en-US" sz="1200" dirty="0"/>
          </a:p>
        </p:txBody>
      </p:sp>
      <p:sp>
        <p:nvSpPr>
          <p:cNvPr id="10" name="anim:1:438"/>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439"/>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fila que ainda existe, a proposta, os ganhos, São Paulo e os assuntos.</a:t>
            </a:r>
            <a:endParaRPr lang="en-US" sz="1300" dirty="0"/>
          </a:p>
        </p:txBody>
      </p:sp>
      <p:sp>
        <p:nvSpPr>
          <p:cNvPr id="12" name="anim:1:440"/>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441"/>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44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44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444"/>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445"/>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12 a 16</a:t>
            </a:r>
            <a:endParaRPr lang="en-US" sz="1200" dirty="0"/>
          </a:p>
        </p:txBody>
      </p:sp>
      <p:sp>
        <p:nvSpPr>
          <p:cNvPr id="18" name="anim:2:446"/>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447"/>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448"/>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449"/>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450"/>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451"/>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452"/>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453"/>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17 a 21</a:t>
            </a:r>
            <a:endParaRPr lang="en-US" sz="1200" dirty="0"/>
          </a:p>
        </p:txBody>
      </p:sp>
      <p:sp>
        <p:nvSpPr>
          <p:cNvPr id="26" name="anim:3:454"/>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455"/>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456"/>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457"/>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458"/>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459"/>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460"/>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461"/>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22 a 28</a:t>
            </a:r>
            <a:endParaRPr lang="en-US" sz="1200" dirty="0"/>
          </a:p>
        </p:txBody>
      </p:sp>
      <p:sp>
        <p:nvSpPr>
          <p:cNvPr id="34" name="anim:4:462"/>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463"/>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um exemplo de onde abrir vaga.</a:t>
            </a:r>
            <a:endParaRPr lang="en-US" sz="1300" dirty="0"/>
          </a:p>
        </p:txBody>
      </p:sp>
      <p:sp>
        <p:nvSpPr>
          <p:cNvPr id="36" name="anim:5:464"/>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465"/>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466"/>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467"/>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adoção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três perguntas sobre cada distrito</a:t>
            </a:r>
            <a:endParaRPr lang="en-US" sz="3200" dirty="0"/>
          </a:p>
        </p:txBody>
      </p:sp>
      <p:sp>
        <p:nvSpPr>
          <p:cNvPr id="5" name="anim:1:201"/>
          <p:cNvSpPr/>
          <p:nvPr/>
        </p:nvSpPr>
        <p:spPr>
          <a:xfrm>
            <a:off x="54864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02"/>
          <p:cNvSpPr txBox="1"/>
          <p:nvPr/>
        </p:nvSpPr>
        <p:spPr>
          <a:xfrm>
            <a:off x="82296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ANUAL</a:t>
            </a:r>
            <a:endParaRPr lang="en-US" sz="1000" dirty="0"/>
          </a:p>
        </p:txBody>
      </p:sp>
      <p:sp>
        <p:nvSpPr>
          <p:cNvPr id="7" name="anim:1:203"/>
          <p:cNvSpPr txBox="1"/>
          <p:nvPr/>
        </p:nvSpPr>
        <p:spPr>
          <a:xfrm>
            <a:off x="82296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já tem vaga?</a:t>
            </a:r>
            <a:endParaRPr lang="en-US" sz="1900" dirty="0"/>
          </a:p>
        </p:txBody>
      </p:sp>
      <p:sp>
        <p:nvSpPr>
          <p:cNvPr id="8" name="anim:1:204"/>
          <p:cNvSpPr txBox="1"/>
          <p:nvPr/>
        </p:nvSpPr>
        <p:spPr>
          <a:xfrm>
            <a:off x="82296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Microdados de Matrículas</a:t>
            </a:r>
            <a:endParaRPr lang="en-US" sz="1200" dirty="0"/>
          </a:p>
        </p:txBody>
      </p:sp>
      <p:sp>
        <p:nvSpPr>
          <p:cNvPr id="9" name="anim:1:205"/>
          <p:cNvSpPr txBox="1"/>
          <p:nvPr/>
        </p:nvSpPr>
        <p:spPr>
          <a:xfrm>
            <a:off x="82296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13,4 mi</a:t>
            </a:r>
            <a:endParaRPr lang="en-US" sz="3200" dirty="0"/>
          </a:p>
        </p:txBody>
      </p:sp>
      <p:sp>
        <p:nvSpPr>
          <p:cNvPr id="10" name="anim:1:206"/>
          <p:cNvSpPr txBox="1"/>
          <p:nvPr/>
        </p:nvSpPr>
        <p:spPr>
          <a:xfrm>
            <a:off x="82296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2015 a 2024</a:t>
            </a:r>
            <a:endParaRPr lang="en-US" sz="1200" dirty="0"/>
          </a:p>
        </p:txBody>
      </p:sp>
      <p:sp>
        <p:nvSpPr>
          <p:cNvPr id="11" name="anim:1:207"/>
          <p:cNvSpPr/>
          <p:nvPr/>
        </p:nvSpPr>
        <p:spPr>
          <a:xfrm>
            <a:off x="822960" y="3657600"/>
            <a:ext cx="3017520" cy="0"/>
          </a:xfrm>
          <a:prstGeom prst="line">
            <a:avLst/>
          </a:prstGeom>
          <a:noFill/>
          <a:ln w="9525">
            <a:solidFill>
              <a:srgbClr val="D6E0F0"/>
            </a:solidFill>
            <a:prstDash val="solid"/>
          </a:ln>
        </p:spPr>
      </p:sp>
      <p:sp>
        <p:nvSpPr>
          <p:cNvPr id="12" name="anim:1:208"/>
          <p:cNvSpPr txBox="1"/>
          <p:nvPr/>
        </p:nvSpPr>
        <p:spPr>
          <a:xfrm>
            <a:off x="82296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13" name="anim:1:209"/>
          <p:cNvSpPr txBox="1"/>
          <p:nvPr/>
        </p:nvSpPr>
        <p:spPr>
          <a:xfrm>
            <a:off x="82296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aluno numa turma, num ano letivo</a:t>
            </a:r>
            <a:endParaRPr lang="en-US" sz="1400" dirty="0"/>
          </a:p>
        </p:txBody>
      </p:sp>
      <p:sp>
        <p:nvSpPr>
          <p:cNvPr id="14" name="anim:2:210"/>
          <p:cNvSpPr/>
          <p:nvPr/>
        </p:nvSpPr>
        <p:spPr>
          <a:xfrm>
            <a:off x="429768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5" name="anim:2:211"/>
          <p:cNvSpPr txBox="1"/>
          <p:nvPr/>
        </p:nvSpPr>
        <p:spPr>
          <a:xfrm>
            <a:off x="457200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TRIMESTRAL E BIMESTRAL</a:t>
            </a:r>
            <a:endParaRPr lang="en-US" sz="1000" dirty="0"/>
          </a:p>
        </p:txBody>
      </p:sp>
      <p:sp>
        <p:nvSpPr>
          <p:cNvPr id="16" name="anim:2:212"/>
          <p:cNvSpPr txBox="1"/>
          <p:nvPr/>
        </p:nvSpPr>
        <p:spPr>
          <a:xfrm>
            <a:off x="457200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espera vaga?</a:t>
            </a:r>
            <a:endParaRPr lang="en-US" sz="1900" dirty="0"/>
          </a:p>
        </p:txBody>
      </p:sp>
      <p:sp>
        <p:nvSpPr>
          <p:cNvPr id="17" name="anim:2:213"/>
          <p:cNvSpPr txBox="1"/>
          <p:nvPr/>
        </p:nvSpPr>
        <p:spPr>
          <a:xfrm>
            <a:off x="457200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Demanda Registrada e Matrículas</a:t>
            </a:r>
            <a:endParaRPr lang="en-US" sz="1200" dirty="0"/>
          </a:p>
        </p:txBody>
      </p:sp>
      <p:sp>
        <p:nvSpPr>
          <p:cNvPr id="18" name="anim:2:214"/>
          <p:cNvSpPr txBox="1"/>
          <p:nvPr/>
        </p:nvSpPr>
        <p:spPr>
          <a:xfrm>
            <a:off x="457200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44 meses</a:t>
            </a:r>
            <a:endParaRPr lang="en-US" sz="3200" dirty="0"/>
          </a:p>
        </p:txBody>
      </p:sp>
      <p:sp>
        <p:nvSpPr>
          <p:cNvPr id="19" name="anim:2:215"/>
          <p:cNvSpPr txBox="1"/>
          <p:nvPr/>
        </p:nvSpPr>
        <p:spPr>
          <a:xfrm>
            <a:off x="457200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 fila, 96 distritos em cada mês</a:t>
            </a:r>
            <a:endParaRPr lang="en-US" sz="1200" dirty="0"/>
          </a:p>
        </p:txBody>
      </p:sp>
      <p:sp>
        <p:nvSpPr>
          <p:cNvPr id="20" name="anim:2:216"/>
          <p:cNvSpPr/>
          <p:nvPr/>
        </p:nvSpPr>
        <p:spPr>
          <a:xfrm>
            <a:off x="4572000" y="3657600"/>
            <a:ext cx="3017520" cy="0"/>
          </a:xfrm>
          <a:prstGeom prst="line">
            <a:avLst/>
          </a:prstGeom>
          <a:noFill/>
          <a:ln w="9525">
            <a:solidFill>
              <a:srgbClr val="D6E0F0"/>
            </a:solidFill>
            <a:prstDash val="solid"/>
          </a:ln>
        </p:spPr>
      </p:sp>
      <p:sp>
        <p:nvSpPr>
          <p:cNvPr id="21" name="anim:2:217"/>
          <p:cNvSpPr txBox="1"/>
          <p:nvPr/>
        </p:nvSpPr>
        <p:spPr>
          <a:xfrm>
            <a:off x="457200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22" name="anim:2:218"/>
          <p:cNvSpPr txBox="1"/>
          <p:nvPr/>
        </p:nvSpPr>
        <p:spPr>
          <a:xfrm>
            <a:off x="457200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distrito num mês, com uma coluna por etapa</a:t>
            </a:r>
            <a:endParaRPr lang="en-US" sz="1400" dirty="0"/>
          </a:p>
        </p:txBody>
      </p:sp>
      <p:sp>
        <p:nvSpPr>
          <p:cNvPr id="23" name="anim:3:219"/>
          <p:cNvSpPr/>
          <p:nvPr/>
        </p:nvSpPr>
        <p:spPr>
          <a:xfrm>
            <a:off x="804672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3:220"/>
          <p:cNvSpPr txBox="1"/>
          <p:nvPr/>
        </p:nvSpPr>
        <p:spPr>
          <a:xfrm>
            <a:off x="832104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IBGE · CENSO 2022</a:t>
            </a:r>
            <a:endParaRPr lang="en-US" sz="1000" dirty="0"/>
          </a:p>
        </p:txBody>
      </p:sp>
      <p:sp>
        <p:nvSpPr>
          <p:cNvPr id="25" name="anim:3:221"/>
          <p:cNvSpPr txBox="1"/>
          <p:nvPr/>
        </p:nvSpPr>
        <p:spPr>
          <a:xfrm>
            <a:off x="832104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Quantas crianças moram ali?</a:t>
            </a:r>
            <a:endParaRPr lang="en-US" sz="1900" dirty="0"/>
          </a:p>
        </p:txBody>
      </p:sp>
      <p:sp>
        <p:nvSpPr>
          <p:cNvPr id="26" name="anim:3:222"/>
          <p:cNvSpPr txBox="1"/>
          <p:nvPr/>
        </p:nvSpPr>
        <p:spPr>
          <a:xfrm>
            <a:off x="832104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Agregados por Setores Censitários</a:t>
            </a:r>
            <a:endParaRPr lang="en-US" sz="1200" dirty="0"/>
          </a:p>
        </p:txBody>
      </p:sp>
      <p:sp>
        <p:nvSpPr>
          <p:cNvPr id="27" name="anim:3:223"/>
          <p:cNvSpPr txBox="1"/>
          <p:nvPr/>
        </p:nvSpPr>
        <p:spPr>
          <a:xfrm>
            <a:off x="832104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26.889</a:t>
            </a:r>
            <a:endParaRPr lang="en-US" sz="3200" dirty="0"/>
          </a:p>
        </p:txBody>
      </p:sp>
      <p:sp>
        <p:nvSpPr>
          <p:cNvPr id="28" name="anim:3:224"/>
          <p:cNvSpPr txBox="1"/>
          <p:nvPr/>
        </p:nvSpPr>
        <p:spPr>
          <a:xfrm>
            <a:off x="832104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11,4 milhões de moradores</a:t>
            </a:r>
            <a:endParaRPr lang="en-US" sz="1200" dirty="0"/>
          </a:p>
        </p:txBody>
      </p:sp>
      <p:sp>
        <p:nvSpPr>
          <p:cNvPr id="29" name="anim:3:225"/>
          <p:cNvSpPr/>
          <p:nvPr/>
        </p:nvSpPr>
        <p:spPr>
          <a:xfrm>
            <a:off x="8321040" y="3657600"/>
            <a:ext cx="3017520" cy="0"/>
          </a:xfrm>
          <a:prstGeom prst="line">
            <a:avLst/>
          </a:prstGeom>
          <a:noFill/>
          <a:ln w="9525">
            <a:solidFill>
              <a:srgbClr val="D6E0F0"/>
            </a:solidFill>
            <a:prstDash val="solid"/>
          </a:ln>
        </p:spPr>
      </p:sp>
      <p:sp>
        <p:nvSpPr>
          <p:cNvPr id="30" name="anim:3:226"/>
          <p:cNvSpPr txBox="1"/>
          <p:nvPr/>
        </p:nvSpPr>
        <p:spPr>
          <a:xfrm>
            <a:off x="832104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31" name="anim:3:227"/>
          <p:cNvSpPr txBox="1"/>
          <p:nvPr/>
        </p:nvSpPr>
        <p:spPr>
          <a:xfrm>
            <a:off x="832104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setor censitário, com uma coluna por faixa de idade</a:t>
            </a:r>
            <a:endParaRPr lang="en-US" sz="1400" dirty="0"/>
          </a:p>
        </p:txBody>
      </p:sp>
      <p:sp>
        <p:nvSpPr>
          <p:cNvPr id="32" name="anim:4:228"/>
          <p:cNvSpPr/>
          <p:nvPr/>
        </p:nvSpPr>
        <p:spPr>
          <a:xfrm>
            <a:off x="548640" y="5074920"/>
            <a:ext cx="11064240" cy="914400"/>
          </a:xfrm>
          <a:prstGeom prst="roundRect">
            <a:avLst>
              <a:gd name="adj" fmla="val 12000"/>
            </a:avLst>
          </a:prstGeom>
          <a:solidFill>
            <a:srgbClr val="EEF2F8"/>
          </a:solidFill>
          <a:ln w="9525">
            <a:solidFill>
              <a:srgbClr val="EEF2F8"/>
            </a:solidFill>
            <a:prstDash val="solid"/>
          </a:ln>
        </p:spPr>
      </p:sp>
      <p:sp>
        <p:nvSpPr>
          <p:cNvPr id="33" name="anim:4:229"/>
          <p:cNvSpPr/>
          <p:nvPr/>
        </p:nvSpPr>
        <p:spPr>
          <a:xfrm>
            <a:off x="777240" y="5303520"/>
            <a:ext cx="457200" cy="457200"/>
          </a:xfrm>
          <a:prstGeom prst="ellipse">
            <a:avLst/>
          </a:prstGeom>
          <a:solidFill>
            <a:srgbClr val="F2A541"/>
          </a:solidFill>
          <a:ln w="12700">
            <a:solidFill>
              <a:srgbClr val="F2A541"/>
            </a:solidFill>
            <a:prstDash val="solid"/>
          </a:ln>
        </p:spPr>
      </p:sp>
      <p:sp>
        <p:nvSpPr>
          <p:cNvPr id="34" name="anim:4:230"/>
          <p:cNvSpPr txBox="1"/>
          <p:nvPr/>
        </p:nvSpPr>
        <p:spPr>
          <a:xfrm>
            <a:off x="777240" y="5303520"/>
            <a:ext cx="457200" cy="45720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5" name="anim:4:231"/>
          <p:cNvSpPr txBox="1"/>
          <p:nvPr/>
        </p:nvSpPr>
        <p:spPr>
          <a:xfrm>
            <a:off x="1463040" y="5120640"/>
            <a:ext cx="9966960" cy="8229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O exemplo que vamos seguir: o Tremembé. </a:t>
            </a:r>
            <a:pPr indent="0" marL="0">
              <a:buNone/>
            </a:pPr>
            <a:r>
              <a:rPr lang="en-US" sz="1400" dirty="0">
                <a:solidFill>
                  <a:srgbClr val="1F2937"/>
                </a:solidFill>
                <a:latin typeface="Calibri" pitchFamily="34" charset="0"/>
                <a:ea typeface="Calibri" pitchFamily="34" charset="-122"/>
                <a:cs typeface="Calibri" pitchFamily="34" charset="-120"/>
              </a:rPr>
              <a:t>Em junho de 2024, 153 crianças esperavam creche lá; o Censo conta 11.498 crianças de 0 a 4 anos morando no distrito; e cada matrícula das escolas do distrito é uma linha do microdado.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escrito de jeitos diferentes</a:t>
            </a:r>
            <a:endParaRPr lang="en-US" sz="3200" dirty="0"/>
          </a:p>
        </p:txBody>
      </p:sp>
      <p:sp>
        <p:nvSpPr>
          <p:cNvPr id="5" name="anim:1:232"/>
          <p:cNvSpPr txBox="1"/>
          <p:nvPr/>
        </p:nvSpPr>
        <p:spPr>
          <a:xfrm>
            <a:off x="54864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CHEGA</a:t>
            </a:r>
            <a:endParaRPr lang="en-US" sz="1000" dirty="0"/>
          </a:p>
        </p:txBody>
      </p:sp>
      <p:sp>
        <p:nvSpPr>
          <p:cNvPr id="6" name="anim:1:233"/>
          <p:cNvSpPr txBox="1"/>
          <p:nvPr/>
        </p:nvSpPr>
        <p:spPr>
          <a:xfrm>
            <a:off x="525780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REGRA</a:t>
            </a:r>
            <a:endParaRPr lang="en-US" sz="1000" dirty="0"/>
          </a:p>
        </p:txBody>
      </p:sp>
      <p:sp>
        <p:nvSpPr>
          <p:cNvPr id="7" name="anim:1:234"/>
          <p:cNvSpPr txBox="1"/>
          <p:nvPr/>
        </p:nvSpPr>
        <p:spPr>
          <a:xfrm>
            <a:off x="841248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NO DATA WAREHOUSE</a:t>
            </a:r>
            <a:endParaRPr lang="en-US" sz="1000" dirty="0"/>
          </a:p>
        </p:txBody>
      </p:sp>
      <p:sp>
        <p:nvSpPr>
          <p:cNvPr id="8" name="anim:2:235"/>
          <p:cNvSpPr/>
          <p:nvPr/>
        </p:nvSpPr>
        <p:spPr>
          <a:xfrm>
            <a:off x="548640" y="1691640"/>
            <a:ext cx="11064240" cy="841248"/>
          </a:xfrm>
          <a:prstGeom prst="roundRect">
            <a:avLst>
              <a:gd name="adj" fmla="val 13043"/>
            </a:avLst>
          </a:prstGeom>
          <a:solidFill>
            <a:srgbClr val="FFFFFF"/>
          </a:solidFill>
          <a:ln w="9525">
            <a:solidFill>
              <a:srgbClr val="D6E0F0"/>
            </a:solidFill>
            <a:prstDash val="solid"/>
          </a:ln>
        </p:spPr>
      </p:sp>
      <p:sp>
        <p:nvSpPr>
          <p:cNvPr id="9" name="anim:2:236"/>
          <p:cNvSpPr txBox="1"/>
          <p:nvPr/>
        </p:nvSpPr>
        <p:spPr>
          <a:xfrm>
            <a:off x="731520" y="175564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Distrito</a:t>
            </a:r>
            <a:endParaRPr lang="en-US" sz="1300" dirty="0"/>
          </a:p>
        </p:txBody>
      </p:sp>
      <p:sp>
        <p:nvSpPr>
          <p:cNvPr id="10" name="anim:2:237"/>
          <p:cNvSpPr txBox="1"/>
          <p:nvPr/>
        </p:nvSpPr>
        <p:spPr>
          <a:xfrm>
            <a:off x="731520" y="2002536"/>
            <a:ext cx="155448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fila</a:t>
            </a:r>
            <a:endParaRPr lang="en-US" sz="1000" dirty="0"/>
          </a:p>
        </p:txBody>
      </p:sp>
      <p:sp>
        <p:nvSpPr>
          <p:cNvPr id="11" name="anim:2:238"/>
          <p:cNvSpPr/>
          <p:nvPr/>
        </p:nvSpPr>
        <p:spPr>
          <a:xfrm>
            <a:off x="731520" y="2203704"/>
            <a:ext cx="1188720" cy="274320"/>
          </a:xfrm>
          <a:prstGeom prst="roundRect">
            <a:avLst>
              <a:gd name="adj" fmla="val 20000"/>
            </a:avLst>
          </a:prstGeom>
          <a:solidFill>
            <a:srgbClr val="EEF2F8"/>
          </a:solidFill>
          <a:ln w="6350">
            <a:solidFill>
              <a:srgbClr val="D6E0F0"/>
            </a:solidFill>
            <a:prstDash val="solid"/>
          </a:ln>
        </p:spPr>
      </p:sp>
      <p:sp>
        <p:nvSpPr>
          <p:cNvPr id="12" name="anim:2:239"/>
          <p:cNvSpPr txBox="1"/>
          <p:nvPr/>
        </p:nvSpPr>
        <p:spPr>
          <a:xfrm>
            <a:off x="731520" y="2203704"/>
            <a:ext cx="118872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 "</a:t>
            </a:r>
            <a:endParaRPr lang="en-US" sz="1200" dirty="0"/>
          </a:p>
        </p:txBody>
      </p:sp>
      <p:sp>
        <p:nvSpPr>
          <p:cNvPr id="13" name="anim:2:240"/>
          <p:cNvSpPr txBox="1"/>
          <p:nvPr/>
        </p:nvSpPr>
        <p:spPr>
          <a:xfrm>
            <a:off x="205740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a:t>
            </a:r>
            <a:endParaRPr lang="en-US" sz="1000" dirty="0"/>
          </a:p>
        </p:txBody>
      </p:sp>
      <p:sp>
        <p:nvSpPr>
          <p:cNvPr id="14" name="anim:2:241"/>
          <p:cNvSpPr/>
          <p:nvPr/>
        </p:nvSpPr>
        <p:spPr>
          <a:xfrm>
            <a:off x="2057400" y="2203704"/>
            <a:ext cx="1097280" cy="274320"/>
          </a:xfrm>
          <a:prstGeom prst="roundRect">
            <a:avLst>
              <a:gd name="adj" fmla="val 20000"/>
            </a:avLst>
          </a:prstGeom>
          <a:solidFill>
            <a:srgbClr val="EEF2F8"/>
          </a:solidFill>
          <a:ln w="6350">
            <a:solidFill>
              <a:srgbClr val="D6E0F0"/>
            </a:solidFill>
            <a:prstDash val="solid"/>
          </a:ln>
        </p:spPr>
      </p:sp>
      <p:sp>
        <p:nvSpPr>
          <p:cNvPr id="15" name="anim:2:242"/>
          <p:cNvSpPr txBox="1"/>
          <p:nvPr/>
        </p:nvSpPr>
        <p:spPr>
          <a:xfrm>
            <a:off x="205740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p>
        </p:txBody>
      </p:sp>
      <p:sp>
        <p:nvSpPr>
          <p:cNvPr id="16" name="anim:2:243"/>
          <p:cNvSpPr txBox="1"/>
          <p:nvPr/>
        </p:nvSpPr>
        <p:spPr>
          <a:xfrm>
            <a:off x="329184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a:t>
            </a:r>
            <a:endParaRPr lang="en-US" sz="1000" dirty="0"/>
          </a:p>
        </p:txBody>
      </p:sp>
      <p:sp>
        <p:nvSpPr>
          <p:cNvPr id="17" name="anim:2:244"/>
          <p:cNvSpPr/>
          <p:nvPr/>
        </p:nvSpPr>
        <p:spPr>
          <a:xfrm>
            <a:off x="3291840" y="2203704"/>
            <a:ext cx="1097280" cy="274320"/>
          </a:xfrm>
          <a:prstGeom prst="roundRect">
            <a:avLst>
              <a:gd name="adj" fmla="val 20000"/>
            </a:avLst>
          </a:prstGeom>
          <a:solidFill>
            <a:srgbClr val="EEF2F8"/>
          </a:solidFill>
          <a:ln w="6350">
            <a:solidFill>
              <a:srgbClr val="D6E0F0"/>
            </a:solidFill>
            <a:prstDash val="solid"/>
          </a:ln>
        </p:spPr>
      </p:sp>
      <p:sp>
        <p:nvSpPr>
          <p:cNvPr id="18" name="anim:2:245"/>
          <p:cNvSpPr txBox="1"/>
          <p:nvPr/>
        </p:nvSpPr>
        <p:spPr>
          <a:xfrm>
            <a:off x="329184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"Tremembé"</a:t>
            </a:r>
            <a:endParaRPr lang="en-US" sz="1200" dirty="0"/>
          </a:p>
        </p:txBody>
      </p:sp>
      <p:sp>
        <p:nvSpPr>
          <p:cNvPr id="19" name="anim:2:246"/>
          <p:cNvSpPr txBox="1"/>
          <p:nvPr/>
        </p:nvSpPr>
        <p:spPr>
          <a:xfrm>
            <a:off x="47548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0" name="anim:2:247"/>
          <p:cNvSpPr txBox="1"/>
          <p:nvPr/>
        </p:nvSpPr>
        <p:spPr>
          <a:xfrm>
            <a:off x="5257800" y="169164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maiúsculas, sem acento, sem espaço sobrando</a:t>
            </a:r>
            <a:endParaRPr lang="en-US" sz="1300" dirty="0"/>
          </a:p>
        </p:txBody>
      </p:sp>
      <p:sp>
        <p:nvSpPr>
          <p:cNvPr id="21" name="anim:2:248"/>
          <p:cNvSpPr txBox="1"/>
          <p:nvPr/>
        </p:nvSpPr>
        <p:spPr>
          <a:xfrm>
            <a:off x="79552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2" name="anim:2:249"/>
          <p:cNvSpPr txBox="1"/>
          <p:nvPr/>
        </p:nvSpPr>
        <p:spPr>
          <a:xfrm>
            <a:off x="8412480" y="169164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TREMEMBE: uma única linha da dimensão Território</a:t>
            </a:r>
            <a:endParaRPr lang="en-US" sz="1300" dirty="0"/>
          </a:p>
        </p:txBody>
      </p:sp>
      <p:sp>
        <p:nvSpPr>
          <p:cNvPr id="23" name="anim:3:250"/>
          <p:cNvSpPr/>
          <p:nvPr/>
        </p:nvSpPr>
        <p:spPr>
          <a:xfrm>
            <a:off x="548640" y="2651760"/>
            <a:ext cx="11064240" cy="841248"/>
          </a:xfrm>
          <a:prstGeom prst="roundRect">
            <a:avLst>
              <a:gd name="adj" fmla="val 13043"/>
            </a:avLst>
          </a:prstGeom>
          <a:solidFill>
            <a:srgbClr val="FFFFFF"/>
          </a:solidFill>
          <a:ln w="9525">
            <a:solidFill>
              <a:srgbClr val="D6E0F0"/>
            </a:solidFill>
            <a:prstDash val="solid"/>
          </a:ln>
        </p:spPr>
      </p:sp>
      <p:sp>
        <p:nvSpPr>
          <p:cNvPr id="24" name="anim:3:251"/>
          <p:cNvSpPr txBox="1"/>
          <p:nvPr/>
        </p:nvSpPr>
        <p:spPr>
          <a:xfrm>
            <a:off x="731520" y="271576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Idade</a:t>
            </a:r>
            <a:endParaRPr lang="en-US" sz="1300" dirty="0"/>
          </a:p>
        </p:txBody>
      </p:sp>
      <p:sp>
        <p:nvSpPr>
          <p:cNvPr id="25" name="anim:3:252"/>
          <p:cNvSpPr txBox="1"/>
          <p:nvPr/>
        </p:nvSpPr>
        <p:spPr>
          <a:xfrm>
            <a:off x="7315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 idade exata</a:t>
            </a:r>
            <a:endParaRPr lang="en-US" sz="1000" dirty="0"/>
          </a:p>
        </p:txBody>
      </p:sp>
      <p:sp>
        <p:nvSpPr>
          <p:cNvPr id="26" name="anim:3:253"/>
          <p:cNvSpPr/>
          <p:nvPr/>
        </p:nvSpPr>
        <p:spPr>
          <a:xfrm>
            <a:off x="731520" y="3163824"/>
            <a:ext cx="1463040" cy="274320"/>
          </a:xfrm>
          <a:prstGeom prst="roundRect">
            <a:avLst>
              <a:gd name="adj" fmla="val 20000"/>
            </a:avLst>
          </a:prstGeom>
          <a:solidFill>
            <a:srgbClr val="EEF2F8"/>
          </a:solidFill>
          <a:ln w="6350">
            <a:solidFill>
              <a:srgbClr val="D6E0F0"/>
            </a:solidFill>
            <a:prstDash val="solid"/>
          </a:ln>
        </p:spPr>
      </p:sp>
      <p:sp>
        <p:nvSpPr>
          <p:cNvPr id="27" name="anim:3:254"/>
          <p:cNvSpPr txBox="1"/>
          <p:nvPr/>
        </p:nvSpPr>
        <p:spPr>
          <a:xfrm>
            <a:off x="7315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2 anos</a:t>
            </a:r>
            <a:endParaRPr lang="en-US" sz="1200" dirty="0"/>
          </a:p>
        </p:txBody>
      </p:sp>
      <p:sp>
        <p:nvSpPr>
          <p:cNvPr id="28" name="anim:3:255"/>
          <p:cNvSpPr txBox="1"/>
          <p:nvPr/>
        </p:nvSpPr>
        <p:spPr>
          <a:xfrm>
            <a:off x="23317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só o grupo</a:t>
            </a:r>
            <a:endParaRPr lang="en-US" sz="1000" dirty="0"/>
          </a:p>
        </p:txBody>
      </p:sp>
      <p:sp>
        <p:nvSpPr>
          <p:cNvPr id="29" name="anim:3:256"/>
          <p:cNvSpPr/>
          <p:nvPr/>
        </p:nvSpPr>
        <p:spPr>
          <a:xfrm>
            <a:off x="2331720" y="3163824"/>
            <a:ext cx="1463040" cy="274320"/>
          </a:xfrm>
          <a:prstGeom prst="roundRect">
            <a:avLst>
              <a:gd name="adj" fmla="val 20000"/>
            </a:avLst>
          </a:prstGeom>
          <a:solidFill>
            <a:srgbClr val="EEF2F8"/>
          </a:solidFill>
          <a:ln w="6350">
            <a:solidFill>
              <a:srgbClr val="D6E0F0"/>
            </a:solidFill>
            <a:prstDash val="solid"/>
          </a:ln>
        </p:spPr>
      </p:sp>
      <p:sp>
        <p:nvSpPr>
          <p:cNvPr id="30" name="anim:3:257"/>
          <p:cNvSpPr txBox="1"/>
          <p:nvPr/>
        </p:nvSpPr>
        <p:spPr>
          <a:xfrm>
            <a:off x="23317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0 a 4 anos</a:t>
            </a:r>
            <a:endParaRPr lang="en-US" sz="1200" dirty="0"/>
          </a:p>
        </p:txBody>
      </p:sp>
      <p:sp>
        <p:nvSpPr>
          <p:cNvPr id="31" name="anim:3:258"/>
          <p:cNvSpPr txBox="1"/>
          <p:nvPr/>
        </p:nvSpPr>
        <p:spPr>
          <a:xfrm>
            <a:off x="47548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2" name="anim:3:259"/>
          <p:cNvSpPr txBox="1"/>
          <p:nvPr/>
        </p:nvSpPr>
        <p:spPr>
          <a:xfrm>
            <a:off x="5257800" y="265176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cada idade ganha a faixa do IBGE em que cai</a:t>
            </a:r>
            <a:endParaRPr lang="en-US" sz="1300" dirty="0"/>
          </a:p>
        </p:txBody>
      </p:sp>
      <p:sp>
        <p:nvSpPr>
          <p:cNvPr id="33" name="anim:3:260"/>
          <p:cNvSpPr txBox="1"/>
          <p:nvPr/>
        </p:nvSpPr>
        <p:spPr>
          <a:xfrm>
            <a:off x="79552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4" name="anim:3:261"/>
          <p:cNvSpPr txBox="1"/>
          <p:nvPr/>
        </p:nvSpPr>
        <p:spPr>
          <a:xfrm>
            <a:off x="8412480" y="265176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matrícula e população comparadas na mesma faixa, 0 a 4 anos</a:t>
            </a:r>
            <a:endParaRPr lang="en-US" sz="1300" dirty="0"/>
          </a:p>
        </p:txBody>
      </p:sp>
      <p:sp>
        <p:nvSpPr>
          <p:cNvPr id="35" name="anim:4:262"/>
          <p:cNvSpPr/>
          <p:nvPr/>
        </p:nvSpPr>
        <p:spPr>
          <a:xfrm>
            <a:off x="548640" y="3611880"/>
            <a:ext cx="11064240" cy="841248"/>
          </a:xfrm>
          <a:prstGeom prst="roundRect">
            <a:avLst>
              <a:gd name="adj" fmla="val 13043"/>
            </a:avLst>
          </a:prstGeom>
          <a:solidFill>
            <a:srgbClr val="FFFFFF"/>
          </a:solidFill>
          <a:ln w="9525">
            <a:solidFill>
              <a:srgbClr val="D6E0F0"/>
            </a:solidFill>
            <a:prstDash val="solid"/>
          </a:ln>
        </p:spPr>
      </p:sp>
      <p:sp>
        <p:nvSpPr>
          <p:cNvPr id="36" name="anim:4:263"/>
          <p:cNvSpPr txBox="1"/>
          <p:nvPr/>
        </p:nvSpPr>
        <p:spPr>
          <a:xfrm>
            <a:off x="731520" y="367588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Setor</a:t>
            </a:r>
            <a:endParaRPr lang="en-US" sz="1300" dirty="0"/>
          </a:p>
        </p:txBody>
      </p:sp>
      <p:sp>
        <p:nvSpPr>
          <p:cNvPr id="37" name="anim:4:264"/>
          <p:cNvSpPr txBox="1"/>
          <p:nvPr/>
        </p:nvSpPr>
        <p:spPr>
          <a:xfrm>
            <a:off x="731520" y="3922776"/>
            <a:ext cx="219456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SME: administrativo</a:t>
            </a:r>
            <a:endParaRPr lang="en-US" sz="1000" dirty="0"/>
          </a:p>
        </p:txBody>
      </p:sp>
      <p:sp>
        <p:nvSpPr>
          <p:cNvPr id="38" name="anim:4:265"/>
          <p:cNvSpPr/>
          <p:nvPr/>
        </p:nvSpPr>
        <p:spPr>
          <a:xfrm>
            <a:off x="731520" y="4123944"/>
            <a:ext cx="1828800" cy="274320"/>
          </a:xfrm>
          <a:prstGeom prst="roundRect">
            <a:avLst>
              <a:gd name="adj" fmla="val 20000"/>
            </a:avLst>
          </a:prstGeom>
          <a:solidFill>
            <a:srgbClr val="EEF2F8"/>
          </a:solidFill>
          <a:ln w="6350">
            <a:solidFill>
              <a:srgbClr val="D6E0F0"/>
            </a:solidFill>
            <a:prstDash val="solid"/>
          </a:ln>
        </p:spPr>
      </p:sp>
      <p:sp>
        <p:nvSpPr>
          <p:cNvPr id="39" name="anim:4:266"/>
          <p:cNvSpPr txBox="1"/>
          <p:nvPr/>
        </p:nvSpPr>
        <p:spPr>
          <a:xfrm>
            <a:off x="731520" y="4123944"/>
            <a:ext cx="182880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4 dígitos</a:t>
            </a:r>
            <a:endParaRPr lang="en-US" sz="1200" dirty="0"/>
          </a:p>
        </p:txBody>
      </p:sp>
      <p:sp>
        <p:nvSpPr>
          <p:cNvPr id="40" name="anim:4:267"/>
          <p:cNvSpPr txBox="1"/>
          <p:nvPr/>
        </p:nvSpPr>
        <p:spPr>
          <a:xfrm>
            <a:off x="2697480" y="3922776"/>
            <a:ext cx="22860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censitário</a:t>
            </a:r>
            <a:endParaRPr lang="en-US" sz="1000" dirty="0"/>
          </a:p>
        </p:txBody>
      </p:sp>
      <p:sp>
        <p:nvSpPr>
          <p:cNvPr id="41" name="anim:4:268"/>
          <p:cNvSpPr/>
          <p:nvPr/>
        </p:nvSpPr>
        <p:spPr>
          <a:xfrm>
            <a:off x="2697480" y="4123944"/>
            <a:ext cx="1920240" cy="274320"/>
          </a:xfrm>
          <a:prstGeom prst="roundRect">
            <a:avLst>
              <a:gd name="adj" fmla="val 20000"/>
            </a:avLst>
          </a:prstGeom>
          <a:solidFill>
            <a:srgbClr val="EEF2F8"/>
          </a:solidFill>
          <a:ln w="6350">
            <a:solidFill>
              <a:srgbClr val="D6E0F0"/>
            </a:solidFill>
            <a:prstDash val="solid"/>
          </a:ln>
        </p:spPr>
      </p:sp>
      <p:sp>
        <p:nvSpPr>
          <p:cNvPr id="42" name="anim:4:269"/>
          <p:cNvSpPr txBox="1"/>
          <p:nvPr/>
        </p:nvSpPr>
        <p:spPr>
          <a:xfrm>
            <a:off x="2697480" y="4123944"/>
            <a:ext cx="19202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15 dígitos</a:t>
            </a:r>
            <a:endParaRPr lang="en-US" sz="1200" dirty="0"/>
          </a:p>
        </p:txBody>
      </p:sp>
      <p:sp>
        <p:nvSpPr>
          <p:cNvPr id="43" name="anim:4:270"/>
          <p:cNvSpPr txBox="1"/>
          <p:nvPr/>
        </p:nvSpPr>
        <p:spPr>
          <a:xfrm>
            <a:off x="47548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4" name="anim:4:271"/>
          <p:cNvSpPr txBox="1"/>
          <p:nvPr/>
        </p:nvSpPr>
        <p:spPr>
          <a:xfrm>
            <a:off x="5257800" y="361188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mesmo nome, coisas diferentes: um homônimo</a:t>
            </a:r>
            <a:endParaRPr lang="en-US" sz="1300" dirty="0"/>
          </a:p>
        </p:txBody>
      </p:sp>
      <p:sp>
        <p:nvSpPr>
          <p:cNvPr id="45" name="anim:4:272"/>
          <p:cNvSpPr txBox="1"/>
          <p:nvPr/>
        </p:nvSpPr>
        <p:spPr>
          <a:xfrm>
            <a:off x="79552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6" name="anim:4:273"/>
          <p:cNvSpPr txBox="1"/>
          <p:nvPr/>
        </p:nvSpPr>
        <p:spPr>
          <a:xfrm>
            <a:off x="8412480" y="361188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dois atributos com nomes distintos, nunca cruzados</a:t>
            </a:r>
            <a:endParaRPr lang="en-US" sz="1300" dirty="0"/>
          </a:p>
        </p:txBody>
      </p:sp>
      <p:sp>
        <p:nvSpPr>
          <p:cNvPr id="47" name="anim:5:274"/>
          <p:cNvSpPr/>
          <p:nvPr/>
        </p:nvSpPr>
        <p:spPr>
          <a:xfrm>
            <a:off x="548640" y="4663440"/>
            <a:ext cx="11064240" cy="1280160"/>
          </a:xfrm>
          <a:prstGeom prst="roundRect">
            <a:avLst>
              <a:gd name="adj" fmla="val 8571"/>
            </a:avLst>
          </a:prstGeom>
          <a:solidFill>
            <a:srgbClr val="EEF2F8"/>
          </a:solidFill>
          <a:ln w="9525">
            <a:solidFill>
              <a:srgbClr val="EEF2F8"/>
            </a:solidFill>
            <a:prstDash val="solid"/>
          </a:ln>
        </p:spPr>
      </p:sp>
      <p:sp>
        <p:nvSpPr>
          <p:cNvPr id="48" name="anim:5:275"/>
          <p:cNvSpPr txBox="1"/>
          <p:nvPr/>
        </p:nvSpPr>
        <p:spPr>
          <a:xfrm>
            <a:off x="822960" y="4754880"/>
            <a:ext cx="2011680" cy="109728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49" name="anim:5:276"/>
          <p:cNvSpPr txBox="1"/>
          <p:nvPr/>
        </p:nvSpPr>
        <p:spPr>
          <a:xfrm>
            <a:off x="2926080" y="4754880"/>
            <a:ext cx="8503920" cy="10972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Como sabemos que deu certo? </a:t>
            </a:r>
            <a:pPr indent="0" marL="0">
              <a:buNone/>
            </a:pPr>
            <a:r>
              <a:rPr lang="en-US" sz="1500" dirty="0">
                <a:solidFill>
                  <a:srgbClr val="1F2937"/>
                </a:solidFill>
                <a:latin typeface="Calibri" pitchFamily="34" charset="0"/>
                <a:ea typeface="Calibri" pitchFamily="34" charset="-122"/>
                <a:cs typeface="Calibri" pitchFamily="34" charset="-120"/>
              </a:rPr>
              <a:t>Contamos a mesma coisa nas duas bases da SME: as matrículas de creche ativas em junho de 2015 foram 240.905 no microdado e 240.840 na planilha da fila. De 2015 a 2020 a diferença fica abaixo de 1%.</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7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75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Problemas reais nos dados: o que fizemos e por quê</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74520"/>
                <a:gridCol w="2240280"/>
                <a:gridCol w="4343400"/>
                <a:gridCol w="26060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Problema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Como chegou</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fizemos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importa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1  Código da escola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2022: embaralhado. 2023 e 2024: "9,20961E+15"; em 2023, 182 códigos para 3.858 escolas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Medimos cada ano no próprio dado (notação científica? código repetido?). Nos anos ruins, achamos a mesma escola pelo nome, tipo e distrito no último ano confiável e copiamos o código de lá. Sem par seguro, chave sintética, nunca um chute.</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94,8% a 98,6% das matrículas ligadas ao código real; sem isso, centenas de escolas virariam uma só.</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2  Planilha de fila em sete formatos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 coluna "(2)" é "preferiu esperar uma unidade" em 2019 e "mais de 30 dias" desde 2020</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Lemos o cabeçalho e as notas de rodapé de cada arquivo e traduzimos cada nota. Nota desconhecida para a carga, em vez de gravar o número.</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Nenhum número da fila entra com o sentido trocado.</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3  Turno não publicado em 2021</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só o código "9", sem descrição</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Descobrimos que o código de 2021 é o de 2020 somado de 3 e conferimos pelos horários: 9 é integral, das 7h às 17h. Sem código, o turno sai do horário da turma.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Turno e jornada comparáveis em todos os anos.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4  Idade em formato errado</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"5,00", vazia, ou nascimento em 1900 (115 a 124 anos)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Usamos a idade publicada se for plausível; senão, calculamos pela data de nascimento, em 31 de março. Nascimento em 1900 vira não informada.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Sem isso, a faixa de 0 a 4 anos comparada com o Censo sairia errada.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5  Datas em cinco formatos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"45397" (serial do Excel) e outros quatro formatos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Lemos todos. O serial conta dias desde 30/12/1899: 45397 é 15/04/2024. Data fora de um ano em volta do ano letivo é descartada.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As datas dizem quem estava matriculado em 30 de junho, o número que se compara com a fila.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6  Valores suprimidos pelo IBGE</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"X" no lugar do número, em setores pequenos</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Só aceitamos números; o X vira nulo. Foram 6.543 valores. Se a maioria não fosse número, a leitura pararia.</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Nulo é "não publicado"; zero seria "nenhuma criança", o que é falso.</a:t>
                      </a:r>
                      <a:endParaRPr lang="en-US" sz="1200" dirty="0">
                        <a:latin typeface="Calibri" charset="0"/>
                        <a:ea typeface="Calibri" charset="0"/>
                        <a:cs typeface="Calibri" charset="0"/>
                      </a:endParaRPr>
                    </a:p>
                  </a:txBody>
                  <a:tcPr marL="91440" marR="91440" marT="45720" marB="45720" anchor="t">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o que é uma linha. Aditividade: o que soma.</a:t>
            </a:r>
            <a:endParaRPr lang="en-US" sz="3200" dirty="0"/>
          </a:p>
        </p:txBody>
      </p:sp>
      <p:sp>
        <p:nvSpPr>
          <p:cNvPr id="5" name="anim:1:277"/>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78"/>
          <p:cNvSpPr txBox="1"/>
          <p:nvPr/>
        </p:nvSpPr>
        <p:spPr>
          <a:xfrm>
            <a:off x="77724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GRÃO = O QUE UMA LINHA REPRESENTA</a:t>
            </a:r>
            <a:endParaRPr lang="en-US" sz="1000" dirty="0"/>
          </a:p>
        </p:txBody>
      </p:sp>
      <p:sp>
        <p:nvSpPr>
          <p:cNvPr id="7" name="anim:1:279"/>
          <p:cNvSpPr txBox="1"/>
          <p:nvPr/>
        </p:nvSpPr>
        <p:spPr>
          <a:xfrm>
            <a:off x="777240" y="187452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Fila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212140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jun/2024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CRECHE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153</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9" name="anim:1:280"/>
          <p:cNvSpPr txBox="1"/>
          <p:nvPr/>
        </p:nvSpPr>
        <p:spPr>
          <a:xfrm>
            <a:off x="777240" y="251460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Matrícula</a:t>
            </a:r>
            <a:endParaRPr lang="en-US" sz="11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77240" y="276148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 aluno</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uma turma</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11" name="anim:1:281"/>
          <p:cNvSpPr txBox="1"/>
          <p:nvPr/>
        </p:nvSpPr>
        <p:spPr>
          <a:xfrm>
            <a:off x="777240" y="3182112"/>
            <a:ext cx="4983480" cy="566928"/>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Uma criança não é uma linha da fila: </a:t>
            </a:r>
            <a:pPr indent="0" marL="0">
              <a:buNone/>
            </a:pPr>
            <a:r>
              <a:rPr lang="en-US" sz="1300" b="1" dirty="0">
                <a:solidFill>
                  <a:srgbClr val="1B2A4A"/>
                </a:solidFill>
                <a:latin typeface="Calibri" pitchFamily="34" charset="0"/>
                <a:ea typeface="Calibri" pitchFamily="34" charset="-122"/>
                <a:cs typeface="Calibri" pitchFamily="34" charset="-120"/>
              </a:rPr>
              <a:t>é uma das 153</a:t>
            </a:r>
            <a:pPr indent="0" marL="0">
              <a:buNone/>
            </a:pPr>
            <a:r>
              <a:rPr lang="en-US" sz="1300" dirty="0">
                <a:solidFill>
                  <a:srgbClr val="1F2937"/>
                </a:solidFill>
                <a:latin typeface="Calibri" pitchFamily="34" charset="0"/>
                <a:ea typeface="Calibri" pitchFamily="34" charset="-122"/>
                <a:cs typeface="Calibri" pitchFamily="34" charset="-120"/>
              </a:rPr>
              <a:t>. Quando consegue a vaga, vira uma linha do fato Matrícula.</a:t>
            </a:r>
            <a:endParaRPr lang="en-US" sz="1300" dirty="0"/>
          </a:p>
        </p:txBody>
      </p:sp>
      <p:sp>
        <p:nvSpPr>
          <p:cNvPr id="12" name="anim:2:282"/>
          <p:cNvSpPr/>
          <p:nvPr/>
        </p:nvSpPr>
        <p:spPr>
          <a:xfrm>
            <a:off x="617220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283"/>
          <p:cNvSpPr txBox="1"/>
          <p:nvPr/>
        </p:nvSpPr>
        <p:spPr>
          <a:xfrm>
            <a:off x="640080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ADITIVIDADE = POSSO SOMAR?</a:t>
            </a:r>
            <a:endParaRPr lang="en-US" sz="1000" dirty="0"/>
          </a:p>
        </p:txBody>
      </p:sp>
      <p:sp>
        <p:nvSpPr>
          <p:cNvPr id="14" name="anim:2:284"/>
          <p:cNvSpPr/>
          <p:nvPr/>
        </p:nvSpPr>
        <p:spPr>
          <a:xfrm>
            <a:off x="6400800" y="1947672"/>
            <a:ext cx="310896" cy="310896"/>
          </a:xfrm>
          <a:prstGeom prst="ellipse">
            <a:avLst/>
          </a:prstGeom>
          <a:solidFill>
            <a:srgbClr val="2E5EAA"/>
          </a:solidFill>
          <a:ln w="12700">
            <a:solidFill>
              <a:srgbClr val="2E5EAA"/>
            </a:solidFill>
            <a:prstDash val="solid"/>
          </a:ln>
        </p:spPr>
      </p:sp>
      <p:sp>
        <p:nvSpPr>
          <p:cNvPr id="15" name="anim:2:285"/>
          <p:cNvSpPr txBox="1"/>
          <p:nvPr/>
        </p:nvSpPr>
        <p:spPr>
          <a:xfrm>
            <a:off x="6400800" y="19476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anim:2:286"/>
          <p:cNvSpPr txBox="1"/>
          <p:nvPr/>
        </p:nvSpPr>
        <p:spPr>
          <a:xfrm>
            <a:off x="6858000" y="1920240"/>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distritos: </a:t>
            </a:r>
            <a:pPr indent="0" marL="0">
              <a:buNone/>
            </a:pPr>
            <a:r>
              <a:rPr lang="en-US" sz="1300" dirty="0">
                <a:solidFill>
                  <a:srgbClr val="1F2937"/>
                </a:solidFill>
                <a:latin typeface="Calibri" pitchFamily="34" charset="0"/>
                <a:ea typeface="Calibri" pitchFamily="34" charset="-122"/>
                <a:cs typeface="Calibri" pitchFamily="34" charset="-120"/>
              </a:rPr>
              <a:t>Tremembé + Grajaú em junho de 2024 = 153 + 88 = 241 crianças na fila.</a:t>
            </a:r>
            <a:endParaRPr lang="en-US" sz="1300" dirty="0"/>
          </a:p>
        </p:txBody>
      </p:sp>
      <p:sp>
        <p:nvSpPr>
          <p:cNvPr id="17" name="anim:2:287"/>
          <p:cNvSpPr/>
          <p:nvPr/>
        </p:nvSpPr>
        <p:spPr>
          <a:xfrm>
            <a:off x="6400800" y="2569464"/>
            <a:ext cx="310896" cy="310896"/>
          </a:xfrm>
          <a:prstGeom prst="ellipse">
            <a:avLst/>
          </a:prstGeom>
          <a:solidFill>
            <a:srgbClr val="8A5300"/>
          </a:solidFill>
          <a:ln w="12700">
            <a:solidFill>
              <a:srgbClr val="8A5300"/>
            </a:solidFill>
            <a:prstDash val="solid"/>
          </a:ln>
        </p:spPr>
      </p:sp>
      <p:sp>
        <p:nvSpPr>
          <p:cNvPr id="18" name="anim:2:288"/>
          <p:cNvSpPr txBox="1"/>
          <p:nvPr/>
        </p:nvSpPr>
        <p:spPr>
          <a:xfrm>
            <a:off x="6400800" y="25694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anim:2:289"/>
          <p:cNvSpPr txBox="1"/>
          <p:nvPr/>
        </p:nvSpPr>
        <p:spPr>
          <a:xfrm>
            <a:off x="6858000" y="2542032"/>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meses: </a:t>
            </a:r>
            <a:pPr indent="0" marL="0">
              <a:buNone/>
            </a:pPr>
            <a:r>
              <a:rPr lang="en-US" sz="1300" dirty="0">
                <a:solidFill>
                  <a:srgbClr val="1F2937"/>
                </a:solidFill>
                <a:latin typeface="Calibri" pitchFamily="34" charset="0"/>
                <a:ea typeface="Calibri" pitchFamily="34" charset="-122"/>
                <a:cs typeface="Calibri" pitchFamily="34" charset="-120"/>
              </a:rPr>
              <a:t>fila de abril + fila de junho conta duas vezes quem continuou esperando. A fila é um estoque.</a:t>
            </a:r>
            <a:endParaRPr lang="en-US" sz="1300" dirty="0"/>
          </a:p>
        </p:txBody>
      </p:sp>
      <p:sp>
        <p:nvSpPr>
          <p:cNvPr id="20" name="anim:2:290"/>
          <p:cNvSpPr/>
          <p:nvPr/>
        </p:nvSpPr>
        <p:spPr>
          <a:xfrm>
            <a:off x="6400800" y="3191256"/>
            <a:ext cx="310896" cy="310896"/>
          </a:xfrm>
          <a:prstGeom prst="ellipse">
            <a:avLst/>
          </a:prstGeom>
          <a:solidFill>
            <a:srgbClr val="566175"/>
          </a:solidFill>
          <a:ln w="12700">
            <a:solidFill>
              <a:srgbClr val="566175"/>
            </a:solidFill>
            <a:prstDash val="solid"/>
          </a:ln>
        </p:spPr>
      </p:sp>
      <p:sp>
        <p:nvSpPr>
          <p:cNvPr id="21" name="anim:2:291"/>
          <p:cNvSpPr txBox="1"/>
          <p:nvPr/>
        </p:nvSpPr>
        <p:spPr>
          <a:xfrm>
            <a:off x="6400800" y="31912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2" name="anim:2:292"/>
          <p:cNvSpPr txBox="1"/>
          <p:nvPr/>
        </p:nvSpPr>
        <p:spPr>
          <a:xfrm>
            <a:off x="6858000" y="3163824"/>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Taxas e médias: </a:t>
            </a:r>
            <a:pPr indent="0" marL="0">
              <a:buNone/>
            </a:pPr>
            <a:r>
              <a:rPr lang="en-US" sz="1300" dirty="0">
                <a:solidFill>
                  <a:srgbClr val="1F2937"/>
                </a:solidFill>
                <a:latin typeface="Calibri" pitchFamily="34" charset="0"/>
                <a:ea typeface="Calibri" pitchFamily="34" charset="-122"/>
                <a:cs typeface="Calibri" pitchFamily="34" charset="-120"/>
              </a:rPr>
              <a:t>nunca somar nem tirar média; recalcular das somas (abandonos ÷ matrículas).</a:t>
            </a:r>
            <a:endParaRPr lang="en-US" sz="13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3566160"/>
                <a:gridCol w="5303520"/>
              </a:tblGrid>
              <a:tr h="3200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Tabela de fatos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Uma linha é</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Pode somar?</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Matrícula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um vínculo aluno-turma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soma em tudo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Fila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distrito × mês × etapa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distritos e etapas, não meses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Desfecho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escola × ano × série</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taxas recalculadas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Ocupação de Turma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alunos por turma recalculado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População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setor censitário × faixa × Censo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setores e faixas, não Censos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00"/>
                                        <p:tgtEl>
                                          <p:spTgt spid="16"/>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00"/>
                                        <p:tgtEl>
                                          <p:spTgt spid="18"/>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293"/>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94"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295"/>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296"/>
          <p:cNvSpPr txBox="1"/>
          <p:nvPr/>
        </p:nvSpPr>
        <p:spPr>
          <a:xfrm>
            <a:off x="8458200" y="1627632"/>
            <a:ext cx="301752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CADA RECURSO RESOLVE UM PROBLEMA</a:t>
            </a:r>
            <a:endParaRPr lang="en-US" sz="1000" dirty="0"/>
          </a:p>
        </p:txBody>
      </p:sp>
      <p:sp>
        <p:nvSpPr>
          <p:cNvPr id="9" name="anim:3:297"/>
          <p:cNvSpPr/>
          <p:nvPr/>
        </p:nvSpPr>
        <p:spPr>
          <a:xfrm>
            <a:off x="8458200" y="1984248"/>
            <a:ext cx="274320" cy="274320"/>
          </a:xfrm>
          <a:prstGeom prst="ellipse">
            <a:avLst/>
          </a:prstGeom>
          <a:solidFill>
            <a:srgbClr val="F2A541"/>
          </a:solidFill>
          <a:ln w="12700">
            <a:solidFill>
              <a:srgbClr val="F2A541"/>
            </a:solidFill>
            <a:prstDash val="solid"/>
          </a:ln>
        </p:spPr>
      </p:sp>
      <p:sp>
        <p:nvSpPr>
          <p:cNvPr id="10" name="anim:3:298"/>
          <p:cNvSpPr txBox="1"/>
          <p:nvPr/>
        </p:nvSpPr>
        <p:spPr>
          <a:xfrm>
            <a:off x="8458200" y="19842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1</a:t>
            </a:r>
            <a:endParaRPr lang="en-US" sz="1100" dirty="0"/>
          </a:p>
        </p:txBody>
      </p:sp>
      <p:sp>
        <p:nvSpPr>
          <p:cNvPr id="11" name="anim:3:299"/>
          <p:cNvSpPr txBox="1"/>
          <p:nvPr/>
        </p:nvSpPr>
        <p:spPr>
          <a:xfrm>
            <a:off x="8823960" y="1965960"/>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Data com dois papéis</a:t>
            </a:r>
            <a:pPr indent="0" marL="0">
              <a:buNone/>
            </a:pPr>
            <a:r>
              <a:rPr lang="en-US" sz="1200" dirty="0">
                <a:solidFill>
                  <a:srgbClr val="1F2937"/>
                </a:solidFill>
                <a:latin typeface="Calibri" pitchFamily="34" charset="0"/>
                <a:ea typeface="Calibri" pitchFamily="34" charset="-122"/>
                <a:cs typeface="Calibri" pitchFamily="34" charset="-120"/>
              </a:rPr>
              <a:t> (início e fim): diz se a matrícula estava ativa em 30 de junho, o número que se compara com a fila.</a:t>
            </a:r>
            <a:endParaRPr lang="en-US" sz="1200" dirty="0"/>
          </a:p>
        </p:txBody>
      </p:sp>
      <p:sp>
        <p:nvSpPr>
          <p:cNvPr id="12" name="anim:4:300"/>
          <p:cNvSpPr/>
          <p:nvPr/>
        </p:nvSpPr>
        <p:spPr>
          <a:xfrm>
            <a:off x="8458200" y="2788920"/>
            <a:ext cx="274320" cy="274320"/>
          </a:xfrm>
          <a:prstGeom prst="ellipse">
            <a:avLst/>
          </a:prstGeom>
          <a:solidFill>
            <a:srgbClr val="F2A541"/>
          </a:solidFill>
          <a:ln w="12700">
            <a:solidFill>
              <a:srgbClr val="F2A541"/>
            </a:solidFill>
            <a:prstDash val="solid"/>
          </a:ln>
        </p:spPr>
      </p:sp>
      <p:sp>
        <p:nvSpPr>
          <p:cNvPr id="13" name="anim:4:301"/>
          <p:cNvSpPr txBox="1"/>
          <p:nvPr/>
        </p:nvSpPr>
        <p:spPr>
          <a:xfrm>
            <a:off x="8458200" y="2788920"/>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2</a:t>
            </a:r>
            <a:endParaRPr lang="en-US" sz="1100" dirty="0"/>
          </a:p>
        </p:txBody>
      </p:sp>
      <p:sp>
        <p:nvSpPr>
          <p:cNvPr id="14" name="anim:4:302"/>
          <p:cNvSpPr txBox="1"/>
          <p:nvPr/>
        </p:nvSpPr>
        <p:spPr>
          <a:xfrm>
            <a:off x="8823960" y="2770632"/>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Campo igual a 1</a:t>
            </a:r>
            <a:pPr indent="0" marL="0">
              <a:buNone/>
            </a:pPr>
            <a:r>
              <a:rPr lang="en-US" sz="1200" dirty="0">
                <a:solidFill>
                  <a:srgbClr val="1F2937"/>
                </a:solidFill>
                <a:latin typeface="Calibri" pitchFamily="34" charset="0"/>
                <a:ea typeface="Calibri" pitchFamily="34" charset="-122"/>
                <a:cs typeface="Calibri" pitchFamily="34" charset="-120"/>
              </a:rPr>
              <a:t> em cada linha: contar matrículas vira uma soma. Dias de matrícula é a outra medida.</a:t>
            </a:r>
            <a:endParaRPr lang="en-US" sz="1200" dirty="0"/>
          </a:p>
        </p:txBody>
      </p:sp>
      <p:sp>
        <p:nvSpPr>
          <p:cNvPr id="15" name="anim:5:303"/>
          <p:cNvSpPr/>
          <p:nvPr/>
        </p:nvSpPr>
        <p:spPr>
          <a:xfrm>
            <a:off x="8458200" y="3593592"/>
            <a:ext cx="274320" cy="274320"/>
          </a:xfrm>
          <a:prstGeom prst="ellipse">
            <a:avLst/>
          </a:prstGeom>
          <a:solidFill>
            <a:srgbClr val="F2A541"/>
          </a:solidFill>
          <a:ln w="12700">
            <a:solidFill>
              <a:srgbClr val="F2A541"/>
            </a:solidFill>
            <a:prstDash val="solid"/>
          </a:ln>
        </p:spPr>
      </p:sp>
      <p:sp>
        <p:nvSpPr>
          <p:cNvPr id="16" name="anim:5:304"/>
          <p:cNvSpPr txBox="1"/>
          <p:nvPr/>
        </p:nvSpPr>
        <p:spPr>
          <a:xfrm>
            <a:off x="8458200" y="3593592"/>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3</a:t>
            </a:r>
            <a:endParaRPr lang="en-US" sz="1100" dirty="0"/>
          </a:p>
        </p:txBody>
      </p:sp>
      <p:sp>
        <p:nvSpPr>
          <p:cNvPr id="17" name="anim:5:305"/>
          <p:cNvSpPr txBox="1"/>
          <p:nvPr/>
        </p:nvSpPr>
        <p:spPr>
          <a:xfrm>
            <a:off x="8823960" y="3575304"/>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Bugigangas</a:t>
            </a:r>
            <a:pPr indent="0" marL="0">
              <a:buNone/>
            </a:pPr>
            <a:r>
              <a:rPr lang="en-US" sz="1200" dirty="0">
                <a:solidFill>
                  <a:srgbClr val="1F2937"/>
                </a:solidFill>
                <a:latin typeface="Calibri" pitchFamily="34" charset="0"/>
                <a:ea typeface="Calibri" pitchFamily="34" charset="-122"/>
                <a:cs typeface="Calibri" pitchFamily="34" charset="-120"/>
              </a:rPr>
              <a:t> (Perfil, Deficiência, Situação): mais de 30 indicadores em 3 dimensões, e não em 30.</a:t>
            </a:r>
            <a:endParaRPr lang="en-US" sz="1200" dirty="0"/>
          </a:p>
        </p:txBody>
      </p:sp>
      <p:sp>
        <p:nvSpPr>
          <p:cNvPr id="18" name="anim:6:306"/>
          <p:cNvSpPr/>
          <p:nvPr/>
        </p:nvSpPr>
        <p:spPr>
          <a:xfrm>
            <a:off x="8458200" y="4398264"/>
            <a:ext cx="274320" cy="274320"/>
          </a:xfrm>
          <a:prstGeom prst="ellipse">
            <a:avLst/>
          </a:prstGeom>
          <a:solidFill>
            <a:srgbClr val="F2A541"/>
          </a:solidFill>
          <a:ln w="12700">
            <a:solidFill>
              <a:srgbClr val="F2A541"/>
            </a:solidFill>
            <a:prstDash val="solid"/>
          </a:ln>
        </p:spPr>
      </p:sp>
      <p:sp>
        <p:nvSpPr>
          <p:cNvPr id="19" name="anim:6:307"/>
          <p:cNvSpPr txBox="1"/>
          <p:nvPr/>
        </p:nvSpPr>
        <p:spPr>
          <a:xfrm>
            <a:off x="8458200" y="4398264"/>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4</a:t>
            </a:r>
            <a:endParaRPr lang="en-US" sz="1100" dirty="0"/>
          </a:p>
        </p:txBody>
      </p:sp>
      <p:sp>
        <p:nvSpPr>
          <p:cNvPr id="20" name="anim:6:308"/>
          <p:cNvSpPr txBox="1"/>
          <p:nvPr/>
        </p:nvSpPr>
        <p:spPr>
          <a:xfrm>
            <a:off x="8823960" y="4379976"/>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Degeneradas</a:t>
            </a:r>
            <a:pPr indent="0" marL="0">
              <a:buNone/>
            </a:pPr>
            <a:r>
              <a:rPr lang="en-US" sz="1200" dirty="0">
                <a:solidFill>
                  <a:srgbClr val="1F2937"/>
                </a:solidFill>
                <a:latin typeface="Calibri" pitchFamily="34" charset="0"/>
                <a:ea typeface="Calibri" pitchFamily="34" charset="-122"/>
                <a:cs typeface="Calibri" pitchFamily="34" charset="-120"/>
              </a:rPr>
              <a:t> (id da turma, código da matrícula): identificadores que ficam no fato, sem tabela própria.</a:t>
            </a:r>
            <a:endParaRPr lang="en-US" sz="1200" dirty="0"/>
          </a:p>
        </p:txBody>
      </p:sp>
      <p:sp>
        <p:nvSpPr>
          <p:cNvPr id="21" name="anim:7:309"/>
          <p:cNvSpPr/>
          <p:nvPr/>
        </p:nvSpPr>
        <p:spPr>
          <a:xfrm>
            <a:off x="8458200" y="5202936"/>
            <a:ext cx="274320" cy="274320"/>
          </a:xfrm>
          <a:prstGeom prst="ellipse">
            <a:avLst/>
          </a:prstGeom>
          <a:solidFill>
            <a:srgbClr val="F2A541"/>
          </a:solidFill>
          <a:ln w="12700">
            <a:solidFill>
              <a:srgbClr val="F2A541"/>
            </a:solidFill>
            <a:prstDash val="solid"/>
          </a:ln>
        </p:spPr>
      </p:sp>
      <p:sp>
        <p:nvSpPr>
          <p:cNvPr id="22" name="anim:7:310"/>
          <p:cNvSpPr txBox="1"/>
          <p:nvPr/>
        </p:nvSpPr>
        <p:spPr>
          <a:xfrm>
            <a:off x="8458200" y="5202936"/>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5</a:t>
            </a:r>
            <a:endParaRPr lang="en-US" sz="1100" dirty="0"/>
          </a:p>
        </p:txBody>
      </p:sp>
      <p:sp>
        <p:nvSpPr>
          <p:cNvPr id="23" name="anim:7:311"/>
          <p:cNvSpPr txBox="1"/>
          <p:nvPr/>
        </p:nvSpPr>
        <p:spPr>
          <a:xfrm>
            <a:off x="8823960" y="5184648"/>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Escola tipo 2</a:t>
            </a:r>
            <a:pPr indent="0" marL="0">
              <a:buNone/>
            </a:pPr>
            <a:r>
              <a:rPr lang="en-US" sz="1200" dirty="0">
                <a:solidFill>
                  <a:srgbClr val="1F2937"/>
                </a:solidFill>
                <a:latin typeface="Calibri" pitchFamily="34" charset="0"/>
                <a:ea typeface="Calibri" pitchFamily="34" charset="-122"/>
                <a:cs typeface="Calibri" pitchFamily="34" charset="-120"/>
              </a:rPr>
              <a:t>: a escola que muda de nome ganha uma versão nova, e a matrícula antiga guarda o nome da época.</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50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312"/>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13"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314"/>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315"/>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316"/>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17"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318"/>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319"/>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320"/>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21"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322"/>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323"/>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324"/>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25"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326"/>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327"/>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328"/>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29"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330"/>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331"/>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332"/>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333"/>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334"/>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335"/>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36"/>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337"/>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338"/>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339"/>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340"/>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341"/>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342"/>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343"/>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44"/>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345"/>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46"/>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347"/>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348"/>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349"/>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350"/>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351"/>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352"/>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353"/>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354"/>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355"/>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356"/>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357"/>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358"/>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359"/>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360"/>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361"/>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362"/>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363"/>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364"/>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365"/>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366"/>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367"/>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368"/>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369"/>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370"/>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371"/>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372"/>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exemplo: a próxima vaga vai para o Tremembé</a:t>
            </a:r>
            <a:endParaRPr lang="en-US" sz="3200" dirty="0"/>
          </a:p>
        </p:txBody>
      </p:sp>
      <p:sp>
        <p:nvSpPr>
          <p:cNvPr id="5" name="anim:1:373"/>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74"/>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375"/>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376"/>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377"/>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378"/>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379"/>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380"/>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381"/>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382"/>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383"/>
          <p:cNvSpPr/>
          <p:nvPr/>
        </p:nvSpPr>
        <p:spPr>
          <a:xfrm>
            <a:off x="6446520" y="1783080"/>
            <a:ext cx="1325880" cy="310896"/>
          </a:xfrm>
          <a:prstGeom prst="roundRect">
            <a:avLst>
              <a:gd name="adj" fmla="val 50000"/>
            </a:avLst>
          </a:prstGeom>
          <a:solidFill>
            <a:srgbClr val="F2A541"/>
          </a:solidFill>
          <a:ln w="12700">
            <a:solidFill>
              <a:srgbClr val="F2A541"/>
            </a:solidFill>
            <a:prstDash val="solid"/>
          </a:ln>
        </p:spPr>
      </p:sp>
      <p:sp>
        <p:nvSpPr>
          <p:cNvPr id="16" name="anim:2:384"/>
          <p:cNvSpPr txBox="1"/>
          <p:nvPr/>
        </p:nvSpPr>
        <p:spPr>
          <a:xfrm>
            <a:off x="6446520" y="1783080"/>
            <a:ext cx="13258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a:t>
            </a:r>
            <a:endParaRPr lang="en-US" sz="1200" dirty="0"/>
          </a:p>
        </p:txBody>
      </p:sp>
      <p:sp>
        <p:nvSpPr>
          <p:cNvPr id="17" name="anim:2:385"/>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386"/>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387"/>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388"/>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389"/>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390"/>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391"/>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392"/>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393"/>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394"/>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 volta à pergunta: e se fosse o seu filho?</a:t>
            </a:r>
            <a:endParaRPr lang="en-US" sz="3200" dirty="0"/>
          </a:p>
        </p:txBody>
      </p:sp>
      <p:sp>
        <p:nvSpPr>
          <p:cNvPr id="5" name="anim:1:395"/>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396"/>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397"/>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398"/>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399"/>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400"/>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vagas de creche onde a fila resiste, como no Tremembé.</a:t>
            </a:r>
            <a:endParaRPr lang="en-US" sz="1600" dirty="0"/>
          </a:p>
        </p:txBody>
      </p:sp>
      <p:sp>
        <p:nvSpPr>
          <p:cNvPr id="11" name="anim:3:401"/>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402"/>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403"/>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criança sai da fila e vira uma linha do fato Matrícula.</a:t>
            </a:r>
            <a:endParaRPr lang="en-US" sz="1600" dirty="0"/>
          </a:p>
        </p:txBody>
      </p:sp>
      <p:sp>
        <p:nvSpPr>
          <p:cNvPr id="14" name="anim:4:404"/>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405"/>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406"/>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família volta a trabalhar com o filho na creche.</a:t>
            </a:r>
            <a:endParaRPr lang="en-US" sz="1600" dirty="0"/>
          </a:p>
        </p:txBody>
      </p:sp>
      <p:sp>
        <p:nvSpPr>
          <p:cNvPr id="17" name="anim:5:407"/>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408"/>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A PROPOSTA ENTREGA</a:t>
            </a:r>
            <a:endParaRPr lang="en-US" sz="1200" dirty="0"/>
          </a:p>
        </p:txBody>
      </p:sp>
      <p:sp>
        <p:nvSpPr>
          <p:cNvPr id="19" name="anim:6:409"/>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410"/>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411"/>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Respostas em menos de um segundo</a:t>
            </a:r>
            <a:endParaRPr lang="en-US" sz="1500" dirty="0"/>
          </a:p>
        </p:txBody>
      </p:sp>
      <p:sp>
        <p:nvSpPr>
          <p:cNvPr id="22" name="anim:7:412"/>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as oito consultas rodam em 0,42 s sobre os dados reais</a:t>
            </a:r>
            <a:endParaRPr lang="en-US" sz="1300" dirty="0"/>
          </a:p>
        </p:txBody>
      </p:sp>
      <p:sp>
        <p:nvSpPr>
          <p:cNvPr id="23" name="anim:8:413"/>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conferidos</a:t>
            </a:r>
            <a:endParaRPr lang="en-US" sz="1500" dirty="0"/>
          </a:p>
        </p:txBody>
      </p:sp>
      <p:sp>
        <p:nvSpPr>
          <p:cNvPr id="24" name="anim:8:414"/>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 contagem em dobro à vista</a:t>
            </a:r>
            <a:endParaRPr lang="en-US" sz="1300" dirty="0"/>
          </a:p>
        </p:txBody>
      </p:sp>
      <p:sp>
        <p:nvSpPr>
          <p:cNvPr id="25" name="anim:9:415"/>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6" name="anim:9:416"/>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7" name="anim:10:417"/>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418"/>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419"/>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420"/>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Cada vaga aberta no lugar certo é uma criança a menos na fila.</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e da nossa carga.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421"/>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422"/>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423"/>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424"/>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425"/>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426"/>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427"/>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428"/>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429"/>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430"/>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431"/>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432"/>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2026-10-29T15:18:51Z</dcterms:created>
  <dcterms:modified xsi:type="dcterms:W3CDTF">2026-10-29T15:18:51Z</dcterms:modified>
</cp:coreProperties>
</file>