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Crianças na fila de creche em junho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Fila de creche em junho</c:v>
                </c:pt>
              </c:strCache>
            </c:strRef>
          </c:tx>
          <c:spPr>
            <a:solidFill>
              <a:srgbClr val="18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124741</c:v>
                </c:pt>
                <c:pt idx="1">
                  <c:v>103496</c:v>
                </c:pt>
                <c:pt idx="2">
                  <c:v>104268</c:v>
                </c:pt>
                <c:pt idx="3">
                  <c:v>66714</c:v>
                </c:pt>
                <c:pt idx="4">
                  <c:v>48910</c:v>
                </c:pt>
                <c:pt idx="5">
                  <c:v>22732</c:v>
                </c:pt>
                <c:pt idx="6">
                  <c:v>8767</c:v>
                </c:pt>
                <c:pt idx="7">
                  <c:v>4761</c:v>
                </c:pt>
                <c:pt idx="8">
                  <c:v>4913</c:v>
                </c:pt>
                <c:pt idx="9">
                  <c:v>3633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Fração da demanda de creche fora da rede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Fração fora da rede</c:v>
                </c:pt>
              </c:strCache>
            </c:strRef>
          </c:tx>
          <c:spPr>
            <a:solidFill>
              <a:srgbClr val="D98E04"/>
            </a:solidFill>
            <a:ln w="38100" cap="flat">
              <a:solidFill>
                <a:srgbClr val="D98E0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D98E04"/>
              </a:solidFill>
              <a:ln w="9525" cap="flat">
                <a:solidFill>
                  <a:srgbClr val="D98E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34.1</c:v>
                </c:pt>
                <c:pt idx="1">
                  <c:v>27.1</c:v>
                </c:pt>
                <c:pt idx="2">
                  <c:v>26.6</c:v>
                </c:pt>
                <c:pt idx="3">
                  <c:v>17.5</c:v>
                </c:pt>
                <c:pt idx="4">
                  <c:v>12.8</c:v>
                </c:pt>
                <c:pt idx="5">
                  <c:v>6.2</c:v>
                </c:pt>
                <c:pt idx="6">
                  <c:v>2.4</c:v>
                </c:pt>
                <c:pt idx="7">
                  <c:v>1.3</c:v>
                </c:pt>
                <c:pt idx="8">
                  <c:v>1.4</c:v>
                </c:pt>
                <c:pt idx="9">
                  <c:v>1.1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E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Alunos por turma em 30 de junho (consulta 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183D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11.5</c:v>
                </c:pt>
                <c:pt idx="1">
                  <c:v>30.7</c:v>
                </c:pt>
                <c:pt idx="2">
                  <c:v>28.7</c:v>
                </c:pt>
                <c:pt idx="3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D98E0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26.9</c:v>
                </c:pt>
                <c:pt idx="2">
                  <c:v>30.6</c:v>
                </c:pt>
                <c:pt idx="3">
                  <c:v>31.6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Abertura. Apresentar o grupo, a disciplina e o tema: política pública municipal de educação. Dizer em uma frase a pergunta do trabalho: onde existe fila por vaga, onde existe oferta, se a oferta está cheia, quantas crianças moram em cada lugar e o que acontece com quem consegue 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Mostrar a divisão: cada integrante apresenta um bloco, com o mesmo tempo previsto. Os quatro blocos seguem a ordem pedida no enunciado: motivação; fontes; esquemas estrela e constelação; consultas e decisões.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Motivação. A falta de vaga em creche foi por anos o principal problema de acesso da educação infantil paulistana. O PNE (Lei 13.005/2014), Meta 1, pede creche para pelo menos metade das crianças de até 3 anos e pré-escola universal. A prefeitura publica a fila por distrito para dar transparência. Os números do slide são da nossa carga com os dados reais: a fila de creche em junho caiu de 124.741 crianças em 2015 para 3.633 em 2024. O gestor ainda precisa saber onde a oferta está cheia e quantas crianças moram em cada região, e é isso que o modelo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Quem usa: Secretaria Municipal de Educação e as 13 Diretorias Regionais. Cada cartão é uma decisão real de política pública e cita as consultas que a apoiam. Destacar que a capacidade das turmas não é publicada, então medimos a ocupação.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O enunciado temático prioriza São Carlos. Nossa primeira proposta foi dimensionar a oferta escolar por setor censitário em São Carlos. Sem dado aberto de vaga nem de fila, a demanda não atendida teria de ser estimada, e o enunciado pede dados reais. São Paulo publica o microdado de cada matrícula e a fila por distrito. O modelo não depende de São Paulo: matrícula, turma e desfecho vêm do tipo de registro que qualquer sistema de gestão escolar mantém, e o Censo 2022 tem população por setor para todos 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Os cinco assuntos são os registrados na planilha do grupo, e cada um responde a uma parte da decisão de onde abrir vagas. Matrícula é a oferta usada; fila é quem pediu e não conseguiu; ocupação diz se a oferta que existe está cheia; população é a demanda potencial, que existe mesmo sem pedido; oferta por setor mostra onde e por qual rede a vaga é oferecida. Quatro assuntos viram tabelas de fatos; a oferta por setor é respondida pelas dimensões Escola, Território e Setor Censitário. O quinto processo, desfecho da matrícula, acompanha o que acontece depois do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Duas fontes da SME no Portal de Dados Abertos da Prefeitura, com grão, formato e vocabulário diferentes, e o Censo 2022 do IBGE. A fila tem sete formatos entre 2006 e 2026, e o significado das colunas numeradas muda com o formato. O Censo traz a demanda potencial: quantas crianças moram em cada setor. Na carga real entraram 26.889 setores do município, todos ligados a um distrito da SME.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Exemplos de integração exigidos no enunciado. Distrito: maiúsculas sem acento na SME, com acento no IBGE; a regra de normalização é a mesma. Idade: simples no microdado, grupos de cinco anos no IBGE; a dimensão Idade carrega a faixa do IBGE. CD_SETOR é um homônimo: na SME é setor administrativo de 4 dígitos, no IBGE setor censitário de 15. A prova de que a integração entre as bases da SME está certa: contando no microdado as matrículas ativas em junho, a diferença para a planilha fica abaixo de 1% de 2015 a 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Cada problema foi medido nos dados reais e tratado por uma regra testada. O mais grave: de 2022 a 2024 o código da escola chega corrompido; recuperamos o código real pelo nome, tipo e distrito para 94,8% a 98,6% das matrículas. Princípio: medida não publicada fica nula, nunca zero. O pipeline roda catorze verificações automáticas depois de cada carga; na carga real nenhuma deu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Grão declarado antes das dimensões. Matrícula no grão mais fino que a fonte permite; fila no grão em que a prefeitura publica; desfecho e ocupação são fatos agregados do fato de matrícula; população no grão do IBGE. Fila e população são estoques: somam no território, não no tempo. Taxas e alunos por turma são derivados não aditivos, sempre recalculados a partir das somas.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Fato no centro, dez dimensões. Dimensão Data com dois papéis, início e fim da matrícula, como a data de internação e de alta do artigo da disciplina: as duas datas permitem contar matrículas ativas em um dia. O fato principal é a ocorrência do vínculo, contada por um campo artificial igual a 1, técnica de tabela de fatos sem fato; a única medida é dias de matrícula. Três bugigangas. Duas degeneradas. Escola é mudança lenta tipo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Fila: medidas nulas onde a prefeitura não publicou a quebra; formato da planilha como dimensão degenerada. Tempo tem duas hierarquias porque a fila foi trimestral até 2022 e bimestral depois. A fila é estoque: soma entre distritos e etapas, mas no tempo se escolhe um mês, nunca se soma.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Desfecho: fato agregado do fato de matrícula, porque taxa de rendimento só faz sentido sobre um conjunto de alunos. As contagens somam; as taxas são recalculadas pelas contagens em qualquer nível, nunca como média de taxas. Na educação infantil não há aprovação, então a taxa fica nula.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Ocupação de turma: agregado do fato de matrícula pelo id da turma. A capacidade não é publicada, então medimos os alunos ativos em 30 de junho por turma em funcionamento. A média é sempre soma de alunos dividida por soma de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População: Censo 2022 no grão de setor censitário, a menor unidade territorial do modelo. Na carga real são 26.889 setores, todos ligados a um distrito da SME, e 11,4 milhões de moradores. Faixa Etária é o rollup encolhido de Idade que conforma com a matrícula.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Cinco fatos, catorze dimensões. Território é compartilhado pelos cinco. Processo de projeto: matriz de barramento com fato e dimensão, dimensões conformadas e, onde os grãos diferem, rollups encolhidos conformados (tracejado): Tempo e Ano Letivo de Data, Etapa de Série, Faixa Etária de Idade, Território de Setor Censitário. O drill-across agrega cada fato até o grão comum e une pelos atributos conformados.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1,5 min.
O enunciado pede ao menos duas de roll-up ou drill-down, uma slice and dice, uma pivot e uma drill-across. Temos três, uma, uma e três. Cada consulta responde a uma pergunta do gestor e cita os fatos que usa. C7 é a que liga fila, matrícula e população; C8 é a da ocupação das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5 na carga com os dados reais de 2015 a 2024. A fila de creche em junho caiu 97% em dez anos e a fração da demanda fora da rede passou de 34% para 1%. A queda maior foi de 2017 a 2021. Consulta 3: 85% das matrículas de creche estão na rede conveniada, quase todas em jornada integral, em 2019 e em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7, na data do Censo: 598.406 crianças de 0 a 4 anos moram no município e a rede municipal tinha 514.131 matrículas ativas dessa idade, 86 por 100. A média esconde distâncias grandes: 25 distritos têm menos de 50 matrículas por 100 crianças residentes e outros 25 passam de 100, porque a matrícula conta onde a escola fica e a população onde a criança mora. Consulta 8: a creche funciona com perto de 11 crianças por turma em todas as DREs; no fundamental são de 28 a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Seis das 23 decisões documentadas no repositório. Cada uma tem a alternativa descartada e o argumento. Destacar as duas que mais aparecem em perguntas: por que rollups encolhidos em vez de um grão único, e por que nulo e não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0,5 min.
Encerramento. Lembrar que o relatório em PDF traz a descrição completa de cada atributo, com a coluna de origem e a integração, e que o repositório tem o pipeline completo, os testes e a documentação.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40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Processamento Analítico de Dados · Primeiro Trabalho Prático · Grupo 7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3258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 Municipal Paulistana: oferta escolar e demanda não atendida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warehouse para decidir onde abrir vagas, com dados abertos da SME-SP e do IBGE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 18046529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   18066911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   12608581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   12559486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Dra. Cristina Dutra de Aguiar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ICMC-USP, São Carlos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Roteiro: quatro integrantes, tempos iguais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2651760" cy="4526280"/>
          </a:xfrm>
          <a:prstGeom prst="roundRect">
            <a:avLst>
              <a:gd name="adj" fmla="val 2759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26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 a 6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Motivação: o problema, as perguntas do gestor, a escolha de São Paulo e os cinco assuntos de interesse.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120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3360420" y="1371600"/>
            <a:ext cx="2651760" cy="4526280"/>
          </a:xfrm>
          <a:prstGeom prst="roundRect">
            <a:avLst>
              <a:gd name="adj" fmla="val 2759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89020" y="1600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890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89020" y="22402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89020" y="2926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7 a 11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58902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de dados, integração, problemas nos dados, grão e aditividade e a estrela Matrícula.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589020" y="5120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6172200" y="1371600"/>
            <a:ext cx="2651760" cy="4526280"/>
          </a:xfrm>
          <a:prstGeom prst="roundRect">
            <a:avLst>
              <a:gd name="adj" fmla="val 2759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0" y="1600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0" y="22402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2926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12 a 16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Estrelas Fila, Desfecho, Ocupação de Turma e População; constelação de fatos.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0" y="5120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8983980" y="1371600"/>
            <a:ext cx="2651760" cy="4526280"/>
          </a:xfrm>
          <a:prstGeom prst="roundRect">
            <a:avLst>
              <a:gd name="adj" fmla="val 2759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12580" y="1600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2125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212580" y="22402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12580" y="2926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17 a 21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921258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OLAP, resultados com os dados reais e decisões de projeto.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9212580" y="5120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previsto: 20 minutos, sem contar as perguntas. Com outro limite de tempo, a divisão continua em quatro partes iguais.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falta de vaga na educação infantil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falta de vaga em creche foi por anos o principal problema de acesso da educação infantil em São Paulo.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 (Lei 13.005/2014), Meta 1: creche para ao menos metade das crianças de até 3 anos; pré-escola universal.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decidir onde abrir vagas, o gestor precisa cruzar fila, matrícula, ocupação das turmas e população, que estão em bases diferentes.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858000" y="137160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86600" y="15361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2015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9339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0116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124.741 crianças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2880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da demanda de creche fora da rede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0" y="3703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8679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2024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432511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3434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3.633 crianças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5212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da demanda de creche fora da rede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Demanda Registrada e Matrículas (SME-SP); consulta 5 sobre a carga com os dados reais.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que o data warehouse responde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abrir vagas?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distrito e DRE, fila contra matrícula e contra a população de 0 a 4 anos.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· C5 · C7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oferta é feita?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da rede conveniada e da jornada integral na creche e em cada DRE.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C4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nova ou lugar ocioso?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 em funcionamento, do município ao distrito.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7220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e abandono andam juntos?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 abandono no ensino fundamental, por DRE.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São Paulo, e não São Carlos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proposta: São Carlos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 censitário.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 aberto de vaga nem de fila, a demanda não atendida teria de ser estimada.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Escolha: São Paulo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 publica o microdado de cada matrícula e a fila de espera por distrito: demanda medida, não estimada.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2015 a 2024.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66344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vale para São Carlos: </a:t>
            </a:r>
            <a:pPr indent="0" marL="0"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matrícula, turma e desfecho vêm do registro que todo sistema de gestão escolar mantém, e o Censo 2022 já tem a população por setor censitário do município. Falta só a rede registrar e publicar a fila.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assuntos de interesse e por que importam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93776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Assunto de interesse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que importa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efetivamente usada, com o perfil de cada aluno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(demanda registrada)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pediu vaga e não foi atendido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 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 ocupação das turmas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 oferta existente está cheia: turma nova ou lugar ocioso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 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em idade escolar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demanda potencial, mesmo sem pedido de vaga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 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escolar por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 por qual rede (direta ou conveniada) a vaga é oferecida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dimensões Escola, Território,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Quinto processo: desfecho da matrícula. </a:t>
            </a:r>
            <a:pPr indent="0" marL="0"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o que acontece depois do acesso: aprovação, reprovação, abandono e transferência.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fontes de dados reais e oficiais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Microdados de Matrículas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anual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vínculo aluno-turma: escola, turma, turno, série, idade, perfil, deficiência, datas e desfecho.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escolarização (2015-2024).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Registrada e Matrículas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trimestral, bimestral desde 2023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 e etapa: matrículas, matrículas em processo e fila.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meses (33 arquivos) × 96 distritos no recorte; sete formatos diferentes.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04672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 2022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· Agregados por Setores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residentes por setor censitário e grupo de idade (variáveis V01031 a V01041).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 setores do município, 11,4 milhões de moradores; referência 31/07/2022.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Integração: o mesmo dado em formas diferentes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017520"/>
                <a:gridCol w="3291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warehouse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RASA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Rasa + código de 9 dígitos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normalizado, chave da dimensão Território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 simples em 31/03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0 a 4, 5 a 9, 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IBGE na dimensão 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Creche, Pré Escola (fila); MODALIDADE (microdado)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único de etapas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4 dígitos, administrativo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15 dígitos, censitário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homônimo: nunca cruzados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920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Reconciliação: </a:t>
            </a:r>
            <a:pPr indent="0" marL="0"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ativas em junho no microdado contra a matrícula da planilha de fila, por distrito e etapa: diferença abaixo de 1% de 2015 a 2020 (creche: +0,03% em 2015, +0,17% em 2019).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reais nos dados e como foram tratados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escola corrompido (2022-2024)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recuperado pelo nome, tipo e distrito em 94,8% a 98,6% das matrículas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formatos da planilha de fila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lidas do cabeçalho; significado de (1), (2), (3) lido do rodapé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não publicado em 2021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deduzido do código da turma, conferido pelos horários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com vírgula, nula ou nascida em 1900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recalculada pelo nascimento; impossível vira não informada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2628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em cinco formatos, inclusive serial do Excel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452628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lidos; fora da janela do ano letivo, descartadas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suprimidos pelo IBGE em setores pequenos</a:t>
            </a:r>
            <a:endParaRPr lang="en-US" sz="155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6.543 valores ficam nulos, nunca zero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Grão e aditividade dos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3657600"/>
                <a:gridCol w="24688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 de 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Aditividade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(=1), dias de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em processo, demanda e categorias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contagens por desfecho; taxas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taxas não aditivas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turmas, matrículas, ativas em junho; alunos por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média não aditiva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× Censo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Matrícula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Esquema estrela Matrícula: tabela de fatos Matrícula no centro, ligada a dez dimens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979606" cy="51206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83880" y="1280160"/>
            <a:ext cx="35204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 dois papéis: início e fim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contada por campo artificial (= 1), como em fatos sem fato.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Bugigangas: Perfil, Deficiência, Situação.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Degeneradas: id turma, código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Escola: mudança lenta tipo 2.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Hierarquias: dia ≤ mês ≤ trimestre ≤ semestre ≤ ano; série ≤ etapa ≤ nível; idade ≤ faixa IBGE.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Fila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Esquema estrela Fila: tabela de fatos Fila ligada às dimensões Tempo, Território e Et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64240" cy="369405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157097"/>
            <a:ext cx="5440680" cy="1152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distrito × mês × etapa.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no território e na etapa; um único mês no tempo.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mês ≤ trimestre ≤ semestre ≤ ano e mês ≤ bimestre ≤ ano.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5157097"/>
            <a:ext cx="5440680" cy="1152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Território: distrito ≤ DRE ≤ município ≤ UF.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planilha: dimensão degenerada.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Desfecho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Esquema estrela Desfecho: tabela de fatos Desfecho ligada a Ano Letivo, Escola, Território e Sér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64240" cy="355657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019616"/>
            <a:ext cx="5440680" cy="128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escola × ano letivo × série.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agregado do fato Matrícula.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Contagens por desfecho: SOMA.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5019616"/>
            <a:ext cx="5440680" cy="128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derivadas, não aditivas: recalculadas pelas contagens.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Série: série ≤ etapa ≤ nível.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Ocupação de Turma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Esquema estrela Ocupação de Turma: tabela de fatos ligada a Ano Letivo, Escola, Território, Série e Tur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312" y="1188720"/>
            <a:ext cx="8728897" cy="3749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21208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turma × ano letivo.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 (= 1), matrículas e ativas em 30/06: SOMA.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turma: derivado, recalculado pelas somas.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521208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publicada por nenhuma fonte: não é estimada.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turma: dimensão degenerada.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População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Esquema estrela População: tabela de fatos População ligada a Tempo, Setor Censitário, Território e Faixa Etár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583" y="1188720"/>
            <a:ext cx="10514353" cy="3749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21208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setor censitário × faixa etária × data do Censo.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entre setores e faixas, não no tempo.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censitário ≤ distrito ≤ DRE ≤ município ≤ UF.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521208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Etária: rollup encolhido de Idade.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suprimido pelo IBGE fica nulo.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Constelação de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5" name="Image 0" descr="Constelação de fatos: cinco tabelas de fatos e catorze dimensões compartilha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0981656" cy="45720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de projeto: matriz de barramento (fato × dimensão), dimensões conformadas e, onde os grãos diferem, rollups encolhidos (tracejado).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Oito consultas OLAP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548640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matrículas: etapa → nível → total, ano a 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and 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 por rede e jornada, 2019 e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 nas linhas, jornada nas colunas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contra matrícula ativa em junho, por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 e abandono no fundamental, por DRE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Matrícula, Desfecho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de 0 a 4 anos: residentes, matriculadas e na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População, Matrícula,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alunos por turma: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fila e oferta de creche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3444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309360" y="12344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2"/>
          <p:cNvSpPr/>
          <p:nvPr/>
        </p:nvSpPr>
        <p:spPr>
          <a:xfrm>
            <a:off x="6309360" y="443484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37960" y="45994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da creche é conveniada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6537960" y="5056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e 2024, quase toda em jornada integral (consulta 3).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SME-SP, Demanda Registrada e Matrículas e Microdados de Matrículas; consultas 3 e 5.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população e ocupação das turmas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9047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7 · 31/07/2022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47672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874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 por 100 crianças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06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514.131 matrículas ativas de 0 a 4 anos na rede municipal para 598.406 crianças dessa idade residentes.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65760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822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distrito, longe da média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279392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distritos com menos de 50 matrículas por 100 crianças; outros 25 com mais de 100.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matrícula conta onde a escola fica; a população, onde a criança mora.</a:t>
            </a:r>
            <a:endParaRPr lang="en-US" sz="15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309360" y="1234440"/>
          <a:ext cx="53949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Censo 2022 (IBGE) e Microdados de Matrículas (SME-SP); consultas 7 e 8.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de projeto em destaque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mais fino na matrícula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aluno-turma: preserva perfil e desfecho de cada aluno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Rollups encolhidos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fato mantém o seu grão; Etapa, Tempo, Faixa Etária e Território conformam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não é zero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não publicada fica nula; zero faria a fila sumir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7220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tipo 2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escolas mudam de nome, tipo, distrito ou DRE na série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inventada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pelos alunos ativos; nenhuma vaga estimada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7220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referência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708660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junho para fila × matrícula; 31/07/2022 para população × matrícula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 Perguntas?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0789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Relatório: descrição do problema, povoamento atributo por atributo, cinco estrelas, constelação e oito consultas.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pipeline do portal ao DuckDB, 14 verificações de qualidade e testes automáticos, inclusive da modelagem.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real: 13,4 milhões de matrículas, 551 mil turmas e 26.889 setores censitários em 3,5 minutos, sem nenhuma FALHA nas verificações.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github.com/kevennlaranjeira/OLAP2026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692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·  Thiago Rodrigues Gouveia da Silva  ·  Daniel Afonso Borges dos Santos  ·  Luís Antônio Arruda Soares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Municipal Paulistana: oferta escolar e demanda não atendida</dc:title>
  <dc:subject>PptxGenJS Presentation</dc:subject>
  <dc:creator>Grupo 7, SCC0245</dc:creator>
  <cp:lastModifiedBy>Grupo 7, SCC0245</cp:lastModifiedBy>
  <cp:revision>1</cp:revision>
  <dcterms:created xsi:type="dcterms:W3CDTF">2026-10-21T22:37:01Z</dcterms:created>
  <dcterms:modified xsi:type="dcterms:W3CDTF">2026-10-21T22:37:01Z</dcterms:modified>
</cp:coreProperties>
</file>