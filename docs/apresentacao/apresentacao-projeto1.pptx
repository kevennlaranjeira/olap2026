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500" b="0" i="0" u="none" strike="noStrike">
                <a:solidFill>
                  <a:srgbClr val="1B2A4A"/>
                </a:solidFill>
                <a:latin typeface="Calibri"/>
              </a:rPr>
              <a:t>Crianças na fila de creche em junho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Fila de creche em junho</c:v>
                </c:pt>
              </c:strCache>
            </c:strRef>
          </c:tx>
          <c:spPr>
            <a:solidFill>
              <a:srgbClr val="2E5E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124741</c:v>
                </c:pt>
                <c:pt idx="1">
                  <c:v>103496</c:v>
                </c:pt>
                <c:pt idx="2">
                  <c:v>104268</c:v>
                </c:pt>
                <c:pt idx="3">
                  <c:v>66714</c:v>
                </c:pt>
                <c:pt idx="4">
                  <c:v>48910</c:v>
                </c:pt>
                <c:pt idx="5">
                  <c:v>22732</c:v>
                </c:pt>
                <c:pt idx="6">
                  <c:v>8767</c:v>
                </c:pt>
                <c:pt idx="7">
                  <c:v>4761</c:v>
                </c:pt>
                <c:pt idx="8">
                  <c:v>4913</c:v>
                </c:pt>
                <c:pt idx="9">
                  <c:v>3633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1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61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500" b="0" i="0" u="none" strike="noStrike">
                <a:solidFill>
                  <a:srgbClr val="1B2A4A"/>
                </a:solidFill>
                <a:latin typeface="Calibri"/>
              </a:rPr>
              <a:t>Fração da demanda de creche fora da rede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Fração fora da rede</c:v>
                </c:pt>
              </c:strCache>
            </c:strRef>
          </c:tx>
          <c:spPr>
            <a:solidFill>
              <a:srgbClr val="F2A541"/>
            </a:solidFill>
            <a:ln w="3810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34.1</c:v>
                </c:pt>
                <c:pt idx="1">
                  <c:v>27.1</c:v>
                </c:pt>
                <c:pt idx="2">
                  <c:v>26.6</c:v>
                </c:pt>
                <c:pt idx="3">
                  <c:v>17.5</c:v>
                </c:pt>
                <c:pt idx="4">
                  <c:v>12.8</c:v>
                </c:pt>
                <c:pt idx="5">
                  <c:v>6.2</c:v>
                </c:pt>
                <c:pt idx="6">
                  <c:v>2.4</c:v>
                </c:pt>
                <c:pt idx="7">
                  <c:v>1.3</c:v>
                </c:pt>
                <c:pt idx="8">
                  <c:v>1.4</c:v>
                </c:pt>
                <c:pt idx="9">
                  <c:v>1.1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1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61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500" b="0" i="0" u="none" strike="noStrike">
                <a:solidFill>
                  <a:srgbClr val="1B2A4A"/>
                </a:solidFill>
                <a:latin typeface="Calibri"/>
              </a:rPr>
              <a:t>Alunos por turma em 30 de junho (consulta 8)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2E5EA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Creche</c:v>
                  </c:pt>
                  <c:pt idx="1">
                    <c:v>Pré-escola</c:v>
                  </c:pt>
                  <c:pt idx="2">
                    <c:v>Fund. iniciais</c:v>
                  </c:pt>
                  <c:pt idx="3">
                    <c:v>Fund. finais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11.5</c:v>
                </c:pt>
                <c:pt idx="1">
                  <c:v>30.7</c:v>
                </c:pt>
                <c:pt idx="2">
                  <c:v>28.7</c:v>
                </c:pt>
                <c:pt idx="3">
                  <c:v>29.4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Creche</c:v>
                  </c:pt>
                  <c:pt idx="1">
                    <c:v>Pré-escola</c:v>
                  </c:pt>
                  <c:pt idx="2">
                    <c:v>Fund. iniciais</c:v>
                  </c:pt>
                  <c:pt idx="3">
                    <c:v>Fund. finais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</c:v>
                </c:pt>
                <c:pt idx="1">
                  <c:v>26.9</c:v>
                </c:pt>
                <c:pt idx="2">
                  <c:v>30.6</c:v>
                </c:pt>
                <c:pt idx="3">
                  <c:v>31.6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1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61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Apresenta: Kevenn Laranjeira de Oliveira (bloco 1 de 4). Tempo previsto: 0,5 min.
Abertura. Apresentar o grupo, a disciplina e o tema: política pública municipal de educação. Dizer em uma frase a pergunta do trabalho: onde existe fila por vaga, onde existe oferta, se a oferta está cheia, quantas crianças moram em cada lugar e o que acontece com quem consegue a vaga.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Apresenta: Kevenn Laranjeira de Oliveira (bloco 1 de 4). Tempo previsto: 0,5 min.
Mostrar a divisão: cada integrante apresenta um bloco, com o mesmo tempo previsto. Os quatro blocos seguem a ordem pedida no enunciado: motivação; fontes; esquemas estrela e constelação; consultas e decisões.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Apresenta: Kevenn Laranjeira de Oliveira (bloco 1 de 4). Tempo previsto: 1 min.
Motivação. A falta de vaga em creche foi por anos o principal problema de acesso da educação infantil paulistana. O PNE (Lei 13.005/2014), Meta 1, pede creche para pelo menos metade das crianças de até 3 anos e pré-escola universal. A prefeitura publica a fila por distrito para dar transparência. Os números do slide são da nossa carga com os dados reais: a fila de creche em junho caiu de 124.741 crianças em 2015 para 3.633 em 2024. O gestor ainda precisa saber onde a oferta está cheia e quantas crianças moram em cada região, e é isso que o modelo junta.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Apresenta: Kevenn Laranjeira de Oliveira (bloco 1 de 4). Tempo previsto: 1 min.
Quem usa: Secretaria Municipal de Educação e as 13 Diretorias Regionais. Cada cartão é uma decisão real de política pública e cita as consultas que a apoiam. Destacar que a capacidade das turmas não é publicada, então medimos a ocupação.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Apresenta: Kevenn Laranjeira de Oliveira (bloco 1 de 4). Tempo previsto: 1 min.
O enunciado temático prioriza São Carlos. Nossa primeira proposta foi dimensionar a oferta escolar por setor censitário em São Carlos. Sem dado aberto de vaga nem de fila, a demanda não atendida teria de ser estimada, e o enunciado pede dados reais. São Paulo publica o microdado de cada matrícula e a fila por distrito. O modelo não depende de São Paulo: matrícula, turma e desfecho vêm do tipo de registro que qualquer sistema de gestão escolar mantém, e o Censo 2022 tem população por setor para todos os municípios.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Apresenta: Kevenn Laranjeira de Oliveira (bloco 1 de 4). Tempo previsto: 1 min.
Os cinco assuntos são os registrados na planilha do grupo, e cada um responde a uma parte da decisão de onde abrir vagas. Matrícula é a oferta usada; fila é quem pediu e não conseguiu; ocupação diz se a oferta que existe está cheia; população é a demanda potencial, que existe mesmo sem pedido; oferta por setor mostra onde e por qual rede a vaga é oferecida. Quatro assuntos viram tabelas de fatos; a oferta por setor é respondida pelas dimensões Escola, Território e Setor Censitário. O quinto processo, desfecho da matrícula, acompanha o que acontece depois do acesso.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Apresenta: Thiago Rodrigues Gouveia da Silva (bloco 2 de 4). Tempo previsto: 1 min.
Duas fontes da SME no Portal de Dados Abertos da Prefeitura, com grão, formato e vocabulário diferentes, e o Censo 2022 do IBGE. A fila tem sete formatos entre 2006 e 2026, e o significado das colunas numeradas muda com o formato. O Censo traz a demanda potencial: quantas crianças moram em cada setor. Na carga real entraram 26.889 setores do município, todos ligados a um distrito da SME.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Apresenta: Thiago Rodrigues Gouveia da Silva (bloco 2 de 4). Tempo previsto: 1 min.
Exemplos de integração exigidos no enunciado. Distrito: maiúsculas sem acento na SME, com acento no IBGE; a regra de normalização é a mesma. Idade: simples no microdado, grupos de cinco anos no IBGE; a dimensão Idade carrega a faixa do IBGE. CD_SETOR é um homônimo: na SME é setor administrativo de 4 dígitos, no IBGE setor censitário de 15. A prova de que a integração entre as bases da SME está certa: contando no microdado as matrículas ativas em junho, a diferença para a planilha fica abaixo de 1% de 2015 a 2020.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Apresenta: Thiago Rodrigues Gouveia da Silva (bloco 2 de 4). Tempo previsto: 1 min.
Cada problema foi medido nos dados reais e tratado por uma regra testada. O mais grave: de 2022 a 2024 o código da escola chega corrompido; recuperamos o código real pelo nome, tipo e distrito para 94,8% a 98,6% das matrículas. Princípio: medida não publicada fica nula, nunca zero. O pipeline roda catorze verificações automáticas depois de cada carga; na carga real nenhuma deu FALHA.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Apresenta: Thiago Rodrigues Gouveia da Silva (bloco 2 de 4). Tempo previsto: 1 min.
Grão declarado antes das dimensões. Matrícula no grão mais fino que a fonte permite; fila no grão em que a prefeitura publica; desfecho e ocupação são fatos agregados do fato de matrícula; população no grão do IBGE. Fila e população são estoques: somam no território, não no tempo. Taxas e alunos por turma são derivados não aditivos, sempre recalculados a partir das somas.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Apresenta: Thiago Rodrigues Gouveia da Silva (bloco 2 de 4). Tempo previsto: 1 min.
Fato no centro, dez dimensões. Dimensão Data com dois papéis, início e fim da matrícula, como a data de internação e de alta do artigo da disciplina: as duas datas permitem contar matrículas ativas em um dia. O fato principal é a ocorrência do vínculo, contada por um campo artificial igual a 1, técnica de tabela de fatos sem fato; a única medida é dias de matrícula. Três bugigangas. Duas degeneradas. Escola é mudança lenta tipo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Apresenta: Daniel Afonso Borges dos Santos (bloco 3 de 4). Tempo previsto: 1 min.
Fila: medidas nulas onde a prefeitura não publicou a quebra; formato da planilha como dimensão degenerada. Tempo tem duas hierarquias porque a fila foi trimestral até 2022 e bimestral depois. A fila é estoque: soma entre distritos e etapas, mas no tempo se escolhe um mês, nunca se soma.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Apresenta: Daniel Afonso Borges dos Santos (bloco 3 de 4). Tempo previsto: 1 min.
Desfecho: fato agregado do fato de matrícula, porque taxa de rendimento só faz sentido sobre um conjunto de alunos. As contagens somam; as taxas são recalculadas pelas contagens em qualquer nível, nunca como média de taxas. Na educação infantil não há aprovação, então a taxa fica nula.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Apresenta: Daniel Afonso Borges dos Santos (bloco 3 de 4). Tempo previsto: 1 min.
Ocupação de turma: agregado do fato de matrícula pelo id da turma. A capacidade não é publicada, então medimos os alunos ativos em 30 de junho por turma em funcionamento. A média é sempre soma de alunos dividida por soma de turmas.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Apresenta: Daniel Afonso Borges dos Santos (bloco 3 de 4). Tempo previsto: 1 min.
População: Censo 2022 no grão de setor censitário, a menor unidade territorial do modelo. Na carga real são 26.889 setores, todos ligados a um distrito da SME, e 11,4 milhões de moradores. Faixa Etária é o rollup encolhido de Idade que conforma com a matrícula.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Apresenta: Daniel Afonso Borges dos Santos (bloco 3 de 4). Tempo previsto: 1 min.
Cinco fatos, catorze dimensões. Território é compartilhado pelos cinco. Processo de projeto: matriz de barramento com fato e dimensão, dimensões conformadas e, onde os grãos diferem, rollups encolhidos conformados (tracejado): Tempo e Ano Letivo de Data, Etapa de Série, Faixa Etária de Idade, Território de Setor Censitário. O drill-across agrega cada fato até o grão comum e une pelos atributos conformados.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Apresenta: Luís Antônio Arruda Soares (bloco 4 de 4). Tempo previsto: 1,5 min.
O enunciado pede ao menos duas de roll-up ou drill-down, uma slice and dice, uma pivot e uma drill-across. Temos três, uma, uma e três. Cada consulta responde a uma pergunta do gestor e cita os fatos que usa. C7 é a que liga fila, matrícula e população; C8 é a da ocupação das turmas.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Apresenta: Luís Antônio Arruda Soares (bloco 4 de 4). Tempo previsto: 1 min.
Consulta 5 na carga com os dados reais de 2015 a 2024. A fila de creche em junho caiu 97% em dez anos e a fração da demanda fora da rede passou de 34% para 1%. A queda maior foi de 2017 a 2021. Consulta 3: 85% das matrículas de creche estão na rede conveniada, quase todas em jornada integral, em 2019 e em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Apresenta: Luís Antônio Arruda Soares (bloco 4 de 4). Tempo previsto: 1 min.
Consulta 7, na data do Censo: 598.406 crianças de 0 a 4 anos moram no município e a rede municipal tinha 514.131 matrículas ativas dessa idade, 86 por 100. A média esconde distâncias grandes: 25 distritos têm menos de 50 matrículas por 100 crianças residentes e outros 25 passam de 100, porque a matrícula conta onde a escola fica e a população onde a criança mora. Consulta 8: a creche funciona com perto de 11 crianças por turma em todas as DREs; no fundamental, o município tem de 28,7 a 31,6 alunos por turma em 2019 e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Apresenta: Luís Antônio Arruda Soares (bloco 4 de 4). Tempo previsto: 1 min.
Seis das 23 decisões documentadas no repositório. Cada uma tem a alternativa descartada e o argumento. Destacar as duas que mais aparecem em perguntas: por que rollups encolhidos em vez de um grão único, e por que nulo e não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Apresenta: Luís Antônio Arruda Soares (bloco 4 de 4). Tempo previsto: 0,5 min.
Encerramento. Lembrar que o relatório em PDF traz a descrição completa de cada atributo, com a coluna de origem e a integração, e que o repositório tem o pipeline completo, os testes e a documentação.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SCC0245 · Grupo 7 · Rede Municipal Paulistana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56264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E5EA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SCC0245 · Grupo 7 · Rede Municipal Paulistana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56264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2A54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E5EA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685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SCC0245 · PROCESSAMENTO ANALÍTICO DE DADOS · PRIMEIRO TRABALHO PRÁTICO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143000"/>
            <a:ext cx="7315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Municipal Paulistana: oferta escolar e demanda não atendida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0175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data warehouse para decidir onde abrir vagas, com dados abertos da SME-SP e do IBGE</a:t>
            </a:r>
            <a:endParaRPr lang="en-US" sz="1800" dirty="0"/>
          </a:p>
        </p:txBody>
      </p:sp>
      <p:sp>
        <p:nvSpPr>
          <p:cNvPr id="6" name="anim:1:1"/>
          <p:cNvSpPr/>
          <p:nvPr/>
        </p:nvSpPr>
        <p:spPr>
          <a:xfrm>
            <a:off x="731520" y="397764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anim:1:2"/>
          <p:cNvSpPr txBox="1"/>
          <p:nvPr/>
        </p:nvSpPr>
        <p:spPr>
          <a:xfrm>
            <a:off x="731520" y="39776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7</a:t>
            </a:r>
            <a:endParaRPr lang="en-US" sz="1200" dirty="0"/>
          </a:p>
        </p:txBody>
      </p:sp>
      <p:sp>
        <p:nvSpPr>
          <p:cNvPr id="8" name="anim:2:3"/>
          <p:cNvSpPr/>
          <p:nvPr/>
        </p:nvSpPr>
        <p:spPr>
          <a:xfrm>
            <a:off x="731520" y="4480560"/>
            <a:ext cx="3520440" cy="658368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A4D73"/>
            </a:solidFill>
            <a:prstDash val="solid"/>
          </a:ln>
        </p:spPr>
      </p:sp>
      <p:sp>
        <p:nvSpPr>
          <p:cNvPr id="9" name="anim:2:4"/>
          <p:cNvSpPr txBox="1"/>
          <p:nvPr/>
        </p:nvSpPr>
        <p:spPr>
          <a:xfrm>
            <a:off x="914400" y="45445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Kevenn Laranjeira de Oliveira</a:t>
            </a:r>
            <a:endParaRPr lang="en-US" sz="1400" dirty="0"/>
          </a:p>
        </p:txBody>
      </p:sp>
      <p:sp>
        <p:nvSpPr>
          <p:cNvPr id="10" name="anim:2:5"/>
          <p:cNvSpPr txBox="1"/>
          <p:nvPr/>
        </p:nvSpPr>
        <p:spPr>
          <a:xfrm>
            <a:off x="914400" y="48280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USP 18046529</a:t>
            </a:r>
            <a:endParaRPr lang="en-US" sz="1200" dirty="0"/>
          </a:p>
        </p:txBody>
      </p:sp>
      <p:sp>
        <p:nvSpPr>
          <p:cNvPr id="11" name="anim:3:6"/>
          <p:cNvSpPr/>
          <p:nvPr/>
        </p:nvSpPr>
        <p:spPr>
          <a:xfrm>
            <a:off x="4434840" y="4480560"/>
            <a:ext cx="3520440" cy="658368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A4D73"/>
            </a:solidFill>
            <a:prstDash val="solid"/>
          </a:ln>
        </p:spPr>
      </p:sp>
      <p:sp>
        <p:nvSpPr>
          <p:cNvPr id="12" name="anim:3:7"/>
          <p:cNvSpPr txBox="1"/>
          <p:nvPr/>
        </p:nvSpPr>
        <p:spPr>
          <a:xfrm>
            <a:off x="4617720" y="45445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 Rodrigues Gouveia da Silva</a:t>
            </a:r>
            <a:endParaRPr lang="en-US" sz="1400" dirty="0"/>
          </a:p>
        </p:txBody>
      </p:sp>
      <p:sp>
        <p:nvSpPr>
          <p:cNvPr id="13" name="anim:3:8"/>
          <p:cNvSpPr txBox="1"/>
          <p:nvPr/>
        </p:nvSpPr>
        <p:spPr>
          <a:xfrm>
            <a:off x="4617720" y="48280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USP 18066911</a:t>
            </a:r>
            <a:endParaRPr lang="en-US" sz="1200" dirty="0"/>
          </a:p>
        </p:txBody>
      </p:sp>
      <p:sp>
        <p:nvSpPr>
          <p:cNvPr id="14" name="anim:4:9"/>
          <p:cNvSpPr/>
          <p:nvPr/>
        </p:nvSpPr>
        <p:spPr>
          <a:xfrm>
            <a:off x="731520" y="5266944"/>
            <a:ext cx="3520440" cy="658368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A4D73"/>
            </a:solidFill>
            <a:prstDash val="solid"/>
          </a:ln>
        </p:spPr>
      </p:sp>
      <p:sp>
        <p:nvSpPr>
          <p:cNvPr id="15" name="anim:4:10"/>
          <p:cNvSpPr txBox="1"/>
          <p:nvPr/>
        </p:nvSpPr>
        <p:spPr>
          <a:xfrm>
            <a:off x="914400" y="5330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Afonso Borges dos Santos</a:t>
            </a:r>
            <a:endParaRPr lang="en-US" sz="1400" dirty="0"/>
          </a:p>
        </p:txBody>
      </p:sp>
      <p:sp>
        <p:nvSpPr>
          <p:cNvPr id="16" name="anim:4:11"/>
          <p:cNvSpPr txBox="1"/>
          <p:nvPr/>
        </p:nvSpPr>
        <p:spPr>
          <a:xfrm>
            <a:off x="914400" y="56144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USP 12608581</a:t>
            </a:r>
            <a:endParaRPr lang="en-US" sz="1200" dirty="0"/>
          </a:p>
        </p:txBody>
      </p:sp>
      <p:sp>
        <p:nvSpPr>
          <p:cNvPr id="17" name="anim:5:12"/>
          <p:cNvSpPr/>
          <p:nvPr/>
        </p:nvSpPr>
        <p:spPr>
          <a:xfrm>
            <a:off x="4434840" y="5266944"/>
            <a:ext cx="3520440" cy="658368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A4D73"/>
            </a:solidFill>
            <a:prstDash val="solid"/>
          </a:ln>
        </p:spPr>
      </p:sp>
      <p:sp>
        <p:nvSpPr>
          <p:cNvPr id="18" name="anim:5:13"/>
          <p:cNvSpPr txBox="1"/>
          <p:nvPr/>
        </p:nvSpPr>
        <p:spPr>
          <a:xfrm>
            <a:off x="4617720" y="5330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Luís Antônio Arruda Soares</a:t>
            </a:r>
            <a:endParaRPr lang="en-US" sz="1400" dirty="0"/>
          </a:p>
        </p:txBody>
      </p:sp>
      <p:sp>
        <p:nvSpPr>
          <p:cNvPr id="19" name="anim:5:14"/>
          <p:cNvSpPr txBox="1"/>
          <p:nvPr/>
        </p:nvSpPr>
        <p:spPr>
          <a:xfrm>
            <a:off x="4617720" y="56144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USP 12559486</a:t>
            </a:r>
            <a:endParaRPr lang="en-US" sz="1200" dirty="0"/>
          </a:p>
        </p:txBody>
      </p:sp>
      <p:sp>
        <p:nvSpPr>
          <p:cNvPr id="20" name="anim:6:15"/>
          <p:cNvSpPr txBox="1"/>
          <p:nvPr/>
        </p:nvSpPr>
        <p:spPr>
          <a:xfrm>
            <a:off x="8549640" y="12344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13,4 mi</a:t>
            </a:r>
            <a:endParaRPr lang="en-US" sz="4000" dirty="0"/>
          </a:p>
        </p:txBody>
      </p:sp>
      <p:sp>
        <p:nvSpPr>
          <p:cNvPr id="21" name="anim:6:16"/>
          <p:cNvSpPr txBox="1"/>
          <p:nvPr/>
        </p:nvSpPr>
        <p:spPr>
          <a:xfrm>
            <a:off x="854964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de 2015 a 2024</a:t>
            </a:r>
            <a:endParaRPr lang="en-US" sz="1300" dirty="0"/>
          </a:p>
        </p:txBody>
      </p:sp>
      <p:sp>
        <p:nvSpPr>
          <p:cNvPr id="22" name="anim:7:17"/>
          <p:cNvSpPr txBox="1"/>
          <p:nvPr/>
        </p:nvSpPr>
        <p:spPr>
          <a:xfrm>
            <a:off x="8549640" y="2651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4000" dirty="0"/>
          </a:p>
        </p:txBody>
      </p:sp>
      <p:sp>
        <p:nvSpPr>
          <p:cNvPr id="23" name="anim:7:18"/>
          <p:cNvSpPr txBox="1"/>
          <p:nvPr/>
        </p:nvSpPr>
        <p:spPr>
          <a:xfrm>
            <a:off x="854964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de fila por distrito</a:t>
            </a:r>
            <a:endParaRPr lang="en-US" sz="1300" dirty="0"/>
          </a:p>
        </p:txBody>
      </p:sp>
      <p:sp>
        <p:nvSpPr>
          <p:cNvPr id="24" name="anim:8:19"/>
          <p:cNvSpPr txBox="1"/>
          <p:nvPr/>
        </p:nvSpPr>
        <p:spPr>
          <a:xfrm>
            <a:off x="8549640" y="4069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26.889</a:t>
            </a:r>
            <a:endParaRPr lang="en-US" sz="4000" dirty="0"/>
          </a:p>
        </p:txBody>
      </p:sp>
      <p:sp>
        <p:nvSpPr>
          <p:cNvPr id="25" name="anim:8:20"/>
          <p:cNvSpPr txBox="1"/>
          <p:nvPr/>
        </p:nvSpPr>
        <p:spPr>
          <a:xfrm>
            <a:off x="854964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censitários do Censo 2022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Profa. Dra. Cristina Dutra de Aguiar · ICMC-USP, São Carlos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50"/>
                            </p:stCondLst>
                            <p:childTnLst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"/>
                            </p:stCondLst>
                            <p:childTnLst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5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50"/>
                            </p:stCondLst>
                            <p:childTnLst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5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750"/>
                            </p:stCondLst>
                            <p:childTnLst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50"/>
                            </p:stCondLst>
                            <p:childTnLst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MOTIVAÇÃO · KEVENN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Roteiro: quatro integrantes, quatro blocos</a:t>
            </a:r>
            <a:endParaRPr lang="en-US" sz="3200" dirty="0"/>
          </a:p>
        </p:txBody>
      </p:sp>
      <p:sp>
        <p:nvSpPr>
          <p:cNvPr id="5" name="anim:1:246"/>
          <p:cNvSpPr/>
          <p:nvPr/>
        </p:nvSpPr>
        <p:spPr>
          <a:xfrm>
            <a:off x="548640" y="1600200"/>
            <a:ext cx="2651760" cy="43891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6" name="anim:1:247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anim:1:248"/>
          <p:cNvSpPr txBox="1"/>
          <p:nvPr/>
        </p:nvSpPr>
        <p:spPr>
          <a:xfrm>
            <a:off x="7772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anim:1:249"/>
          <p:cNvSpPr txBox="1"/>
          <p:nvPr/>
        </p:nvSpPr>
        <p:spPr>
          <a:xfrm>
            <a:off x="777240" y="2514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Kevenn Laranjeira de Oliveira</a:t>
            </a:r>
            <a:endParaRPr lang="en-US" sz="1600" dirty="0"/>
          </a:p>
        </p:txBody>
      </p:sp>
      <p:sp>
        <p:nvSpPr>
          <p:cNvPr id="9" name="anim:1:250"/>
          <p:cNvSpPr txBox="1"/>
          <p:nvPr/>
        </p:nvSpPr>
        <p:spPr>
          <a:xfrm>
            <a:off x="777240" y="32004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 a 6</a:t>
            </a:r>
            <a:endParaRPr lang="en-US" sz="1300" dirty="0"/>
          </a:p>
        </p:txBody>
      </p:sp>
      <p:sp>
        <p:nvSpPr>
          <p:cNvPr id="10" name="anim:1:251"/>
          <p:cNvSpPr txBox="1"/>
          <p:nvPr/>
        </p:nvSpPr>
        <p:spPr>
          <a:xfrm>
            <a:off x="777240" y="361188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Motivação: o problema, as perguntas do gestor, a escolha de São Paulo e os cinco assuntos de interesse.</a:t>
            </a:r>
            <a:endParaRPr lang="en-US" sz="1600" dirty="0"/>
          </a:p>
        </p:txBody>
      </p:sp>
      <p:sp>
        <p:nvSpPr>
          <p:cNvPr id="11" name="anim:2:252"/>
          <p:cNvSpPr/>
          <p:nvPr/>
        </p:nvSpPr>
        <p:spPr>
          <a:xfrm>
            <a:off x="3360420" y="1600200"/>
            <a:ext cx="2651760" cy="43891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12" name="anim:2:253"/>
          <p:cNvSpPr/>
          <p:nvPr/>
        </p:nvSpPr>
        <p:spPr>
          <a:xfrm>
            <a:off x="3589020" y="182880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anim:2:254"/>
          <p:cNvSpPr txBox="1"/>
          <p:nvPr/>
        </p:nvSpPr>
        <p:spPr>
          <a:xfrm>
            <a:off x="35890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anim:2:255"/>
          <p:cNvSpPr txBox="1"/>
          <p:nvPr/>
        </p:nvSpPr>
        <p:spPr>
          <a:xfrm>
            <a:off x="3589020" y="2514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 Rodrigues Gouveia da Silva</a:t>
            </a:r>
            <a:endParaRPr lang="en-US" sz="1600" dirty="0"/>
          </a:p>
        </p:txBody>
      </p:sp>
      <p:sp>
        <p:nvSpPr>
          <p:cNvPr id="15" name="anim:2:256"/>
          <p:cNvSpPr txBox="1"/>
          <p:nvPr/>
        </p:nvSpPr>
        <p:spPr>
          <a:xfrm>
            <a:off x="3589020" y="32004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7 a 11</a:t>
            </a:r>
            <a:endParaRPr lang="en-US" sz="1300" dirty="0"/>
          </a:p>
        </p:txBody>
      </p:sp>
      <p:sp>
        <p:nvSpPr>
          <p:cNvPr id="16" name="anim:2:257"/>
          <p:cNvSpPr txBox="1"/>
          <p:nvPr/>
        </p:nvSpPr>
        <p:spPr>
          <a:xfrm>
            <a:off x="3589020" y="361188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dados, integração, problemas nos dados, grão e aditividade e a estrela Matrícula.</a:t>
            </a:r>
            <a:endParaRPr lang="en-US" sz="1600" dirty="0"/>
          </a:p>
        </p:txBody>
      </p:sp>
      <p:sp>
        <p:nvSpPr>
          <p:cNvPr id="17" name="anim:3:258"/>
          <p:cNvSpPr/>
          <p:nvPr/>
        </p:nvSpPr>
        <p:spPr>
          <a:xfrm>
            <a:off x="6172200" y="1600200"/>
            <a:ext cx="2651760" cy="43891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18" name="anim:3:259"/>
          <p:cNvSpPr/>
          <p:nvPr/>
        </p:nvSpPr>
        <p:spPr>
          <a:xfrm>
            <a:off x="6400800" y="182880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9" name="anim:3:260"/>
          <p:cNvSpPr txBox="1"/>
          <p:nvPr/>
        </p:nvSpPr>
        <p:spPr>
          <a:xfrm>
            <a:off x="64008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anim:3:261"/>
          <p:cNvSpPr txBox="1"/>
          <p:nvPr/>
        </p:nvSpPr>
        <p:spPr>
          <a:xfrm>
            <a:off x="6400800" y="2514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Afonso Borges dos Santos</a:t>
            </a:r>
            <a:endParaRPr lang="en-US" sz="1600" dirty="0"/>
          </a:p>
        </p:txBody>
      </p:sp>
      <p:sp>
        <p:nvSpPr>
          <p:cNvPr id="21" name="anim:3:262"/>
          <p:cNvSpPr txBox="1"/>
          <p:nvPr/>
        </p:nvSpPr>
        <p:spPr>
          <a:xfrm>
            <a:off x="6400800" y="32004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12 a 16</a:t>
            </a:r>
            <a:endParaRPr lang="en-US" sz="1300" dirty="0"/>
          </a:p>
        </p:txBody>
      </p:sp>
      <p:sp>
        <p:nvSpPr>
          <p:cNvPr id="22" name="anim:3:263"/>
          <p:cNvSpPr txBox="1"/>
          <p:nvPr/>
        </p:nvSpPr>
        <p:spPr>
          <a:xfrm>
            <a:off x="6400800" y="361188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Estrelas Fila, Desfecho, Ocupação de Turma e População; constelação de fatos.</a:t>
            </a:r>
            <a:endParaRPr lang="en-US" sz="1600" dirty="0"/>
          </a:p>
        </p:txBody>
      </p:sp>
      <p:sp>
        <p:nvSpPr>
          <p:cNvPr id="23" name="anim:4:264"/>
          <p:cNvSpPr/>
          <p:nvPr/>
        </p:nvSpPr>
        <p:spPr>
          <a:xfrm>
            <a:off x="8983980" y="1600200"/>
            <a:ext cx="2651760" cy="43891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24" name="anim:4:265"/>
          <p:cNvSpPr/>
          <p:nvPr/>
        </p:nvSpPr>
        <p:spPr>
          <a:xfrm>
            <a:off x="9212580" y="182880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5" name="anim:4:266"/>
          <p:cNvSpPr txBox="1"/>
          <p:nvPr/>
        </p:nvSpPr>
        <p:spPr>
          <a:xfrm>
            <a:off x="92125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anim:4:267"/>
          <p:cNvSpPr txBox="1"/>
          <p:nvPr/>
        </p:nvSpPr>
        <p:spPr>
          <a:xfrm>
            <a:off x="9212580" y="2514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Luís Antônio Arruda Soares</a:t>
            </a:r>
            <a:endParaRPr lang="en-US" sz="1600" dirty="0"/>
          </a:p>
        </p:txBody>
      </p:sp>
      <p:sp>
        <p:nvSpPr>
          <p:cNvPr id="27" name="anim:4:268"/>
          <p:cNvSpPr txBox="1"/>
          <p:nvPr/>
        </p:nvSpPr>
        <p:spPr>
          <a:xfrm>
            <a:off x="9212580" y="32004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17 a 21</a:t>
            </a:r>
            <a:endParaRPr lang="en-US" sz="1300" dirty="0"/>
          </a:p>
        </p:txBody>
      </p:sp>
      <p:sp>
        <p:nvSpPr>
          <p:cNvPr id="28" name="anim:4:269"/>
          <p:cNvSpPr txBox="1"/>
          <p:nvPr/>
        </p:nvSpPr>
        <p:spPr>
          <a:xfrm>
            <a:off x="9212580" y="361188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OLAP, resultados com os dados reais e decisões de projeto.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E5EA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"/>
                            </p:stCondLst>
                            <p:childTnLst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"/>
                            </p:stCondLst>
                            <p:childTnLst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"/>
                            </p:stCondLst>
                            <p:childTnLst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"/>
                            </p:stCondLst>
                            <p:childTnLst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"/>
                            </p:stCondLst>
                            <p:childTnLst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50"/>
                            </p:stCondLst>
                            <p:childTnLst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50"/>
                            </p:stCondLst>
                            <p:childTnLst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750"/>
                            </p:stCondLst>
                            <p:childTnLst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50"/>
                            </p:stCondLst>
                            <p:childTnLst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750"/>
                            </p:stCondLst>
                            <p:childTnLst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MOTIVAÇÃO · KEVENN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falta de vaga na educação infantil</a:t>
            </a:r>
            <a:endParaRPr lang="en-US" sz="3200" dirty="0"/>
          </a:p>
        </p:txBody>
      </p:sp>
      <p:sp>
        <p:nvSpPr>
          <p:cNvPr id="5" name="anim:1:21"/>
          <p:cNvSpPr txBox="1"/>
          <p:nvPr/>
        </p:nvSpPr>
        <p:spPr>
          <a:xfrm>
            <a:off x="548640" y="164592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falta de vaga em creche foi por anos o principal problema de acesso da educação infantil em São Paulo.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 (Lei 13.005/2014), Meta 1: creche para ao menos metade das crianças de até 3 anos; pré-escola universal.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decidir onde abrir vagas, o gestor precisa cruzar fila, matrícula, ocupação das turmas e população, que estão em bases diferentes.</a:t>
            </a:r>
            <a:endParaRPr lang="en-US" sz="1700" dirty="0"/>
          </a:p>
        </p:txBody>
      </p:sp>
      <p:sp>
        <p:nvSpPr>
          <p:cNvPr id="6" name="anim:2:22"/>
          <p:cNvSpPr/>
          <p:nvPr/>
        </p:nvSpPr>
        <p:spPr>
          <a:xfrm>
            <a:off x="6583680" y="1600200"/>
            <a:ext cx="5029200" cy="4343400"/>
          </a:xfrm>
          <a:prstGeom prst="roundRect">
            <a:avLst>
              <a:gd name="adj" fmla="val 2526"/>
            </a:avLst>
          </a:prstGeom>
          <a:solidFill>
            <a:srgbClr val="EEF2F8"/>
          </a:solidFill>
          <a:ln w="9525">
            <a:solidFill>
              <a:srgbClr val="EEF2F8"/>
            </a:solidFill>
            <a:prstDash val="solid"/>
          </a:ln>
        </p:spPr>
      </p:sp>
      <p:sp>
        <p:nvSpPr>
          <p:cNvPr id="7" name="anim:2:23"/>
          <p:cNvSpPr txBox="1"/>
          <p:nvPr/>
        </p:nvSpPr>
        <p:spPr>
          <a:xfrm>
            <a:off x="6903720" y="18105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56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CRECHE EM JUNHO</a:t>
            </a:r>
            <a:endParaRPr lang="en-US" sz="1200" dirty="0"/>
          </a:p>
        </p:txBody>
      </p:sp>
      <p:sp>
        <p:nvSpPr>
          <p:cNvPr id="8" name="anim:2:24"/>
          <p:cNvSpPr txBox="1"/>
          <p:nvPr/>
        </p:nvSpPr>
        <p:spPr>
          <a:xfrm>
            <a:off x="6903720" y="2240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6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500" dirty="0"/>
          </a:p>
        </p:txBody>
      </p:sp>
      <p:sp>
        <p:nvSpPr>
          <p:cNvPr id="9" name="anim:2:25"/>
          <p:cNvSpPr txBox="1"/>
          <p:nvPr/>
        </p:nvSpPr>
        <p:spPr>
          <a:xfrm>
            <a:off x="6903720" y="25603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124.741</a:t>
            </a:r>
            <a:endParaRPr lang="en-US" sz="4800" dirty="0"/>
          </a:p>
        </p:txBody>
      </p:sp>
      <p:sp>
        <p:nvSpPr>
          <p:cNvPr id="10" name="anim:2:26"/>
          <p:cNvSpPr txBox="1"/>
          <p:nvPr/>
        </p:nvSpPr>
        <p:spPr>
          <a:xfrm>
            <a:off x="6903720" y="3383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· 34% da demanda fora da rede</a:t>
            </a:r>
            <a:endParaRPr lang="en-US" sz="1400" dirty="0"/>
          </a:p>
        </p:txBody>
      </p:sp>
      <p:sp>
        <p:nvSpPr>
          <p:cNvPr id="11" name="anim:3:27"/>
          <p:cNvSpPr/>
          <p:nvPr/>
        </p:nvSpPr>
        <p:spPr>
          <a:xfrm>
            <a:off x="10287000" y="3639312"/>
            <a:ext cx="1005840" cy="384048"/>
          </a:xfrm>
          <a:prstGeom prst="roundRect">
            <a:avLst>
              <a:gd name="adj" fmla="val 40476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anim:3:28"/>
          <p:cNvSpPr txBox="1"/>
          <p:nvPr/>
        </p:nvSpPr>
        <p:spPr>
          <a:xfrm>
            <a:off x="10287000" y="36393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-97%</a:t>
            </a:r>
            <a:endParaRPr lang="en-US" sz="1400" dirty="0"/>
          </a:p>
        </p:txBody>
      </p:sp>
      <p:sp>
        <p:nvSpPr>
          <p:cNvPr id="13" name="anim:4:29"/>
          <p:cNvSpPr txBox="1"/>
          <p:nvPr/>
        </p:nvSpPr>
        <p:spPr>
          <a:xfrm>
            <a:off x="6903720" y="4069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6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500" dirty="0"/>
          </a:p>
        </p:txBody>
      </p:sp>
      <p:sp>
        <p:nvSpPr>
          <p:cNvPr id="14" name="anim:4:30"/>
          <p:cNvSpPr txBox="1"/>
          <p:nvPr/>
        </p:nvSpPr>
        <p:spPr>
          <a:xfrm>
            <a:off x="6903720" y="43891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3.633</a:t>
            </a:r>
            <a:endParaRPr lang="en-US" sz="4800" dirty="0"/>
          </a:p>
        </p:txBody>
      </p:sp>
      <p:sp>
        <p:nvSpPr>
          <p:cNvPr id="15" name="anim:4:31"/>
          <p:cNvSpPr txBox="1"/>
          <p:nvPr/>
        </p:nvSpPr>
        <p:spPr>
          <a:xfrm>
            <a:off x="6903720" y="5212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· 1% da demanda fora da rede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08990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6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Demanda Registrada e Matrículas (SME-SP); consulta 5 sobre a carga com os dados reais.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E5EA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50"/>
                            </p:stCondLst>
                            <p:childTnLst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"/>
                            </p:stCondLst>
                            <p:childTnLst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5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MOTIVAÇÃO · KEVENN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que o data warehouse responde</a:t>
            </a:r>
            <a:endParaRPr lang="en-US" sz="3200" dirty="0"/>
          </a:p>
        </p:txBody>
      </p:sp>
      <p:sp>
        <p:nvSpPr>
          <p:cNvPr id="5" name="anim:1:32"/>
          <p:cNvSpPr/>
          <p:nvPr/>
        </p:nvSpPr>
        <p:spPr>
          <a:xfrm>
            <a:off x="548640" y="160020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6" name="anim:1:33"/>
          <p:cNvSpPr/>
          <p:nvPr/>
        </p:nvSpPr>
        <p:spPr>
          <a:xfrm>
            <a:off x="822960" y="1892808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anim:1:34"/>
          <p:cNvSpPr txBox="1"/>
          <p:nvPr/>
        </p:nvSpPr>
        <p:spPr>
          <a:xfrm>
            <a:off x="822960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anim:1:35"/>
          <p:cNvSpPr txBox="1"/>
          <p:nvPr/>
        </p:nvSpPr>
        <p:spPr>
          <a:xfrm>
            <a:off x="1600200" y="18745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abrir vagas?</a:t>
            </a:r>
            <a:endParaRPr lang="en-US" sz="1900" dirty="0"/>
          </a:p>
        </p:txBody>
      </p:sp>
      <p:sp>
        <p:nvSpPr>
          <p:cNvPr id="9" name="anim:1:36"/>
          <p:cNvSpPr txBox="1"/>
          <p:nvPr/>
        </p:nvSpPr>
        <p:spPr>
          <a:xfrm>
            <a:off x="1600200" y="23317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por distrito e DRE, fila contra matrícula e contra a população de 0 a 4 anos.</a:t>
            </a:r>
            <a:endParaRPr lang="en-US" sz="1500" dirty="0"/>
          </a:p>
        </p:txBody>
      </p:sp>
      <p:sp>
        <p:nvSpPr>
          <p:cNvPr id="10" name="anim:1:37"/>
          <p:cNvSpPr/>
          <p:nvPr/>
        </p:nvSpPr>
        <p:spPr>
          <a:xfrm>
            <a:off x="1600200" y="3136392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11" name="anim:1:38"/>
          <p:cNvSpPr txBox="1"/>
          <p:nvPr/>
        </p:nvSpPr>
        <p:spPr>
          <a:xfrm>
            <a:off x="1600200" y="313639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200" dirty="0"/>
          </a:p>
        </p:txBody>
      </p:sp>
      <p:sp>
        <p:nvSpPr>
          <p:cNvPr id="12" name="anim:1:39"/>
          <p:cNvSpPr/>
          <p:nvPr/>
        </p:nvSpPr>
        <p:spPr>
          <a:xfrm>
            <a:off x="2286000" y="3136392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13" name="anim:1:40"/>
          <p:cNvSpPr txBox="1"/>
          <p:nvPr/>
        </p:nvSpPr>
        <p:spPr>
          <a:xfrm>
            <a:off x="2286000" y="313639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200" dirty="0"/>
          </a:p>
        </p:txBody>
      </p:sp>
      <p:sp>
        <p:nvSpPr>
          <p:cNvPr id="14" name="anim:1:41"/>
          <p:cNvSpPr/>
          <p:nvPr/>
        </p:nvSpPr>
        <p:spPr>
          <a:xfrm>
            <a:off x="2971800" y="3136392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15" name="anim:1:42"/>
          <p:cNvSpPr txBox="1"/>
          <p:nvPr/>
        </p:nvSpPr>
        <p:spPr>
          <a:xfrm>
            <a:off x="2971800" y="313639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</a:t>
            </a:r>
            <a:endParaRPr lang="en-US" sz="1200" dirty="0"/>
          </a:p>
        </p:txBody>
      </p:sp>
      <p:sp>
        <p:nvSpPr>
          <p:cNvPr id="16" name="anim:2:43"/>
          <p:cNvSpPr/>
          <p:nvPr/>
        </p:nvSpPr>
        <p:spPr>
          <a:xfrm>
            <a:off x="6172200" y="160020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17" name="anim:2:44"/>
          <p:cNvSpPr/>
          <p:nvPr/>
        </p:nvSpPr>
        <p:spPr>
          <a:xfrm>
            <a:off x="6446520" y="1892808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8" name="anim:2:45"/>
          <p:cNvSpPr txBox="1"/>
          <p:nvPr/>
        </p:nvSpPr>
        <p:spPr>
          <a:xfrm>
            <a:off x="6446520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anim:2:46"/>
          <p:cNvSpPr txBox="1"/>
          <p:nvPr/>
        </p:nvSpPr>
        <p:spPr>
          <a:xfrm>
            <a:off x="7223760" y="18745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oferta é feita?</a:t>
            </a:r>
            <a:endParaRPr lang="en-US" sz="1900" dirty="0"/>
          </a:p>
        </p:txBody>
      </p:sp>
      <p:sp>
        <p:nvSpPr>
          <p:cNvPr id="20" name="anim:2:47"/>
          <p:cNvSpPr txBox="1"/>
          <p:nvPr/>
        </p:nvSpPr>
        <p:spPr>
          <a:xfrm>
            <a:off x="7223760" y="23317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da rede conveniada e da jornada integral na creche e em cada DRE.</a:t>
            </a:r>
            <a:endParaRPr lang="en-US" sz="1500" dirty="0"/>
          </a:p>
        </p:txBody>
      </p:sp>
      <p:sp>
        <p:nvSpPr>
          <p:cNvPr id="21" name="anim:2:48"/>
          <p:cNvSpPr/>
          <p:nvPr/>
        </p:nvSpPr>
        <p:spPr>
          <a:xfrm>
            <a:off x="7223760" y="3136392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22" name="anim:2:49"/>
          <p:cNvSpPr txBox="1"/>
          <p:nvPr/>
        </p:nvSpPr>
        <p:spPr>
          <a:xfrm>
            <a:off x="7223760" y="313639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200" dirty="0"/>
          </a:p>
        </p:txBody>
      </p:sp>
      <p:sp>
        <p:nvSpPr>
          <p:cNvPr id="23" name="anim:2:50"/>
          <p:cNvSpPr/>
          <p:nvPr/>
        </p:nvSpPr>
        <p:spPr>
          <a:xfrm>
            <a:off x="7909560" y="3136392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24" name="anim:2:51"/>
          <p:cNvSpPr txBox="1"/>
          <p:nvPr/>
        </p:nvSpPr>
        <p:spPr>
          <a:xfrm>
            <a:off x="7909560" y="313639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200" dirty="0"/>
          </a:p>
        </p:txBody>
      </p:sp>
      <p:sp>
        <p:nvSpPr>
          <p:cNvPr id="25" name="anim:3:52"/>
          <p:cNvSpPr/>
          <p:nvPr/>
        </p:nvSpPr>
        <p:spPr>
          <a:xfrm>
            <a:off x="548640" y="388620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26" name="anim:3:53"/>
          <p:cNvSpPr/>
          <p:nvPr/>
        </p:nvSpPr>
        <p:spPr>
          <a:xfrm>
            <a:off x="822960" y="4178808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7" name="anim:3:54"/>
          <p:cNvSpPr txBox="1"/>
          <p:nvPr/>
        </p:nvSpPr>
        <p:spPr>
          <a:xfrm>
            <a:off x="82296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anim:3:55"/>
          <p:cNvSpPr txBox="1"/>
          <p:nvPr/>
        </p:nvSpPr>
        <p:spPr>
          <a:xfrm>
            <a:off x="1600200" y="41605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nova ou lugar ocioso?</a:t>
            </a:r>
            <a:endParaRPr lang="en-US" sz="1900" dirty="0"/>
          </a:p>
        </p:txBody>
      </p:sp>
      <p:sp>
        <p:nvSpPr>
          <p:cNvPr id="29" name="anim:3:56"/>
          <p:cNvSpPr txBox="1"/>
          <p:nvPr/>
        </p:nvSpPr>
        <p:spPr>
          <a:xfrm>
            <a:off x="1600200" y="46177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por turma em funcionamento, do município ao distrito.</a:t>
            </a:r>
            <a:endParaRPr lang="en-US" sz="1500" dirty="0"/>
          </a:p>
        </p:txBody>
      </p:sp>
      <p:sp>
        <p:nvSpPr>
          <p:cNvPr id="30" name="anim:3:57"/>
          <p:cNvSpPr/>
          <p:nvPr/>
        </p:nvSpPr>
        <p:spPr>
          <a:xfrm>
            <a:off x="1600200" y="5422392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31" name="anim:3:58"/>
          <p:cNvSpPr txBox="1"/>
          <p:nvPr/>
        </p:nvSpPr>
        <p:spPr>
          <a:xfrm>
            <a:off x="1600200" y="542239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</a:t>
            </a:r>
            <a:endParaRPr lang="en-US" sz="1200" dirty="0"/>
          </a:p>
        </p:txBody>
      </p:sp>
      <p:sp>
        <p:nvSpPr>
          <p:cNvPr id="32" name="anim:4:59"/>
          <p:cNvSpPr/>
          <p:nvPr/>
        </p:nvSpPr>
        <p:spPr>
          <a:xfrm>
            <a:off x="6172200" y="388620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33" name="anim:4:60"/>
          <p:cNvSpPr/>
          <p:nvPr/>
        </p:nvSpPr>
        <p:spPr>
          <a:xfrm>
            <a:off x="6446520" y="4178808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4" name="anim:4:61"/>
          <p:cNvSpPr txBox="1"/>
          <p:nvPr/>
        </p:nvSpPr>
        <p:spPr>
          <a:xfrm>
            <a:off x="644652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anim:4:62"/>
          <p:cNvSpPr txBox="1"/>
          <p:nvPr/>
        </p:nvSpPr>
        <p:spPr>
          <a:xfrm>
            <a:off x="7223760" y="41605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e abandono andam juntos?</a:t>
            </a:r>
            <a:endParaRPr lang="en-US" sz="1900" dirty="0"/>
          </a:p>
        </p:txBody>
      </p:sp>
      <p:sp>
        <p:nvSpPr>
          <p:cNvPr id="36" name="anim:4:63"/>
          <p:cNvSpPr txBox="1"/>
          <p:nvPr/>
        </p:nvSpPr>
        <p:spPr>
          <a:xfrm>
            <a:off x="7223760" y="46177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creche e abandono no ensino fundamental, por DRE.</a:t>
            </a:r>
            <a:endParaRPr lang="en-US" sz="1500" dirty="0"/>
          </a:p>
        </p:txBody>
      </p:sp>
      <p:sp>
        <p:nvSpPr>
          <p:cNvPr id="37" name="anim:4:64"/>
          <p:cNvSpPr/>
          <p:nvPr/>
        </p:nvSpPr>
        <p:spPr>
          <a:xfrm>
            <a:off x="7223760" y="5422392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38" name="anim:4:65"/>
          <p:cNvSpPr txBox="1"/>
          <p:nvPr/>
        </p:nvSpPr>
        <p:spPr>
          <a:xfrm>
            <a:off x="7223760" y="542239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E5EA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"/>
                            </p:stCondLst>
                            <p:childTnLst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"/>
                            </p:stCondLst>
                            <p:childTnLst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"/>
                            </p:stCondLst>
                            <p:childTnLst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"/>
                            </p:stCondLst>
                            <p:childTnLst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"/>
                            </p:stCondLst>
                            <p:childTnLst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"/>
                            </p:stCondLst>
                            <p:childTnLst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"/>
                            </p:stCondLst>
                            <p:childTnLst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"/>
                            </p:stCondLst>
                            <p:childTnLst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750"/>
                            </p:stCondLst>
                            <p:childTnLst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750"/>
                            </p:stCondLst>
                            <p:childTnLst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750"/>
                            </p:stCondLst>
                            <p:childTnLst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750"/>
                            </p:stCondLst>
                            <p:childTnLst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750"/>
                            </p:stCondLst>
                            <p:childTnLst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750"/>
                            </p:stCondLst>
                            <p:childTnLst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750"/>
                            </p:stCondLst>
                            <p:childTnLst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MOTIVAÇÃO · KEVENN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São Paulo, e não São Carlos</a:t>
            </a:r>
            <a:endParaRPr lang="en-US" sz="3200" dirty="0"/>
          </a:p>
        </p:txBody>
      </p:sp>
      <p:sp>
        <p:nvSpPr>
          <p:cNvPr id="5" name="anim:1:66"/>
          <p:cNvSpPr/>
          <p:nvPr/>
        </p:nvSpPr>
        <p:spPr>
          <a:xfrm>
            <a:off x="548640" y="1600200"/>
            <a:ext cx="544068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6" name="anim:1:67"/>
          <p:cNvSpPr/>
          <p:nvPr/>
        </p:nvSpPr>
        <p:spPr>
          <a:xfrm>
            <a:off x="822960" y="182880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566175"/>
          </a:solidFill>
          <a:ln w="12700">
            <a:solidFill>
              <a:srgbClr val="566175"/>
            </a:solidFill>
            <a:prstDash val="solid"/>
          </a:ln>
        </p:spPr>
      </p:sp>
      <p:sp>
        <p:nvSpPr>
          <p:cNvPr id="7" name="anim:1:68"/>
          <p:cNvSpPr txBox="1"/>
          <p:nvPr/>
        </p:nvSpPr>
        <p:spPr>
          <a:xfrm>
            <a:off x="822960" y="18288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PROPOSTA</a:t>
            </a:r>
            <a:endParaRPr lang="en-US" sz="1200" dirty="0"/>
          </a:p>
        </p:txBody>
      </p:sp>
      <p:sp>
        <p:nvSpPr>
          <p:cNvPr id="8" name="anim:1:69"/>
          <p:cNvSpPr txBox="1"/>
          <p:nvPr/>
        </p:nvSpPr>
        <p:spPr>
          <a:xfrm>
            <a:off x="822960" y="22860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Carlos</a:t>
            </a:r>
            <a:endParaRPr lang="en-US" sz="2400" dirty="0"/>
          </a:p>
        </p:txBody>
      </p:sp>
      <p:sp>
        <p:nvSpPr>
          <p:cNvPr id="9" name="anim:1:70"/>
          <p:cNvSpPr txBox="1"/>
          <p:nvPr/>
        </p:nvSpPr>
        <p:spPr>
          <a:xfrm>
            <a:off x="822960" y="28803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escolar por setor censitário. Sem dado aberto de vaga nem de fila, a demanda não atendida teria de ser estimada.</a:t>
            </a:r>
            <a:endParaRPr lang="en-US" sz="1600" dirty="0"/>
          </a:p>
        </p:txBody>
      </p:sp>
      <p:sp>
        <p:nvSpPr>
          <p:cNvPr id="10" name="anim:2:71"/>
          <p:cNvSpPr/>
          <p:nvPr/>
        </p:nvSpPr>
        <p:spPr>
          <a:xfrm>
            <a:off x="6172200" y="1600200"/>
            <a:ext cx="544068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11" name="anim:2:72"/>
          <p:cNvSpPr/>
          <p:nvPr/>
        </p:nvSpPr>
        <p:spPr>
          <a:xfrm>
            <a:off x="6446520" y="182880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12" name="anim:2:73"/>
          <p:cNvSpPr txBox="1"/>
          <p:nvPr/>
        </p:nvSpPr>
        <p:spPr>
          <a:xfrm>
            <a:off x="6446520" y="18288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</a:t>
            </a:r>
            <a:endParaRPr lang="en-US" sz="1200" dirty="0"/>
          </a:p>
        </p:txBody>
      </p:sp>
      <p:sp>
        <p:nvSpPr>
          <p:cNvPr id="13" name="anim:2:74"/>
          <p:cNvSpPr txBox="1"/>
          <p:nvPr/>
        </p:nvSpPr>
        <p:spPr>
          <a:xfrm>
            <a:off x="6446520" y="22860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</a:t>
            </a:r>
            <a:endParaRPr lang="en-US" sz="2400" dirty="0"/>
          </a:p>
        </p:txBody>
      </p:sp>
      <p:sp>
        <p:nvSpPr>
          <p:cNvPr id="14" name="anim:2:75"/>
          <p:cNvSpPr txBox="1"/>
          <p:nvPr/>
        </p:nvSpPr>
        <p:spPr>
          <a:xfrm>
            <a:off x="6446520" y="28803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SME publica o microdado de cada matrícula e a fila de espera por distrito: demanda medida, não estimada. 13,4 milhões de matrículas de 2015 a 2024.</a:t>
            </a:r>
            <a:endParaRPr lang="en-US" sz="1600" dirty="0"/>
          </a:p>
        </p:txBody>
      </p:sp>
      <p:sp>
        <p:nvSpPr>
          <p:cNvPr id="15" name="anim:3:76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EEF2F8"/>
          </a:solidFill>
          <a:ln w="9525">
            <a:solidFill>
              <a:srgbClr val="EEF2F8"/>
            </a:solidFill>
            <a:prstDash val="solid"/>
          </a:ln>
        </p:spPr>
      </p:sp>
      <p:sp>
        <p:nvSpPr>
          <p:cNvPr id="16" name="anim:3:77"/>
          <p:cNvSpPr/>
          <p:nvPr/>
        </p:nvSpPr>
        <p:spPr>
          <a:xfrm>
            <a:off x="822960" y="5047488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7" name="anim:3:78"/>
          <p:cNvSpPr txBox="1"/>
          <p:nvPr/>
        </p:nvSpPr>
        <p:spPr>
          <a:xfrm>
            <a:off x="822960" y="5047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anim:3:79"/>
          <p:cNvSpPr txBox="1"/>
          <p:nvPr/>
        </p:nvSpPr>
        <p:spPr>
          <a:xfrm>
            <a:off x="1600200" y="4818888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vale para São Carlos: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matrícula, turma e desfecho vêm do registro que todo sistema de gestão escolar mantém, e o Censo 2022 já tem a população por setor censitário do município. Falta só a rede registrar e publicar a fila.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E5EA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"/>
                            </p:stCondLst>
                            <p:childTnLst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"/>
                            </p:stCondLst>
                            <p:childTnLst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"/>
                            </p:stCondLst>
                            <p:childTnLst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MOTIVAÇÃO · KEVENN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assuntos de interesse e por que importam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63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3794760" y="1463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463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MODELO</a:t>
            </a:r>
            <a:endParaRPr lang="en-US" sz="1100" dirty="0"/>
          </a:p>
        </p:txBody>
      </p:sp>
      <p:sp>
        <p:nvSpPr>
          <p:cNvPr id="8" name="anim:1:80"/>
          <p:cNvSpPr/>
          <p:nvPr/>
        </p:nvSpPr>
        <p:spPr>
          <a:xfrm>
            <a:off x="548640" y="178308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EEF2F8"/>
          </a:solidFill>
          <a:ln w="9525">
            <a:solidFill>
              <a:srgbClr val="D6E0F0"/>
            </a:solidFill>
            <a:prstDash val="solid"/>
          </a:ln>
        </p:spPr>
      </p:sp>
      <p:sp>
        <p:nvSpPr>
          <p:cNvPr id="9" name="anim:1:81"/>
          <p:cNvSpPr/>
          <p:nvPr/>
        </p:nvSpPr>
        <p:spPr>
          <a:xfrm>
            <a:off x="685800" y="1883664"/>
            <a:ext cx="2971800" cy="347472"/>
          </a:xfrm>
          <a:prstGeom prst="roundRect">
            <a:avLst>
              <a:gd name="adj" fmla="val 44737"/>
            </a:avLst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10" name="anim:1:82"/>
          <p:cNvSpPr txBox="1"/>
          <p:nvPr/>
        </p:nvSpPr>
        <p:spPr>
          <a:xfrm>
            <a:off x="685800" y="188366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</a:t>
            </a:r>
            <a:endParaRPr lang="en-US" sz="1200" dirty="0"/>
          </a:p>
        </p:txBody>
      </p:sp>
      <p:sp>
        <p:nvSpPr>
          <p:cNvPr id="11" name="anim:1:83"/>
          <p:cNvSpPr txBox="1"/>
          <p:nvPr/>
        </p:nvSpPr>
        <p:spPr>
          <a:xfrm>
            <a:off x="3794760" y="1783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efetivamente usada, com o perfil de cada aluno</a:t>
            </a:r>
            <a:endParaRPr lang="en-US" sz="1500" dirty="0"/>
          </a:p>
        </p:txBody>
      </p:sp>
      <p:sp>
        <p:nvSpPr>
          <p:cNvPr id="12" name="anim:1:84"/>
          <p:cNvSpPr txBox="1"/>
          <p:nvPr/>
        </p:nvSpPr>
        <p:spPr>
          <a:xfrm>
            <a:off x="8732520" y="17830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 Matrícula</a:t>
            </a:r>
            <a:endParaRPr lang="en-US" sz="1300" dirty="0"/>
          </a:p>
        </p:txBody>
      </p:sp>
      <p:sp>
        <p:nvSpPr>
          <p:cNvPr id="13" name="anim:2:85"/>
          <p:cNvSpPr/>
          <p:nvPr/>
        </p:nvSpPr>
        <p:spPr>
          <a:xfrm>
            <a:off x="548640" y="242316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</p:spPr>
      </p:sp>
      <p:sp>
        <p:nvSpPr>
          <p:cNvPr id="14" name="anim:2:86"/>
          <p:cNvSpPr/>
          <p:nvPr/>
        </p:nvSpPr>
        <p:spPr>
          <a:xfrm>
            <a:off x="685800" y="2523744"/>
            <a:ext cx="2971800" cy="347472"/>
          </a:xfrm>
          <a:prstGeom prst="roundRect">
            <a:avLst>
              <a:gd name="adj" fmla="val 44737"/>
            </a:avLst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15" name="anim:2:87"/>
          <p:cNvSpPr txBox="1"/>
          <p:nvPr/>
        </p:nvSpPr>
        <p:spPr>
          <a:xfrm>
            <a:off x="685800" y="252374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(demanda registrada)</a:t>
            </a:r>
            <a:endParaRPr lang="en-US" sz="1200" dirty="0"/>
          </a:p>
        </p:txBody>
      </p:sp>
      <p:sp>
        <p:nvSpPr>
          <p:cNvPr id="16" name="anim:2:88"/>
          <p:cNvSpPr txBox="1"/>
          <p:nvPr/>
        </p:nvSpPr>
        <p:spPr>
          <a:xfrm>
            <a:off x="3794760" y="24231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pediu vaga e não foi atendido</a:t>
            </a:r>
            <a:endParaRPr lang="en-US" sz="1500" dirty="0"/>
          </a:p>
        </p:txBody>
      </p:sp>
      <p:sp>
        <p:nvSpPr>
          <p:cNvPr id="17" name="anim:2:89"/>
          <p:cNvSpPr txBox="1"/>
          <p:nvPr/>
        </p:nvSpPr>
        <p:spPr>
          <a:xfrm>
            <a:off x="8732520" y="24231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 Fila</a:t>
            </a:r>
            <a:endParaRPr lang="en-US" sz="1300" dirty="0"/>
          </a:p>
        </p:txBody>
      </p:sp>
      <p:sp>
        <p:nvSpPr>
          <p:cNvPr id="18" name="anim:3:90"/>
          <p:cNvSpPr/>
          <p:nvPr/>
        </p:nvSpPr>
        <p:spPr>
          <a:xfrm>
            <a:off x="548640" y="306324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EEF2F8"/>
          </a:solidFill>
          <a:ln w="9525">
            <a:solidFill>
              <a:srgbClr val="D6E0F0"/>
            </a:solidFill>
            <a:prstDash val="solid"/>
          </a:ln>
        </p:spPr>
      </p:sp>
      <p:sp>
        <p:nvSpPr>
          <p:cNvPr id="19" name="anim:3:91"/>
          <p:cNvSpPr/>
          <p:nvPr/>
        </p:nvSpPr>
        <p:spPr>
          <a:xfrm>
            <a:off x="685800" y="3163824"/>
            <a:ext cx="2971800" cy="347472"/>
          </a:xfrm>
          <a:prstGeom prst="roundRect">
            <a:avLst>
              <a:gd name="adj" fmla="val 44737"/>
            </a:avLst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20" name="anim:3:92"/>
          <p:cNvSpPr txBox="1"/>
          <p:nvPr/>
        </p:nvSpPr>
        <p:spPr>
          <a:xfrm>
            <a:off x="685800" y="316382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e ocupação das turmas</a:t>
            </a:r>
            <a:endParaRPr lang="en-US" sz="1200" dirty="0"/>
          </a:p>
        </p:txBody>
      </p:sp>
      <p:sp>
        <p:nvSpPr>
          <p:cNvPr id="21" name="anim:3:93"/>
          <p:cNvSpPr txBox="1"/>
          <p:nvPr/>
        </p:nvSpPr>
        <p:spPr>
          <a:xfrm>
            <a:off x="3794760" y="30632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oferta existente está cheia: turma nova ou lugar ocioso</a:t>
            </a:r>
            <a:endParaRPr lang="en-US" sz="1500" dirty="0"/>
          </a:p>
        </p:txBody>
      </p:sp>
      <p:sp>
        <p:nvSpPr>
          <p:cNvPr id="22" name="anim:3:94"/>
          <p:cNvSpPr txBox="1"/>
          <p:nvPr/>
        </p:nvSpPr>
        <p:spPr>
          <a:xfrm>
            <a:off x="8732520" y="30632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 Ocupação de Turma</a:t>
            </a:r>
            <a:endParaRPr lang="en-US" sz="1300" dirty="0"/>
          </a:p>
        </p:txBody>
      </p:sp>
      <p:sp>
        <p:nvSpPr>
          <p:cNvPr id="23" name="anim:4:95"/>
          <p:cNvSpPr/>
          <p:nvPr/>
        </p:nvSpPr>
        <p:spPr>
          <a:xfrm>
            <a:off x="548640" y="370332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</p:spPr>
      </p:sp>
      <p:sp>
        <p:nvSpPr>
          <p:cNvPr id="24" name="anim:4:96"/>
          <p:cNvSpPr/>
          <p:nvPr/>
        </p:nvSpPr>
        <p:spPr>
          <a:xfrm>
            <a:off x="685800" y="3803904"/>
            <a:ext cx="2971800" cy="347472"/>
          </a:xfrm>
          <a:prstGeom prst="roundRect">
            <a:avLst>
              <a:gd name="adj" fmla="val 44737"/>
            </a:avLst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25" name="anim:4:97"/>
          <p:cNvSpPr txBox="1"/>
          <p:nvPr/>
        </p:nvSpPr>
        <p:spPr>
          <a:xfrm>
            <a:off x="685800" y="380390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 em idade escolar</a:t>
            </a:r>
            <a:endParaRPr lang="en-US" sz="1200" dirty="0"/>
          </a:p>
        </p:txBody>
      </p:sp>
      <p:sp>
        <p:nvSpPr>
          <p:cNvPr id="26" name="anim:4:98"/>
          <p:cNvSpPr txBox="1"/>
          <p:nvPr/>
        </p:nvSpPr>
        <p:spPr>
          <a:xfrm>
            <a:off x="3794760" y="37033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potencial, mesmo sem pedido de vaga</a:t>
            </a:r>
            <a:endParaRPr lang="en-US" sz="1500" dirty="0"/>
          </a:p>
        </p:txBody>
      </p:sp>
      <p:sp>
        <p:nvSpPr>
          <p:cNvPr id="27" name="anim:4:99"/>
          <p:cNvSpPr txBox="1"/>
          <p:nvPr/>
        </p:nvSpPr>
        <p:spPr>
          <a:xfrm>
            <a:off x="8732520" y="37033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 População</a:t>
            </a:r>
            <a:endParaRPr lang="en-US" sz="1300" dirty="0"/>
          </a:p>
        </p:txBody>
      </p:sp>
      <p:sp>
        <p:nvSpPr>
          <p:cNvPr id="28" name="anim:5:100"/>
          <p:cNvSpPr/>
          <p:nvPr/>
        </p:nvSpPr>
        <p:spPr>
          <a:xfrm>
            <a:off x="548640" y="434340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EEF2F8"/>
          </a:solidFill>
          <a:ln w="9525">
            <a:solidFill>
              <a:srgbClr val="D6E0F0"/>
            </a:solidFill>
            <a:prstDash val="solid"/>
          </a:ln>
        </p:spPr>
      </p:sp>
      <p:sp>
        <p:nvSpPr>
          <p:cNvPr id="29" name="anim:5:101"/>
          <p:cNvSpPr/>
          <p:nvPr/>
        </p:nvSpPr>
        <p:spPr>
          <a:xfrm>
            <a:off x="685800" y="4443984"/>
            <a:ext cx="2971800" cy="347472"/>
          </a:xfrm>
          <a:prstGeom prst="roundRect">
            <a:avLst>
              <a:gd name="adj" fmla="val 44737"/>
            </a:avLst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30" name="anim:5:102"/>
          <p:cNvSpPr txBox="1"/>
          <p:nvPr/>
        </p:nvSpPr>
        <p:spPr>
          <a:xfrm>
            <a:off x="685800" y="444398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escolar por setor</a:t>
            </a:r>
            <a:endParaRPr lang="en-US" sz="1200" dirty="0"/>
          </a:p>
        </p:txBody>
      </p:sp>
      <p:sp>
        <p:nvSpPr>
          <p:cNvPr id="31" name="anim:5:103"/>
          <p:cNvSpPr txBox="1"/>
          <p:nvPr/>
        </p:nvSpPr>
        <p:spPr>
          <a:xfrm>
            <a:off x="3794760" y="43434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 por qual rede (direta ou conveniada) a vaga é oferecida</a:t>
            </a:r>
            <a:endParaRPr lang="en-US" sz="1500" dirty="0"/>
          </a:p>
        </p:txBody>
      </p:sp>
      <p:sp>
        <p:nvSpPr>
          <p:cNvPr id="32" name="anim:5:104"/>
          <p:cNvSpPr txBox="1"/>
          <p:nvPr/>
        </p:nvSpPr>
        <p:spPr>
          <a:xfrm>
            <a:off x="8732520" y="43434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 Escola, Território, Setor</a:t>
            </a:r>
            <a:endParaRPr lang="en-US" sz="1300" dirty="0"/>
          </a:p>
        </p:txBody>
      </p:sp>
      <p:sp>
        <p:nvSpPr>
          <p:cNvPr id="33" name="anim:6:105"/>
          <p:cNvSpPr/>
          <p:nvPr/>
        </p:nvSpPr>
        <p:spPr>
          <a:xfrm>
            <a:off x="548640" y="516636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EEF2F8"/>
          </a:solidFill>
          <a:ln w="9525">
            <a:solidFill>
              <a:srgbClr val="EEF2F8"/>
            </a:solidFill>
            <a:prstDash val="solid"/>
          </a:ln>
        </p:spPr>
      </p:sp>
      <p:sp>
        <p:nvSpPr>
          <p:cNvPr id="34" name="anim:6:106"/>
          <p:cNvSpPr/>
          <p:nvPr/>
        </p:nvSpPr>
        <p:spPr>
          <a:xfrm>
            <a:off x="777240" y="5321808"/>
            <a:ext cx="512064" cy="51206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5" name="anim:6:107"/>
          <p:cNvSpPr txBox="1"/>
          <p:nvPr/>
        </p:nvSpPr>
        <p:spPr>
          <a:xfrm>
            <a:off x="777240" y="5321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anim:6:108"/>
          <p:cNvSpPr txBox="1"/>
          <p:nvPr/>
        </p:nvSpPr>
        <p:spPr>
          <a:xfrm>
            <a:off x="1508760" y="521208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Quinto processo: desfecho da matrícula.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o que acontece depois do acesso: aprovação, reprovação, abandono e transferência.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E5EA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"/>
                            </p:stCondLst>
                            <p:childTnLst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"/>
                            </p:stCondLst>
                            <p:childTnLst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"/>
                            </p:stCondLst>
                            <p:childTnLst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50"/>
                            </p:stCondLst>
                            <p:childTnLst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0"/>
                            </p:stCondLst>
                            <p:childTnLst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"/>
                            </p:stCondLst>
                            <p:childTnLst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50"/>
                            </p:stCondLst>
                            <p:childTnLst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5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250"/>
                            </p:stCondLst>
                            <p:childTnLst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FONTES E INTEGRAÇÃO · THIAGO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fontes de dados reais e oficiais</a:t>
            </a:r>
            <a:endParaRPr lang="en-US" sz="3200" dirty="0"/>
          </a:p>
        </p:txBody>
      </p:sp>
      <p:sp>
        <p:nvSpPr>
          <p:cNvPr id="5" name="anim:1:109"/>
          <p:cNvSpPr/>
          <p:nvPr/>
        </p:nvSpPr>
        <p:spPr>
          <a:xfrm>
            <a:off x="548640" y="1600200"/>
            <a:ext cx="3566160" cy="43891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6" name="anim:1:110"/>
          <p:cNvSpPr txBox="1"/>
          <p:nvPr/>
        </p:nvSpPr>
        <p:spPr>
          <a:xfrm>
            <a:off x="822960" y="1801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SME-SP · ANUAL</a:t>
            </a:r>
            <a:endParaRPr lang="en-US" sz="1100" dirty="0"/>
          </a:p>
        </p:txBody>
      </p:sp>
      <p:sp>
        <p:nvSpPr>
          <p:cNvPr id="7" name="anim:1:111"/>
          <p:cNvSpPr txBox="1"/>
          <p:nvPr/>
        </p:nvSpPr>
        <p:spPr>
          <a:xfrm>
            <a:off x="822960" y="2103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Microdados de Matrículas</a:t>
            </a:r>
            <a:endParaRPr lang="en-US" sz="1800" dirty="0"/>
          </a:p>
        </p:txBody>
      </p:sp>
      <p:sp>
        <p:nvSpPr>
          <p:cNvPr id="8" name="anim:1:112"/>
          <p:cNvSpPr txBox="1"/>
          <p:nvPr/>
        </p:nvSpPr>
        <p:spPr>
          <a:xfrm>
            <a:off x="822960" y="2834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13,4 mi</a:t>
            </a:r>
            <a:endParaRPr lang="en-US" sz="3600" dirty="0"/>
          </a:p>
        </p:txBody>
      </p:sp>
      <p:sp>
        <p:nvSpPr>
          <p:cNvPr id="9" name="anim:1:113"/>
          <p:cNvSpPr txBox="1"/>
          <p:nvPr/>
        </p:nvSpPr>
        <p:spPr>
          <a:xfrm>
            <a:off x="822960" y="3520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6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de escolarização, 2015 a 2024</a:t>
            </a:r>
            <a:endParaRPr lang="en-US" sz="1200" dirty="0"/>
          </a:p>
        </p:txBody>
      </p:sp>
      <p:sp>
        <p:nvSpPr>
          <p:cNvPr id="10" name="anim:1:114"/>
          <p:cNvSpPr txBox="1"/>
          <p:nvPr/>
        </p:nvSpPr>
        <p:spPr>
          <a:xfrm>
            <a:off x="822960" y="406908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por vínculo aluno-turma: escola, turma, turno, série, idade, perfil, deficiência, datas e desfecho.</a:t>
            </a:r>
            <a:endParaRPr lang="en-US" sz="1400" dirty="0"/>
          </a:p>
        </p:txBody>
      </p:sp>
      <p:sp>
        <p:nvSpPr>
          <p:cNvPr id="11" name="anim:2:115"/>
          <p:cNvSpPr/>
          <p:nvPr/>
        </p:nvSpPr>
        <p:spPr>
          <a:xfrm>
            <a:off x="4297680" y="1600200"/>
            <a:ext cx="3566160" cy="43891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12" name="anim:2:116"/>
          <p:cNvSpPr txBox="1"/>
          <p:nvPr/>
        </p:nvSpPr>
        <p:spPr>
          <a:xfrm>
            <a:off x="4572000" y="1801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SME-SP · TRIMESTRAL E BIMESTRAL</a:t>
            </a:r>
            <a:endParaRPr lang="en-US" sz="1100" dirty="0"/>
          </a:p>
        </p:txBody>
      </p:sp>
      <p:sp>
        <p:nvSpPr>
          <p:cNvPr id="13" name="anim:2:117"/>
          <p:cNvSpPr txBox="1"/>
          <p:nvPr/>
        </p:nvSpPr>
        <p:spPr>
          <a:xfrm>
            <a:off x="4572000" y="2103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Registrada e Matrículas</a:t>
            </a:r>
            <a:endParaRPr lang="en-US" sz="1800" dirty="0"/>
          </a:p>
        </p:txBody>
      </p:sp>
      <p:sp>
        <p:nvSpPr>
          <p:cNvPr id="14" name="anim:2:118"/>
          <p:cNvSpPr txBox="1"/>
          <p:nvPr/>
        </p:nvSpPr>
        <p:spPr>
          <a:xfrm>
            <a:off x="4572000" y="2834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meses</a:t>
            </a:r>
            <a:endParaRPr lang="en-US" sz="3600" dirty="0"/>
          </a:p>
        </p:txBody>
      </p:sp>
      <p:sp>
        <p:nvSpPr>
          <p:cNvPr id="15" name="anim:2:119"/>
          <p:cNvSpPr txBox="1"/>
          <p:nvPr/>
        </p:nvSpPr>
        <p:spPr>
          <a:xfrm>
            <a:off x="4572000" y="3520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6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meses (33 arquivos) × 96 distritos no recorte</a:t>
            </a:r>
            <a:endParaRPr lang="en-US" sz="1200" dirty="0"/>
          </a:p>
        </p:txBody>
      </p:sp>
      <p:sp>
        <p:nvSpPr>
          <p:cNvPr id="16" name="anim:2:120"/>
          <p:cNvSpPr txBox="1"/>
          <p:nvPr/>
        </p:nvSpPr>
        <p:spPr>
          <a:xfrm>
            <a:off x="4572000" y="406908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distrito e etapa: matrículas, matrículas em processo e fila. Trimestral até 2022, bimestral desde 2023; sete formatos diferentes.</a:t>
            </a:r>
            <a:endParaRPr lang="en-US" sz="1400" dirty="0"/>
          </a:p>
        </p:txBody>
      </p:sp>
      <p:sp>
        <p:nvSpPr>
          <p:cNvPr id="17" name="anim:3:121"/>
          <p:cNvSpPr/>
          <p:nvPr/>
        </p:nvSpPr>
        <p:spPr>
          <a:xfrm>
            <a:off x="8046720" y="1600200"/>
            <a:ext cx="3566160" cy="43891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18" name="anim:3:122"/>
          <p:cNvSpPr txBox="1"/>
          <p:nvPr/>
        </p:nvSpPr>
        <p:spPr>
          <a:xfrm>
            <a:off x="8321040" y="1801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· AGREGADOS POR SETORES</a:t>
            </a:r>
            <a:endParaRPr lang="en-US" sz="1100" dirty="0"/>
          </a:p>
        </p:txBody>
      </p:sp>
      <p:sp>
        <p:nvSpPr>
          <p:cNvPr id="19" name="anim:3:123"/>
          <p:cNvSpPr txBox="1"/>
          <p:nvPr/>
        </p:nvSpPr>
        <p:spPr>
          <a:xfrm>
            <a:off x="8321040" y="2103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Demográfico 2022</a:t>
            </a:r>
            <a:endParaRPr lang="en-US" sz="1800" dirty="0"/>
          </a:p>
        </p:txBody>
      </p:sp>
      <p:sp>
        <p:nvSpPr>
          <p:cNvPr id="20" name="anim:3:124"/>
          <p:cNvSpPr txBox="1"/>
          <p:nvPr/>
        </p:nvSpPr>
        <p:spPr>
          <a:xfrm>
            <a:off x="8321040" y="2834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26.889</a:t>
            </a:r>
            <a:endParaRPr lang="en-US" sz="3600" dirty="0"/>
          </a:p>
        </p:txBody>
      </p:sp>
      <p:sp>
        <p:nvSpPr>
          <p:cNvPr id="21" name="anim:3:125"/>
          <p:cNvSpPr txBox="1"/>
          <p:nvPr/>
        </p:nvSpPr>
        <p:spPr>
          <a:xfrm>
            <a:off x="8321040" y="3520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6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do município, 11,4 milhões de moradores</a:t>
            </a:r>
            <a:endParaRPr lang="en-US" sz="1200" dirty="0"/>
          </a:p>
        </p:txBody>
      </p:sp>
      <p:sp>
        <p:nvSpPr>
          <p:cNvPr id="22" name="anim:3:126"/>
          <p:cNvSpPr txBox="1"/>
          <p:nvPr/>
        </p:nvSpPr>
        <p:spPr>
          <a:xfrm>
            <a:off x="8321040" y="406908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residentes por setor censitário e grupo de idade (variáveis V01031 a V01041); referência 31/07/2022.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E5EA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"/>
                            </p:stCondLst>
                            <p:childTnLst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"/>
                            </p:stCondLst>
                            <p:childTnLst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"/>
                            </p:stCondLst>
                            <p:childTnLst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"/>
                            </p:stCondLst>
                            <p:childTnLst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FONTES E INTEGRAÇÃO · THIAGO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Integração: o mesmo dado em formas diferentes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3017520"/>
                <a:gridCol w="3291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data warehouse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 RASA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Rasa + código de 9 dígitos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normalizado, chave da dimensão Território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 simples em 31/03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 de 0 a 4, 5 a 9, ...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IBGE na dimensão Idade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Creche, Pré Escola (fila); MODALIDADE (microdado)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se aplica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único de etapas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CD_SETOR: 4 dígitos, administrativo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CD_SETOR: 15 dígitos, censitário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homônimo: nunca cruzados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nim:1:127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9525">
            <a:solidFill>
              <a:srgbClr val="EEF2F8"/>
            </a:solidFill>
            <a:prstDash val="solid"/>
          </a:ln>
        </p:spPr>
      </p:sp>
      <p:sp>
        <p:nvSpPr>
          <p:cNvPr id="7" name="anim:1:128"/>
          <p:cNvSpPr txBox="1"/>
          <p:nvPr/>
        </p:nvSpPr>
        <p:spPr>
          <a:xfrm>
            <a:off x="822960" y="46634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1%</a:t>
            </a:r>
            <a:endParaRPr lang="en-US" sz="4400" dirty="0"/>
          </a:p>
        </p:txBody>
      </p:sp>
      <p:sp>
        <p:nvSpPr>
          <p:cNvPr id="8" name="anim:1:129"/>
          <p:cNvSpPr txBox="1"/>
          <p:nvPr/>
        </p:nvSpPr>
        <p:spPr>
          <a:xfrm>
            <a:off x="2926080" y="4663440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Reconciliação: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ativas em junho no microdado contra a matrícula da planilha de fila, por distrito e etapa: diferença abaixo de 1% de 2015 a 2020 (creche: +0,03% em 2015, +0,17% em 2019).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E5EA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FONTES E INTEGRAÇÃO · THIAGO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reais nos dados e como foram tratados</a:t>
            </a:r>
            <a:endParaRPr lang="en-US" sz="3200" dirty="0"/>
          </a:p>
        </p:txBody>
      </p:sp>
      <p:sp>
        <p:nvSpPr>
          <p:cNvPr id="5" name="anim:1:130"/>
          <p:cNvSpPr/>
          <p:nvPr/>
        </p:nvSpPr>
        <p:spPr>
          <a:xfrm>
            <a:off x="548640" y="16002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6" name="anim:1:131"/>
          <p:cNvSpPr/>
          <p:nvPr/>
        </p:nvSpPr>
        <p:spPr>
          <a:xfrm>
            <a:off x="777240" y="1847088"/>
            <a:ext cx="438912" cy="43891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anim:1:132"/>
          <p:cNvSpPr txBox="1"/>
          <p:nvPr/>
        </p:nvSpPr>
        <p:spPr>
          <a:xfrm>
            <a:off x="777240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anim:1:133"/>
          <p:cNvSpPr txBox="1"/>
          <p:nvPr/>
        </p:nvSpPr>
        <p:spPr>
          <a:xfrm>
            <a:off x="1371600" y="18013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da escola corrompido (2022-2024)</a:t>
            </a:r>
            <a:endParaRPr lang="en-US" sz="1500" dirty="0"/>
          </a:p>
        </p:txBody>
      </p:sp>
      <p:sp>
        <p:nvSpPr>
          <p:cNvPr id="9" name="anim:1:134"/>
          <p:cNvSpPr txBox="1"/>
          <p:nvPr/>
        </p:nvSpPr>
        <p:spPr>
          <a:xfrm>
            <a:off x="822960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recuperado pelo nome, tipo e distrito em 94,8% a 98,6% das matrículas</a:t>
            </a:r>
            <a:endParaRPr lang="en-US" sz="1400" dirty="0"/>
          </a:p>
        </p:txBody>
      </p:sp>
      <p:sp>
        <p:nvSpPr>
          <p:cNvPr id="10" name="anim:2:135"/>
          <p:cNvSpPr/>
          <p:nvPr/>
        </p:nvSpPr>
        <p:spPr>
          <a:xfrm>
            <a:off x="4297680" y="16002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11" name="anim:2:136"/>
          <p:cNvSpPr/>
          <p:nvPr/>
        </p:nvSpPr>
        <p:spPr>
          <a:xfrm>
            <a:off x="4526280" y="1847088"/>
            <a:ext cx="438912" cy="43891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anim:2:137"/>
          <p:cNvSpPr txBox="1"/>
          <p:nvPr/>
        </p:nvSpPr>
        <p:spPr>
          <a:xfrm>
            <a:off x="4526280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anim:2:138"/>
          <p:cNvSpPr txBox="1"/>
          <p:nvPr/>
        </p:nvSpPr>
        <p:spPr>
          <a:xfrm>
            <a:off x="5120640" y="18013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formatos da planilha de fila</a:t>
            </a:r>
            <a:endParaRPr lang="en-US" sz="1500" dirty="0"/>
          </a:p>
        </p:txBody>
      </p:sp>
      <p:sp>
        <p:nvSpPr>
          <p:cNvPr id="14" name="anim:2:139"/>
          <p:cNvSpPr txBox="1"/>
          <p:nvPr/>
        </p:nvSpPr>
        <p:spPr>
          <a:xfrm>
            <a:off x="4572000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lidas do cabeçalho; significado de (1), (2), (3) lido do rodapé</a:t>
            </a:r>
            <a:endParaRPr lang="en-US" sz="1400" dirty="0"/>
          </a:p>
        </p:txBody>
      </p:sp>
      <p:sp>
        <p:nvSpPr>
          <p:cNvPr id="15" name="anim:3:140"/>
          <p:cNvSpPr/>
          <p:nvPr/>
        </p:nvSpPr>
        <p:spPr>
          <a:xfrm>
            <a:off x="8046720" y="16002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16" name="anim:3:141"/>
          <p:cNvSpPr/>
          <p:nvPr/>
        </p:nvSpPr>
        <p:spPr>
          <a:xfrm>
            <a:off x="8275320" y="1847088"/>
            <a:ext cx="438912" cy="43891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7" name="anim:3:142"/>
          <p:cNvSpPr txBox="1"/>
          <p:nvPr/>
        </p:nvSpPr>
        <p:spPr>
          <a:xfrm>
            <a:off x="8275320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anim:3:143"/>
          <p:cNvSpPr txBox="1"/>
          <p:nvPr/>
        </p:nvSpPr>
        <p:spPr>
          <a:xfrm>
            <a:off x="8869680" y="18013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 não publicado em 2021</a:t>
            </a:r>
            <a:endParaRPr lang="en-US" sz="1500" dirty="0"/>
          </a:p>
        </p:txBody>
      </p:sp>
      <p:sp>
        <p:nvSpPr>
          <p:cNvPr id="19" name="anim:3:144"/>
          <p:cNvSpPr txBox="1"/>
          <p:nvPr/>
        </p:nvSpPr>
        <p:spPr>
          <a:xfrm>
            <a:off x="8321040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deduzido do código da turma, conferido pelos horários</a:t>
            </a:r>
            <a:endParaRPr lang="en-US" sz="1400" dirty="0"/>
          </a:p>
        </p:txBody>
      </p:sp>
      <p:sp>
        <p:nvSpPr>
          <p:cNvPr id="20" name="anim:4:145"/>
          <p:cNvSpPr/>
          <p:nvPr/>
        </p:nvSpPr>
        <p:spPr>
          <a:xfrm>
            <a:off x="548640" y="38404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21" name="anim:4:146"/>
          <p:cNvSpPr/>
          <p:nvPr/>
        </p:nvSpPr>
        <p:spPr>
          <a:xfrm>
            <a:off x="777240" y="4087368"/>
            <a:ext cx="438912" cy="43891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2" name="anim:4:147"/>
          <p:cNvSpPr txBox="1"/>
          <p:nvPr/>
        </p:nvSpPr>
        <p:spPr>
          <a:xfrm>
            <a:off x="777240" y="4087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anim:4:148"/>
          <p:cNvSpPr txBox="1"/>
          <p:nvPr/>
        </p:nvSpPr>
        <p:spPr>
          <a:xfrm>
            <a:off x="1371600" y="404164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com vírgula, nula ou nascida em 1900</a:t>
            </a:r>
            <a:endParaRPr lang="en-US" sz="1500" dirty="0"/>
          </a:p>
        </p:txBody>
      </p:sp>
      <p:sp>
        <p:nvSpPr>
          <p:cNvPr id="24" name="anim:4:149"/>
          <p:cNvSpPr txBox="1"/>
          <p:nvPr/>
        </p:nvSpPr>
        <p:spPr>
          <a:xfrm>
            <a:off x="822960" y="4892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recalculada pelo nascimento; impossível vira não informada</a:t>
            </a:r>
            <a:endParaRPr lang="en-US" sz="1400" dirty="0"/>
          </a:p>
        </p:txBody>
      </p:sp>
      <p:sp>
        <p:nvSpPr>
          <p:cNvPr id="25" name="anim:5:150"/>
          <p:cNvSpPr/>
          <p:nvPr/>
        </p:nvSpPr>
        <p:spPr>
          <a:xfrm>
            <a:off x="4297680" y="38404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26" name="anim:5:151"/>
          <p:cNvSpPr/>
          <p:nvPr/>
        </p:nvSpPr>
        <p:spPr>
          <a:xfrm>
            <a:off x="4526280" y="4087368"/>
            <a:ext cx="438912" cy="43891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7" name="anim:5:152"/>
          <p:cNvSpPr txBox="1"/>
          <p:nvPr/>
        </p:nvSpPr>
        <p:spPr>
          <a:xfrm>
            <a:off x="4526280" y="4087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anim:5:153"/>
          <p:cNvSpPr txBox="1"/>
          <p:nvPr/>
        </p:nvSpPr>
        <p:spPr>
          <a:xfrm>
            <a:off x="5120640" y="404164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em cinco formatos, inclusive serial do Excel</a:t>
            </a:r>
            <a:endParaRPr lang="en-US" sz="1500" dirty="0"/>
          </a:p>
        </p:txBody>
      </p:sp>
      <p:sp>
        <p:nvSpPr>
          <p:cNvPr id="29" name="anim:5:154"/>
          <p:cNvSpPr txBox="1"/>
          <p:nvPr/>
        </p:nvSpPr>
        <p:spPr>
          <a:xfrm>
            <a:off x="4572000" y="4892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lidos; fora da janela do ano letivo, descartadas</a:t>
            </a:r>
            <a:endParaRPr lang="en-US" sz="1400" dirty="0"/>
          </a:p>
        </p:txBody>
      </p:sp>
      <p:sp>
        <p:nvSpPr>
          <p:cNvPr id="30" name="anim:6:155"/>
          <p:cNvSpPr/>
          <p:nvPr/>
        </p:nvSpPr>
        <p:spPr>
          <a:xfrm>
            <a:off x="8046720" y="38404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31" name="anim:6:156"/>
          <p:cNvSpPr/>
          <p:nvPr/>
        </p:nvSpPr>
        <p:spPr>
          <a:xfrm>
            <a:off x="8275320" y="4087368"/>
            <a:ext cx="438912" cy="43891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2" name="anim:6:157"/>
          <p:cNvSpPr txBox="1"/>
          <p:nvPr/>
        </p:nvSpPr>
        <p:spPr>
          <a:xfrm>
            <a:off x="8275320" y="4087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anim:6:158"/>
          <p:cNvSpPr txBox="1"/>
          <p:nvPr/>
        </p:nvSpPr>
        <p:spPr>
          <a:xfrm>
            <a:off x="8869680" y="404164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suprimidos pelo IBGE em setores pequenos</a:t>
            </a:r>
            <a:endParaRPr lang="en-US" sz="1500" dirty="0"/>
          </a:p>
        </p:txBody>
      </p:sp>
      <p:sp>
        <p:nvSpPr>
          <p:cNvPr id="34" name="anim:6:159"/>
          <p:cNvSpPr txBox="1"/>
          <p:nvPr/>
        </p:nvSpPr>
        <p:spPr>
          <a:xfrm>
            <a:off x="8321040" y="4892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6.543 valores ficam nulos, nunca zero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E5EA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"/>
                            </p:stCondLst>
                            <p:childTnLst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"/>
                            </p:stCondLst>
                            <p:childTnLst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"/>
                            </p:stCondLst>
                            <p:childTnLst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50"/>
                            </p:stCondLst>
                            <p:childTnLst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0"/>
                            </p:stCondLst>
                            <p:childTnLst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"/>
                            </p:stCondLst>
                            <p:childTnLst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50"/>
                            </p:stCondLst>
                            <p:childTnLst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5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250"/>
                            </p:stCondLst>
                            <p:childTnLst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250"/>
                            </p:stCondLst>
                            <p:childTnLst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FONTES E INTEGRAÇÃO · THIAGO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 e aditividade dos fatos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834640"/>
                <a:gridCol w="3657600"/>
                <a:gridCol w="246888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 de fatos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Aditividade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Matrícula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vínculo aluno-turma × ano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quantidade (=1), dias de matrícula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5E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aditivo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distrito × mês × etapa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matrículas, em processo, demanda e categorias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8A5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semiaditivo (estoque)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Desfecho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escola × ano × série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contagens por desfecho; taxas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5E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aditivo; taxas não aditivas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Ocupação de Turma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turma × ano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turmas, matrículas, ativas em junho; alunos por turma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5E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aditivo; média não aditiva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 censitário × faixa × Censo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8A5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semiaditivo (estoque)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6" name="anim:1:160"/>
          <p:cNvSpPr/>
          <p:nvPr/>
        </p:nvSpPr>
        <p:spPr>
          <a:xfrm>
            <a:off x="548640" y="54406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7" name="anim:1:161"/>
          <p:cNvSpPr txBox="1"/>
          <p:nvPr/>
        </p:nvSpPr>
        <p:spPr>
          <a:xfrm>
            <a:off x="548640" y="54406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aditivo</a:t>
            </a:r>
            <a:endParaRPr lang="en-US" sz="1200" dirty="0"/>
          </a:p>
        </p:txBody>
      </p:sp>
      <p:sp>
        <p:nvSpPr>
          <p:cNvPr id="8" name="anim:1:162"/>
          <p:cNvSpPr txBox="1"/>
          <p:nvPr/>
        </p:nvSpPr>
        <p:spPr>
          <a:xfrm>
            <a:off x="2103120" y="54406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6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em todas as dimensões</a:t>
            </a:r>
            <a:endParaRPr lang="en-US" sz="1200" dirty="0"/>
          </a:p>
        </p:txBody>
      </p:sp>
      <p:sp>
        <p:nvSpPr>
          <p:cNvPr id="9" name="anim:2:163"/>
          <p:cNvSpPr/>
          <p:nvPr/>
        </p:nvSpPr>
        <p:spPr>
          <a:xfrm>
            <a:off x="4297680" y="54406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8A5300"/>
          </a:solidFill>
          <a:ln w="12700">
            <a:solidFill>
              <a:srgbClr val="8A5300"/>
            </a:solidFill>
            <a:prstDash val="solid"/>
          </a:ln>
        </p:spPr>
      </p:sp>
      <p:sp>
        <p:nvSpPr>
          <p:cNvPr id="10" name="anim:2:164"/>
          <p:cNvSpPr txBox="1"/>
          <p:nvPr/>
        </p:nvSpPr>
        <p:spPr>
          <a:xfrm>
            <a:off x="4297680" y="54406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semiaditivo</a:t>
            </a:r>
            <a:endParaRPr lang="en-US" sz="1200" dirty="0"/>
          </a:p>
        </p:txBody>
      </p:sp>
      <p:sp>
        <p:nvSpPr>
          <p:cNvPr id="11" name="anim:2:165"/>
          <p:cNvSpPr txBox="1"/>
          <p:nvPr/>
        </p:nvSpPr>
        <p:spPr>
          <a:xfrm>
            <a:off x="5852160" y="54406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6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estoque: não soma no tempo</a:t>
            </a:r>
            <a:endParaRPr lang="en-US" sz="1200" dirty="0"/>
          </a:p>
        </p:txBody>
      </p:sp>
      <p:sp>
        <p:nvSpPr>
          <p:cNvPr id="12" name="anim:3:166"/>
          <p:cNvSpPr/>
          <p:nvPr/>
        </p:nvSpPr>
        <p:spPr>
          <a:xfrm>
            <a:off x="8046720" y="54406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566175"/>
          </a:solidFill>
          <a:ln w="12700">
            <a:solidFill>
              <a:srgbClr val="566175"/>
            </a:solidFill>
            <a:prstDash val="solid"/>
          </a:ln>
        </p:spPr>
      </p:sp>
      <p:sp>
        <p:nvSpPr>
          <p:cNvPr id="13" name="anim:3:167"/>
          <p:cNvSpPr txBox="1"/>
          <p:nvPr/>
        </p:nvSpPr>
        <p:spPr>
          <a:xfrm>
            <a:off x="8046720" y="54406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aditivo</a:t>
            </a:r>
            <a:endParaRPr lang="en-US" sz="1200" dirty="0"/>
          </a:p>
        </p:txBody>
      </p:sp>
      <p:sp>
        <p:nvSpPr>
          <p:cNvPr id="14" name="anim:3:168"/>
          <p:cNvSpPr txBox="1"/>
          <p:nvPr/>
        </p:nvSpPr>
        <p:spPr>
          <a:xfrm>
            <a:off x="9601200" y="54406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6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recalculado a partir das somas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E5EA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FONTES E INTEGRAÇÃO · THIAGO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estrela Matrícula</a:t>
            </a:r>
            <a:endParaRPr lang="en-US" sz="3200" dirty="0"/>
          </a:p>
        </p:txBody>
      </p:sp>
      <p:sp>
        <p:nvSpPr>
          <p:cNvPr id="5" name="anim:1:169"/>
          <p:cNvSpPr/>
          <p:nvPr/>
        </p:nvSpPr>
        <p:spPr>
          <a:xfrm>
            <a:off x="548640" y="1463040"/>
            <a:ext cx="749808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pic>
        <p:nvPicPr>
          <p:cNvPr id="6" name="anim:1:170" descr="Esquema estrela Matrícula: tabela de fatos Matrícula no centro, ligada a dez dimensõ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738" y="1600200"/>
            <a:ext cx="5857883" cy="4297680"/>
          </a:xfrm>
          <a:prstGeom prst="rect">
            <a:avLst/>
          </a:prstGeom>
        </p:spPr>
      </p:pic>
      <p:sp>
        <p:nvSpPr>
          <p:cNvPr id="7" name="anim:2:171"/>
          <p:cNvSpPr/>
          <p:nvPr/>
        </p:nvSpPr>
        <p:spPr>
          <a:xfrm>
            <a:off x="8275320" y="1463040"/>
            <a:ext cx="3337560" cy="4572000"/>
          </a:xfrm>
          <a:prstGeom prst="roundRect">
            <a:avLst>
              <a:gd name="adj" fmla="val 3288"/>
            </a:avLst>
          </a:prstGeom>
          <a:solidFill>
            <a:srgbClr val="EEF2F8"/>
          </a:solidFill>
          <a:ln w="9525">
            <a:solidFill>
              <a:srgbClr val="EEF2F8"/>
            </a:solidFill>
            <a:prstDash val="solid"/>
          </a:ln>
        </p:spPr>
      </p:sp>
      <p:sp>
        <p:nvSpPr>
          <p:cNvPr id="8" name="anim:2:172"/>
          <p:cNvSpPr txBox="1"/>
          <p:nvPr/>
        </p:nvSpPr>
        <p:spPr>
          <a:xfrm>
            <a:off x="8458200" y="1645920"/>
            <a:ext cx="301752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 dois papéis: início e fim da matrícula.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Ocorrência contada por campo artificial (= 1), como em fatos sem fato.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Bugigangas: Perfil, Deficiência, Situação.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Degeneradas: id turma, código da matrícula.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Escola: mudança lenta tipo 2.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Hierarquias: dia ≤ mês ≤ trimestre ≤ semestre ≤ ano; série ≤ etapa ≤ nível; idade ≤ faixa IBGE.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E5EA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ESQUEMAS · DANIEL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estrela Fila</a:t>
            </a:r>
            <a:endParaRPr lang="en-US" sz="3200" dirty="0"/>
          </a:p>
        </p:txBody>
      </p:sp>
      <p:sp>
        <p:nvSpPr>
          <p:cNvPr id="5" name="anim:1:173"/>
          <p:cNvSpPr/>
          <p:nvPr/>
        </p:nvSpPr>
        <p:spPr>
          <a:xfrm>
            <a:off x="548640" y="1463040"/>
            <a:ext cx="1106424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pic>
        <p:nvPicPr>
          <p:cNvPr id="6" name="anim:1:174" descr="Esquema estrela Fila: tabela de fatos Fila ligada às dimensões Tempo, Território e Etap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583" y="1600200"/>
            <a:ext cx="10270354" cy="3429000"/>
          </a:xfrm>
          <a:prstGeom prst="rect">
            <a:avLst/>
          </a:prstGeom>
        </p:spPr>
      </p:pic>
      <p:sp>
        <p:nvSpPr>
          <p:cNvPr id="7" name="anim:2:175"/>
          <p:cNvSpPr txBox="1"/>
          <p:nvPr/>
        </p:nvSpPr>
        <p:spPr>
          <a:xfrm>
            <a:off x="548640" y="5349240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Grão: distrito × mês × etapa.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Estoque: SOMA no território e na etapa; um único mês no tempo.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mês ≤ trimestre ≤ semestre ≤ ano e mês ≤ bimestre ≤ ano.</a:t>
            </a:r>
            <a:endParaRPr lang="en-US" sz="1500" dirty="0"/>
          </a:p>
        </p:txBody>
      </p:sp>
      <p:sp>
        <p:nvSpPr>
          <p:cNvPr id="8" name="anim:2:176"/>
          <p:cNvSpPr txBox="1"/>
          <p:nvPr/>
        </p:nvSpPr>
        <p:spPr>
          <a:xfrm>
            <a:off x="6172200" y="5349240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Território: distrito ≤ DRE ≤ município ≤ UF.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da planilha: dimensão degenerada.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E5EA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ESQUEMAS · DANIEL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estrela Desfecho</a:t>
            </a:r>
            <a:endParaRPr lang="en-US" sz="3200" dirty="0"/>
          </a:p>
        </p:txBody>
      </p:sp>
      <p:sp>
        <p:nvSpPr>
          <p:cNvPr id="5" name="anim:1:177"/>
          <p:cNvSpPr/>
          <p:nvPr/>
        </p:nvSpPr>
        <p:spPr>
          <a:xfrm>
            <a:off x="548640" y="1463040"/>
            <a:ext cx="1106424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pic>
        <p:nvPicPr>
          <p:cNvPr id="6" name="anim:1:178" descr="Esquema estrela Desfecho: tabela de fatos Desfecho ligada a Ano Letivo, Escola, Território e Sér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80" y="1600200"/>
            <a:ext cx="10667360" cy="3429000"/>
          </a:xfrm>
          <a:prstGeom prst="rect">
            <a:avLst/>
          </a:prstGeom>
        </p:spPr>
      </p:pic>
      <p:sp>
        <p:nvSpPr>
          <p:cNvPr id="7" name="anim:2:179"/>
          <p:cNvSpPr txBox="1"/>
          <p:nvPr/>
        </p:nvSpPr>
        <p:spPr>
          <a:xfrm>
            <a:off x="548640" y="5349240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Grão: escola × ano letivo × série.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 agregado do fato Matrícula.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Contagens por desfecho: SOMA.</a:t>
            </a:r>
            <a:endParaRPr lang="en-US" sz="1500" dirty="0"/>
          </a:p>
        </p:txBody>
      </p:sp>
      <p:sp>
        <p:nvSpPr>
          <p:cNvPr id="8" name="anim:2:180"/>
          <p:cNvSpPr txBox="1"/>
          <p:nvPr/>
        </p:nvSpPr>
        <p:spPr>
          <a:xfrm>
            <a:off x="6172200" y="5349240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Taxas derivadas, não aditivas: recalculadas pelas contagens.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Série: série ≤ etapa ≤ nível.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E5EA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ESQUEMAS · DANIEL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estrela Ocupação de Turma</a:t>
            </a:r>
            <a:endParaRPr lang="en-US" sz="3200" dirty="0"/>
          </a:p>
        </p:txBody>
      </p:sp>
      <p:sp>
        <p:nvSpPr>
          <p:cNvPr id="5" name="anim:1:181"/>
          <p:cNvSpPr/>
          <p:nvPr/>
        </p:nvSpPr>
        <p:spPr>
          <a:xfrm>
            <a:off x="548640" y="1463040"/>
            <a:ext cx="1106424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pic>
        <p:nvPicPr>
          <p:cNvPr id="6" name="anim:1:182" descr="Esquema estrela Ocupação de Turma: tabela de fatos ligada a Ano Letivo, Escola, Território, Série e Tur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8886" y="1600200"/>
            <a:ext cx="7983747" cy="3429000"/>
          </a:xfrm>
          <a:prstGeom prst="rect">
            <a:avLst/>
          </a:prstGeom>
        </p:spPr>
      </p:pic>
      <p:sp>
        <p:nvSpPr>
          <p:cNvPr id="7" name="anim:2:183"/>
          <p:cNvSpPr txBox="1"/>
          <p:nvPr/>
        </p:nvSpPr>
        <p:spPr>
          <a:xfrm>
            <a:off x="548640" y="5349240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Grão: turma × ano letivo.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Turmas (= 1), matrículas e ativas em 30/06: SOMA.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por turma: derivado, recalculado pelas somas.</a:t>
            </a:r>
            <a:endParaRPr lang="en-US" sz="1500" dirty="0"/>
          </a:p>
        </p:txBody>
      </p:sp>
      <p:sp>
        <p:nvSpPr>
          <p:cNvPr id="8" name="anim:2:184"/>
          <p:cNvSpPr txBox="1"/>
          <p:nvPr/>
        </p:nvSpPr>
        <p:spPr>
          <a:xfrm>
            <a:off x="6172200" y="5349240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não publicada por nenhuma fonte: não é estimada.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turma: dimensão degenerada.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E5EA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ESQUEMAS · DANIEL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estrela População</a:t>
            </a:r>
            <a:endParaRPr lang="en-US" sz="3200" dirty="0"/>
          </a:p>
        </p:txBody>
      </p:sp>
      <p:sp>
        <p:nvSpPr>
          <p:cNvPr id="5" name="anim:1:185"/>
          <p:cNvSpPr/>
          <p:nvPr/>
        </p:nvSpPr>
        <p:spPr>
          <a:xfrm>
            <a:off x="548640" y="1463040"/>
            <a:ext cx="1106424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pic>
        <p:nvPicPr>
          <p:cNvPr id="6" name="anim:1:186" descr="Esquema estrela População: tabela de fatos População ligada a Tempo, Setor Censitário, Território e Faixa Etár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2367" y="1600200"/>
            <a:ext cx="9616786" cy="3429000"/>
          </a:xfrm>
          <a:prstGeom prst="rect">
            <a:avLst/>
          </a:prstGeom>
        </p:spPr>
      </p:pic>
      <p:sp>
        <p:nvSpPr>
          <p:cNvPr id="7" name="anim:2:187"/>
          <p:cNvSpPr txBox="1"/>
          <p:nvPr/>
        </p:nvSpPr>
        <p:spPr>
          <a:xfrm>
            <a:off x="548640" y="5349240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Grão: setor censitário × faixa etária × data do Censo.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Estoque: SOMA entre setores e faixas, não no tempo.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censitário ≤ distrito ≤ DRE ≤ município ≤ UF.</a:t>
            </a:r>
            <a:endParaRPr lang="en-US" sz="1500" dirty="0"/>
          </a:p>
        </p:txBody>
      </p:sp>
      <p:sp>
        <p:nvSpPr>
          <p:cNvPr id="8" name="anim:2:188"/>
          <p:cNvSpPr txBox="1"/>
          <p:nvPr/>
        </p:nvSpPr>
        <p:spPr>
          <a:xfrm>
            <a:off x="6172200" y="5349240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Etária: rollup encolhido de Idade.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suprimido pelo IBGE fica nulo.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E5EA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ESQUEMAS · DANIEL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Constelação de fatos</a:t>
            </a:r>
            <a:endParaRPr lang="en-US" sz="3200" dirty="0"/>
          </a:p>
        </p:txBody>
      </p:sp>
      <p:sp>
        <p:nvSpPr>
          <p:cNvPr id="5" name="anim:1:189"/>
          <p:cNvSpPr/>
          <p:nvPr/>
        </p:nvSpPr>
        <p:spPr>
          <a:xfrm>
            <a:off x="548640" y="1463040"/>
            <a:ext cx="1106424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pic>
        <p:nvPicPr>
          <p:cNvPr id="6" name="anim:1:190" descr="Constelação de fatos: cinco tabelas de fatos e catorze dimensões compartilhad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015" y="1600200"/>
            <a:ext cx="9883491" cy="4114800"/>
          </a:xfrm>
          <a:prstGeom prst="rect">
            <a:avLst/>
          </a:prstGeom>
        </p:spPr>
      </p:pic>
      <p:sp>
        <p:nvSpPr>
          <p:cNvPr id="7" name="anim:2:19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6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projeto: matriz de barramento (fato × dimensão), dimensões conformadas e, onde os grãos diferem, rollups encolhidos (tracejado).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E5EA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CONSULTAS E DECISÕES · LUÍS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Oito consultas OLAP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5486400"/>
                <a:gridCol w="310896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5E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drill-down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 de creche: município → DRE → distrito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5E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roll-up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matrículas: etapa → nível → total, ano a ano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Matrícula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5E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 and dice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creche por rede e jornada, 2019 e 2024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Matrícula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5E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 nas linhas, jornada nas colunas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Matrícula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5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drill-across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 contra matrícula ativa em junho, por distrito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Fila, Matrícula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5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drill-across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 de creche e abandono no fundamental, por DRE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Fila, Matrícula, Desfecho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5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drill-across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crianças de 0 a 4 anos: residentes, matriculadas e na fila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População, Matrícula, Fila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5E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drill-down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alunos por turma: município → DRE → distrito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Ocupação de Turma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nim:1:192"/>
          <p:cNvSpPr txBox="1"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Exigido: 2 roll-up ou drill-down, 1 slice and dice, 1 pivot, 1 drill-across. Feito: 3, 1, 1 e 3.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E5EA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CONSULTAS E DECISÕES · LUÍS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fila e oferta de creche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58521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400800" y="1417320"/>
          <a:ext cx="53035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anim:1:193"/>
          <p:cNvSpPr/>
          <p:nvPr/>
        </p:nvSpPr>
        <p:spPr>
          <a:xfrm>
            <a:off x="6446520" y="4526280"/>
            <a:ext cx="5166360" cy="1417320"/>
          </a:xfrm>
          <a:prstGeom prst="roundRect">
            <a:avLst>
              <a:gd name="adj" fmla="val 7742"/>
            </a:avLst>
          </a:prstGeom>
          <a:solidFill>
            <a:srgbClr val="EEF2F8"/>
          </a:solidFill>
          <a:ln w="9525">
            <a:solidFill>
              <a:srgbClr val="EEF2F8"/>
            </a:solidFill>
            <a:prstDash val="solid"/>
          </a:ln>
        </p:spPr>
      </p:sp>
      <p:sp>
        <p:nvSpPr>
          <p:cNvPr id="8" name="anim:1:194"/>
          <p:cNvSpPr txBox="1"/>
          <p:nvPr/>
        </p:nvSpPr>
        <p:spPr>
          <a:xfrm>
            <a:off x="6675120" y="461772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4000" dirty="0"/>
          </a:p>
        </p:txBody>
      </p:sp>
      <p:sp>
        <p:nvSpPr>
          <p:cNvPr id="9" name="anim:1:195"/>
          <p:cNvSpPr txBox="1"/>
          <p:nvPr/>
        </p:nvSpPr>
        <p:spPr>
          <a:xfrm>
            <a:off x="8275320" y="46177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creche é conveniada, quase toda em jornada integral, em 2019 e 2024 (consulta 3).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608990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6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SME-SP, Demanda Registrada e Matrículas e Microdados de Matrículas; consultas 3 e 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E5EA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CONSULTAS E DECISÕES · LUÍS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população e ocupação das turmas</a:t>
            </a:r>
            <a:endParaRPr lang="en-US" sz="3200" dirty="0"/>
          </a:p>
        </p:txBody>
      </p:sp>
      <p:sp>
        <p:nvSpPr>
          <p:cNvPr id="5" name="anim:1:196"/>
          <p:cNvSpPr/>
          <p:nvPr/>
        </p:nvSpPr>
        <p:spPr>
          <a:xfrm>
            <a:off x="548640" y="146304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6" name="anim:1:197"/>
          <p:cNvSpPr txBox="1"/>
          <p:nvPr/>
        </p:nvSpPr>
        <p:spPr>
          <a:xfrm>
            <a:off x="822960" y="1664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7 · 31/07/2022</a:t>
            </a:r>
            <a:endParaRPr lang="en-US" sz="1200" dirty="0"/>
          </a:p>
        </p:txBody>
      </p:sp>
      <p:sp>
        <p:nvSpPr>
          <p:cNvPr id="7" name="anim:1:198"/>
          <p:cNvSpPr txBox="1"/>
          <p:nvPr/>
        </p:nvSpPr>
        <p:spPr>
          <a:xfrm>
            <a:off x="822960" y="196596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6000" dirty="0"/>
          </a:p>
        </p:txBody>
      </p:sp>
      <p:sp>
        <p:nvSpPr>
          <p:cNvPr id="8" name="anim:1:199"/>
          <p:cNvSpPr txBox="1"/>
          <p:nvPr/>
        </p:nvSpPr>
        <p:spPr>
          <a:xfrm>
            <a:off x="2240280" y="21488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por 100 crianças de 0 a 4 anos</a:t>
            </a:r>
            <a:endParaRPr lang="en-US" sz="1700" dirty="0"/>
          </a:p>
        </p:txBody>
      </p:sp>
      <p:sp>
        <p:nvSpPr>
          <p:cNvPr id="9" name="anim:1:200"/>
          <p:cNvSpPr txBox="1"/>
          <p:nvPr/>
        </p:nvSpPr>
        <p:spPr>
          <a:xfrm>
            <a:off x="822960" y="3063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514.131 matrículas ativas para 598.406 crianças residentes.</a:t>
            </a:r>
            <a:endParaRPr lang="en-US" sz="1400" dirty="0"/>
          </a:p>
        </p:txBody>
      </p:sp>
      <p:sp>
        <p:nvSpPr>
          <p:cNvPr id="10" name="anim:2:201"/>
          <p:cNvSpPr/>
          <p:nvPr/>
        </p:nvSpPr>
        <p:spPr>
          <a:xfrm>
            <a:off x="548640" y="402336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EEF2F8"/>
          </a:solidFill>
          <a:ln w="9525">
            <a:solidFill>
              <a:srgbClr val="EEF2F8"/>
            </a:solidFill>
            <a:prstDash val="solid"/>
          </a:ln>
        </p:spPr>
      </p:sp>
      <p:sp>
        <p:nvSpPr>
          <p:cNvPr id="11" name="anim:2:202"/>
          <p:cNvSpPr txBox="1"/>
          <p:nvPr/>
        </p:nvSpPr>
        <p:spPr>
          <a:xfrm>
            <a:off x="822960" y="41879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distrito, longe da média</a:t>
            </a:r>
            <a:endParaRPr lang="en-US" sz="1700" dirty="0"/>
          </a:p>
        </p:txBody>
      </p:sp>
      <p:sp>
        <p:nvSpPr>
          <p:cNvPr id="12" name="anim:2:203"/>
          <p:cNvSpPr txBox="1"/>
          <p:nvPr/>
        </p:nvSpPr>
        <p:spPr>
          <a:xfrm>
            <a:off x="822960" y="46177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distritos com menos de 50 matrículas por 100 crianças; outros 25 com mais de 100. A matrícula conta onde a escola fica; a população, onde a criança mora.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263640" y="1417320"/>
          <a:ext cx="544068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548640" y="608990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6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Censo 2022 (IBGE) e Microdados de Matrículas (SME-SP); consultas 7 e 8.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E5EA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"/>
                            </p:stCondLst>
                            <p:childTnLst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CONSULTAS E DECISÕES · LUÍS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projeto em destaque</a:t>
            </a:r>
            <a:endParaRPr lang="en-US" sz="3200" dirty="0"/>
          </a:p>
        </p:txBody>
      </p:sp>
      <p:sp>
        <p:nvSpPr>
          <p:cNvPr id="5" name="anim:1:204"/>
          <p:cNvSpPr/>
          <p:nvPr/>
        </p:nvSpPr>
        <p:spPr>
          <a:xfrm>
            <a:off x="548640" y="1508760"/>
            <a:ext cx="544068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6" name="anim:1:205"/>
          <p:cNvSpPr/>
          <p:nvPr/>
        </p:nvSpPr>
        <p:spPr>
          <a:xfrm>
            <a:off x="822960" y="1911096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anim:1:206"/>
          <p:cNvSpPr txBox="1"/>
          <p:nvPr/>
        </p:nvSpPr>
        <p:spPr>
          <a:xfrm>
            <a:off x="822960" y="1911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anim:1:207"/>
          <p:cNvSpPr txBox="1"/>
          <p:nvPr/>
        </p:nvSpPr>
        <p:spPr>
          <a:xfrm>
            <a:off x="1600200" y="16916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 mais fino na matrícula</a:t>
            </a:r>
            <a:endParaRPr lang="en-US" sz="1700" dirty="0"/>
          </a:p>
        </p:txBody>
      </p:sp>
      <p:sp>
        <p:nvSpPr>
          <p:cNvPr id="9" name="anim:1:208"/>
          <p:cNvSpPr txBox="1"/>
          <p:nvPr/>
        </p:nvSpPr>
        <p:spPr>
          <a:xfrm>
            <a:off x="1600200" y="21122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aluno-turma: preserva perfil e desfecho de cada aluno</a:t>
            </a:r>
            <a:endParaRPr lang="en-US" sz="1400" dirty="0"/>
          </a:p>
        </p:txBody>
      </p:sp>
      <p:sp>
        <p:nvSpPr>
          <p:cNvPr id="10" name="anim:2:209"/>
          <p:cNvSpPr/>
          <p:nvPr/>
        </p:nvSpPr>
        <p:spPr>
          <a:xfrm>
            <a:off x="6172200" y="1508760"/>
            <a:ext cx="544068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11" name="anim:2:210"/>
          <p:cNvSpPr/>
          <p:nvPr/>
        </p:nvSpPr>
        <p:spPr>
          <a:xfrm>
            <a:off x="6446520" y="1911096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anim:2:211"/>
          <p:cNvSpPr txBox="1"/>
          <p:nvPr/>
        </p:nvSpPr>
        <p:spPr>
          <a:xfrm>
            <a:off x="6446520" y="1911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anim:2:212"/>
          <p:cNvSpPr txBox="1"/>
          <p:nvPr/>
        </p:nvSpPr>
        <p:spPr>
          <a:xfrm>
            <a:off x="7223760" y="16916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Rollups encolhidos</a:t>
            </a:r>
            <a:endParaRPr lang="en-US" sz="1700" dirty="0"/>
          </a:p>
        </p:txBody>
      </p:sp>
      <p:sp>
        <p:nvSpPr>
          <p:cNvPr id="14" name="anim:2:213"/>
          <p:cNvSpPr txBox="1"/>
          <p:nvPr/>
        </p:nvSpPr>
        <p:spPr>
          <a:xfrm>
            <a:off x="7223760" y="21122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fato mantém o seu grão; Etapa, Tempo, Faixa Etária e Território conformam</a:t>
            </a:r>
            <a:endParaRPr lang="en-US" sz="1400" dirty="0"/>
          </a:p>
        </p:txBody>
      </p:sp>
      <p:sp>
        <p:nvSpPr>
          <p:cNvPr id="15" name="anim:3:214"/>
          <p:cNvSpPr/>
          <p:nvPr/>
        </p:nvSpPr>
        <p:spPr>
          <a:xfrm>
            <a:off x="548640" y="3044952"/>
            <a:ext cx="544068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16" name="anim:3:215"/>
          <p:cNvSpPr/>
          <p:nvPr/>
        </p:nvSpPr>
        <p:spPr>
          <a:xfrm>
            <a:off x="822960" y="3447288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7" name="anim:3:216"/>
          <p:cNvSpPr txBox="1"/>
          <p:nvPr/>
        </p:nvSpPr>
        <p:spPr>
          <a:xfrm>
            <a:off x="82296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anim:3:217"/>
          <p:cNvSpPr txBox="1"/>
          <p:nvPr/>
        </p:nvSpPr>
        <p:spPr>
          <a:xfrm>
            <a:off x="1600200" y="32278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 não é zero</a:t>
            </a:r>
            <a:endParaRPr lang="en-US" sz="1700" dirty="0"/>
          </a:p>
        </p:txBody>
      </p:sp>
      <p:sp>
        <p:nvSpPr>
          <p:cNvPr id="19" name="anim:3:218"/>
          <p:cNvSpPr txBox="1"/>
          <p:nvPr/>
        </p:nvSpPr>
        <p:spPr>
          <a:xfrm>
            <a:off x="1600200" y="36484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não publicada fica nula; zero faria a fila sumir</a:t>
            </a:r>
            <a:endParaRPr lang="en-US" sz="1400" dirty="0"/>
          </a:p>
        </p:txBody>
      </p:sp>
      <p:sp>
        <p:nvSpPr>
          <p:cNvPr id="20" name="anim:4:219"/>
          <p:cNvSpPr/>
          <p:nvPr/>
        </p:nvSpPr>
        <p:spPr>
          <a:xfrm>
            <a:off x="6172200" y="3044952"/>
            <a:ext cx="544068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21" name="anim:4:220"/>
          <p:cNvSpPr/>
          <p:nvPr/>
        </p:nvSpPr>
        <p:spPr>
          <a:xfrm>
            <a:off x="6446520" y="3447288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2" name="anim:4:221"/>
          <p:cNvSpPr txBox="1"/>
          <p:nvPr/>
        </p:nvSpPr>
        <p:spPr>
          <a:xfrm>
            <a:off x="644652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anim:4:222"/>
          <p:cNvSpPr txBox="1"/>
          <p:nvPr/>
        </p:nvSpPr>
        <p:spPr>
          <a:xfrm>
            <a:off x="7223760" y="32278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tipo 2</a:t>
            </a:r>
            <a:endParaRPr lang="en-US" sz="1700" dirty="0"/>
          </a:p>
        </p:txBody>
      </p:sp>
      <p:sp>
        <p:nvSpPr>
          <p:cNvPr id="24" name="anim:4:223"/>
          <p:cNvSpPr txBox="1"/>
          <p:nvPr/>
        </p:nvSpPr>
        <p:spPr>
          <a:xfrm>
            <a:off x="7223760" y="36484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 escolas mudam de nome, tipo, distrito ou DRE na série</a:t>
            </a:r>
            <a:endParaRPr lang="en-US" sz="1400" dirty="0"/>
          </a:p>
        </p:txBody>
      </p:sp>
      <p:sp>
        <p:nvSpPr>
          <p:cNvPr id="25" name="anim:5:224"/>
          <p:cNvSpPr/>
          <p:nvPr/>
        </p:nvSpPr>
        <p:spPr>
          <a:xfrm>
            <a:off x="548640" y="4581144"/>
            <a:ext cx="544068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26" name="anim:5:225"/>
          <p:cNvSpPr/>
          <p:nvPr/>
        </p:nvSpPr>
        <p:spPr>
          <a:xfrm>
            <a:off x="822960" y="498348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7" name="anim:5:226"/>
          <p:cNvSpPr txBox="1"/>
          <p:nvPr/>
        </p:nvSpPr>
        <p:spPr>
          <a:xfrm>
            <a:off x="82296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anim:5:227"/>
          <p:cNvSpPr txBox="1"/>
          <p:nvPr/>
        </p:nvSpPr>
        <p:spPr>
          <a:xfrm>
            <a:off x="1600200" y="47640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não inventada</a:t>
            </a:r>
            <a:endParaRPr lang="en-US" sz="1700" dirty="0"/>
          </a:p>
        </p:txBody>
      </p:sp>
      <p:sp>
        <p:nvSpPr>
          <p:cNvPr id="29" name="anim:5:228"/>
          <p:cNvSpPr txBox="1"/>
          <p:nvPr/>
        </p:nvSpPr>
        <p:spPr>
          <a:xfrm>
            <a:off x="1600200" y="51846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 medida pelos alunos ativos; nenhuma vaga estimada</a:t>
            </a:r>
            <a:endParaRPr lang="en-US" sz="1400" dirty="0"/>
          </a:p>
        </p:txBody>
      </p:sp>
      <p:sp>
        <p:nvSpPr>
          <p:cNvPr id="30" name="anim:6:229"/>
          <p:cNvSpPr/>
          <p:nvPr/>
        </p:nvSpPr>
        <p:spPr>
          <a:xfrm>
            <a:off x="6172200" y="4581144"/>
            <a:ext cx="544068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31" name="anim:6:230"/>
          <p:cNvSpPr/>
          <p:nvPr/>
        </p:nvSpPr>
        <p:spPr>
          <a:xfrm>
            <a:off x="6446520" y="498348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2" name="anim:6:231"/>
          <p:cNvSpPr txBox="1"/>
          <p:nvPr/>
        </p:nvSpPr>
        <p:spPr>
          <a:xfrm>
            <a:off x="644652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anim:6:232"/>
          <p:cNvSpPr txBox="1"/>
          <p:nvPr/>
        </p:nvSpPr>
        <p:spPr>
          <a:xfrm>
            <a:off x="7223760" y="47640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de referência</a:t>
            </a:r>
            <a:endParaRPr lang="en-US" sz="1700" dirty="0"/>
          </a:p>
        </p:txBody>
      </p:sp>
      <p:sp>
        <p:nvSpPr>
          <p:cNvPr id="34" name="anim:6:233"/>
          <p:cNvSpPr txBox="1"/>
          <p:nvPr/>
        </p:nvSpPr>
        <p:spPr>
          <a:xfrm>
            <a:off x="7223760" y="51846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para fila × matrícula; 31/07/2022 para população × matrícula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E5EA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"/>
                            </p:stCondLst>
                            <p:childTnLst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"/>
                            </p:stCondLst>
                            <p:childTnLst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"/>
                            </p:stCondLst>
                            <p:childTnLst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50"/>
                            </p:stCondLst>
                            <p:childTnLst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0"/>
                            </p:stCondLst>
                            <p:childTnLst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"/>
                            </p:stCondLst>
                            <p:childTnLst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50"/>
                            </p:stCondLst>
                            <p:childTnLst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5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250"/>
                            </p:stCondLst>
                            <p:childTnLst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250"/>
                            </p:stCondLst>
                            <p:childTnLst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CONSULTAS E DECISÕES · LUÍS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 Perguntas?</a:t>
            </a:r>
            <a:endParaRPr lang="en-US" sz="3200" dirty="0"/>
          </a:p>
        </p:txBody>
      </p:sp>
      <p:sp>
        <p:nvSpPr>
          <p:cNvPr id="5" name="anim:1:234"/>
          <p:cNvSpPr/>
          <p:nvPr/>
        </p:nvSpPr>
        <p:spPr>
          <a:xfrm>
            <a:off x="548640" y="160020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A4D73"/>
            </a:solidFill>
            <a:prstDash val="solid"/>
          </a:ln>
        </p:spPr>
      </p:sp>
      <p:sp>
        <p:nvSpPr>
          <p:cNvPr id="6" name="anim:1:235"/>
          <p:cNvSpPr txBox="1"/>
          <p:nvPr/>
        </p:nvSpPr>
        <p:spPr>
          <a:xfrm>
            <a:off x="822960" y="17190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13,4 mi</a:t>
            </a:r>
            <a:endParaRPr lang="en-US" sz="3400" dirty="0"/>
          </a:p>
        </p:txBody>
      </p:sp>
      <p:sp>
        <p:nvSpPr>
          <p:cNvPr id="7" name="anim:1:236"/>
          <p:cNvSpPr txBox="1"/>
          <p:nvPr/>
        </p:nvSpPr>
        <p:spPr>
          <a:xfrm>
            <a:off x="822960" y="24048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de 2015 a 2024</a:t>
            </a:r>
            <a:endParaRPr lang="en-US" sz="1400" dirty="0"/>
          </a:p>
        </p:txBody>
      </p:sp>
      <p:sp>
        <p:nvSpPr>
          <p:cNvPr id="8" name="anim:2:237"/>
          <p:cNvSpPr/>
          <p:nvPr/>
        </p:nvSpPr>
        <p:spPr>
          <a:xfrm>
            <a:off x="4297680" y="160020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A4D73"/>
            </a:solidFill>
            <a:prstDash val="solid"/>
          </a:ln>
        </p:spPr>
      </p:sp>
      <p:sp>
        <p:nvSpPr>
          <p:cNvPr id="9" name="anim:2:238"/>
          <p:cNvSpPr txBox="1"/>
          <p:nvPr/>
        </p:nvSpPr>
        <p:spPr>
          <a:xfrm>
            <a:off x="4572000" y="17190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551 mil</a:t>
            </a:r>
            <a:endParaRPr lang="en-US" sz="3400" dirty="0"/>
          </a:p>
        </p:txBody>
      </p:sp>
      <p:sp>
        <p:nvSpPr>
          <p:cNvPr id="10" name="anim:2:239"/>
          <p:cNvSpPr txBox="1"/>
          <p:nvPr/>
        </p:nvSpPr>
        <p:spPr>
          <a:xfrm>
            <a:off x="4572000" y="24048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turmas carregadas</a:t>
            </a:r>
            <a:endParaRPr lang="en-US" sz="1400" dirty="0"/>
          </a:p>
        </p:txBody>
      </p:sp>
      <p:sp>
        <p:nvSpPr>
          <p:cNvPr id="11" name="anim:3:240"/>
          <p:cNvSpPr/>
          <p:nvPr/>
        </p:nvSpPr>
        <p:spPr>
          <a:xfrm>
            <a:off x="8046720" y="160020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A4D73"/>
            </a:solidFill>
            <a:prstDash val="solid"/>
          </a:ln>
        </p:spPr>
      </p:sp>
      <p:sp>
        <p:nvSpPr>
          <p:cNvPr id="12" name="anim:3:241"/>
          <p:cNvSpPr txBox="1"/>
          <p:nvPr/>
        </p:nvSpPr>
        <p:spPr>
          <a:xfrm>
            <a:off x="8321040" y="17190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26.889</a:t>
            </a:r>
            <a:endParaRPr lang="en-US" sz="3400" dirty="0"/>
          </a:p>
        </p:txBody>
      </p:sp>
      <p:sp>
        <p:nvSpPr>
          <p:cNvPr id="13" name="anim:3:242"/>
          <p:cNvSpPr txBox="1"/>
          <p:nvPr/>
        </p:nvSpPr>
        <p:spPr>
          <a:xfrm>
            <a:off x="8321040" y="24048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censitários</a:t>
            </a:r>
            <a:endParaRPr lang="en-US" sz="1400" dirty="0"/>
          </a:p>
        </p:txBody>
      </p:sp>
      <p:sp>
        <p:nvSpPr>
          <p:cNvPr id="14" name="anim:4:243"/>
          <p:cNvSpPr txBox="1"/>
          <p:nvPr/>
        </p:nvSpPr>
        <p:spPr>
          <a:xfrm>
            <a:off x="548640" y="324612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Relatório: descrição do problema, povoamento atributo por atributo, cinco estrelas, constelação e oito consultas.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Repositório: pipeline do portal ao DuckDB, 14 verificações de qualidade e testes automáticos, inclusive da modelagem.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real: 13,4 milhões de matrículas, 551 mil turmas e 26.889 setores censitários em 3,5 minutos, sem nenhuma FALHA nas verificações.</a:t>
            </a:r>
            <a:endParaRPr lang="en-US" sz="1600" dirty="0"/>
          </a:p>
        </p:txBody>
      </p:sp>
      <p:sp>
        <p:nvSpPr>
          <p:cNvPr id="15" name="anim:5:244"/>
          <p:cNvSpPr txBox="1"/>
          <p:nvPr/>
        </p:nvSpPr>
        <p:spPr>
          <a:xfrm>
            <a:off x="548640" y="52120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github.com/kevennlaranjeira/OLAP2026</a:t>
            </a:r>
            <a:endParaRPr lang="en-US" sz="1800" dirty="0"/>
          </a:p>
        </p:txBody>
      </p:sp>
      <p:sp>
        <p:nvSpPr>
          <p:cNvPr id="16" name="anim:5:245"/>
          <p:cNvSpPr txBox="1"/>
          <p:nvPr/>
        </p:nvSpPr>
        <p:spPr>
          <a:xfrm>
            <a:off x="54864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Kevenn Laranjeira de Oliveira  ·  Thiago Rodrigues Gouveia da Silva  ·  Daniel Afonso Borges dos Santos  ·  Luís Antônio Arruda Soares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0776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2A54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"/>
                            </p:stCondLst>
                            <p:childTnLst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B2A4A"/>
      </a:dk2>
      <a:lt2>
        <a:srgbClr val="EEF2F8"/>
      </a:lt2>
      <a:accent1>
        <a:srgbClr val="2E5EAA"/>
      </a:accent1>
      <a:accent2>
        <a:srgbClr val="F2A541"/>
      </a:accent2>
      <a:accent3>
        <a:srgbClr val="566175"/>
      </a:accent3>
      <a:accent4>
        <a:srgbClr val="8FA6CB"/>
      </a:accent4>
      <a:accent5>
        <a:srgbClr val="8A5300"/>
      </a:accent5>
      <a:accent6>
        <a:srgbClr val="D6E0F0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 Municipal Paulistana: oferta escolar e demanda não atendida</dc:title>
  <dc:subject>PptxGenJS Presentation</dc:subject>
  <dc:creator>Grupo 7, SCC0245</dc:creator>
  <cp:lastModifiedBy>Grupo 7, SCC0245</cp:lastModifiedBy>
  <cp:revision>1</cp:revision>
  <dcterms:created xsi:type="dcterms:W3CDTF">2026-10-27T18:28:06Z</dcterms:created>
  <dcterms:modified xsi:type="dcterms:W3CDTF">2026-10-27T18:28:06Z</dcterms:modified>
</cp:coreProperties>
</file>