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3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B2A4A"/>
                </a:solidFill>
                <a:latin typeface="Calibri"/>
              </a:defRPr>
            </a:pPr>
            <a:r>
              <a:rPr sz="1500" b="0" i="0" u="none" strike="noStrike">
                <a:solidFill>
                  <a:srgbClr val="1B2A4A"/>
                </a:solidFill>
                <a:latin typeface="Calibri"/>
              </a:rPr>
              <a:t>Crianças na fila de creche em junho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Fila de creche em junho</c:v>
                </c:pt>
              </c:strCache>
            </c:strRef>
          </c:tx>
          <c:spPr>
            <a:solidFill>
              <a:srgbClr val="2E5EA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124741</c:v>
                </c:pt>
                <c:pt idx="1">
                  <c:v>103496</c:v>
                </c:pt>
                <c:pt idx="2">
                  <c:v>104268</c:v>
                </c:pt>
                <c:pt idx="3">
                  <c:v>66714</c:v>
                </c:pt>
                <c:pt idx="4">
                  <c:v>48910</c:v>
                </c:pt>
                <c:pt idx="5">
                  <c:v>22732</c:v>
                </c:pt>
                <c:pt idx="6">
                  <c:v>8767</c:v>
                </c:pt>
                <c:pt idx="7">
                  <c:v>4761</c:v>
                </c:pt>
                <c:pt idx="8">
                  <c:v>4913</c:v>
                </c:pt>
                <c:pt idx="9">
                  <c:v>3633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6617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6617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B2A4A"/>
                </a:solidFill>
                <a:latin typeface="Calibri"/>
              </a:defRPr>
            </a:pPr>
            <a:r>
              <a:rPr sz="1500" b="0" i="0" u="none" strike="noStrike">
                <a:solidFill>
                  <a:srgbClr val="1B2A4A"/>
                </a:solidFill>
                <a:latin typeface="Calibri"/>
              </a:rPr>
              <a:t>Fração da demanda de creche fora da rede (%)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Fração fora da rede</c:v>
                </c:pt>
              </c:strCache>
            </c:strRef>
          </c:tx>
          <c:spPr>
            <a:solidFill>
              <a:srgbClr val="F2A541"/>
            </a:solidFill>
            <a:ln w="38100" cap="flat">
              <a:solidFill>
                <a:srgbClr val="F2A541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F2A541"/>
              </a:solidFill>
              <a:ln w="9525" cap="flat">
                <a:solidFill>
                  <a:srgbClr val="F2A5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34.1</c:v>
                </c:pt>
                <c:pt idx="1">
                  <c:v>27.1</c:v>
                </c:pt>
                <c:pt idx="2">
                  <c:v>26.6</c:v>
                </c:pt>
                <c:pt idx="3">
                  <c:v>17.5</c:v>
                </c:pt>
                <c:pt idx="4">
                  <c:v>12.8</c:v>
                </c:pt>
                <c:pt idx="5">
                  <c:v>6.2</c:v>
                </c:pt>
                <c:pt idx="6">
                  <c:v>2.4</c:v>
                </c:pt>
                <c:pt idx="7">
                  <c:v>1.3</c:v>
                </c:pt>
                <c:pt idx="8">
                  <c:v>1.4</c:v>
                </c:pt>
                <c:pt idx="9">
                  <c:v>1.1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F2937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6617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6617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B2A4A"/>
                </a:solidFill>
                <a:latin typeface="Calibri"/>
              </a:defRPr>
            </a:pPr>
            <a:r>
              <a:rPr sz="1500" b="0" i="0" u="none" strike="noStrike">
                <a:solidFill>
                  <a:srgbClr val="1B2A4A"/>
                </a:solidFill>
                <a:latin typeface="Calibri"/>
              </a:rPr>
              <a:t>Alunos por turma em 30 de junho (consulta 8)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2E5EA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Creche</c:v>
                  </c:pt>
                  <c:pt idx="1">
                    <c:v>Pré-escola</c:v>
                  </c:pt>
                  <c:pt idx="2">
                    <c:v>Fund. iniciais</c:v>
                  </c:pt>
                  <c:pt idx="3">
                    <c:v>Fund. finais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11.5</c:v>
                </c:pt>
                <c:pt idx="1">
                  <c:v>30.7</c:v>
                </c:pt>
                <c:pt idx="2">
                  <c:v>28.7</c:v>
                </c:pt>
                <c:pt idx="3">
                  <c:v>29.4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Creche</c:v>
                  </c:pt>
                  <c:pt idx="1">
                    <c:v>Pré-escola</c:v>
                  </c:pt>
                  <c:pt idx="2">
                    <c:v>Fund. iniciais</c:v>
                  </c:pt>
                  <c:pt idx="3">
                    <c:v>Fund. finais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</c:v>
                </c:pt>
                <c:pt idx="1">
                  <c:v>26.9</c:v>
                </c:pt>
                <c:pt idx="2">
                  <c:v>30.6</c:v>
                </c:pt>
                <c:pt idx="3">
                  <c:v>31.6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6617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3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6617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9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0,25 min.
Abertura curta: o grupo, a disciplina e o tema, política pública municipal de educação. Não parar na capa; a história começa no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0,75 min.
A Ana é uma persona hipotética, inventada para dar rosto ao problema; os números do Grajaú são reais e saem da nossa carga. Ela mora no Grajaú, tem um filho de 1 ano e precisa de creche perto de casa para voltar a trabalhar. O Grajaú é o distrito com mais crianças de 0 a 4 anos, 24.398 no Censo 2022, e em junho de 2015 tinha a maior fila de creche da cidade: 8.018 crianças. Em junho de 2024 eram 88. A fila dela quase acabou, e a pergunta passa a ser para onde vai a próxima vaga.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0,75 min.
Do caso da Ana para a cidade. A falta de vaga em creche foi por anos o principal problema de acesso da educação infantil paulistana, e o PNE (Lei 13.005/2014), Meta 1, pede creche para pelo menos metade das crianças de até 3 anos e pré-escola universal. A fila de creche em junho caiu de 124.741 crianças em 2015 para 3.633 em 2024, e a parte da demanda fora da rede passou de 34% para 1%. Mesmo assim, em 2024 havia fila nos 96 distritos, e no Censo 2022 a oferta ia de menos de 50 a mais de 100 matrículas por 100 crianças de 0 a 4 anos, conforme o distrito. A pergunta do gestor deixou de ser quantas vagas abrir e virou onde abrir.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0,75 min.
Para saber onde, o gestor precisa cruzar quatro coisas: quem está na fila, quem já tem vaga, se as turmas estão cheias e quantas crianças moram em cada lugar. Hoje cada uma está numa base: a fila em planilhas por distrito, publicadas em sete formatos; a matrícula num microdado de 13,4 milhões de linhas, com o código da escola corrompido de 2022 a 2024; a população no Censo do IBGE, por setor censitário e em faixas de cinco anos. Nem o nome do distrito é escrito igual. Nossa solução junta as três num data warehouse: um comando baixa, limpa, carrega e confere tudo, cinco fatos e catorze dimensões se cruzam por distrito, etapa e data, e catorze verificações rodam a cada carga. Quem usa é a Secretaria Municipal de Educação e as 13 Diretorias Regionais.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0,5 min.
Com as bases juntas, o gestor responde quatro perguntas, cada uma apoiada pelas consultas que o Luís mostra no bloco 4. A primeira, onde abrir vagas, é a pergunta da Ana. A capacidade das turmas não é publicada, então medimos a ocupação.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0,75 min.
De volta à Ana, agora com o data warehouse. No Grajaú, a fila de creche de junho caiu de 8.018 para 88 crianças entre 2015 e 2024, e havia 82,7 matrículas de crianças de 0 a 4 anos para cada 100 crianças dessa idade morando no distrito. No Tremembé, a fila de 2024 era de 153 crianças, a segunda maior da cidade, e a oferta era de 71,6 por 100, abaixo da média do município, de 86. Olhando só o tamanho, o Grajaú pareceria a escolha óbvia; com as bases cruzadas, o Tremembé aparece como candidato à próxima vaga. Se perguntarem: a matrícula conta onde a escola fica e a população onde a criança mora, então a razão é oferta por criança residente, não taxa de atendimento.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0,5 min.
O enunciado temático prioriza São Carlos, e nossa primeira proposta foi lá. Sem dado aberto de vaga nem de fila, a demanda não atendida teria de ser estimada, e o enunciado pede dados reais. São Paulo publica o microdado de cada matrícula e a fila por distrito. O modelo vale para São Carlos: matrícula, turma e desfecho vêm do registro que todo sistema de gestão escolar mantém, e o Censo 2022 tem população por setor para todos os municípios.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0,5 min.
Os cinco assuntos são os que registramos na nossa planilha, e cada um responde a uma parte da decisão de onde abrir vagas. Quatro viram tabelas de fatos; a oferta por setor sai das dimensões Escola, Território e Setor Censitário. O quinto processo, desfecho da matrícula, acompanha o que acontece depois do acesso.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0,25 min.
Fechar o bloco mostrando o caminho até a solução: o Thiago mostra de onde vêm os dados e como foram integrados, o Daniel mostra os esquemas e o Luís mostra as consultas e os resultados. Passar a palavra ao Thiago.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 Tempo previsto: 1 min.
Duas fontes da SME no Portal de Dados Abertos da Prefeitura, com grão, formato e vocabulário diferentes, e o Censo 2022 do IBGE. A fila tem sete formatos entre 2006 e 2026, e o significado das colunas numeradas muda com o formato. O Censo traz a demanda potencial: quantas crianças moram em cada setor. Na carga real entraram 26.889 setores do município, todos ligados a um distrito da SME.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 Tempo previsto: 1 min.
Exemplos de integração exigidos no enunciado. Distrito: maiúsculas sem acento na SME, com acento no IBGE; a regra de normalização é a mesma. Idade: simples no microdado, grupos de cinco anos no IBGE; a dimensão Idade carrega a faixa do IBGE. CD_SETOR é um homônimo: na SME é setor administrativo de 4 dígitos, no IBGE setor censitário de 15. A prova de que a integração entre as bases da SME está certa: contando no microdado as matrículas ativas em junho, a diferença para a planilha fica abaixo de 1% de 2015 a 2020.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 Tempo previsto: 1 min.
Cada problema foi medido nos dados reais e tratado por uma regra testada. O mais grave: de 2022 a 2024 o código da escola chega corrompido; recuperamos o código real pelo nome, tipo e distrito para 94,8% a 98,6% das matrículas. Princípio: medida não publicada fica nula, nunca zero. O pipeline roda catorze verificações automáticas depois de cada carga; na carga real nenhuma deu FALHA.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 Tempo previsto: 1 min.
Grão declarado antes das dimensões. Matrícula no grão mais fino que a fonte permite; fila no grão em que a prefeitura publica; desfecho e ocupação são fatos agregados do fato de matrícula; população no grão do IBGE. Fila e população são estoques: somam no território, não no tempo. Taxas e alunos por turma são derivados não aditivos, sempre recalculados a partir das somas.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 Tempo previsto: 1 min.
Fato no centro, dez dimensões. Dimensão Data com dois papéis, início e fim da matrícula, como a data de internação e de alta do artigo da disciplina: as duas datas permitem contar matrículas ativas em um dia. O fato principal é a ocorrência do vínculo, contada por um campo artificial igual a 1, técnica de tabela de fatos sem fato; a única medida é dias de matrícula. Três bugigangas. Duas degeneradas. Escola é mudança lenta tipo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 Tempo previsto: 1 min.
Fila: medidas nulas onde a prefeitura não publicou a quebra; formato da planilha como dimensão degenerada. Tempo tem duas hierarquias porque a fila foi trimestral até 2022 e bimestral depois. A fila é estoque: soma entre distritos e etapas, mas no tempo se escolhe um mês, nunca se soma.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 Tempo previsto: 1 min.
Desfecho: fato agregado do fato de matrícula, porque taxa de rendimento só faz sentido sobre um conjunto de alunos. As contagens somam; as taxas são recalculadas pelas contagens em qualquer nível, nunca como média de taxas. Na educação infantil não há aprovação, então a taxa fica nula.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 Tempo previsto: 1 min.
Ocupação de turma: agregado do fato de matrícula pelo id da turma. A capacidade não é publicada, então medimos os alunos ativos em 30 de junho por turma em funcionamento. A média é sempre soma de alunos dividida por soma de turmas.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 Tempo previsto: 1 min.
População: Censo 2022 no grão de setor censitário, a menor unidade territorial do modelo. Na carga real são 26.889 setores, todos ligados a um distrito da SME, e 11,4 milhões de moradores. Faixa Etária é o rollup encolhido de Idade que conforma com a matrícula.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 Tempo previsto: 1 min.
Cinco fatos, catorze dimensões. Território é compartilhado pelos cinco. Processo de projeto: matriz de barramento com fato e dimensão, dimensões conformadas e, onde os grãos diferem, rollups encolhidos conformados (tracejado): Tempo e Ano Letivo de Data, Etapa de Série, Faixa Etária de Idade, Território de Setor Censitário. O drill-across agrega cada fato até o grão comum e une pelos atributos conformados.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 Tempo previsto: 1,5 min.
O enunciado pede ao menos duas de roll-up ou drill-down, uma slice and dice, uma pivot e uma drill-across. Temos três, uma, uma e três. Cada consulta responde a uma pergunta do gestor e cita os fatos que usa. C7 é a que liga fila, matrícula e população; C8 é a da ocupação das turmas.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 Tempo previsto: 1 min.
Consulta 5 na carga com os dados reais de 2015 a 2024. A fila de creche em junho caiu 97% em dez anos e a fração da demanda fora da rede passou de 34% para 1%. A queda maior foi de 2017 a 2021. Consulta 3: 85% das matrículas de creche estão na rede conveniada, quase todas em jornada integral, em 2019 e em 2024.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 Tempo previsto: 1 min.
Consulta 7, na data do Censo: 598.406 crianças de 0 a 4 anos moram no município e a rede municipal tinha 514.131 matrículas ativas dessa idade, 86 por 100. A média esconde distâncias grandes: 25 distritos têm menos de 50 matrículas por 100 crianças residentes e outros 25 passam de 100, porque a matrícula conta onde a escola fica e a população onde a criança mora. Consulta 8: a creche funciona com perto de 11 crianças por turma em todas as DREs; no fundamental, o município tem de 28,7 a 31,6 alunos por turma em 2019 e 2024.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 Tempo previsto: 1 min.
Seis das 23 decisões documentadas no repositório. Cada uma tem a alternativa descartada e o argumento. Destacar as duas que mais aparecem em perguntas: por que rollups encolhidos em vez de um grão único, e por que nulo e não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 Tempo previsto: 0,5 min.
Encerramento. Lembrar que o relatório em PDF traz a descrição completa de cada atributo, com a coluna de origem e a integração, e que o repositório tem o pipeline completo, os testes e a documentação.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SCC0245 · Grupo 7 · Rede Municipal Paulistana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56264" y="640080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24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SCC0245 · Grupo 7 · Rede Municipal Paulistana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56264" y="640080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24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F2A54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685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SCC0245 · PROCESSAMENTO ANALÍTICO DE DADOS · PRIMEIRO TRABALHO PRÁTICO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143000"/>
            <a:ext cx="7315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Municipal Paulistana: oferta escolar e demanda não atendida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01752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data warehouse para decidir onde abrir vagas, com dados abertos da SME-SP e do IBGE</a:t>
            </a:r>
            <a:endParaRPr lang="en-US" sz="1800" dirty="0"/>
          </a:p>
        </p:txBody>
      </p:sp>
      <p:sp>
        <p:nvSpPr>
          <p:cNvPr id="6" name="anim:1:1"/>
          <p:cNvSpPr/>
          <p:nvPr/>
        </p:nvSpPr>
        <p:spPr>
          <a:xfrm>
            <a:off x="731520" y="3977640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anim:1:2"/>
          <p:cNvSpPr txBox="1"/>
          <p:nvPr/>
        </p:nvSpPr>
        <p:spPr>
          <a:xfrm>
            <a:off x="731520" y="397764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7</a:t>
            </a:r>
            <a:endParaRPr lang="en-US" sz="1200" dirty="0"/>
          </a:p>
        </p:txBody>
      </p:sp>
      <p:sp>
        <p:nvSpPr>
          <p:cNvPr id="8" name="anim:2:3"/>
          <p:cNvSpPr/>
          <p:nvPr/>
        </p:nvSpPr>
        <p:spPr>
          <a:xfrm>
            <a:off x="731520" y="4480560"/>
            <a:ext cx="3520440" cy="658368"/>
          </a:xfrm>
          <a:prstGeom prst="roundRect">
            <a:avLst>
              <a:gd name="adj" fmla="val 1666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3A4D73"/>
            </a:solidFill>
            <a:prstDash val="solid"/>
          </a:ln>
        </p:spPr>
      </p:sp>
      <p:sp>
        <p:nvSpPr>
          <p:cNvPr id="9" name="anim:2:4"/>
          <p:cNvSpPr txBox="1"/>
          <p:nvPr/>
        </p:nvSpPr>
        <p:spPr>
          <a:xfrm>
            <a:off x="914400" y="45445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Kevenn Laranjeira de Oliveira</a:t>
            </a:r>
            <a:endParaRPr lang="en-US" sz="1400" dirty="0"/>
          </a:p>
        </p:txBody>
      </p:sp>
      <p:sp>
        <p:nvSpPr>
          <p:cNvPr id="10" name="anim:2:5"/>
          <p:cNvSpPr txBox="1"/>
          <p:nvPr/>
        </p:nvSpPr>
        <p:spPr>
          <a:xfrm>
            <a:off x="914400" y="482803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USP 18046529</a:t>
            </a:r>
            <a:endParaRPr lang="en-US" sz="1200" dirty="0"/>
          </a:p>
        </p:txBody>
      </p:sp>
      <p:sp>
        <p:nvSpPr>
          <p:cNvPr id="11" name="anim:3:6"/>
          <p:cNvSpPr/>
          <p:nvPr/>
        </p:nvSpPr>
        <p:spPr>
          <a:xfrm>
            <a:off x="4434840" y="4480560"/>
            <a:ext cx="3520440" cy="658368"/>
          </a:xfrm>
          <a:prstGeom prst="roundRect">
            <a:avLst>
              <a:gd name="adj" fmla="val 1666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3A4D73"/>
            </a:solidFill>
            <a:prstDash val="solid"/>
          </a:ln>
        </p:spPr>
      </p:sp>
      <p:sp>
        <p:nvSpPr>
          <p:cNvPr id="12" name="anim:3:7"/>
          <p:cNvSpPr txBox="1"/>
          <p:nvPr/>
        </p:nvSpPr>
        <p:spPr>
          <a:xfrm>
            <a:off x="4617720" y="45445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Thiago Rodrigues Gouveia da Silva</a:t>
            </a:r>
            <a:endParaRPr lang="en-US" sz="1400" dirty="0"/>
          </a:p>
        </p:txBody>
      </p:sp>
      <p:sp>
        <p:nvSpPr>
          <p:cNvPr id="13" name="anim:3:8"/>
          <p:cNvSpPr txBox="1"/>
          <p:nvPr/>
        </p:nvSpPr>
        <p:spPr>
          <a:xfrm>
            <a:off x="4617720" y="482803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USP 18066911</a:t>
            </a:r>
            <a:endParaRPr lang="en-US" sz="1200" dirty="0"/>
          </a:p>
        </p:txBody>
      </p:sp>
      <p:sp>
        <p:nvSpPr>
          <p:cNvPr id="14" name="anim:4:9"/>
          <p:cNvSpPr/>
          <p:nvPr/>
        </p:nvSpPr>
        <p:spPr>
          <a:xfrm>
            <a:off x="731520" y="5266944"/>
            <a:ext cx="3520440" cy="658368"/>
          </a:xfrm>
          <a:prstGeom prst="roundRect">
            <a:avLst>
              <a:gd name="adj" fmla="val 1666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3A4D73"/>
            </a:solidFill>
            <a:prstDash val="solid"/>
          </a:ln>
        </p:spPr>
      </p:sp>
      <p:sp>
        <p:nvSpPr>
          <p:cNvPr id="15" name="anim:4:10"/>
          <p:cNvSpPr txBox="1"/>
          <p:nvPr/>
        </p:nvSpPr>
        <p:spPr>
          <a:xfrm>
            <a:off x="914400" y="533095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Afonso Borges dos Santos</a:t>
            </a:r>
            <a:endParaRPr lang="en-US" sz="1400" dirty="0"/>
          </a:p>
        </p:txBody>
      </p:sp>
      <p:sp>
        <p:nvSpPr>
          <p:cNvPr id="16" name="anim:4:11"/>
          <p:cNvSpPr txBox="1"/>
          <p:nvPr/>
        </p:nvSpPr>
        <p:spPr>
          <a:xfrm>
            <a:off x="914400" y="56144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USP 12608581</a:t>
            </a:r>
            <a:endParaRPr lang="en-US" sz="1200" dirty="0"/>
          </a:p>
        </p:txBody>
      </p:sp>
      <p:sp>
        <p:nvSpPr>
          <p:cNvPr id="17" name="anim:5:12"/>
          <p:cNvSpPr/>
          <p:nvPr/>
        </p:nvSpPr>
        <p:spPr>
          <a:xfrm>
            <a:off x="4434840" y="5266944"/>
            <a:ext cx="3520440" cy="658368"/>
          </a:xfrm>
          <a:prstGeom prst="roundRect">
            <a:avLst>
              <a:gd name="adj" fmla="val 1666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3A4D73"/>
            </a:solidFill>
            <a:prstDash val="solid"/>
          </a:ln>
        </p:spPr>
      </p:sp>
      <p:sp>
        <p:nvSpPr>
          <p:cNvPr id="18" name="anim:5:13"/>
          <p:cNvSpPr txBox="1"/>
          <p:nvPr/>
        </p:nvSpPr>
        <p:spPr>
          <a:xfrm>
            <a:off x="4617720" y="533095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Luís Antônio Arruda Soares</a:t>
            </a:r>
            <a:endParaRPr lang="en-US" sz="1400" dirty="0"/>
          </a:p>
        </p:txBody>
      </p:sp>
      <p:sp>
        <p:nvSpPr>
          <p:cNvPr id="19" name="anim:5:14"/>
          <p:cNvSpPr txBox="1"/>
          <p:nvPr/>
        </p:nvSpPr>
        <p:spPr>
          <a:xfrm>
            <a:off x="4617720" y="56144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USP 12559486</a:t>
            </a:r>
            <a:endParaRPr lang="en-US" sz="1200" dirty="0"/>
          </a:p>
        </p:txBody>
      </p:sp>
      <p:sp>
        <p:nvSpPr>
          <p:cNvPr id="20" name="anim:6:15"/>
          <p:cNvSpPr txBox="1"/>
          <p:nvPr/>
        </p:nvSpPr>
        <p:spPr>
          <a:xfrm>
            <a:off x="8549640" y="12344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13,4 mi</a:t>
            </a:r>
            <a:endParaRPr lang="en-US" sz="4000" dirty="0"/>
          </a:p>
        </p:txBody>
      </p:sp>
      <p:sp>
        <p:nvSpPr>
          <p:cNvPr id="21" name="anim:6:16"/>
          <p:cNvSpPr txBox="1"/>
          <p:nvPr/>
        </p:nvSpPr>
        <p:spPr>
          <a:xfrm>
            <a:off x="854964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matrículas de 2015 a 2024</a:t>
            </a:r>
            <a:endParaRPr lang="en-US" sz="1300" dirty="0"/>
          </a:p>
        </p:txBody>
      </p:sp>
      <p:sp>
        <p:nvSpPr>
          <p:cNvPr id="22" name="anim:7:17"/>
          <p:cNvSpPr txBox="1"/>
          <p:nvPr/>
        </p:nvSpPr>
        <p:spPr>
          <a:xfrm>
            <a:off x="8549640" y="26517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4000" dirty="0"/>
          </a:p>
        </p:txBody>
      </p:sp>
      <p:sp>
        <p:nvSpPr>
          <p:cNvPr id="23" name="anim:7:18"/>
          <p:cNvSpPr txBox="1"/>
          <p:nvPr/>
        </p:nvSpPr>
        <p:spPr>
          <a:xfrm>
            <a:off x="8549640" y="3337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meses de fila por distrito</a:t>
            </a:r>
            <a:endParaRPr lang="en-US" sz="1300" dirty="0"/>
          </a:p>
        </p:txBody>
      </p:sp>
      <p:sp>
        <p:nvSpPr>
          <p:cNvPr id="24" name="anim:8:19"/>
          <p:cNvSpPr txBox="1"/>
          <p:nvPr/>
        </p:nvSpPr>
        <p:spPr>
          <a:xfrm>
            <a:off x="8549640" y="406908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26.889</a:t>
            </a:r>
            <a:endParaRPr lang="en-US" sz="4000" dirty="0"/>
          </a:p>
        </p:txBody>
      </p:sp>
      <p:sp>
        <p:nvSpPr>
          <p:cNvPr id="25" name="anim:8:20"/>
          <p:cNvSpPr txBox="1"/>
          <p:nvPr/>
        </p:nvSpPr>
        <p:spPr>
          <a:xfrm>
            <a:off x="8549640" y="4754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censitários do Censo 2022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6217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Profa. Dra. Cristina Dutra de Aguiar · ICMC-USP, São Carlos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5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5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75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25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2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50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50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75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75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MOTIVAÇÃO · KEVENN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Ana precisa de uma vaga em creche</a:t>
            </a:r>
            <a:endParaRPr lang="en-US" sz="3200" dirty="0"/>
          </a:p>
        </p:txBody>
      </p:sp>
      <p:sp>
        <p:nvSpPr>
          <p:cNvPr id="5" name="anim:1:21"/>
          <p:cNvSpPr/>
          <p:nvPr/>
        </p:nvSpPr>
        <p:spPr>
          <a:xfrm>
            <a:off x="548640" y="1600200"/>
            <a:ext cx="5440680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6" name="anim:1:22"/>
          <p:cNvSpPr/>
          <p:nvPr/>
        </p:nvSpPr>
        <p:spPr>
          <a:xfrm>
            <a:off x="822960" y="182880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566175"/>
          </a:solidFill>
          <a:ln w="12700">
            <a:solidFill>
              <a:srgbClr val="566175"/>
            </a:solidFill>
            <a:prstDash val="solid"/>
          </a:ln>
        </p:spPr>
      </p:sp>
      <p:sp>
        <p:nvSpPr>
          <p:cNvPr id="7" name="anim:1:23"/>
          <p:cNvSpPr txBox="1"/>
          <p:nvPr/>
        </p:nvSpPr>
        <p:spPr>
          <a:xfrm>
            <a:off x="822960" y="1828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HIPOTÉTICA</a:t>
            </a:r>
            <a:endParaRPr lang="en-US" sz="1200" dirty="0"/>
          </a:p>
        </p:txBody>
      </p:sp>
      <p:sp>
        <p:nvSpPr>
          <p:cNvPr id="8" name="anim:1:24"/>
          <p:cNvSpPr/>
          <p:nvPr/>
        </p:nvSpPr>
        <p:spPr>
          <a:xfrm>
            <a:off x="822960" y="2359152"/>
            <a:ext cx="777240" cy="7772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9" name="anim:1:25"/>
          <p:cNvSpPr txBox="1"/>
          <p:nvPr/>
        </p:nvSpPr>
        <p:spPr>
          <a:xfrm>
            <a:off x="822960" y="235915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800" dirty="0"/>
          </a:p>
        </p:txBody>
      </p:sp>
      <p:sp>
        <p:nvSpPr>
          <p:cNvPr id="10" name="anim:1:26"/>
          <p:cNvSpPr txBox="1"/>
          <p:nvPr/>
        </p:nvSpPr>
        <p:spPr>
          <a:xfrm>
            <a:off x="1783080" y="23317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</a:t>
            </a:r>
            <a:endParaRPr lang="en-US" sz="2800" dirty="0"/>
          </a:p>
        </p:txBody>
      </p:sp>
      <p:sp>
        <p:nvSpPr>
          <p:cNvPr id="11" name="anim:1:27"/>
          <p:cNvSpPr txBox="1"/>
          <p:nvPr/>
        </p:nvSpPr>
        <p:spPr>
          <a:xfrm>
            <a:off x="1783080" y="2788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 no Grajaú, DRE Capela do Socorro</a:t>
            </a:r>
            <a:endParaRPr lang="en-US" sz="1400" dirty="0"/>
          </a:p>
        </p:txBody>
      </p:sp>
      <p:sp>
        <p:nvSpPr>
          <p:cNvPr id="12" name="anim:2:28"/>
          <p:cNvSpPr txBox="1"/>
          <p:nvPr/>
        </p:nvSpPr>
        <p:spPr>
          <a:xfrm>
            <a:off x="822960" y="3383280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um filho de 1 ano e precisa de creche perto de casa para voltar a trabalhar.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Inscreveu o filho na fila da prefeitura e espera a vaga.</a:t>
            </a:r>
            <a:endParaRPr lang="en-US" sz="1600" dirty="0"/>
          </a:p>
        </p:txBody>
      </p:sp>
      <p:sp>
        <p:nvSpPr>
          <p:cNvPr id="13" name="anim:3:29"/>
          <p:cNvSpPr txBox="1"/>
          <p:nvPr/>
        </p:nvSpPr>
        <p:spPr>
          <a:xfrm>
            <a:off x="822960" y="484632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inscrição fosse em junho de 2015, o filho dela seria uma das 8.018 crianças na fila do Grajaú.</a:t>
            </a:r>
            <a:endParaRPr lang="en-US" sz="1500" dirty="0"/>
          </a:p>
        </p:txBody>
      </p:sp>
      <p:sp>
        <p:nvSpPr>
          <p:cNvPr id="14" name="anim:4:30"/>
          <p:cNvSpPr/>
          <p:nvPr/>
        </p:nvSpPr>
        <p:spPr>
          <a:xfrm>
            <a:off x="6172200" y="1600200"/>
            <a:ext cx="5440680" cy="4343400"/>
          </a:xfrm>
          <a:prstGeom prst="roundRect">
            <a:avLst>
              <a:gd name="adj" fmla="val 2526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5" name="anim:4:31"/>
          <p:cNvSpPr txBox="1"/>
          <p:nvPr/>
        </p:nvSpPr>
        <p:spPr>
          <a:xfrm>
            <a:off x="6492240" y="181051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GRAJAÚ NOS NOSSOS DADOS</a:t>
            </a:r>
            <a:endParaRPr lang="en-US" sz="1200" dirty="0"/>
          </a:p>
        </p:txBody>
      </p:sp>
      <p:sp>
        <p:nvSpPr>
          <p:cNvPr id="16" name="anim:5:32"/>
          <p:cNvSpPr txBox="1"/>
          <p:nvPr/>
        </p:nvSpPr>
        <p:spPr>
          <a:xfrm>
            <a:off x="6492240" y="2286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24.398</a:t>
            </a:r>
            <a:endParaRPr lang="en-US" sz="4000" dirty="0"/>
          </a:p>
        </p:txBody>
      </p:sp>
      <p:sp>
        <p:nvSpPr>
          <p:cNvPr id="17" name="anim:5:33"/>
          <p:cNvSpPr txBox="1"/>
          <p:nvPr/>
        </p:nvSpPr>
        <p:spPr>
          <a:xfrm>
            <a:off x="8732520" y="228600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crianças de 0 a 4 anos, o maior número entre os 96 distritos (Censo 2022)</a:t>
            </a:r>
            <a:endParaRPr lang="en-US" sz="1400" dirty="0"/>
          </a:p>
        </p:txBody>
      </p:sp>
      <p:sp>
        <p:nvSpPr>
          <p:cNvPr id="18" name="anim:6:34"/>
          <p:cNvSpPr txBox="1"/>
          <p:nvPr/>
        </p:nvSpPr>
        <p:spPr>
          <a:xfrm>
            <a:off x="6492240" y="3474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8.018</a:t>
            </a:r>
            <a:endParaRPr lang="en-US" sz="4000" dirty="0"/>
          </a:p>
        </p:txBody>
      </p:sp>
      <p:sp>
        <p:nvSpPr>
          <p:cNvPr id="19" name="anim:6:35"/>
          <p:cNvSpPr txBox="1"/>
          <p:nvPr/>
        </p:nvSpPr>
        <p:spPr>
          <a:xfrm>
            <a:off x="8732520" y="34747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fila de creche em junho de 2015, a maior fila da cidade</a:t>
            </a:r>
            <a:endParaRPr lang="en-US" sz="1400" dirty="0"/>
          </a:p>
        </p:txBody>
      </p:sp>
      <p:sp>
        <p:nvSpPr>
          <p:cNvPr id="20" name="anim:7:36"/>
          <p:cNvSpPr txBox="1"/>
          <p:nvPr/>
        </p:nvSpPr>
        <p:spPr>
          <a:xfrm>
            <a:off x="6492240" y="4663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</a:t>
            </a:r>
            <a:endParaRPr lang="en-US" sz="4000" dirty="0"/>
          </a:p>
        </p:txBody>
      </p:sp>
      <p:sp>
        <p:nvSpPr>
          <p:cNvPr id="21" name="anim:7:37"/>
          <p:cNvSpPr txBox="1"/>
          <p:nvPr/>
        </p:nvSpPr>
        <p:spPr>
          <a:xfrm>
            <a:off x="8732520" y="46634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fila de creche em junho de 2024</a:t>
            </a:r>
            <a:endParaRPr lang="en-US" sz="1400" dirty="0"/>
          </a:p>
        </p:txBody>
      </p:sp>
      <p:sp>
        <p:nvSpPr>
          <p:cNvPr id="22" name="anim:8:38"/>
          <p:cNvSpPr/>
          <p:nvPr/>
        </p:nvSpPr>
        <p:spPr>
          <a:xfrm>
            <a:off x="7315200" y="4837176"/>
            <a:ext cx="914400" cy="384048"/>
          </a:xfrm>
          <a:prstGeom prst="roundRect">
            <a:avLst>
              <a:gd name="adj" fmla="val 40476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3" name="anim:8:39"/>
          <p:cNvSpPr txBox="1"/>
          <p:nvPr/>
        </p:nvSpPr>
        <p:spPr>
          <a:xfrm>
            <a:off x="7315200" y="483717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-99%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089904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hipotética. Números reais do Grajaú: Censo 2022 (IBGE) e fila de creche (SME-SP), consultas 5 e 7.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5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75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25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50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50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75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75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MOTIVAÇÃO · KEVENN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problema: saber onde abrir a próxima vaga</a:t>
            </a:r>
            <a:endParaRPr lang="en-US" sz="3200" dirty="0"/>
          </a:p>
        </p:txBody>
      </p:sp>
      <p:sp>
        <p:nvSpPr>
          <p:cNvPr id="5" name="anim:1:40"/>
          <p:cNvSpPr txBox="1"/>
          <p:nvPr/>
        </p:nvSpPr>
        <p:spPr>
          <a:xfrm>
            <a:off x="548640" y="164592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falta de vaga em creche foi por anos o principal problema de acesso da educação infantil em São Paulo.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PNE (Lei 13.005/2014), Meta 1: creche para ao menos metade das crianças de até 3 anos; pré-escola universal.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2024 ainda havia fila nos 96 distritos. No Censo 2022, a oferta ia de menos de 50 a mais de 100 matrículas por 100 crianças.</a:t>
            </a:r>
            <a:endParaRPr lang="en-US" sz="1700" dirty="0"/>
          </a:p>
        </p:txBody>
      </p:sp>
      <p:sp>
        <p:nvSpPr>
          <p:cNvPr id="6" name="anim:2:41"/>
          <p:cNvSpPr/>
          <p:nvPr/>
        </p:nvSpPr>
        <p:spPr>
          <a:xfrm>
            <a:off x="6583680" y="1600200"/>
            <a:ext cx="5029200" cy="4343400"/>
          </a:xfrm>
          <a:prstGeom prst="roundRect">
            <a:avLst>
              <a:gd name="adj" fmla="val 2526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7" name="anim:2:42"/>
          <p:cNvSpPr txBox="1"/>
          <p:nvPr/>
        </p:nvSpPr>
        <p:spPr>
          <a:xfrm>
            <a:off x="6903720" y="181051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CRECHE EM JUNHO</a:t>
            </a:r>
            <a:endParaRPr lang="en-US" sz="1200" dirty="0"/>
          </a:p>
        </p:txBody>
      </p:sp>
      <p:sp>
        <p:nvSpPr>
          <p:cNvPr id="8" name="anim:2:43"/>
          <p:cNvSpPr txBox="1"/>
          <p:nvPr/>
        </p:nvSpPr>
        <p:spPr>
          <a:xfrm>
            <a:off x="6903720" y="22402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2015</a:t>
            </a:r>
            <a:endParaRPr lang="en-US" sz="1500" dirty="0"/>
          </a:p>
        </p:txBody>
      </p:sp>
      <p:sp>
        <p:nvSpPr>
          <p:cNvPr id="9" name="anim:2:44"/>
          <p:cNvSpPr txBox="1"/>
          <p:nvPr/>
        </p:nvSpPr>
        <p:spPr>
          <a:xfrm>
            <a:off x="6903720" y="256032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124.741</a:t>
            </a:r>
            <a:endParaRPr lang="en-US" sz="4800" dirty="0"/>
          </a:p>
        </p:txBody>
      </p:sp>
      <p:sp>
        <p:nvSpPr>
          <p:cNvPr id="10" name="anim:2:45"/>
          <p:cNvSpPr txBox="1"/>
          <p:nvPr/>
        </p:nvSpPr>
        <p:spPr>
          <a:xfrm>
            <a:off x="6903720" y="33832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crianças · 34% da demanda fora da rede</a:t>
            </a:r>
            <a:endParaRPr lang="en-US" sz="1400" dirty="0"/>
          </a:p>
        </p:txBody>
      </p:sp>
      <p:sp>
        <p:nvSpPr>
          <p:cNvPr id="11" name="anim:3:46"/>
          <p:cNvSpPr/>
          <p:nvPr/>
        </p:nvSpPr>
        <p:spPr>
          <a:xfrm>
            <a:off x="10287000" y="3639312"/>
            <a:ext cx="1005840" cy="384048"/>
          </a:xfrm>
          <a:prstGeom prst="roundRect">
            <a:avLst>
              <a:gd name="adj" fmla="val 40476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anim:3:47"/>
          <p:cNvSpPr txBox="1"/>
          <p:nvPr/>
        </p:nvSpPr>
        <p:spPr>
          <a:xfrm>
            <a:off x="10287000" y="363931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-97%</a:t>
            </a:r>
            <a:endParaRPr lang="en-US" sz="1400" dirty="0"/>
          </a:p>
        </p:txBody>
      </p:sp>
      <p:sp>
        <p:nvSpPr>
          <p:cNvPr id="13" name="anim:4:48"/>
          <p:cNvSpPr txBox="1"/>
          <p:nvPr/>
        </p:nvSpPr>
        <p:spPr>
          <a:xfrm>
            <a:off x="6903720" y="4069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500" dirty="0"/>
          </a:p>
        </p:txBody>
      </p:sp>
      <p:sp>
        <p:nvSpPr>
          <p:cNvPr id="14" name="anim:4:49"/>
          <p:cNvSpPr txBox="1"/>
          <p:nvPr/>
        </p:nvSpPr>
        <p:spPr>
          <a:xfrm>
            <a:off x="6903720" y="438912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3.633</a:t>
            </a:r>
            <a:endParaRPr lang="en-US" sz="4800" dirty="0"/>
          </a:p>
        </p:txBody>
      </p:sp>
      <p:sp>
        <p:nvSpPr>
          <p:cNvPr id="15" name="anim:4:50"/>
          <p:cNvSpPr txBox="1"/>
          <p:nvPr/>
        </p:nvSpPr>
        <p:spPr>
          <a:xfrm>
            <a:off x="6903720" y="52120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crianças · 1% da demanda fora da rede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089904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Demanda Registrada e Matrículas (SME-SP) e Censo 2022 (IBGE); consultas 5 e 7 sobre a carga com os dados reais.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5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5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75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MOTIVAÇÃO · KEVENN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Nossa solução: as três bases num data warehouse</a:t>
            </a:r>
            <a:endParaRPr lang="en-US" sz="3200" dirty="0"/>
          </a:p>
        </p:txBody>
      </p:sp>
      <p:sp>
        <p:nvSpPr>
          <p:cNvPr id="5" name="anim:1:51"/>
          <p:cNvSpPr/>
          <p:nvPr/>
        </p:nvSpPr>
        <p:spPr>
          <a:xfrm>
            <a:off x="548640" y="1554480"/>
            <a:ext cx="525780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6" name="anim:1:52"/>
          <p:cNvSpPr/>
          <p:nvPr/>
        </p:nvSpPr>
        <p:spPr>
          <a:xfrm>
            <a:off x="822960" y="1783080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566175"/>
          </a:solidFill>
          <a:ln w="12700">
            <a:solidFill>
              <a:srgbClr val="566175"/>
            </a:solidFill>
            <a:prstDash val="solid"/>
          </a:ln>
        </p:spPr>
      </p:sp>
      <p:sp>
        <p:nvSpPr>
          <p:cNvPr id="7" name="anim:1:53"/>
          <p:cNvSpPr txBox="1"/>
          <p:nvPr/>
        </p:nvSpPr>
        <p:spPr>
          <a:xfrm>
            <a:off x="822960" y="178308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1200" dirty="0"/>
          </a:p>
        </p:txBody>
      </p:sp>
      <p:sp>
        <p:nvSpPr>
          <p:cNvPr id="8" name="anim:1:54"/>
          <p:cNvSpPr txBox="1"/>
          <p:nvPr/>
        </p:nvSpPr>
        <p:spPr>
          <a:xfrm>
            <a:off x="822960" y="2212848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bases que não conversam</a:t>
            </a:r>
            <a:endParaRPr lang="en-US" sz="2000" dirty="0"/>
          </a:p>
        </p:txBody>
      </p:sp>
      <p:sp>
        <p:nvSpPr>
          <p:cNvPr id="9" name="anim:1:55"/>
          <p:cNvSpPr txBox="1"/>
          <p:nvPr/>
        </p:nvSpPr>
        <p:spPr>
          <a:xfrm>
            <a:off x="822960" y="2743200"/>
            <a:ext cx="47091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Fila: planilha por distrito, publicada em sete formatos diferentes.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Matrícula: 13,4 milhões de linhas; de 2022 a 2024 o código da escola chega corrompido.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População: Censo do IBGE, por setor censitário e em faixas de cinco anos.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o distrito é escrito igual: AGUA RASA na SME, Água Rasa no IBGE.</a:t>
            </a:r>
            <a:endParaRPr lang="en-US" sz="1400" dirty="0"/>
          </a:p>
        </p:txBody>
      </p:sp>
      <p:sp>
        <p:nvSpPr>
          <p:cNvPr id="10" name="anim:3:56"/>
          <p:cNvSpPr/>
          <p:nvPr/>
        </p:nvSpPr>
        <p:spPr>
          <a:xfrm>
            <a:off x="6355080" y="1554480"/>
            <a:ext cx="525780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2E5EAA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1" name="anim:3:57"/>
          <p:cNvSpPr/>
          <p:nvPr/>
        </p:nvSpPr>
        <p:spPr>
          <a:xfrm>
            <a:off x="6629400" y="1783080"/>
            <a:ext cx="3063240" cy="310896"/>
          </a:xfrm>
          <a:prstGeom prst="roundRect">
            <a:avLst>
              <a:gd name="adj" fmla="val 50000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12" name="anim:3:58"/>
          <p:cNvSpPr txBox="1"/>
          <p:nvPr/>
        </p:nvSpPr>
        <p:spPr>
          <a:xfrm>
            <a:off x="6629400" y="178308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NOSSO DATA WAREHOUSE</a:t>
            </a:r>
            <a:endParaRPr lang="en-US" sz="1200" dirty="0"/>
          </a:p>
        </p:txBody>
      </p:sp>
      <p:sp>
        <p:nvSpPr>
          <p:cNvPr id="13" name="anim:3:59"/>
          <p:cNvSpPr txBox="1"/>
          <p:nvPr/>
        </p:nvSpPr>
        <p:spPr>
          <a:xfrm>
            <a:off x="6629400" y="2212848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pergunta, uma consulta</a:t>
            </a:r>
            <a:endParaRPr lang="en-US" sz="2000" dirty="0"/>
          </a:p>
        </p:txBody>
      </p:sp>
      <p:sp>
        <p:nvSpPr>
          <p:cNvPr id="14" name="anim:3:60"/>
          <p:cNvSpPr txBox="1"/>
          <p:nvPr/>
        </p:nvSpPr>
        <p:spPr>
          <a:xfrm>
            <a:off x="6629400" y="2743200"/>
            <a:ext cx="47091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comando baixa, limpa, carrega e confere os dados do portal da prefeitura e do IBGE.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fatos e catorze dimensões que se cruzam por distrito, etapa e data.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verificações de qualidade a cada carga; na carga real, nenhuma deu FALHA.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Oito consultas OLAP respondem às perguntas do gestor.</a:t>
            </a:r>
            <a:endParaRPr lang="en-US" sz="1400" dirty="0"/>
          </a:p>
        </p:txBody>
      </p:sp>
      <p:sp>
        <p:nvSpPr>
          <p:cNvPr id="15" name="anim:2:61"/>
          <p:cNvSpPr/>
          <p:nvPr/>
        </p:nvSpPr>
        <p:spPr>
          <a:xfrm>
            <a:off x="5870448" y="3127248"/>
            <a:ext cx="420624" cy="365760"/>
          </a:xfrm>
          <a:prstGeom prst="rightArrow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6" name="anim:4:62"/>
          <p:cNvSpPr/>
          <p:nvPr/>
        </p:nvSpPr>
        <p:spPr>
          <a:xfrm>
            <a:off x="548640" y="525780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7" name="anim:4:63"/>
          <p:cNvSpPr/>
          <p:nvPr/>
        </p:nvSpPr>
        <p:spPr>
          <a:xfrm>
            <a:off x="777240" y="5376672"/>
            <a:ext cx="493776" cy="49377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8" name="anim:4:64"/>
          <p:cNvSpPr txBox="1"/>
          <p:nvPr/>
        </p:nvSpPr>
        <p:spPr>
          <a:xfrm>
            <a:off x="777240" y="537667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anim:4:65"/>
          <p:cNvSpPr txBox="1"/>
          <p:nvPr/>
        </p:nvSpPr>
        <p:spPr>
          <a:xfrm>
            <a:off x="1463040" y="530352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usa: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Secretaria Municipal de Educação e as 13 Diretorias Regionais, para decidir onde abrir a próxima vaga.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75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75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75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75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MOTIVAÇÃO · KEVENN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 que o data warehouse responde</a:t>
            </a:r>
            <a:endParaRPr lang="en-US" sz="3200" dirty="0"/>
          </a:p>
        </p:txBody>
      </p:sp>
      <p:sp>
        <p:nvSpPr>
          <p:cNvPr id="5" name="anim:1:66"/>
          <p:cNvSpPr/>
          <p:nvPr/>
        </p:nvSpPr>
        <p:spPr>
          <a:xfrm>
            <a:off x="548640" y="160020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6" name="anim:1:67"/>
          <p:cNvSpPr/>
          <p:nvPr/>
        </p:nvSpPr>
        <p:spPr>
          <a:xfrm>
            <a:off x="822960" y="1892808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anim:1:68"/>
          <p:cNvSpPr txBox="1"/>
          <p:nvPr/>
        </p:nvSpPr>
        <p:spPr>
          <a:xfrm>
            <a:off x="822960" y="1892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anim:1:69"/>
          <p:cNvSpPr txBox="1"/>
          <p:nvPr/>
        </p:nvSpPr>
        <p:spPr>
          <a:xfrm>
            <a:off x="1600200" y="187452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abrir vagas?</a:t>
            </a:r>
            <a:endParaRPr lang="en-US" sz="1900" dirty="0"/>
          </a:p>
        </p:txBody>
      </p:sp>
      <p:sp>
        <p:nvSpPr>
          <p:cNvPr id="9" name="anim:1:70"/>
          <p:cNvSpPr txBox="1"/>
          <p:nvPr/>
        </p:nvSpPr>
        <p:spPr>
          <a:xfrm>
            <a:off x="1600200" y="233172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por distrito e DRE, fila contra matrícula e contra a população de 0 a 4 anos.</a:t>
            </a:r>
            <a:endParaRPr lang="en-US" sz="1500" dirty="0"/>
          </a:p>
        </p:txBody>
      </p:sp>
      <p:sp>
        <p:nvSpPr>
          <p:cNvPr id="10" name="anim:1:71"/>
          <p:cNvSpPr/>
          <p:nvPr/>
        </p:nvSpPr>
        <p:spPr>
          <a:xfrm>
            <a:off x="1600200" y="3136392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11" name="anim:1:72"/>
          <p:cNvSpPr txBox="1"/>
          <p:nvPr/>
        </p:nvSpPr>
        <p:spPr>
          <a:xfrm>
            <a:off x="1600200" y="313639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</a:t>
            </a:r>
            <a:endParaRPr lang="en-US" sz="1200" dirty="0"/>
          </a:p>
        </p:txBody>
      </p:sp>
      <p:sp>
        <p:nvSpPr>
          <p:cNvPr id="12" name="anim:1:73"/>
          <p:cNvSpPr/>
          <p:nvPr/>
        </p:nvSpPr>
        <p:spPr>
          <a:xfrm>
            <a:off x="2286000" y="3136392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13" name="anim:1:74"/>
          <p:cNvSpPr txBox="1"/>
          <p:nvPr/>
        </p:nvSpPr>
        <p:spPr>
          <a:xfrm>
            <a:off x="2286000" y="313639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C5</a:t>
            </a:r>
            <a:endParaRPr lang="en-US" sz="1200" dirty="0"/>
          </a:p>
        </p:txBody>
      </p:sp>
      <p:sp>
        <p:nvSpPr>
          <p:cNvPr id="14" name="anim:1:75"/>
          <p:cNvSpPr/>
          <p:nvPr/>
        </p:nvSpPr>
        <p:spPr>
          <a:xfrm>
            <a:off x="2971800" y="3136392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15" name="anim:1:76"/>
          <p:cNvSpPr txBox="1"/>
          <p:nvPr/>
        </p:nvSpPr>
        <p:spPr>
          <a:xfrm>
            <a:off x="2971800" y="313639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C7</a:t>
            </a:r>
            <a:endParaRPr lang="en-US" sz="1200" dirty="0"/>
          </a:p>
        </p:txBody>
      </p:sp>
      <p:sp>
        <p:nvSpPr>
          <p:cNvPr id="16" name="anim:2:77"/>
          <p:cNvSpPr/>
          <p:nvPr/>
        </p:nvSpPr>
        <p:spPr>
          <a:xfrm>
            <a:off x="6172200" y="160020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7" name="anim:2:78"/>
          <p:cNvSpPr/>
          <p:nvPr/>
        </p:nvSpPr>
        <p:spPr>
          <a:xfrm>
            <a:off x="6446520" y="1892808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8" name="anim:2:79"/>
          <p:cNvSpPr txBox="1"/>
          <p:nvPr/>
        </p:nvSpPr>
        <p:spPr>
          <a:xfrm>
            <a:off x="6446520" y="1892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anim:2:80"/>
          <p:cNvSpPr txBox="1"/>
          <p:nvPr/>
        </p:nvSpPr>
        <p:spPr>
          <a:xfrm>
            <a:off x="7223760" y="187452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oferta é feita?</a:t>
            </a:r>
            <a:endParaRPr lang="en-US" sz="1900" dirty="0"/>
          </a:p>
        </p:txBody>
      </p:sp>
      <p:sp>
        <p:nvSpPr>
          <p:cNvPr id="20" name="anim:2:81"/>
          <p:cNvSpPr txBox="1"/>
          <p:nvPr/>
        </p:nvSpPr>
        <p:spPr>
          <a:xfrm>
            <a:off x="7223760" y="233172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 da rede conveniada e da jornada integral na creche e em cada DRE.</a:t>
            </a:r>
            <a:endParaRPr lang="en-US" sz="1500" dirty="0"/>
          </a:p>
        </p:txBody>
      </p:sp>
      <p:sp>
        <p:nvSpPr>
          <p:cNvPr id="21" name="anim:2:82"/>
          <p:cNvSpPr/>
          <p:nvPr/>
        </p:nvSpPr>
        <p:spPr>
          <a:xfrm>
            <a:off x="7223760" y="3136392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22" name="anim:2:83"/>
          <p:cNvSpPr txBox="1"/>
          <p:nvPr/>
        </p:nvSpPr>
        <p:spPr>
          <a:xfrm>
            <a:off x="7223760" y="313639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</a:t>
            </a:r>
            <a:endParaRPr lang="en-US" sz="1200" dirty="0"/>
          </a:p>
        </p:txBody>
      </p:sp>
      <p:sp>
        <p:nvSpPr>
          <p:cNvPr id="23" name="anim:2:84"/>
          <p:cNvSpPr/>
          <p:nvPr/>
        </p:nvSpPr>
        <p:spPr>
          <a:xfrm>
            <a:off x="7909560" y="3136392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24" name="anim:2:85"/>
          <p:cNvSpPr txBox="1"/>
          <p:nvPr/>
        </p:nvSpPr>
        <p:spPr>
          <a:xfrm>
            <a:off x="7909560" y="313639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C4</a:t>
            </a:r>
            <a:endParaRPr lang="en-US" sz="1200" dirty="0"/>
          </a:p>
        </p:txBody>
      </p:sp>
      <p:sp>
        <p:nvSpPr>
          <p:cNvPr id="25" name="anim:3:86"/>
          <p:cNvSpPr/>
          <p:nvPr/>
        </p:nvSpPr>
        <p:spPr>
          <a:xfrm>
            <a:off x="548640" y="388620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26" name="anim:3:87"/>
          <p:cNvSpPr/>
          <p:nvPr/>
        </p:nvSpPr>
        <p:spPr>
          <a:xfrm>
            <a:off x="822960" y="4178808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anim:3:88"/>
          <p:cNvSpPr txBox="1"/>
          <p:nvPr/>
        </p:nvSpPr>
        <p:spPr>
          <a:xfrm>
            <a:off x="822960" y="4178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anim:3:89"/>
          <p:cNvSpPr txBox="1"/>
          <p:nvPr/>
        </p:nvSpPr>
        <p:spPr>
          <a:xfrm>
            <a:off x="1600200" y="416052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nova ou lugar ocioso?</a:t>
            </a:r>
            <a:endParaRPr lang="en-US" sz="1900" dirty="0"/>
          </a:p>
        </p:txBody>
      </p:sp>
      <p:sp>
        <p:nvSpPr>
          <p:cNvPr id="29" name="anim:3:90"/>
          <p:cNvSpPr txBox="1"/>
          <p:nvPr/>
        </p:nvSpPr>
        <p:spPr>
          <a:xfrm>
            <a:off x="1600200" y="461772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Alunos por turma em funcionamento, do município ao distrito.</a:t>
            </a:r>
            <a:endParaRPr lang="en-US" sz="1500" dirty="0"/>
          </a:p>
        </p:txBody>
      </p:sp>
      <p:sp>
        <p:nvSpPr>
          <p:cNvPr id="30" name="anim:3:91"/>
          <p:cNvSpPr/>
          <p:nvPr/>
        </p:nvSpPr>
        <p:spPr>
          <a:xfrm>
            <a:off x="1600200" y="5422392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31" name="anim:3:92"/>
          <p:cNvSpPr txBox="1"/>
          <p:nvPr/>
        </p:nvSpPr>
        <p:spPr>
          <a:xfrm>
            <a:off x="1600200" y="542239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C8</a:t>
            </a:r>
            <a:endParaRPr lang="en-US" sz="1200" dirty="0"/>
          </a:p>
        </p:txBody>
      </p:sp>
      <p:sp>
        <p:nvSpPr>
          <p:cNvPr id="32" name="anim:4:93"/>
          <p:cNvSpPr/>
          <p:nvPr/>
        </p:nvSpPr>
        <p:spPr>
          <a:xfrm>
            <a:off x="6172200" y="388620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33" name="anim:4:94"/>
          <p:cNvSpPr/>
          <p:nvPr/>
        </p:nvSpPr>
        <p:spPr>
          <a:xfrm>
            <a:off x="6446520" y="4178808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anim:4:95"/>
          <p:cNvSpPr txBox="1"/>
          <p:nvPr/>
        </p:nvSpPr>
        <p:spPr>
          <a:xfrm>
            <a:off x="6446520" y="4178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5" name="anim:4:96"/>
          <p:cNvSpPr txBox="1"/>
          <p:nvPr/>
        </p:nvSpPr>
        <p:spPr>
          <a:xfrm>
            <a:off x="7223760" y="416052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e abandono andam juntos?</a:t>
            </a:r>
            <a:endParaRPr lang="en-US" sz="1900" dirty="0"/>
          </a:p>
        </p:txBody>
      </p:sp>
      <p:sp>
        <p:nvSpPr>
          <p:cNvPr id="36" name="anim:4:97"/>
          <p:cNvSpPr txBox="1"/>
          <p:nvPr/>
        </p:nvSpPr>
        <p:spPr>
          <a:xfrm>
            <a:off x="7223760" y="461772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creche e abandono no ensino fundamental, por DRE.</a:t>
            </a:r>
            <a:endParaRPr lang="en-US" sz="1500" dirty="0"/>
          </a:p>
        </p:txBody>
      </p:sp>
      <p:sp>
        <p:nvSpPr>
          <p:cNvPr id="37" name="anim:4:98"/>
          <p:cNvSpPr/>
          <p:nvPr/>
        </p:nvSpPr>
        <p:spPr>
          <a:xfrm>
            <a:off x="7223760" y="5422392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38" name="anim:4:99"/>
          <p:cNvSpPr txBox="1"/>
          <p:nvPr/>
        </p:nvSpPr>
        <p:spPr>
          <a:xfrm>
            <a:off x="7223760" y="542239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5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5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5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25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5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25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500"/>
                            </p:stCondLst>
                            <p:childTnLst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500"/>
                            </p:stCondLst>
                            <p:childTnLst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500"/>
                            </p:stCondLst>
                            <p:childTnLst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500"/>
                            </p:stCondLst>
                            <p:childTnLst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500"/>
                            </p:stCondLst>
                            <p:childTnLst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500"/>
                            </p:stCondLst>
                            <p:childTnLst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500"/>
                            </p:stCondLst>
                            <p:childTnLst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750"/>
                            </p:stCondLst>
                            <p:childTnLst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750"/>
                            </p:stCondLst>
                            <p:childTnLst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750"/>
                            </p:stCondLst>
                            <p:childTnLst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750"/>
                            </p:stCondLst>
                            <p:childTnLst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750"/>
                            </p:stCondLst>
                            <p:childTnLst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750"/>
                            </p:stCondLst>
                            <p:childTnLst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750"/>
                            </p:stCondLst>
                            <p:childTnLst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MOTIVAÇÃO · KEVENN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volta à Ana: onde abrir a próxima vaga</a:t>
            </a:r>
            <a:endParaRPr lang="en-US" sz="3200" dirty="0"/>
          </a:p>
        </p:txBody>
      </p:sp>
      <p:sp>
        <p:nvSpPr>
          <p:cNvPr id="5" name="anim:1:100"/>
          <p:cNvSpPr/>
          <p:nvPr/>
        </p:nvSpPr>
        <p:spPr>
          <a:xfrm>
            <a:off x="548640" y="1554480"/>
            <a:ext cx="54406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6" name="anim:1:101"/>
          <p:cNvSpPr/>
          <p:nvPr/>
        </p:nvSpPr>
        <p:spPr>
          <a:xfrm>
            <a:off x="822960" y="1783080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7" name="anim:1:102"/>
          <p:cNvSpPr txBox="1"/>
          <p:nvPr/>
        </p:nvSpPr>
        <p:spPr>
          <a:xfrm>
            <a:off x="822960" y="1783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GRAJAÚ · DISTRITO DA ANA</a:t>
            </a:r>
            <a:endParaRPr lang="en-US" sz="1200" dirty="0"/>
          </a:p>
        </p:txBody>
      </p:sp>
      <p:sp>
        <p:nvSpPr>
          <p:cNvPr id="8" name="anim:1:103"/>
          <p:cNvSpPr txBox="1"/>
          <p:nvPr/>
        </p:nvSpPr>
        <p:spPr>
          <a:xfrm>
            <a:off x="822960" y="228600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24.398</a:t>
            </a:r>
            <a:endParaRPr lang="en-US" sz="3400" dirty="0"/>
          </a:p>
        </p:txBody>
      </p:sp>
      <p:sp>
        <p:nvSpPr>
          <p:cNvPr id="9" name="anim:1:104"/>
          <p:cNvSpPr txBox="1"/>
          <p:nvPr/>
        </p:nvSpPr>
        <p:spPr>
          <a:xfrm>
            <a:off x="2697480" y="228600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crianças de 0 a 4 anos (Censo 2022)</a:t>
            </a:r>
            <a:endParaRPr lang="en-US" sz="1400" dirty="0"/>
          </a:p>
        </p:txBody>
      </p:sp>
      <p:sp>
        <p:nvSpPr>
          <p:cNvPr id="10" name="anim:1:105"/>
          <p:cNvSpPr txBox="1"/>
          <p:nvPr/>
        </p:nvSpPr>
        <p:spPr>
          <a:xfrm>
            <a:off x="822960" y="3127248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82,7</a:t>
            </a:r>
            <a:endParaRPr lang="en-US" sz="3400" dirty="0"/>
          </a:p>
        </p:txBody>
      </p:sp>
      <p:sp>
        <p:nvSpPr>
          <p:cNvPr id="11" name="anim:1:106"/>
          <p:cNvSpPr txBox="1"/>
          <p:nvPr/>
        </p:nvSpPr>
        <p:spPr>
          <a:xfrm>
            <a:off x="2697480" y="312724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matrículas por 100 crianças (2022)</a:t>
            </a:r>
            <a:endParaRPr lang="en-US" sz="1400" dirty="0"/>
          </a:p>
        </p:txBody>
      </p:sp>
      <p:sp>
        <p:nvSpPr>
          <p:cNvPr id="12" name="anim:1:107"/>
          <p:cNvSpPr txBox="1"/>
          <p:nvPr/>
        </p:nvSpPr>
        <p:spPr>
          <a:xfrm>
            <a:off x="822960" y="396849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</a:t>
            </a:r>
            <a:endParaRPr lang="en-US" sz="3400" dirty="0"/>
          </a:p>
        </p:txBody>
      </p:sp>
      <p:sp>
        <p:nvSpPr>
          <p:cNvPr id="13" name="anim:1:108"/>
          <p:cNvSpPr txBox="1"/>
          <p:nvPr/>
        </p:nvSpPr>
        <p:spPr>
          <a:xfrm>
            <a:off x="2697480" y="396849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fila de creche em junho de 2024; eram 8.018 em 2015</a:t>
            </a:r>
            <a:endParaRPr lang="en-US" sz="1400" dirty="0"/>
          </a:p>
        </p:txBody>
      </p:sp>
      <p:sp>
        <p:nvSpPr>
          <p:cNvPr id="14" name="anim:2:109"/>
          <p:cNvSpPr/>
          <p:nvPr/>
        </p:nvSpPr>
        <p:spPr>
          <a:xfrm>
            <a:off x="6172200" y="1554480"/>
            <a:ext cx="54406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5" name="anim:2:110"/>
          <p:cNvSpPr/>
          <p:nvPr/>
        </p:nvSpPr>
        <p:spPr>
          <a:xfrm>
            <a:off x="6446520" y="1783080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6" name="anim:2:111"/>
          <p:cNvSpPr txBox="1"/>
          <p:nvPr/>
        </p:nvSpPr>
        <p:spPr>
          <a:xfrm>
            <a:off x="6446520" y="178308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TREMEMBÉ</a:t>
            </a:r>
            <a:endParaRPr lang="en-US" sz="1200" dirty="0"/>
          </a:p>
        </p:txBody>
      </p:sp>
      <p:sp>
        <p:nvSpPr>
          <p:cNvPr id="17" name="anim:2:112"/>
          <p:cNvSpPr txBox="1"/>
          <p:nvPr/>
        </p:nvSpPr>
        <p:spPr>
          <a:xfrm>
            <a:off x="6446520" y="228600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11.498</a:t>
            </a:r>
            <a:endParaRPr lang="en-US" sz="3400" dirty="0"/>
          </a:p>
        </p:txBody>
      </p:sp>
      <p:sp>
        <p:nvSpPr>
          <p:cNvPr id="18" name="anim:2:113"/>
          <p:cNvSpPr txBox="1"/>
          <p:nvPr/>
        </p:nvSpPr>
        <p:spPr>
          <a:xfrm>
            <a:off x="8321040" y="228600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crianças de 0 a 4 anos (Censo 2022)</a:t>
            </a:r>
            <a:endParaRPr lang="en-US" sz="1400" dirty="0"/>
          </a:p>
        </p:txBody>
      </p:sp>
      <p:sp>
        <p:nvSpPr>
          <p:cNvPr id="19" name="anim:2:114"/>
          <p:cNvSpPr txBox="1"/>
          <p:nvPr/>
        </p:nvSpPr>
        <p:spPr>
          <a:xfrm>
            <a:off x="6446520" y="3127248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71,6</a:t>
            </a:r>
            <a:endParaRPr lang="en-US" sz="3400" dirty="0"/>
          </a:p>
        </p:txBody>
      </p:sp>
      <p:sp>
        <p:nvSpPr>
          <p:cNvPr id="20" name="anim:2:115"/>
          <p:cNvSpPr txBox="1"/>
          <p:nvPr/>
        </p:nvSpPr>
        <p:spPr>
          <a:xfrm>
            <a:off x="8321040" y="312724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matrículas por 100 crianças, abaixo da média de 86</a:t>
            </a:r>
            <a:endParaRPr lang="en-US" sz="1400" dirty="0"/>
          </a:p>
        </p:txBody>
      </p:sp>
      <p:sp>
        <p:nvSpPr>
          <p:cNvPr id="21" name="anim:2:116"/>
          <p:cNvSpPr txBox="1"/>
          <p:nvPr/>
        </p:nvSpPr>
        <p:spPr>
          <a:xfrm>
            <a:off x="6446520" y="396849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</a:t>
            </a:r>
            <a:endParaRPr lang="en-US" sz="3400" dirty="0"/>
          </a:p>
        </p:txBody>
      </p:sp>
      <p:sp>
        <p:nvSpPr>
          <p:cNvPr id="22" name="anim:2:117"/>
          <p:cNvSpPr txBox="1"/>
          <p:nvPr/>
        </p:nvSpPr>
        <p:spPr>
          <a:xfrm>
            <a:off x="8321040" y="396849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fila de creche em junho de 2024, a segunda maior da cidade</a:t>
            </a:r>
            <a:endParaRPr lang="en-US" sz="1400" dirty="0"/>
          </a:p>
        </p:txBody>
      </p:sp>
      <p:sp>
        <p:nvSpPr>
          <p:cNvPr id="23" name="anim:3:118"/>
          <p:cNvSpPr/>
          <p:nvPr/>
        </p:nvSpPr>
        <p:spPr>
          <a:xfrm>
            <a:off x="548640" y="512064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24" name="anim:3:119"/>
          <p:cNvSpPr/>
          <p:nvPr/>
        </p:nvSpPr>
        <p:spPr>
          <a:xfrm>
            <a:off x="777240" y="5303520"/>
            <a:ext cx="512064" cy="51206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anim:3:120"/>
          <p:cNvSpPr txBox="1"/>
          <p:nvPr/>
        </p:nvSpPr>
        <p:spPr>
          <a:xfrm>
            <a:off x="777240" y="53035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26" name="anim:3:121"/>
          <p:cNvSpPr txBox="1"/>
          <p:nvPr/>
        </p:nvSpPr>
        <p:spPr>
          <a:xfrm>
            <a:off x="1508760" y="516636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cruzamento mostra: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próxima vaga pesa mais no Tremembé, onde a fila resiste e a oferta por criança fica abaixo da média.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6089904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consultas 5 e 7; a matrícula conta onde fica a escola, e a população, onde mora a criança.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5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5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5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5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25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50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50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500"/>
                            </p:stCondLst>
                            <p:childTnLst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500"/>
                            </p:stCondLst>
                            <p:childTnLst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MOTIVAÇÃO · KEVENN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São Paulo, e não São Carlos</a:t>
            </a:r>
            <a:endParaRPr lang="en-US" sz="3200" dirty="0"/>
          </a:p>
        </p:txBody>
      </p:sp>
      <p:sp>
        <p:nvSpPr>
          <p:cNvPr id="5" name="anim:1:122"/>
          <p:cNvSpPr/>
          <p:nvPr/>
        </p:nvSpPr>
        <p:spPr>
          <a:xfrm>
            <a:off x="548640" y="1600200"/>
            <a:ext cx="5440680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6" name="anim:1:123"/>
          <p:cNvSpPr/>
          <p:nvPr/>
        </p:nvSpPr>
        <p:spPr>
          <a:xfrm>
            <a:off x="822960" y="1828800"/>
            <a:ext cx="2011680" cy="310896"/>
          </a:xfrm>
          <a:prstGeom prst="roundRect">
            <a:avLst>
              <a:gd name="adj" fmla="val 50000"/>
            </a:avLst>
          </a:prstGeom>
          <a:solidFill>
            <a:srgbClr val="566175"/>
          </a:solidFill>
          <a:ln w="12700">
            <a:solidFill>
              <a:srgbClr val="566175"/>
            </a:solidFill>
            <a:prstDash val="solid"/>
          </a:ln>
        </p:spPr>
      </p:sp>
      <p:sp>
        <p:nvSpPr>
          <p:cNvPr id="7" name="anim:1:124"/>
          <p:cNvSpPr txBox="1"/>
          <p:nvPr/>
        </p:nvSpPr>
        <p:spPr>
          <a:xfrm>
            <a:off x="822960" y="182880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PROPOSTA</a:t>
            </a:r>
            <a:endParaRPr lang="en-US" sz="1200" dirty="0"/>
          </a:p>
        </p:txBody>
      </p:sp>
      <p:sp>
        <p:nvSpPr>
          <p:cNvPr id="8" name="anim:1:125"/>
          <p:cNvSpPr txBox="1"/>
          <p:nvPr/>
        </p:nvSpPr>
        <p:spPr>
          <a:xfrm>
            <a:off x="822960" y="22860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Carlos</a:t>
            </a:r>
            <a:endParaRPr lang="en-US" sz="2400" dirty="0"/>
          </a:p>
        </p:txBody>
      </p:sp>
      <p:sp>
        <p:nvSpPr>
          <p:cNvPr id="9" name="anim:1:126"/>
          <p:cNvSpPr txBox="1"/>
          <p:nvPr/>
        </p:nvSpPr>
        <p:spPr>
          <a:xfrm>
            <a:off x="822960" y="28803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escolar por setor censitário. Sem dado aberto de vaga nem de fila, a demanda não atendida teria de ser estimada.</a:t>
            </a:r>
            <a:endParaRPr lang="en-US" sz="1600" dirty="0"/>
          </a:p>
        </p:txBody>
      </p:sp>
      <p:sp>
        <p:nvSpPr>
          <p:cNvPr id="10" name="anim:2:127"/>
          <p:cNvSpPr/>
          <p:nvPr/>
        </p:nvSpPr>
        <p:spPr>
          <a:xfrm>
            <a:off x="6172200" y="1600200"/>
            <a:ext cx="5440680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1" name="anim:2:128"/>
          <p:cNvSpPr/>
          <p:nvPr/>
        </p:nvSpPr>
        <p:spPr>
          <a:xfrm>
            <a:off x="6446520" y="182880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12" name="anim:2:129"/>
          <p:cNvSpPr txBox="1"/>
          <p:nvPr/>
        </p:nvSpPr>
        <p:spPr>
          <a:xfrm>
            <a:off x="6446520" y="182880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</a:t>
            </a:r>
            <a:endParaRPr lang="en-US" sz="1200" dirty="0"/>
          </a:p>
        </p:txBody>
      </p:sp>
      <p:sp>
        <p:nvSpPr>
          <p:cNvPr id="13" name="anim:2:130"/>
          <p:cNvSpPr txBox="1"/>
          <p:nvPr/>
        </p:nvSpPr>
        <p:spPr>
          <a:xfrm>
            <a:off x="6446520" y="22860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Paulo</a:t>
            </a:r>
            <a:endParaRPr lang="en-US" sz="2400" dirty="0"/>
          </a:p>
        </p:txBody>
      </p:sp>
      <p:sp>
        <p:nvSpPr>
          <p:cNvPr id="14" name="anim:2:131"/>
          <p:cNvSpPr txBox="1"/>
          <p:nvPr/>
        </p:nvSpPr>
        <p:spPr>
          <a:xfrm>
            <a:off x="6446520" y="28803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SME publica o microdado de cada matrícula e a fila de espera por distrito: demanda medida, não estimada. 13,4 milhões de matrículas de 2015 a 2024.</a:t>
            </a:r>
            <a:endParaRPr lang="en-US" sz="1600" dirty="0"/>
          </a:p>
        </p:txBody>
      </p:sp>
      <p:sp>
        <p:nvSpPr>
          <p:cNvPr id="15" name="anim:3:132"/>
          <p:cNvSpPr/>
          <p:nvPr/>
        </p:nvSpPr>
        <p:spPr>
          <a:xfrm>
            <a:off x="548640" y="47091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6" name="anim:3:133"/>
          <p:cNvSpPr/>
          <p:nvPr/>
        </p:nvSpPr>
        <p:spPr>
          <a:xfrm>
            <a:off x="822960" y="5047488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7" name="anim:3:134"/>
          <p:cNvSpPr txBox="1"/>
          <p:nvPr/>
        </p:nvSpPr>
        <p:spPr>
          <a:xfrm>
            <a:off x="822960" y="50474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8" name="anim:3:135"/>
          <p:cNvSpPr txBox="1"/>
          <p:nvPr/>
        </p:nvSpPr>
        <p:spPr>
          <a:xfrm>
            <a:off x="1600200" y="4818888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vale para São Carlos: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matrícula, turma e desfecho vêm do registro que todo sistema de gestão escolar mantém, e o Censo 2022 já tem a população por setor censitário do município. Falta só a rede registrar e publicar a fila.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MOTIVAÇÃO · KEVENN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assuntos de interesse e por que importam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4630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ASSUNTO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3794760" y="14630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IMPORTA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732520" y="14630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MODELO</a:t>
            </a:r>
            <a:endParaRPr lang="en-US" sz="1100" dirty="0"/>
          </a:p>
        </p:txBody>
      </p:sp>
      <p:sp>
        <p:nvSpPr>
          <p:cNvPr id="8" name="anim:1:136"/>
          <p:cNvSpPr/>
          <p:nvPr/>
        </p:nvSpPr>
        <p:spPr>
          <a:xfrm>
            <a:off x="548640" y="178308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EEF2F8"/>
          </a:solidFill>
          <a:ln w="9525">
            <a:solidFill>
              <a:srgbClr val="D6E0F0"/>
            </a:solidFill>
            <a:prstDash val="solid"/>
          </a:ln>
        </p:spPr>
      </p:sp>
      <p:sp>
        <p:nvSpPr>
          <p:cNvPr id="9" name="anim:1:137"/>
          <p:cNvSpPr/>
          <p:nvPr/>
        </p:nvSpPr>
        <p:spPr>
          <a:xfrm>
            <a:off x="685800" y="1883664"/>
            <a:ext cx="2971800" cy="347472"/>
          </a:xfrm>
          <a:prstGeom prst="roundRect">
            <a:avLst>
              <a:gd name="adj" fmla="val 44737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10" name="anim:1:138"/>
          <p:cNvSpPr txBox="1"/>
          <p:nvPr/>
        </p:nvSpPr>
        <p:spPr>
          <a:xfrm>
            <a:off x="685800" y="1883664"/>
            <a:ext cx="2971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Matrículas</a:t>
            </a:r>
            <a:endParaRPr lang="en-US" sz="1200" dirty="0"/>
          </a:p>
        </p:txBody>
      </p:sp>
      <p:sp>
        <p:nvSpPr>
          <p:cNvPr id="11" name="anim:1:139"/>
          <p:cNvSpPr txBox="1"/>
          <p:nvPr/>
        </p:nvSpPr>
        <p:spPr>
          <a:xfrm>
            <a:off x="3794760" y="17830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efetivamente usada, com o perfil de cada aluno</a:t>
            </a:r>
            <a:endParaRPr lang="en-US" sz="1500" dirty="0"/>
          </a:p>
        </p:txBody>
      </p:sp>
      <p:sp>
        <p:nvSpPr>
          <p:cNvPr id="12" name="anim:1:140"/>
          <p:cNvSpPr txBox="1"/>
          <p:nvPr/>
        </p:nvSpPr>
        <p:spPr>
          <a:xfrm>
            <a:off x="8732520" y="17830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 Matrícula</a:t>
            </a:r>
            <a:endParaRPr lang="en-US" sz="1300" dirty="0"/>
          </a:p>
        </p:txBody>
      </p:sp>
      <p:sp>
        <p:nvSpPr>
          <p:cNvPr id="13" name="anim:2:141"/>
          <p:cNvSpPr/>
          <p:nvPr/>
        </p:nvSpPr>
        <p:spPr>
          <a:xfrm>
            <a:off x="548640" y="242316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</p:spPr>
      </p:sp>
      <p:sp>
        <p:nvSpPr>
          <p:cNvPr id="14" name="anim:2:142"/>
          <p:cNvSpPr/>
          <p:nvPr/>
        </p:nvSpPr>
        <p:spPr>
          <a:xfrm>
            <a:off x="685800" y="2523744"/>
            <a:ext cx="2971800" cy="347472"/>
          </a:xfrm>
          <a:prstGeom prst="roundRect">
            <a:avLst>
              <a:gd name="adj" fmla="val 44737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15" name="anim:2:143"/>
          <p:cNvSpPr txBox="1"/>
          <p:nvPr/>
        </p:nvSpPr>
        <p:spPr>
          <a:xfrm>
            <a:off x="685800" y="2523744"/>
            <a:ext cx="2971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(demanda registrada)</a:t>
            </a:r>
            <a:endParaRPr lang="en-US" sz="1200" dirty="0"/>
          </a:p>
        </p:txBody>
      </p:sp>
      <p:sp>
        <p:nvSpPr>
          <p:cNvPr id="16" name="anim:2:144"/>
          <p:cNvSpPr txBox="1"/>
          <p:nvPr/>
        </p:nvSpPr>
        <p:spPr>
          <a:xfrm>
            <a:off x="3794760" y="242316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pediu vaga e não foi atendido</a:t>
            </a:r>
            <a:endParaRPr lang="en-US" sz="1500" dirty="0"/>
          </a:p>
        </p:txBody>
      </p:sp>
      <p:sp>
        <p:nvSpPr>
          <p:cNvPr id="17" name="anim:2:145"/>
          <p:cNvSpPr txBox="1"/>
          <p:nvPr/>
        </p:nvSpPr>
        <p:spPr>
          <a:xfrm>
            <a:off x="8732520" y="242316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 Fila</a:t>
            </a:r>
            <a:endParaRPr lang="en-US" sz="1300" dirty="0"/>
          </a:p>
        </p:txBody>
      </p:sp>
      <p:sp>
        <p:nvSpPr>
          <p:cNvPr id="18" name="anim:3:146"/>
          <p:cNvSpPr/>
          <p:nvPr/>
        </p:nvSpPr>
        <p:spPr>
          <a:xfrm>
            <a:off x="548640" y="30632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EEF2F8"/>
          </a:solidFill>
          <a:ln w="9525">
            <a:solidFill>
              <a:srgbClr val="D6E0F0"/>
            </a:solidFill>
            <a:prstDash val="solid"/>
          </a:ln>
        </p:spPr>
      </p:sp>
      <p:sp>
        <p:nvSpPr>
          <p:cNvPr id="19" name="anim:3:147"/>
          <p:cNvSpPr/>
          <p:nvPr/>
        </p:nvSpPr>
        <p:spPr>
          <a:xfrm>
            <a:off x="685800" y="3163824"/>
            <a:ext cx="2971800" cy="347472"/>
          </a:xfrm>
          <a:prstGeom prst="roundRect">
            <a:avLst>
              <a:gd name="adj" fmla="val 44737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20" name="anim:3:148"/>
          <p:cNvSpPr txBox="1"/>
          <p:nvPr/>
        </p:nvSpPr>
        <p:spPr>
          <a:xfrm>
            <a:off x="685800" y="3163824"/>
            <a:ext cx="2971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e ocupação das turmas</a:t>
            </a:r>
            <a:endParaRPr lang="en-US" sz="1200" dirty="0"/>
          </a:p>
        </p:txBody>
      </p:sp>
      <p:sp>
        <p:nvSpPr>
          <p:cNvPr id="21" name="anim:3:149"/>
          <p:cNvSpPr txBox="1"/>
          <p:nvPr/>
        </p:nvSpPr>
        <p:spPr>
          <a:xfrm>
            <a:off x="3794760" y="306324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oferta existente está cheia: turma nova ou lugar ocioso</a:t>
            </a:r>
            <a:endParaRPr lang="en-US" sz="1500" dirty="0"/>
          </a:p>
        </p:txBody>
      </p:sp>
      <p:sp>
        <p:nvSpPr>
          <p:cNvPr id="22" name="anim:3:150"/>
          <p:cNvSpPr txBox="1"/>
          <p:nvPr/>
        </p:nvSpPr>
        <p:spPr>
          <a:xfrm>
            <a:off x="8732520" y="306324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 Ocupação de Turma</a:t>
            </a:r>
            <a:endParaRPr lang="en-US" sz="1300" dirty="0"/>
          </a:p>
        </p:txBody>
      </p:sp>
      <p:sp>
        <p:nvSpPr>
          <p:cNvPr id="23" name="anim:4:151"/>
          <p:cNvSpPr/>
          <p:nvPr/>
        </p:nvSpPr>
        <p:spPr>
          <a:xfrm>
            <a:off x="548640" y="37033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</p:spPr>
      </p:sp>
      <p:sp>
        <p:nvSpPr>
          <p:cNvPr id="24" name="anim:4:152"/>
          <p:cNvSpPr/>
          <p:nvPr/>
        </p:nvSpPr>
        <p:spPr>
          <a:xfrm>
            <a:off x="685800" y="3803904"/>
            <a:ext cx="2971800" cy="347472"/>
          </a:xfrm>
          <a:prstGeom prst="roundRect">
            <a:avLst>
              <a:gd name="adj" fmla="val 44737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25" name="anim:4:153"/>
          <p:cNvSpPr txBox="1"/>
          <p:nvPr/>
        </p:nvSpPr>
        <p:spPr>
          <a:xfrm>
            <a:off x="685800" y="3803904"/>
            <a:ext cx="2971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em idade escolar</a:t>
            </a:r>
            <a:endParaRPr lang="en-US" sz="1200" dirty="0"/>
          </a:p>
        </p:txBody>
      </p:sp>
      <p:sp>
        <p:nvSpPr>
          <p:cNvPr id="26" name="anim:4:154"/>
          <p:cNvSpPr txBox="1"/>
          <p:nvPr/>
        </p:nvSpPr>
        <p:spPr>
          <a:xfrm>
            <a:off x="3794760" y="370332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potencial, mesmo sem pedido de vaga</a:t>
            </a:r>
            <a:endParaRPr lang="en-US" sz="1500" dirty="0"/>
          </a:p>
        </p:txBody>
      </p:sp>
      <p:sp>
        <p:nvSpPr>
          <p:cNvPr id="27" name="anim:4:155"/>
          <p:cNvSpPr txBox="1"/>
          <p:nvPr/>
        </p:nvSpPr>
        <p:spPr>
          <a:xfrm>
            <a:off x="8732520" y="37033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 População</a:t>
            </a:r>
            <a:endParaRPr lang="en-US" sz="1300" dirty="0"/>
          </a:p>
        </p:txBody>
      </p:sp>
      <p:sp>
        <p:nvSpPr>
          <p:cNvPr id="28" name="anim:5:156"/>
          <p:cNvSpPr/>
          <p:nvPr/>
        </p:nvSpPr>
        <p:spPr>
          <a:xfrm>
            <a:off x="548640" y="43434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EEF2F8"/>
          </a:solidFill>
          <a:ln w="9525">
            <a:solidFill>
              <a:srgbClr val="D6E0F0"/>
            </a:solidFill>
            <a:prstDash val="solid"/>
          </a:ln>
        </p:spPr>
      </p:sp>
      <p:sp>
        <p:nvSpPr>
          <p:cNvPr id="29" name="anim:5:157"/>
          <p:cNvSpPr/>
          <p:nvPr/>
        </p:nvSpPr>
        <p:spPr>
          <a:xfrm>
            <a:off x="685800" y="4443984"/>
            <a:ext cx="2971800" cy="347472"/>
          </a:xfrm>
          <a:prstGeom prst="roundRect">
            <a:avLst>
              <a:gd name="adj" fmla="val 44737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30" name="anim:5:158"/>
          <p:cNvSpPr txBox="1"/>
          <p:nvPr/>
        </p:nvSpPr>
        <p:spPr>
          <a:xfrm>
            <a:off x="685800" y="4443984"/>
            <a:ext cx="2971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escolar por setor</a:t>
            </a:r>
            <a:endParaRPr lang="en-US" sz="1200" dirty="0"/>
          </a:p>
        </p:txBody>
      </p:sp>
      <p:sp>
        <p:nvSpPr>
          <p:cNvPr id="31" name="anim:5:159"/>
          <p:cNvSpPr txBox="1"/>
          <p:nvPr/>
        </p:nvSpPr>
        <p:spPr>
          <a:xfrm>
            <a:off x="3794760" y="434340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 por qual rede (direta ou conveniada) a vaga é oferecida</a:t>
            </a:r>
            <a:endParaRPr lang="en-US" sz="1500" dirty="0"/>
          </a:p>
        </p:txBody>
      </p:sp>
      <p:sp>
        <p:nvSpPr>
          <p:cNvPr id="32" name="anim:5:160"/>
          <p:cNvSpPr txBox="1"/>
          <p:nvPr/>
        </p:nvSpPr>
        <p:spPr>
          <a:xfrm>
            <a:off x="8732520" y="434340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dimensões Escola, Território, Setor</a:t>
            </a:r>
            <a:endParaRPr lang="en-US" sz="1300" dirty="0"/>
          </a:p>
        </p:txBody>
      </p:sp>
      <p:sp>
        <p:nvSpPr>
          <p:cNvPr id="33" name="anim:6:161"/>
          <p:cNvSpPr/>
          <p:nvPr/>
        </p:nvSpPr>
        <p:spPr>
          <a:xfrm>
            <a:off x="548640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34" name="anim:6:162"/>
          <p:cNvSpPr/>
          <p:nvPr/>
        </p:nvSpPr>
        <p:spPr>
          <a:xfrm>
            <a:off x="777240" y="5321808"/>
            <a:ext cx="512064" cy="51206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5" name="anim:6:163"/>
          <p:cNvSpPr txBox="1"/>
          <p:nvPr/>
        </p:nvSpPr>
        <p:spPr>
          <a:xfrm>
            <a:off x="777240" y="53218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6" name="anim:6:164"/>
          <p:cNvSpPr txBox="1"/>
          <p:nvPr/>
        </p:nvSpPr>
        <p:spPr>
          <a:xfrm>
            <a:off x="1508760" y="521208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Quinto processo: desfecho da matrícula.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 o que acontece depois do acesso: aprovação, reprovação, abandono e transferência.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7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75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75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75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75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000"/>
                            </p:stCondLst>
                            <p:childTnLst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000"/>
                            </p:stCondLst>
                            <p:childTnLst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000"/>
                            </p:stCondLst>
                            <p:childTnLst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1000"/>
                            </p:stCondLst>
                            <p:childTnLst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000"/>
                            </p:stCondLst>
                            <p:childTnLst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250"/>
                            </p:stCondLst>
                            <p:childTnLst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1250"/>
                            </p:stCondLst>
                            <p:childTnLst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250"/>
                            </p:stCondLst>
                            <p:childTnLst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250"/>
                            </p:stCondLst>
                            <p:childTnLst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MOTIVAÇÃO · KEVENN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Roteiro: quatro integrantes, quatro blocos</a:t>
            </a:r>
            <a:endParaRPr lang="en-US" sz="3200" dirty="0"/>
          </a:p>
        </p:txBody>
      </p:sp>
      <p:sp>
        <p:nvSpPr>
          <p:cNvPr id="5" name="anim:1:302"/>
          <p:cNvSpPr/>
          <p:nvPr/>
        </p:nvSpPr>
        <p:spPr>
          <a:xfrm>
            <a:off x="548640" y="1600200"/>
            <a:ext cx="2651760" cy="438912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6" name="anim:1:303"/>
          <p:cNvSpPr/>
          <p:nvPr/>
        </p:nvSpPr>
        <p:spPr>
          <a:xfrm>
            <a:off x="777240" y="182880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anim:1:304"/>
          <p:cNvSpPr txBox="1"/>
          <p:nvPr/>
        </p:nvSpPr>
        <p:spPr>
          <a:xfrm>
            <a:off x="77724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anim:1:305"/>
          <p:cNvSpPr txBox="1"/>
          <p:nvPr/>
        </p:nvSpPr>
        <p:spPr>
          <a:xfrm>
            <a:off x="777240" y="25146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Kevenn Laranjeira de Oliveira</a:t>
            </a:r>
            <a:endParaRPr lang="en-US" sz="1600" dirty="0"/>
          </a:p>
        </p:txBody>
      </p:sp>
      <p:sp>
        <p:nvSpPr>
          <p:cNvPr id="9" name="anim:1:306"/>
          <p:cNvSpPr txBox="1"/>
          <p:nvPr/>
        </p:nvSpPr>
        <p:spPr>
          <a:xfrm>
            <a:off x="777240" y="3200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 a 9</a:t>
            </a:r>
            <a:endParaRPr lang="en-US" sz="1300" dirty="0"/>
          </a:p>
        </p:txBody>
      </p:sp>
      <p:sp>
        <p:nvSpPr>
          <p:cNvPr id="10" name="anim:1:307"/>
          <p:cNvSpPr txBox="1"/>
          <p:nvPr/>
        </p:nvSpPr>
        <p:spPr>
          <a:xfrm>
            <a:off x="777240" y="3611880"/>
            <a:ext cx="2240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Motivação: a Ana, o problema, a nossa solução, as perguntas do gestor, São Paulo e os cinco assuntos.</a:t>
            </a:r>
            <a:endParaRPr lang="en-US" sz="1600" dirty="0"/>
          </a:p>
        </p:txBody>
      </p:sp>
      <p:sp>
        <p:nvSpPr>
          <p:cNvPr id="11" name="anim:2:308"/>
          <p:cNvSpPr/>
          <p:nvPr/>
        </p:nvSpPr>
        <p:spPr>
          <a:xfrm>
            <a:off x="3360420" y="1600200"/>
            <a:ext cx="2651760" cy="438912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2" name="anim:2:309"/>
          <p:cNvSpPr/>
          <p:nvPr/>
        </p:nvSpPr>
        <p:spPr>
          <a:xfrm>
            <a:off x="3589020" y="182880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anim:2:310"/>
          <p:cNvSpPr txBox="1"/>
          <p:nvPr/>
        </p:nvSpPr>
        <p:spPr>
          <a:xfrm>
            <a:off x="35890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anim:2:311"/>
          <p:cNvSpPr txBox="1"/>
          <p:nvPr/>
        </p:nvSpPr>
        <p:spPr>
          <a:xfrm>
            <a:off x="3589020" y="25146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Thiago Rodrigues Gouveia da Silva</a:t>
            </a:r>
            <a:endParaRPr lang="en-US" sz="1600" dirty="0"/>
          </a:p>
        </p:txBody>
      </p:sp>
      <p:sp>
        <p:nvSpPr>
          <p:cNvPr id="15" name="anim:2:312"/>
          <p:cNvSpPr txBox="1"/>
          <p:nvPr/>
        </p:nvSpPr>
        <p:spPr>
          <a:xfrm>
            <a:off x="3589020" y="3200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10 a 14</a:t>
            </a:r>
            <a:endParaRPr lang="en-US" sz="1300" dirty="0"/>
          </a:p>
        </p:txBody>
      </p:sp>
      <p:sp>
        <p:nvSpPr>
          <p:cNvPr id="16" name="anim:2:313"/>
          <p:cNvSpPr txBox="1"/>
          <p:nvPr/>
        </p:nvSpPr>
        <p:spPr>
          <a:xfrm>
            <a:off x="3589020" y="3611880"/>
            <a:ext cx="2240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de dados, integração, problemas nos dados, grão e aditividade e a estrela Matrícula.</a:t>
            </a:r>
            <a:endParaRPr lang="en-US" sz="1600" dirty="0"/>
          </a:p>
        </p:txBody>
      </p:sp>
      <p:sp>
        <p:nvSpPr>
          <p:cNvPr id="17" name="anim:3:314"/>
          <p:cNvSpPr/>
          <p:nvPr/>
        </p:nvSpPr>
        <p:spPr>
          <a:xfrm>
            <a:off x="6172200" y="1600200"/>
            <a:ext cx="2651760" cy="438912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8" name="anim:3:315"/>
          <p:cNvSpPr/>
          <p:nvPr/>
        </p:nvSpPr>
        <p:spPr>
          <a:xfrm>
            <a:off x="6400800" y="182880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anim:3:316"/>
          <p:cNvSpPr txBox="1"/>
          <p:nvPr/>
        </p:nvSpPr>
        <p:spPr>
          <a:xfrm>
            <a:off x="640080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anim:3:317"/>
          <p:cNvSpPr txBox="1"/>
          <p:nvPr/>
        </p:nvSpPr>
        <p:spPr>
          <a:xfrm>
            <a:off x="6400800" y="25146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Afonso Borges dos Santos</a:t>
            </a:r>
            <a:endParaRPr lang="en-US" sz="1600" dirty="0"/>
          </a:p>
        </p:txBody>
      </p:sp>
      <p:sp>
        <p:nvSpPr>
          <p:cNvPr id="21" name="anim:3:318"/>
          <p:cNvSpPr txBox="1"/>
          <p:nvPr/>
        </p:nvSpPr>
        <p:spPr>
          <a:xfrm>
            <a:off x="6400800" y="3200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15 a 19</a:t>
            </a:r>
            <a:endParaRPr lang="en-US" sz="1300" dirty="0"/>
          </a:p>
        </p:txBody>
      </p:sp>
      <p:sp>
        <p:nvSpPr>
          <p:cNvPr id="22" name="anim:3:319"/>
          <p:cNvSpPr txBox="1"/>
          <p:nvPr/>
        </p:nvSpPr>
        <p:spPr>
          <a:xfrm>
            <a:off x="6400800" y="3611880"/>
            <a:ext cx="2240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Estrelas Fila, Desfecho, Ocupação de Turma e População; constelação de fatos.</a:t>
            </a:r>
            <a:endParaRPr lang="en-US" sz="1600" dirty="0"/>
          </a:p>
        </p:txBody>
      </p:sp>
      <p:sp>
        <p:nvSpPr>
          <p:cNvPr id="23" name="anim:4:320"/>
          <p:cNvSpPr/>
          <p:nvPr/>
        </p:nvSpPr>
        <p:spPr>
          <a:xfrm>
            <a:off x="8983980" y="1600200"/>
            <a:ext cx="2651760" cy="438912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24" name="anim:4:321"/>
          <p:cNvSpPr/>
          <p:nvPr/>
        </p:nvSpPr>
        <p:spPr>
          <a:xfrm>
            <a:off x="9212580" y="182880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anim:4:322"/>
          <p:cNvSpPr txBox="1"/>
          <p:nvPr/>
        </p:nvSpPr>
        <p:spPr>
          <a:xfrm>
            <a:off x="92125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anim:4:323"/>
          <p:cNvSpPr txBox="1"/>
          <p:nvPr/>
        </p:nvSpPr>
        <p:spPr>
          <a:xfrm>
            <a:off x="9212580" y="25146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Luís Antônio Arruda Soares</a:t>
            </a:r>
            <a:endParaRPr lang="en-US" sz="1600" dirty="0"/>
          </a:p>
        </p:txBody>
      </p:sp>
      <p:sp>
        <p:nvSpPr>
          <p:cNvPr id="27" name="anim:4:324"/>
          <p:cNvSpPr txBox="1"/>
          <p:nvPr/>
        </p:nvSpPr>
        <p:spPr>
          <a:xfrm>
            <a:off x="9212580" y="3200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20 a 24</a:t>
            </a:r>
            <a:endParaRPr lang="en-US" sz="1300" dirty="0"/>
          </a:p>
        </p:txBody>
      </p:sp>
      <p:sp>
        <p:nvSpPr>
          <p:cNvPr id="28" name="anim:4:325"/>
          <p:cNvSpPr txBox="1"/>
          <p:nvPr/>
        </p:nvSpPr>
        <p:spPr>
          <a:xfrm>
            <a:off x="9212580" y="3611880"/>
            <a:ext cx="2240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OLAP, resultados com os dados reais e decisões de projeto.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5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5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50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0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50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75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75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750"/>
                            </p:stCondLst>
                            <p:childTnLst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750"/>
                            </p:stCondLst>
                            <p:childTnLst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750"/>
                            </p:stCondLst>
                            <p:childTnLst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750"/>
                            </p:stCondLst>
                            <p:childTnLst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FONTES E INTEGRAÇÃO · THIAGO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fontes de dados reais e oficiais</a:t>
            </a:r>
            <a:endParaRPr lang="en-US" sz="3200" dirty="0"/>
          </a:p>
        </p:txBody>
      </p:sp>
      <p:sp>
        <p:nvSpPr>
          <p:cNvPr id="5" name="anim:1:165"/>
          <p:cNvSpPr/>
          <p:nvPr/>
        </p:nvSpPr>
        <p:spPr>
          <a:xfrm>
            <a:off x="548640" y="1600200"/>
            <a:ext cx="3566160" cy="43891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6" name="anim:1:166"/>
          <p:cNvSpPr txBox="1"/>
          <p:nvPr/>
        </p:nvSpPr>
        <p:spPr>
          <a:xfrm>
            <a:off x="822960" y="18013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8A5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SME-SP · ANUAL</a:t>
            </a:r>
            <a:endParaRPr lang="en-US" sz="1100" dirty="0"/>
          </a:p>
        </p:txBody>
      </p:sp>
      <p:sp>
        <p:nvSpPr>
          <p:cNvPr id="7" name="anim:1:167"/>
          <p:cNvSpPr txBox="1"/>
          <p:nvPr/>
        </p:nvSpPr>
        <p:spPr>
          <a:xfrm>
            <a:off x="822960" y="21031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Microdados de Matrículas</a:t>
            </a:r>
            <a:endParaRPr lang="en-US" sz="1800" dirty="0"/>
          </a:p>
        </p:txBody>
      </p:sp>
      <p:sp>
        <p:nvSpPr>
          <p:cNvPr id="8" name="anim:1:168"/>
          <p:cNvSpPr txBox="1"/>
          <p:nvPr/>
        </p:nvSpPr>
        <p:spPr>
          <a:xfrm>
            <a:off x="822960" y="28346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13,4 mi</a:t>
            </a:r>
            <a:endParaRPr lang="en-US" sz="3600" dirty="0"/>
          </a:p>
        </p:txBody>
      </p:sp>
      <p:sp>
        <p:nvSpPr>
          <p:cNvPr id="9" name="anim:1:169"/>
          <p:cNvSpPr txBox="1"/>
          <p:nvPr/>
        </p:nvSpPr>
        <p:spPr>
          <a:xfrm>
            <a:off x="822960" y="3520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matrículas de escolarização, 2015 a 2024</a:t>
            </a:r>
            <a:endParaRPr lang="en-US" sz="1200" dirty="0"/>
          </a:p>
        </p:txBody>
      </p:sp>
      <p:sp>
        <p:nvSpPr>
          <p:cNvPr id="10" name="anim:1:170"/>
          <p:cNvSpPr txBox="1"/>
          <p:nvPr/>
        </p:nvSpPr>
        <p:spPr>
          <a:xfrm>
            <a:off x="822960" y="4069080"/>
            <a:ext cx="3063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linha por vínculo aluno-turma: escola, turma, turno, série, idade, perfil, deficiência, datas e desfecho.</a:t>
            </a:r>
            <a:endParaRPr lang="en-US" sz="1400" dirty="0"/>
          </a:p>
        </p:txBody>
      </p:sp>
      <p:sp>
        <p:nvSpPr>
          <p:cNvPr id="11" name="anim:2:171"/>
          <p:cNvSpPr/>
          <p:nvPr/>
        </p:nvSpPr>
        <p:spPr>
          <a:xfrm>
            <a:off x="4297680" y="1600200"/>
            <a:ext cx="3566160" cy="43891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2" name="anim:2:172"/>
          <p:cNvSpPr txBox="1"/>
          <p:nvPr/>
        </p:nvSpPr>
        <p:spPr>
          <a:xfrm>
            <a:off x="4572000" y="18013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8A5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SME-SP · TRIMESTRAL E BIMESTRAL</a:t>
            </a:r>
            <a:endParaRPr lang="en-US" sz="1100" dirty="0"/>
          </a:p>
        </p:txBody>
      </p:sp>
      <p:sp>
        <p:nvSpPr>
          <p:cNvPr id="13" name="anim:2:173"/>
          <p:cNvSpPr txBox="1"/>
          <p:nvPr/>
        </p:nvSpPr>
        <p:spPr>
          <a:xfrm>
            <a:off x="4572000" y="21031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Registrada e Matrículas</a:t>
            </a:r>
            <a:endParaRPr lang="en-US" sz="1800" dirty="0"/>
          </a:p>
        </p:txBody>
      </p:sp>
      <p:sp>
        <p:nvSpPr>
          <p:cNvPr id="14" name="anim:2:174"/>
          <p:cNvSpPr txBox="1"/>
          <p:nvPr/>
        </p:nvSpPr>
        <p:spPr>
          <a:xfrm>
            <a:off x="4572000" y="28346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meses</a:t>
            </a:r>
            <a:endParaRPr lang="en-US" sz="3600" dirty="0"/>
          </a:p>
        </p:txBody>
      </p:sp>
      <p:sp>
        <p:nvSpPr>
          <p:cNvPr id="15" name="anim:2:175"/>
          <p:cNvSpPr txBox="1"/>
          <p:nvPr/>
        </p:nvSpPr>
        <p:spPr>
          <a:xfrm>
            <a:off x="4572000" y="3520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meses (33 arquivos) × 96 distritos no recorte</a:t>
            </a:r>
            <a:endParaRPr lang="en-US" sz="1200" dirty="0"/>
          </a:p>
        </p:txBody>
      </p:sp>
      <p:sp>
        <p:nvSpPr>
          <p:cNvPr id="16" name="anim:2:176"/>
          <p:cNvSpPr txBox="1"/>
          <p:nvPr/>
        </p:nvSpPr>
        <p:spPr>
          <a:xfrm>
            <a:off x="4572000" y="4069080"/>
            <a:ext cx="3063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distrito e etapa: matrículas, matrículas em processo e fila. Trimestral até 2022, bimestral desde 2023; sete formatos diferentes.</a:t>
            </a:r>
            <a:endParaRPr lang="en-US" sz="1400" dirty="0"/>
          </a:p>
        </p:txBody>
      </p:sp>
      <p:sp>
        <p:nvSpPr>
          <p:cNvPr id="17" name="anim:3:177"/>
          <p:cNvSpPr/>
          <p:nvPr/>
        </p:nvSpPr>
        <p:spPr>
          <a:xfrm>
            <a:off x="8046720" y="1600200"/>
            <a:ext cx="3566160" cy="43891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8" name="anim:3:178"/>
          <p:cNvSpPr txBox="1"/>
          <p:nvPr/>
        </p:nvSpPr>
        <p:spPr>
          <a:xfrm>
            <a:off x="8321040" y="18013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8A5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 · AGREGADOS POR SETORES</a:t>
            </a:r>
            <a:endParaRPr lang="en-US" sz="1100" dirty="0"/>
          </a:p>
        </p:txBody>
      </p:sp>
      <p:sp>
        <p:nvSpPr>
          <p:cNvPr id="19" name="anim:3:179"/>
          <p:cNvSpPr txBox="1"/>
          <p:nvPr/>
        </p:nvSpPr>
        <p:spPr>
          <a:xfrm>
            <a:off x="8321040" y="21031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 Demográfico 2022</a:t>
            </a:r>
            <a:endParaRPr lang="en-US" sz="1800" dirty="0"/>
          </a:p>
        </p:txBody>
      </p:sp>
      <p:sp>
        <p:nvSpPr>
          <p:cNvPr id="20" name="anim:3:180"/>
          <p:cNvSpPr txBox="1"/>
          <p:nvPr/>
        </p:nvSpPr>
        <p:spPr>
          <a:xfrm>
            <a:off x="8321040" y="28346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26.889</a:t>
            </a:r>
            <a:endParaRPr lang="en-US" sz="3600" dirty="0"/>
          </a:p>
        </p:txBody>
      </p:sp>
      <p:sp>
        <p:nvSpPr>
          <p:cNvPr id="21" name="anim:3:181"/>
          <p:cNvSpPr txBox="1"/>
          <p:nvPr/>
        </p:nvSpPr>
        <p:spPr>
          <a:xfrm>
            <a:off x="8321040" y="3520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do município, 11,4 milhões de moradores</a:t>
            </a:r>
            <a:endParaRPr lang="en-US" sz="1200" dirty="0"/>
          </a:p>
        </p:txBody>
      </p:sp>
      <p:sp>
        <p:nvSpPr>
          <p:cNvPr id="22" name="anim:3:182"/>
          <p:cNvSpPr txBox="1"/>
          <p:nvPr/>
        </p:nvSpPr>
        <p:spPr>
          <a:xfrm>
            <a:off x="8321040" y="4069080"/>
            <a:ext cx="3063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residentes por setor censitário e grupo de idade (variáveis V01031 a V01041); referência 31/07/2022.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5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5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50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0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50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FONTES E INTEGRAÇÃO · THIAGO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Integração: o mesmo dado em formas diferentes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91840"/>
                <a:gridCol w="3017520"/>
                <a:gridCol w="32918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data warehouse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AGUA RASA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Água Rasa + código de 9 dígitos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 normalizado, chave da dimensão Território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idade simples em 31/03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grupo de 0 a 4, 5 a 9, ...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faixa IBGE na dimensão 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Creche, Pré Escola (fila); MODALIDADE (microdado)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se aplica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catálogo único de etapas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CD_SETOR: 4 dígitos, administrativo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CD_SETOR: 15 dígitos, censitário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homônimo: nunca cruzados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anim:1:183"/>
          <p:cNvSpPr/>
          <p:nvPr/>
        </p:nvSpPr>
        <p:spPr>
          <a:xfrm>
            <a:off x="548640" y="457200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7" name="anim:1:184"/>
          <p:cNvSpPr txBox="1"/>
          <p:nvPr/>
        </p:nvSpPr>
        <p:spPr>
          <a:xfrm>
            <a:off x="822960" y="466344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1%</a:t>
            </a:r>
            <a:endParaRPr lang="en-US" sz="4400" dirty="0"/>
          </a:p>
        </p:txBody>
      </p:sp>
      <p:sp>
        <p:nvSpPr>
          <p:cNvPr id="8" name="anim:1:185"/>
          <p:cNvSpPr txBox="1"/>
          <p:nvPr/>
        </p:nvSpPr>
        <p:spPr>
          <a:xfrm>
            <a:off x="2926080" y="4663440"/>
            <a:ext cx="8503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Reconciliação: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matrículas ativas em junho no microdado contra a matrícula da planilha de fila, por distrito e etapa: diferença abaixo de 1% de 2015 a 2020 (creche: +0,03% em 2015, +0,17% em 2019).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FONTES E INTEGRAÇÃO · THIAGO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Problemas reais nos dados e como foram tratados</a:t>
            </a:r>
            <a:endParaRPr lang="en-US" sz="3200" dirty="0"/>
          </a:p>
        </p:txBody>
      </p:sp>
      <p:sp>
        <p:nvSpPr>
          <p:cNvPr id="5" name="anim:1:186"/>
          <p:cNvSpPr/>
          <p:nvPr/>
        </p:nvSpPr>
        <p:spPr>
          <a:xfrm>
            <a:off x="548640" y="160020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6" name="anim:1:187"/>
          <p:cNvSpPr/>
          <p:nvPr/>
        </p:nvSpPr>
        <p:spPr>
          <a:xfrm>
            <a:off x="777240" y="1847088"/>
            <a:ext cx="438912" cy="43891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anim:1:188"/>
          <p:cNvSpPr txBox="1"/>
          <p:nvPr/>
        </p:nvSpPr>
        <p:spPr>
          <a:xfrm>
            <a:off x="777240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anim:1:189"/>
          <p:cNvSpPr txBox="1"/>
          <p:nvPr/>
        </p:nvSpPr>
        <p:spPr>
          <a:xfrm>
            <a:off x="1371600" y="180136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da escola corrompido (2022-2024)</a:t>
            </a:r>
            <a:endParaRPr lang="en-US" sz="1500" dirty="0"/>
          </a:p>
        </p:txBody>
      </p:sp>
      <p:sp>
        <p:nvSpPr>
          <p:cNvPr id="9" name="anim:1:190"/>
          <p:cNvSpPr txBox="1"/>
          <p:nvPr/>
        </p:nvSpPr>
        <p:spPr>
          <a:xfrm>
            <a:off x="822960" y="26517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recuperado pelo nome, tipo e distrito em 94,8% a 98,6% das matrículas</a:t>
            </a:r>
            <a:endParaRPr lang="en-US" sz="1400" dirty="0"/>
          </a:p>
        </p:txBody>
      </p:sp>
      <p:sp>
        <p:nvSpPr>
          <p:cNvPr id="10" name="anim:2:191"/>
          <p:cNvSpPr/>
          <p:nvPr/>
        </p:nvSpPr>
        <p:spPr>
          <a:xfrm>
            <a:off x="4297680" y="160020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1" name="anim:2:192"/>
          <p:cNvSpPr/>
          <p:nvPr/>
        </p:nvSpPr>
        <p:spPr>
          <a:xfrm>
            <a:off x="4526280" y="1847088"/>
            <a:ext cx="438912" cy="43891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anim:2:193"/>
          <p:cNvSpPr txBox="1"/>
          <p:nvPr/>
        </p:nvSpPr>
        <p:spPr>
          <a:xfrm>
            <a:off x="4526280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anim:2:194"/>
          <p:cNvSpPr txBox="1"/>
          <p:nvPr/>
        </p:nvSpPr>
        <p:spPr>
          <a:xfrm>
            <a:off x="5120640" y="180136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formatos da planilha de fila</a:t>
            </a:r>
            <a:endParaRPr lang="en-US" sz="1500" dirty="0"/>
          </a:p>
        </p:txBody>
      </p:sp>
      <p:sp>
        <p:nvSpPr>
          <p:cNvPr id="14" name="anim:2:195"/>
          <p:cNvSpPr txBox="1"/>
          <p:nvPr/>
        </p:nvSpPr>
        <p:spPr>
          <a:xfrm>
            <a:off x="4572000" y="26517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colunas lidas do cabeçalho; significado de (1), (2), (3) lido do rodapé</a:t>
            </a:r>
            <a:endParaRPr lang="en-US" sz="1400" dirty="0"/>
          </a:p>
        </p:txBody>
      </p:sp>
      <p:sp>
        <p:nvSpPr>
          <p:cNvPr id="15" name="anim:3:196"/>
          <p:cNvSpPr/>
          <p:nvPr/>
        </p:nvSpPr>
        <p:spPr>
          <a:xfrm>
            <a:off x="8046720" y="160020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6" name="anim:3:197"/>
          <p:cNvSpPr/>
          <p:nvPr/>
        </p:nvSpPr>
        <p:spPr>
          <a:xfrm>
            <a:off x="8275320" y="1847088"/>
            <a:ext cx="438912" cy="43891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7" name="anim:3:198"/>
          <p:cNvSpPr txBox="1"/>
          <p:nvPr/>
        </p:nvSpPr>
        <p:spPr>
          <a:xfrm>
            <a:off x="8275320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anim:3:199"/>
          <p:cNvSpPr txBox="1"/>
          <p:nvPr/>
        </p:nvSpPr>
        <p:spPr>
          <a:xfrm>
            <a:off x="8869680" y="180136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 não publicado em 2021</a:t>
            </a:r>
            <a:endParaRPr lang="en-US" sz="1500" dirty="0"/>
          </a:p>
        </p:txBody>
      </p:sp>
      <p:sp>
        <p:nvSpPr>
          <p:cNvPr id="19" name="anim:3:200"/>
          <p:cNvSpPr txBox="1"/>
          <p:nvPr/>
        </p:nvSpPr>
        <p:spPr>
          <a:xfrm>
            <a:off x="8321040" y="26517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deduzido do código da turma, conferido pelos horários</a:t>
            </a:r>
            <a:endParaRPr lang="en-US" sz="1400" dirty="0"/>
          </a:p>
        </p:txBody>
      </p:sp>
      <p:sp>
        <p:nvSpPr>
          <p:cNvPr id="20" name="anim:4:201"/>
          <p:cNvSpPr/>
          <p:nvPr/>
        </p:nvSpPr>
        <p:spPr>
          <a:xfrm>
            <a:off x="548640" y="384048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21" name="anim:4:202"/>
          <p:cNvSpPr/>
          <p:nvPr/>
        </p:nvSpPr>
        <p:spPr>
          <a:xfrm>
            <a:off x="777240" y="4087368"/>
            <a:ext cx="438912" cy="43891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2" name="anim:4:203"/>
          <p:cNvSpPr txBox="1"/>
          <p:nvPr/>
        </p:nvSpPr>
        <p:spPr>
          <a:xfrm>
            <a:off x="777240" y="40873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anim:4:204"/>
          <p:cNvSpPr txBox="1"/>
          <p:nvPr/>
        </p:nvSpPr>
        <p:spPr>
          <a:xfrm>
            <a:off x="1371600" y="404164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Idade com vírgula, nula ou nascida em 1900</a:t>
            </a:r>
            <a:endParaRPr lang="en-US" sz="1500" dirty="0"/>
          </a:p>
        </p:txBody>
      </p:sp>
      <p:sp>
        <p:nvSpPr>
          <p:cNvPr id="24" name="anim:4:205"/>
          <p:cNvSpPr txBox="1"/>
          <p:nvPr/>
        </p:nvSpPr>
        <p:spPr>
          <a:xfrm>
            <a:off x="822960" y="489204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recalculada pelo nascimento; impossível vira não informada</a:t>
            </a:r>
            <a:endParaRPr lang="en-US" sz="1400" dirty="0"/>
          </a:p>
        </p:txBody>
      </p:sp>
      <p:sp>
        <p:nvSpPr>
          <p:cNvPr id="25" name="anim:5:206"/>
          <p:cNvSpPr/>
          <p:nvPr/>
        </p:nvSpPr>
        <p:spPr>
          <a:xfrm>
            <a:off x="4297680" y="384048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26" name="anim:5:207"/>
          <p:cNvSpPr/>
          <p:nvPr/>
        </p:nvSpPr>
        <p:spPr>
          <a:xfrm>
            <a:off x="4526280" y="4087368"/>
            <a:ext cx="438912" cy="43891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anim:5:208"/>
          <p:cNvSpPr txBox="1"/>
          <p:nvPr/>
        </p:nvSpPr>
        <p:spPr>
          <a:xfrm>
            <a:off x="4526280" y="40873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anim:5:209"/>
          <p:cNvSpPr txBox="1"/>
          <p:nvPr/>
        </p:nvSpPr>
        <p:spPr>
          <a:xfrm>
            <a:off x="5120640" y="404164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em cinco formatos, inclusive serial do Excel</a:t>
            </a:r>
            <a:endParaRPr lang="en-US" sz="1500" dirty="0"/>
          </a:p>
        </p:txBody>
      </p:sp>
      <p:sp>
        <p:nvSpPr>
          <p:cNvPr id="29" name="anim:5:210"/>
          <p:cNvSpPr txBox="1"/>
          <p:nvPr/>
        </p:nvSpPr>
        <p:spPr>
          <a:xfrm>
            <a:off x="4572000" y="489204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lidos; fora da janela do ano letivo, descartadas</a:t>
            </a:r>
            <a:endParaRPr lang="en-US" sz="1400" dirty="0"/>
          </a:p>
        </p:txBody>
      </p:sp>
      <p:sp>
        <p:nvSpPr>
          <p:cNvPr id="30" name="anim:6:211"/>
          <p:cNvSpPr/>
          <p:nvPr/>
        </p:nvSpPr>
        <p:spPr>
          <a:xfrm>
            <a:off x="8046720" y="384048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31" name="anim:6:212"/>
          <p:cNvSpPr/>
          <p:nvPr/>
        </p:nvSpPr>
        <p:spPr>
          <a:xfrm>
            <a:off x="8275320" y="4087368"/>
            <a:ext cx="438912" cy="43891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2" name="anim:6:213"/>
          <p:cNvSpPr txBox="1"/>
          <p:nvPr/>
        </p:nvSpPr>
        <p:spPr>
          <a:xfrm>
            <a:off x="8275320" y="40873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anim:6:214"/>
          <p:cNvSpPr txBox="1"/>
          <p:nvPr/>
        </p:nvSpPr>
        <p:spPr>
          <a:xfrm>
            <a:off x="8869680" y="404164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suprimidos pelo IBGE em setores pequenos</a:t>
            </a:r>
            <a:endParaRPr lang="en-US" sz="1500" dirty="0"/>
          </a:p>
        </p:txBody>
      </p:sp>
      <p:sp>
        <p:nvSpPr>
          <p:cNvPr id="34" name="anim:6:215"/>
          <p:cNvSpPr txBox="1"/>
          <p:nvPr/>
        </p:nvSpPr>
        <p:spPr>
          <a:xfrm>
            <a:off x="8321040" y="489204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6.543 valores ficam nulos, nunca zero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7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75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75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75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75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000"/>
                            </p:stCondLst>
                            <p:childTnLst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000"/>
                            </p:stCondLst>
                            <p:childTnLst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000"/>
                            </p:stCondLst>
                            <p:childTnLst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1000"/>
                            </p:stCondLst>
                            <p:childTnLst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000"/>
                            </p:stCondLst>
                            <p:childTnLst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250"/>
                            </p:stCondLst>
                            <p:childTnLst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1250"/>
                            </p:stCondLst>
                            <p:childTnLst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250"/>
                            </p:stCondLst>
                            <p:childTnLst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250"/>
                            </p:stCondLst>
                            <p:childTnLst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1250"/>
                            </p:stCondLst>
                            <p:childTnLst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FONTES E INTEGRAÇÃO · THIAGO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 e aditividade dos fatos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834640"/>
                <a:gridCol w="3657600"/>
                <a:gridCol w="246888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Tabela de fatos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Aditividade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vínculo aluno-turma × ano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quantidade (=1), dias de matrícula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E5E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aditivo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distrito × mês × etapa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matrículas, em processo, demanda e categorias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A5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semiaditivo (estoque)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Desfecho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escola × ano × série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contagens por desfecho; taxas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E5E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aditivo; taxas não aditivas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Ocupação de Turma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turma × ano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turmas, matrículas, ativas em junho; alunos por turma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E5E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aditivo; média não aditiva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setor censitário × faixa × Censo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pessoas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A5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semiaditivo (estoque)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6" name="anim:1:216"/>
          <p:cNvSpPr/>
          <p:nvPr/>
        </p:nvSpPr>
        <p:spPr>
          <a:xfrm>
            <a:off x="548640" y="544068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7" name="anim:1:217"/>
          <p:cNvSpPr txBox="1"/>
          <p:nvPr/>
        </p:nvSpPr>
        <p:spPr>
          <a:xfrm>
            <a:off x="548640" y="544068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aditivo</a:t>
            </a:r>
            <a:endParaRPr lang="en-US" sz="1200" dirty="0"/>
          </a:p>
        </p:txBody>
      </p:sp>
      <p:sp>
        <p:nvSpPr>
          <p:cNvPr id="8" name="anim:1:218"/>
          <p:cNvSpPr txBox="1"/>
          <p:nvPr/>
        </p:nvSpPr>
        <p:spPr>
          <a:xfrm>
            <a:off x="2103120" y="54406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 em todas as dimensões</a:t>
            </a:r>
            <a:endParaRPr lang="en-US" sz="1200" dirty="0"/>
          </a:p>
        </p:txBody>
      </p:sp>
      <p:sp>
        <p:nvSpPr>
          <p:cNvPr id="9" name="anim:2:219"/>
          <p:cNvSpPr/>
          <p:nvPr/>
        </p:nvSpPr>
        <p:spPr>
          <a:xfrm>
            <a:off x="4297680" y="544068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8A5300"/>
          </a:solidFill>
          <a:ln w="12700">
            <a:solidFill>
              <a:srgbClr val="8A5300"/>
            </a:solidFill>
            <a:prstDash val="solid"/>
          </a:ln>
        </p:spPr>
      </p:sp>
      <p:sp>
        <p:nvSpPr>
          <p:cNvPr id="10" name="anim:2:220"/>
          <p:cNvSpPr txBox="1"/>
          <p:nvPr/>
        </p:nvSpPr>
        <p:spPr>
          <a:xfrm>
            <a:off x="4297680" y="544068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semiaditivo</a:t>
            </a:r>
            <a:endParaRPr lang="en-US" sz="1200" dirty="0"/>
          </a:p>
        </p:txBody>
      </p:sp>
      <p:sp>
        <p:nvSpPr>
          <p:cNvPr id="11" name="anim:2:221"/>
          <p:cNvSpPr txBox="1"/>
          <p:nvPr/>
        </p:nvSpPr>
        <p:spPr>
          <a:xfrm>
            <a:off x="5852160" y="54406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estoque: não soma no tempo</a:t>
            </a:r>
            <a:endParaRPr lang="en-US" sz="1200" dirty="0"/>
          </a:p>
        </p:txBody>
      </p:sp>
      <p:sp>
        <p:nvSpPr>
          <p:cNvPr id="12" name="anim:3:222"/>
          <p:cNvSpPr/>
          <p:nvPr/>
        </p:nvSpPr>
        <p:spPr>
          <a:xfrm>
            <a:off x="8046720" y="544068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566175"/>
          </a:solidFill>
          <a:ln w="12700">
            <a:solidFill>
              <a:srgbClr val="566175"/>
            </a:solidFill>
            <a:prstDash val="solid"/>
          </a:ln>
        </p:spPr>
      </p:sp>
      <p:sp>
        <p:nvSpPr>
          <p:cNvPr id="13" name="anim:3:223"/>
          <p:cNvSpPr txBox="1"/>
          <p:nvPr/>
        </p:nvSpPr>
        <p:spPr>
          <a:xfrm>
            <a:off x="8046720" y="544068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aditivo</a:t>
            </a:r>
            <a:endParaRPr lang="en-US" sz="1200" dirty="0"/>
          </a:p>
        </p:txBody>
      </p:sp>
      <p:sp>
        <p:nvSpPr>
          <p:cNvPr id="14" name="anim:3:224"/>
          <p:cNvSpPr txBox="1"/>
          <p:nvPr/>
        </p:nvSpPr>
        <p:spPr>
          <a:xfrm>
            <a:off x="9601200" y="54406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recalculado a partir das somas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FONTES E INTEGRAÇÃO · THIAGO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estrela Matrícula</a:t>
            </a:r>
            <a:endParaRPr lang="en-US" sz="3200" dirty="0"/>
          </a:p>
        </p:txBody>
      </p:sp>
      <p:sp>
        <p:nvSpPr>
          <p:cNvPr id="5" name="anim:1:225"/>
          <p:cNvSpPr/>
          <p:nvPr/>
        </p:nvSpPr>
        <p:spPr>
          <a:xfrm>
            <a:off x="548640" y="1463040"/>
            <a:ext cx="749808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pic>
        <p:nvPicPr>
          <p:cNvPr id="6" name="anim:1:226" descr="Esquema estrela Matrícula: tabela de fatos Matrícula no centro, ligada a dez dimensõ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8738" y="1600200"/>
            <a:ext cx="5857883" cy="4297680"/>
          </a:xfrm>
          <a:prstGeom prst="rect">
            <a:avLst/>
          </a:prstGeom>
        </p:spPr>
      </p:pic>
      <p:sp>
        <p:nvSpPr>
          <p:cNvPr id="7" name="anim:2:227"/>
          <p:cNvSpPr/>
          <p:nvPr/>
        </p:nvSpPr>
        <p:spPr>
          <a:xfrm>
            <a:off x="8275320" y="1463040"/>
            <a:ext cx="3337560" cy="4572000"/>
          </a:xfrm>
          <a:prstGeom prst="roundRect">
            <a:avLst>
              <a:gd name="adj" fmla="val 3288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8" name="anim:2:228"/>
          <p:cNvSpPr txBox="1"/>
          <p:nvPr/>
        </p:nvSpPr>
        <p:spPr>
          <a:xfrm>
            <a:off x="8458200" y="1645920"/>
            <a:ext cx="301752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com dois papéis: início e fim da matrícula.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Ocorrência contada por campo artificial (= 1), como em fatos sem fato.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Bugigangas: Perfil, Deficiência, Situação.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Degeneradas: id turma, código da matrícula.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Escola: mudança lenta tipo 2.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Hierarquias: dia ≤ mês ≤ trimestre ≤ semestre ≤ ano; série ≤ etapa ≤ nível; idade ≤ faixa IBGE.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ESQUEMAS · DANIEL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estrela Fila</a:t>
            </a:r>
            <a:endParaRPr lang="en-US" sz="3200" dirty="0"/>
          </a:p>
        </p:txBody>
      </p:sp>
      <p:sp>
        <p:nvSpPr>
          <p:cNvPr id="5" name="anim:1:229"/>
          <p:cNvSpPr/>
          <p:nvPr/>
        </p:nvSpPr>
        <p:spPr>
          <a:xfrm>
            <a:off x="548640" y="1463040"/>
            <a:ext cx="11064240" cy="37033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pic>
        <p:nvPicPr>
          <p:cNvPr id="6" name="anim:1:230" descr="Esquema estrela Fila: tabela de fatos Fila ligada às dimensões Tempo, Território e Etap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5583" y="1600200"/>
            <a:ext cx="10270354" cy="3429000"/>
          </a:xfrm>
          <a:prstGeom prst="rect">
            <a:avLst/>
          </a:prstGeom>
        </p:spPr>
      </p:pic>
      <p:sp>
        <p:nvSpPr>
          <p:cNvPr id="7" name="anim:2:231"/>
          <p:cNvSpPr txBox="1"/>
          <p:nvPr/>
        </p:nvSpPr>
        <p:spPr>
          <a:xfrm>
            <a:off x="548640" y="5349240"/>
            <a:ext cx="5440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Grão: distrito × mês × etapa.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Estoque: SOMA no território e na etapa; um único mês no tempo.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Tempo: mês ≤ trimestre ≤ semestre ≤ ano e mês ≤ bimestre ≤ ano.</a:t>
            </a:r>
            <a:endParaRPr lang="en-US" sz="1500" dirty="0"/>
          </a:p>
        </p:txBody>
      </p:sp>
      <p:sp>
        <p:nvSpPr>
          <p:cNvPr id="8" name="anim:2:232"/>
          <p:cNvSpPr txBox="1"/>
          <p:nvPr/>
        </p:nvSpPr>
        <p:spPr>
          <a:xfrm>
            <a:off x="6172200" y="5349240"/>
            <a:ext cx="5440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Território: distrito ≤ DRE ≤ município ≤ UF.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da planilha: dimensão degenerada.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ESQUEMAS · DANIEL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estrela Desfecho</a:t>
            </a:r>
            <a:endParaRPr lang="en-US" sz="3200" dirty="0"/>
          </a:p>
        </p:txBody>
      </p:sp>
      <p:sp>
        <p:nvSpPr>
          <p:cNvPr id="5" name="anim:1:233"/>
          <p:cNvSpPr/>
          <p:nvPr/>
        </p:nvSpPr>
        <p:spPr>
          <a:xfrm>
            <a:off x="548640" y="1463040"/>
            <a:ext cx="11064240" cy="37033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pic>
        <p:nvPicPr>
          <p:cNvPr id="6" name="anim:1:234" descr="Esquema estrela Desfecho: tabela de fatos Desfecho ligada a Ano Letivo, Escola, Território e Sér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080" y="1600200"/>
            <a:ext cx="10667360" cy="3429000"/>
          </a:xfrm>
          <a:prstGeom prst="rect">
            <a:avLst/>
          </a:prstGeom>
        </p:spPr>
      </p:pic>
      <p:sp>
        <p:nvSpPr>
          <p:cNvPr id="7" name="anim:2:235"/>
          <p:cNvSpPr txBox="1"/>
          <p:nvPr/>
        </p:nvSpPr>
        <p:spPr>
          <a:xfrm>
            <a:off x="548640" y="5349240"/>
            <a:ext cx="5440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Grão: escola × ano letivo × série.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 agregado do fato Matrícula.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Contagens por desfecho: SOMA.</a:t>
            </a:r>
            <a:endParaRPr lang="en-US" sz="1500" dirty="0"/>
          </a:p>
        </p:txBody>
      </p:sp>
      <p:sp>
        <p:nvSpPr>
          <p:cNvPr id="8" name="anim:2:236"/>
          <p:cNvSpPr txBox="1"/>
          <p:nvPr/>
        </p:nvSpPr>
        <p:spPr>
          <a:xfrm>
            <a:off x="6172200" y="5349240"/>
            <a:ext cx="5440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Taxas derivadas, não aditivas: recalculadas pelas contagens.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Série: série ≤ etapa ≤ nível.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ESQUEMAS · DANIEL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estrela Ocupação de Turma</a:t>
            </a:r>
            <a:endParaRPr lang="en-US" sz="3200" dirty="0"/>
          </a:p>
        </p:txBody>
      </p:sp>
      <p:sp>
        <p:nvSpPr>
          <p:cNvPr id="5" name="anim:1:237"/>
          <p:cNvSpPr/>
          <p:nvPr/>
        </p:nvSpPr>
        <p:spPr>
          <a:xfrm>
            <a:off x="548640" y="1463040"/>
            <a:ext cx="11064240" cy="37033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pic>
        <p:nvPicPr>
          <p:cNvPr id="6" name="anim:1:238" descr="Esquema estrela Ocupação de Turma: tabela de fatos ligada a Ano Letivo, Escola, Território, Série e Turn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8886" y="1600200"/>
            <a:ext cx="7983747" cy="3429000"/>
          </a:xfrm>
          <a:prstGeom prst="rect">
            <a:avLst/>
          </a:prstGeom>
        </p:spPr>
      </p:pic>
      <p:sp>
        <p:nvSpPr>
          <p:cNvPr id="7" name="anim:2:239"/>
          <p:cNvSpPr txBox="1"/>
          <p:nvPr/>
        </p:nvSpPr>
        <p:spPr>
          <a:xfrm>
            <a:off x="548640" y="5349240"/>
            <a:ext cx="5440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Grão: turma × ano letivo.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Turmas (= 1), matrículas e ativas em 30/06: SOMA.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Alunos por turma: derivado, recalculado pelas somas.</a:t>
            </a:r>
            <a:endParaRPr lang="en-US" sz="1500" dirty="0"/>
          </a:p>
        </p:txBody>
      </p:sp>
      <p:sp>
        <p:nvSpPr>
          <p:cNvPr id="8" name="anim:2:240"/>
          <p:cNvSpPr txBox="1"/>
          <p:nvPr/>
        </p:nvSpPr>
        <p:spPr>
          <a:xfrm>
            <a:off x="6172200" y="5349240"/>
            <a:ext cx="5440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não publicada por nenhuma fonte: não é estimada.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turma: dimensão degenerada.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ESQUEMAS · DANIEL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estrela População</a:t>
            </a:r>
            <a:endParaRPr lang="en-US" sz="3200" dirty="0"/>
          </a:p>
        </p:txBody>
      </p:sp>
      <p:sp>
        <p:nvSpPr>
          <p:cNvPr id="5" name="anim:1:241"/>
          <p:cNvSpPr/>
          <p:nvPr/>
        </p:nvSpPr>
        <p:spPr>
          <a:xfrm>
            <a:off x="548640" y="1463040"/>
            <a:ext cx="11064240" cy="37033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pic>
        <p:nvPicPr>
          <p:cNvPr id="6" name="anim:1:242" descr="Esquema estrela População: tabela de fatos População ligada a Tempo, Setor Censitário, Território e Faixa Etár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2367" y="1600200"/>
            <a:ext cx="9616786" cy="3429000"/>
          </a:xfrm>
          <a:prstGeom prst="rect">
            <a:avLst/>
          </a:prstGeom>
        </p:spPr>
      </p:pic>
      <p:sp>
        <p:nvSpPr>
          <p:cNvPr id="7" name="anim:2:243"/>
          <p:cNvSpPr txBox="1"/>
          <p:nvPr/>
        </p:nvSpPr>
        <p:spPr>
          <a:xfrm>
            <a:off x="548640" y="5349240"/>
            <a:ext cx="5440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Grão: setor censitário × faixa etária × data do Censo.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Estoque: SOMA entre setores e faixas, não no tempo.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censitário ≤ distrito ≤ DRE ≤ município ≤ UF.</a:t>
            </a:r>
            <a:endParaRPr lang="en-US" sz="1500" dirty="0"/>
          </a:p>
        </p:txBody>
      </p:sp>
      <p:sp>
        <p:nvSpPr>
          <p:cNvPr id="8" name="anim:2:244"/>
          <p:cNvSpPr txBox="1"/>
          <p:nvPr/>
        </p:nvSpPr>
        <p:spPr>
          <a:xfrm>
            <a:off x="6172200" y="5349240"/>
            <a:ext cx="5440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Etária: rollup encolhido de Idade.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suprimido pelo IBGE fica nulo.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ESQUEMAS · DANIEL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Constelação de fatos</a:t>
            </a:r>
            <a:endParaRPr lang="en-US" sz="3200" dirty="0"/>
          </a:p>
        </p:txBody>
      </p:sp>
      <p:sp>
        <p:nvSpPr>
          <p:cNvPr id="5" name="anim:1:245"/>
          <p:cNvSpPr/>
          <p:nvPr/>
        </p:nvSpPr>
        <p:spPr>
          <a:xfrm>
            <a:off x="548640" y="1463040"/>
            <a:ext cx="1106424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pic>
        <p:nvPicPr>
          <p:cNvPr id="6" name="anim:1:246" descr="Constelação de fatos: cinco tabelas de fatos e catorze dimensões compartilhad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9015" y="1600200"/>
            <a:ext cx="9883491" cy="4114800"/>
          </a:xfrm>
          <a:prstGeom prst="rect">
            <a:avLst/>
          </a:prstGeom>
        </p:spPr>
      </p:pic>
      <p:sp>
        <p:nvSpPr>
          <p:cNvPr id="7" name="anim:2:247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 de projeto: matriz de barramento (fato × dimensão), dimensões conformadas e, onde os grãos diferem, rollups encolhidos (tracejado).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CONSULTAS E DECISÕES · LUÍS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Oito consultas OLAP</a:t>
            </a:r>
            <a:endParaRPr lang="en-US" sz="3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828800"/>
                <a:gridCol w="5486400"/>
                <a:gridCol w="310896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Pergunta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5E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drill-down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 de creche: município → DRE → distrito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5E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roll-up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matrículas: etapa → nível → total, ano a 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5E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 and dice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creche por rede e jornada, 2019 e 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5E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pivot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DRE nas linhas, jornada nas colunas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5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drill-across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 contra matrícula ativa em junho, por distrito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Fila, Matrícula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5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drill-across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 de creche e abandono no fundamental, por DRE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Fila, Matrícula, Desfecho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5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drill-across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crianças de 0 a 4 anos: residentes, matriculadas e na fila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População, Matrícula, Fila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5E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drill-down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alunos por turma: município → DRE → distrito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Ocupação de Turma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anim:1:248"/>
          <p:cNvSpPr txBox="1"/>
          <p:nvPr/>
        </p:nvSpPr>
        <p:spPr>
          <a:xfrm>
            <a:off x="548640" y="598932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Exigido: 2 roll-up ou drill-down, 1 slice and dice, 1 pivot, 1 drill-across. Feito: 3, 1, 1 e 3.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CONSULTAS E DECISÕES · LUÍS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Resultados: fila e oferta de creche</a:t>
            </a:r>
            <a:endParaRPr lang="en-US" sz="3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17320"/>
          <a:ext cx="58521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400800" y="1417320"/>
          <a:ext cx="530352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anim:1:249"/>
          <p:cNvSpPr/>
          <p:nvPr/>
        </p:nvSpPr>
        <p:spPr>
          <a:xfrm>
            <a:off x="6446520" y="4526280"/>
            <a:ext cx="5166360" cy="1417320"/>
          </a:xfrm>
          <a:prstGeom prst="roundRect">
            <a:avLst>
              <a:gd name="adj" fmla="val 7742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8" name="anim:1:250"/>
          <p:cNvSpPr txBox="1"/>
          <p:nvPr/>
        </p:nvSpPr>
        <p:spPr>
          <a:xfrm>
            <a:off x="6675120" y="461772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4000" dirty="0"/>
          </a:p>
        </p:txBody>
      </p:sp>
      <p:sp>
        <p:nvSpPr>
          <p:cNvPr id="9" name="anim:1:251"/>
          <p:cNvSpPr txBox="1"/>
          <p:nvPr/>
        </p:nvSpPr>
        <p:spPr>
          <a:xfrm>
            <a:off x="8275320" y="4617720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creche é conveniada, quase toda em jornada integral, em 2019 e 2024 (consulta 3).</a:t>
            </a:r>
            <a:endParaRPr lang="en-US" sz="14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6089904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SME-SP, Demanda Registrada e Matrículas e Microdados de Matrículas; consultas 3 e 5.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CONSULTAS E DECISÕES · LUÍS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Resultados: população e ocupação das turmas</a:t>
            </a:r>
            <a:endParaRPr lang="en-US" sz="3200" dirty="0"/>
          </a:p>
        </p:txBody>
      </p:sp>
      <p:sp>
        <p:nvSpPr>
          <p:cNvPr id="5" name="anim:1:252"/>
          <p:cNvSpPr/>
          <p:nvPr/>
        </p:nvSpPr>
        <p:spPr>
          <a:xfrm>
            <a:off x="548640" y="146304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6" name="anim:1:253"/>
          <p:cNvSpPr txBox="1"/>
          <p:nvPr/>
        </p:nvSpPr>
        <p:spPr>
          <a:xfrm>
            <a:off x="822960" y="1664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8A5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7 · 31/07/2022</a:t>
            </a:r>
            <a:endParaRPr lang="en-US" sz="1200" dirty="0"/>
          </a:p>
        </p:txBody>
      </p:sp>
      <p:sp>
        <p:nvSpPr>
          <p:cNvPr id="7" name="anim:1:254"/>
          <p:cNvSpPr txBox="1"/>
          <p:nvPr/>
        </p:nvSpPr>
        <p:spPr>
          <a:xfrm>
            <a:off x="822960" y="196596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6000" dirty="0"/>
          </a:p>
        </p:txBody>
      </p:sp>
      <p:sp>
        <p:nvSpPr>
          <p:cNvPr id="8" name="anim:1:255"/>
          <p:cNvSpPr txBox="1"/>
          <p:nvPr/>
        </p:nvSpPr>
        <p:spPr>
          <a:xfrm>
            <a:off x="2240280" y="214884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matrículas por 100 crianças de 0 a 4 anos</a:t>
            </a:r>
            <a:endParaRPr lang="en-US" sz="1700" dirty="0"/>
          </a:p>
        </p:txBody>
      </p:sp>
      <p:sp>
        <p:nvSpPr>
          <p:cNvPr id="9" name="anim:1:256"/>
          <p:cNvSpPr txBox="1"/>
          <p:nvPr/>
        </p:nvSpPr>
        <p:spPr>
          <a:xfrm>
            <a:off x="822960" y="30632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514.131 matrículas ativas para 598.406 crianças residentes.</a:t>
            </a:r>
            <a:endParaRPr lang="en-US" sz="1400" dirty="0"/>
          </a:p>
        </p:txBody>
      </p:sp>
      <p:sp>
        <p:nvSpPr>
          <p:cNvPr id="10" name="anim:2:257"/>
          <p:cNvSpPr/>
          <p:nvPr/>
        </p:nvSpPr>
        <p:spPr>
          <a:xfrm>
            <a:off x="548640" y="4023360"/>
            <a:ext cx="5440680" cy="1965960"/>
          </a:xfrm>
          <a:prstGeom prst="roundRect">
            <a:avLst>
              <a:gd name="adj" fmla="val 5581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1" name="anim:2:258"/>
          <p:cNvSpPr txBox="1"/>
          <p:nvPr/>
        </p:nvSpPr>
        <p:spPr>
          <a:xfrm>
            <a:off x="822960" y="41879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distrito, longe da média</a:t>
            </a:r>
            <a:endParaRPr lang="en-US" sz="1700" dirty="0"/>
          </a:p>
        </p:txBody>
      </p:sp>
      <p:sp>
        <p:nvSpPr>
          <p:cNvPr id="12" name="anim:2:259"/>
          <p:cNvSpPr txBox="1"/>
          <p:nvPr/>
        </p:nvSpPr>
        <p:spPr>
          <a:xfrm>
            <a:off x="822960" y="46177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distritos com menos de 50 matrículas por 100 crianças; outros 25 com mais de 100. A matrícula conta onde a escola fica; a população, onde a criança mora.</a:t>
            </a:r>
            <a:endParaRPr lang="en-US" sz="14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6263640" y="1417320"/>
          <a:ext cx="5440680" cy="4617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548640" y="6089904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Censo 2022 (IBGE) e Microdados de Matrículas (SME-SP); consultas 7 e 8.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CONSULTAS E DECISÕES · LUÍS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de projeto em destaque</a:t>
            </a:r>
            <a:endParaRPr lang="en-US" sz="3200" dirty="0"/>
          </a:p>
        </p:txBody>
      </p:sp>
      <p:sp>
        <p:nvSpPr>
          <p:cNvPr id="5" name="anim:1:260"/>
          <p:cNvSpPr/>
          <p:nvPr/>
        </p:nvSpPr>
        <p:spPr>
          <a:xfrm>
            <a:off x="548640" y="1508760"/>
            <a:ext cx="5440680" cy="1353312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6" name="anim:1:261"/>
          <p:cNvSpPr/>
          <p:nvPr/>
        </p:nvSpPr>
        <p:spPr>
          <a:xfrm>
            <a:off x="822960" y="1911096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anim:1:262"/>
          <p:cNvSpPr txBox="1"/>
          <p:nvPr/>
        </p:nvSpPr>
        <p:spPr>
          <a:xfrm>
            <a:off x="822960" y="19110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anim:1:263"/>
          <p:cNvSpPr txBox="1"/>
          <p:nvPr/>
        </p:nvSpPr>
        <p:spPr>
          <a:xfrm>
            <a:off x="1600200" y="169164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 mais fino na matrícula</a:t>
            </a:r>
            <a:endParaRPr lang="en-US" sz="1700" dirty="0"/>
          </a:p>
        </p:txBody>
      </p:sp>
      <p:sp>
        <p:nvSpPr>
          <p:cNvPr id="9" name="anim:1:264"/>
          <p:cNvSpPr txBox="1"/>
          <p:nvPr/>
        </p:nvSpPr>
        <p:spPr>
          <a:xfrm>
            <a:off x="1600200" y="211226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vínculo aluno-turma: preserva perfil e desfecho de cada aluno</a:t>
            </a:r>
            <a:endParaRPr lang="en-US" sz="1400" dirty="0"/>
          </a:p>
        </p:txBody>
      </p:sp>
      <p:sp>
        <p:nvSpPr>
          <p:cNvPr id="10" name="anim:2:265"/>
          <p:cNvSpPr/>
          <p:nvPr/>
        </p:nvSpPr>
        <p:spPr>
          <a:xfrm>
            <a:off x="6172200" y="1508760"/>
            <a:ext cx="5440680" cy="1353312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1" name="anim:2:266"/>
          <p:cNvSpPr/>
          <p:nvPr/>
        </p:nvSpPr>
        <p:spPr>
          <a:xfrm>
            <a:off x="6446520" y="1911096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anim:2:267"/>
          <p:cNvSpPr txBox="1"/>
          <p:nvPr/>
        </p:nvSpPr>
        <p:spPr>
          <a:xfrm>
            <a:off x="6446520" y="19110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anim:2:268"/>
          <p:cNvSpPr txBox="1"/>
          <p:nvPr/>
        </p:nvSpPr>
        <p:spPr>
          <a:xfrm>
            <a:off x="7223760" y="169164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Rollups encolhidos</a:t>
            </a:r>
            <a:endParaRPr lang="en-US" sz="1700" dirty="0"/>
          </a:p>
        </p:txBody>
      </p:sp>
      <p:sp>
        <p:nvSpPr>
          <p:cNvPr id="14" name="anim:2:269"/>
          <p:cNvSpPr txBox="1"/>
          <p:nvPr/>
        </p:nvSpPr>
        <p:spPr>
          <a:xfrm>
            <a:off x="7223760" y="211226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fato mantém o seu grão; Etapa, Tempo, Faixa Etária e Território conformam</a:t>
            </a:r>
            <a:endParaRPr lang="en-US" sz="1400" dirty="0"/>
          </a:p>
        </p:txBody>
      </p:sp>
      <p:sp>
        <p:nvSpPr>
          <p:cNvPr id="15" name="anim:3:270"/>
          <p:cNvSpPr/>
          <p:nvPr/>
        </p:nvSpPr>
        <p:spPr>
          <a:xfrm>
            <a:off x="548640" y="3044952"/>
            <a:ext cx="5440680" cy="1353312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6" name="anim:3:271"/>
          <p:cNvSpPr/>
          <p:nvPr/>
        </p:nvSpPr>
        <p:spPr>
          <a:xfrm>
            <a:off x="822960" y="3447288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7" name="anim:3:272"/>
          <p:cNvSpPr txBox="1"/>
          <p:nvPr/>
        </p:nvSpPr>
        <p:spPr>
          <a:xfrm>
            <a:off x="822960" y="34472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anim:3:273"/>
          <p:cNvSpPr txBox="1"/>
          <p:nvPr/>
        </p:nvSpPr>
        <p:spPr>
          <a:xfrm>
            <a:off x="1600200" y="322783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 não é zero</a:t>
            </a:r>
            <a:endParaRPr lang="en-US" sz="1700" dirty="0"/>
          </a:p>
        </p:txBody>
      </p:sp>
      <p:sp>
        <p:nvSpPr>
          <p:cNvPr id="19" name="anim:3:274"/>
          <p:cNvSpPr txBox="1"/>
          <p:nvPr/>
        </p:nvSpPr>
        <p:spPr>
          <a:xfrm>
            <a:off x="1600200" y="364845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 não publicada fica nula; zero faria a fila sumir</a:t>
            </a:r>
            <a:endParaRPr lang="en-US" sz="1400" dirty="0"/>
          </a:p>
        </p:txBody>
      </p:sp>
      <p:sp>
        <p:nvSpPr>
          <p:cNvPr id="20" name="anim:4:275"/>
          <p:cNvSpPr/>
          <p:nvPr/>
        </p:nvSpPr>
        <p:spPr>
          <a:xfrm>
            <a:off x="6172200" y="3044952"/>
            <a:ext cx="5440680" cy="1353312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21" name="anim:4:276"/>
          <p:cNvSpPr/>
          <p:nvPr/>
        </p:nvSpPr>
        <p:spPr>
          <a:xfrm>
            <a:off x="6446520" y="3447288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2" name="anim:4:277"/>
          <p:cNvSpPr txBox="1"/>
          <p:nvPr/>
        </p:nvSpPr>
        <p:spPr>
          <a:xfrm>
            <a:off x="6446520" y="34472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anim:4:278"/>
          <p:cNvSpPr txBox="1"/>
          <p:nvPr/>
        </p:nvSpPr>
        <p:spPr>
          <a:xfrm>
            <a:off x="7223760" y="322783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 tipo 2</a:t>
            </a:r>
            <a:endParaRPr lang="en-US" sz="1700" dirty="0"/>
          </a:p>
        </p:txBody>
      </p:sp>
      <p:sp>
        <p:nvSpPr>
          <p:cNvPr id="24" name="anim:4:279"/>
          <p:cNvSpPr txBox="1"/>
          <p:nvPr/>
        </p:nvSpPr>
        <p:spPr>
          <a:xfrm>
            <a:off x="7223760" y="364845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402 escolas mudam de nome, tipo, distrito ou DRE na série</a:t>
            </a:r>
            <a:endParaRPr lang="en-US" sz="1400" dirty="0"/>
          </a:p>
        </p:txBody>
      </p:sp>
      <p:sp>
        <p:nvSpPr>
          <p:cNvPr id="25" name="anim:5:280"/>
          <p:cNvSpPr/>
          <p:nvPr/>
        </p:nvSpPr>
        <p:spPr>
          <a:xfrm>
            <a:off x="548640" y="4581144"/>
            <a:ext cx="5440680" cy="1353312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26" name="anim:5:281"/>
          <p:cNvSpPr/>
          <p:nvPr/>
        </p:nvSpPr>
        <p:spPr>
          <a:xfrm>
            <a:off x="822960" y="49834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anim:5:282"/>
          <p:cNvSpPr txBox="1"/>
          <p:nvPr/>
        </p:nvSpPr>
        <p:spPr>
          <a:xfrm>
            <a:off x="82296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anim:5:283"/>
          <p:cNvSpPr txBox="1"/>
          <p:nvPr/>
        </p:nvSpPr>
        <p:spPr>
          <a:xfrm>
            <a:off x="1600200" y="476402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não inventada</a:t>
            </a:r>
            <a:endParaRPr lang="en-US" sz="1700" dirty="0"/>
          </a:p>
        </p:txBody>
      </p:sp>
      <p:sp>
        <p:nvSpPr>
          <p:cNvPr id="29" name="anim:5:284"/>
          <p:cNvSpPr txBox="1"/>
          <p:nvPr/>
        </p:nvSpPr>
        <p:spPr>
          <a:xfrm>
            <a:off x="1600200" y="518464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ocupação medida pelos alunos ativos; nenhuma vaga estimada</a:t>
            </a:r>
            <a:endParaRPr lang="en-US" sz="1400" dirty="0"/>
          </a:p>
        </p:txBody>
      </p:sp>
      <p:sp>
        <p:nvSpPr>
          <p:cNvPr id="30" name="anim:6:285"/>
          <p:cNvSpPr/>
          <p:nvPr/>
        </p:nvSpPr>
        <p:spPr>
          <a:xfrm>
            <a:off x="6172200" y="4581144"/>
            <a:ext cx="5440680" cy="1353312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31" name="anim:6:286"/>
          <p:cNvSpPr/>
          <p:nvPr/>
        </p:nvSpPr>
        <p:spPr>
          <a:xfrm>
            <a:off x="6446520" y="49834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2" name="anim:6:287"/>
          <p:cNvSpPr txBox="1"/>
          <p:nvPr/>
        </p:nvSpPr>
        <p:spPr>
          <a:xfrm>
            <a:off x="644652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anim:6:288"/>
          <p:cNvSpPr txBox="1"/>
          <p:nvPr/>
        </p:nvSpPr>
        <p:spPr>
          <a:xfrm>
            <a:off x="7223760" y="476402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de referência</a:t>
            </a:r>
            <a:endParaRPr lang="en-US" sz="1700" dirty="0"/>
          </a:p>
        </p:txBody>
      </p:sp>
      <p:sp>
        <p:nvSpPr>
          <p:cNvPr id="34" name="anim:6:289"/>
          <p:cNvSpPr txBox="1"/>
          <p:nvPr/>
        </p:nvSpPr>
        <p:spPr>
          <a:xfrm>
            <a:off x="7223760" y="518464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junho para fila × matrícula; 31/07/2022 para população × matrícula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7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75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75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75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75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000"/>
                            </p:stCondLst>
                            <p:childTnLst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000"/>
                            </p:stCondLst>
                            <p:childTnLst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000"/>
                            </p:stCondLst>
                            <p:childTnLst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1000"/>
                            </p:stCondLst>
                            <p:childTnLst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000"/>
                            </p:stCondLst>
                            <p:childTnLst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250"/>
                            </p:stCondLst>
                            <p:childTnLst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1250"/>
                            </p:stCondLst>
                            <p:childTnLst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250"/>
                            </p:stCondLst>
                            <p:childTnLst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250"/>
                            </p:stCondLst>
                            <p:childTnLst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1250"/>
                            </p:stCondLst>
                            <p:childTnLst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CONSULTAS E DECISÕES · LUÍS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Obrigado. Perguntas?</a:t>
            </a:r>
            <a:endParaRPr lang="en-US" sz="3200" dirty="0"/>
          </a:p>
        </p:txBody>
      </p:sp>
      <p:sp>
        <p:nvSpPr>
          <p:cNvPr id="5" name="anim:1:290"/>
          <p:cNvSpPr/>
          <p:nvPr/>
        </p:nvSpPr>
        <p:spPr>
          <a:xfrm>
            <a:off x="548640" y="160020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3A4D73"/>
            </a:solidFill>
            <a:prstDash val="solid"/>
          </a:ln>
        </p:spPr>
      </p:sp>
      <p:sp>
        <p:nvSpPr>
          <p:cNvPr id="6" name="anim:1:291"/>
          <p:cNvSpPr txBox="1"/>
          <p:nvPr/>
        </p:nvSpPr>
        <p:spPr>
          <a:xfrm>
            <a:off x="822960" y="171907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13,4 mi</a:t>
            </a:r>
            <a:endParaRPr lang="en-US" sz="3400" dirty="0"/>
          </a:p>
        </p:txBody>
      </p:sp>
      <p:sp>
        <p:nvSpPr>
          <p:cNvPr id="7" name="anim:1:292"/>
          <p:cNvSpPr txBox="1"/>
          <p:nvPr/>
        </p:nvSpPr>
        <p:spPr>
          <a:xfrm>
            <a:off x="822960" y="240487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matrículas de 2015 a 2024</a:t>
            </a:r>
            <a:endParaRPr lang="en-US" sz="1400" dirty="0"/>
          </a:p>
        </p:txBody>
      </p:sp>
      <p:sp>
        <p:nvSpPr>
          <p:cNvPr id="8" name="anim:2:293"/>
          <p:cNvSpPr/>
          <p:nvPr/>
        </p:nvSpPr>
        <p:spPr>
          <a:xfrm>
            <a:off x="4297680" y="160020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3A4D73"/>
            </a:solidFill>
            <a:prstDash val="solid"/>
          </a:ln>
        </p:spPr>
      </p:sp>
      <p:sp>
        <p:nvSpPr>
          <p:cNvPr id="9" name="anim:2:294"/>
          <p:cNvSpPr txBox="1"/>
          <p:nvPr/>
        </p:nvSpPr>
        <p:spPr>
          <a:xfrm>
            <a:off x="4572000" y="171907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551 mil</a:t>
            </a:r>
            <a:endParaRPr lang="en-US" sz="3400" dirty="0"/>
          </a:p>
        </p:txBody>
      </p:sp>
      <p:sp>
        <p:nvSpPr>
          <p:cNvPr id="10" name="anim:2:295"/>
          <p:cNvSpPr txBox="1"/>
          <p:nvPr/>
        </p:nvSpPr>
        <p:spPr>
          <a:xfrm>
            <a:off x="4572000" y="240487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turmas carregadas</a:t>
            </a:r>
            <a:endParaRPr lang="en-US" sz="1400" dirty="0"/>
          </a:p>
        </p:txBody>
      </p:sp>
      <p:sp>
        <p:nvSpPr>
          <p:cNvPr id="11" name="anim:3:296"/>
          <p:cNvSpPr/>
          <p:nvPr/>
        </p:nvSpPr>
        <p:spPr>
          <a:xfrm>
            <a:off x="8046720" y="160020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3A4D73"/>
            </a:solidFill>
            <a:prstDash val="solid"/>
          </a:ln>
        </p:spPr>
      </p:sp>
      <p:sp>
        <p:nvSpPr>
          <p:cNvPr id="12" name="anim:3:297"/>
          <p:cNvSpPr txBox="1"/>
          <p:nvPr/>
        </p:nvSpPr>
        <p:spPr>
          <a:xfrm>
            <a:off x="8321040" y="171907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26.889</a:t>
            </a:r>
            <a:endParaRPr lang="en-US" sz="3400" dirty="0"/>
          </a:p>
        </p:txBody>
      </p:sp>
      <p:sp>
        <p:nvSpPr>
          <p:cNvPr id="13" name="anim:3:298"/>
          <p:cNvSpPr txBox="1"/>
          <p:nvPr/>
        </p:nvSpPr>
        <p:spPr>
          <a:xfrm>
            <a:off x="8321040" y="240487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censitários</a:t>
            </a:r>
            <a:endParaRPr lang="en-US" sz="1400" dirty="0"/>
          </a:p>
        </p:txBody>
      </p:sp>
      <p:sp>
        <p:nvSpPr>
          <p:cNvPr id="14" name="anim:4:299"/>
          <p:cNvSpPr txBox="1"/>
          <p:nvPr/>
        </p:nvSpPr>
        <p:spPr>
          <a:xfrm>
            <a:off x="548640" y="3246120"/>
            <a:ext cx="1097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Relatório: descrição do problema, povoamento atributo por atributo, cinco estrelas, constelação e oito consultas.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Repositório: pipeline do portal ao DuckDB, 14 verificações de qualidade e testes automáticos, inclusive da modelagem.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real: 13,4 milhões de matrículas, 551 mil turmas e 26.889 setores censitários em 3,5 minutos, sem nenhuma FALHA nas verificações.</a:t>
            </a:r>
            <a:endParaRPr lang="en-US" sz="1600" dirty="0"/>
          </a:p>
        </p:txBody>
      </p:sp>
      <p:sp>
        <p:nvSpPr>
          <p:cNvPr id="15" name="anim:5:300"/>
          <p:cNvSpPr txBox="1"/>
          <p:nvPr/>
        </p:nvSpPr>
        <p:spPr>
          <a:xfrm>
            <a:off x="548640" y="521208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github.com/kevennlaranjeira/OLAP2026</a:t>
            </a:r>
            <a:endParaRPr lang="en-US" sz="1800" dirty="0"/>
          </a:p>
        </p:txBody>
      </p:sp>
      <p:sp>
        <p:nvSpPr>
          <p:cNvPr id="16" name="anim:5:301"/>
          <p:cNvSpPr txBox="1"/>
          <p:nvPr/>
        </p:nvSpPr>
        <p:spPr>
          <a:xfrm>
            <a:off x="548640" y="5760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Kevenn Laranjeira de Oliveira  ·  Thiago Rodrigues Gouveia da Silva  ·  Daniel Afonso Borges dos Santos  ·  Luís Antônio Arruda Soares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F2A54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5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B2A4A"/>
      </a:dk2>
      <a:lt2>
        <a:srgbClr val="EEF2F8"/>
      </a:lt2>
      <a:accent1>
        <a:srgbClr val="2E5EAA"/>
      </a:accent1>
      <a:accent2>
        <a:srgbClr val="F2A541"/>
      </a:accent2>
      <a:accent3>
        <a:srgbClr val="566175"/>
      </a:accent3>
      <a:accent4>
        <a:srgbClr val="8FA6CB"/>
      </a:accent4>
      <a:accent5>
        <a:srgbClr val="8A5300"/>
      </a:accent5>
      <a:accent6>
        <a:srgbClr val="D6E0F0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Rede Municipal Paulistana: oferta escolar e demanda não atendida</dc:title>
  <dc:subject>PptxGenJS Presentation</dc:subject>
  <dc:creator>Grupo 7, SCC0245</dc:creator>
  <cp:lastModifiedBy>Grupo 7, SCC0245</cp:lastModifiedBy>
  <cp:revision>1</cp:revision>
  <dcterms:created xsi:type="dcterms:W3CDTF">2026-10-28T00:26:21Z</dcterms:created>
  <dcterms:modified xsi:type="dcterms:W3CDTF">2026-10-28T00:26:21Z</dcterms:modified>
</cp:coreProperties>
</file>