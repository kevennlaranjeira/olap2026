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E2B2B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E2B2B"/>
                </a:solidFill>
                <a:latin typeface="Calibri"/>
              </a:rPr>
              <a:t>Crianças na fila de creche em junho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Fila de creche em junho</c:v>
                </c:pt>
              </c:strCache>
            </c:strRef>
          </c:tx>
          <c:spPr>
            <a:solidFill>
              <a:srgbClr val="183D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2024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124741</c:v>
                </c:pt>
                <c:pt idx="1">
                  <c:v>104268</c:v>
                </c:pt>
                <c:pt idx="2">
                  <c:v>48910</c:v>
                </c:pt>
                <c:pt idx="3">
                  <c:v>22732</c:v>
                </c:pt>
                <c:pt idx="4">
                  <c:v>8767</c:v>
                </c:pt>
                <c:pt idx="5">
                  <c:v>4761</c:v>
                </c:pt>
                <c:pt idx="6">
                  <c:v>3633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E2B2B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E2B2B"/>
                </a:solidFill>
                <a:latin typeface="Calibri"/>
              </a:rPr>
              <a:t>Fração da demanda de creche fora da rede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Fração fora da rede</c:v>
                </c:pt>
              </c:strCache>
            </c:strRef>
          </c:tx>
          <c:spPr>
            <a:solidFill>
              <a:srgbClr val="D98E04"/>
            </a:solidFill>
            <a:ln w="38100" cap="flat">
              <a:solidFill>
                <a:srgbClr val="D98E04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D98E04"/>
              </a:solidFill>
              <a:ln w="9525" cap="flat">
                <a:solidFill>
                  <a:srgbClr val="D98E0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2024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34.1</c:v>
                </c:pt>
                <c:pt idx="1">
                  <c:v>26.6</c:v>
                </c:pt>
                <c:pt idx="2">
                  <c:v>12.8</c:v>
                </c:pt>
                <c:pt idx="3">
                  <c:v>6.2</c:v>
                </c:pt>
                <c:pt idx="4">
                  <c:v>2.4</c:v>
                </c:pt>
                <c:pt idx="5">
                  <c:v>1.3</c:v>
                </c:pt>
                <c:pt idx="6">
                  <c:v>1.1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B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
Abertura. Apresentar o grupo, a disciplina e o tema: política pública municipal de educação. Dizer em uma frase a pergunta do trabalho: onde existe fila por vaga, onde existe oferta, se a oferta está cheia, quantas crianças moram em cada lugar e o que acontece com quem consegue a vaga.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
Motivação. A falta de vaga em creche foi por anos o principal problema de acesso da educação infantil paulistana. O PNE (Lei 13.005/2014), Meta 1, pede creche para pelo menos metade das crianças de até 3 anos e pré-escola universal. A prefeitura publica a fila por distrito para dar transparência. Os números do slide são da nossa carga com os dados reais: a fila de creche em junho caiu de 124.741 crianças em 2015 para 3.633 em 2024. O gestor ainda precisa saber onde a oferta está cheia e quantas crianças moram em cada região, e é isso que o modelo junta.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
Quem usa: Secretaria Municipal de Educação e as 13 Diretorias Regionais. Cada cartão é uma decisão real de política pública e cita as consultas que a apoiam. Destacar que a capacidade das turmas não é publicada, então medimos a ocupação.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
O enunciado temático prioriza São Carlos. Nossa primeira proposta foi dimensionar a oferta escolar por setor censitário em São Carlos. Sem dado aberto de vaga nem de fila, a demanda não atendida teria de ser estimada, e o enunciado pede dados reais. São Paulo publica o microdado de cada matrícula e a fila por distrito. O modelo não depende de São Paulo: matrícula, turma e desfecho vêm do tipo de registro que qualquer sistema de gestão escolar mantém, e o Censo 2022 tem população por setor para todos os municípios.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
Os cinco assuntos são os registrados na planilha do grupo. Cada um vira um processo com tabela de fatos, ou atributos. Oferta por setor é respondida pela rede (direta ou conveniada) e pelo território. O desfecho da matrícula é o quinto processo, que acompanha o que acontece depois do acesso.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
Duas fontes da SME no Portal de Dados Abertos da Prefeitura, com grão, formato e vocabulário diferentes, e o Censo 2022 do IBGE. A fila tem sete formatos entre 2006 e 2026, e o significado das colunas numeradas muda com o formato. O Censo traz a demanda potencial: quantas crianças moram em cada setor. A população foi implementada e testada, e os números reais dela saem na próxima carga.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
Exemplos de integração exigidos no enunciado. Distrito: maiúsculas sem acento na SME, com acento no IBGE; a regra de normalização é a mesma. Idade: simples no microdado, grupos de cinco anos no IBGE; a dimensão Idade carrega a faixa do IBGE. CD_SETOR é um homônimo: na SME é setor administrativo de 4 dígitos, no IBGE setor censitário de 15. A prova de que a integração entre as bases da SME está certa: contando no microdado as matrículas ativas em junho, a diferença para a planilha fica abaixo de 1% de 2015 a 2020.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
Cada problema foi medido nos dados reais e tratado por uma regra testada. O mais grave: de 2022 a 2024 o código da escola chega corrompido; recuperamos o código real pelo nome, tipo e distrito para 94,8% a 98,6% das matrículas. Princípio: medida não publicada fica nula, nunca zero. O pipeline roda doze verificações automáticas depois de cada carga.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
Grão declarado antes das dimensões. Matrícula no grão mais fino que a fonte permite; fila no grão em que a prefeitura publica; desfecho e ocupação são fatos agregados do fato de matrícula; população no grão do IBGE. Fila e população são estoques: somam no território, não no tempo. Taxas e alunos por turma são derivados não aditivos, sempre recalculados a partir das somas.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
Fato no centro, dez dimensões. Dimensão Data com dois papéis, início e fim da matrícula, como a data de internação e de alta do artigo da disciplina: as duas datas permitem contar matrículas ativas em um dia. Tabela de fatos sem fato com campo artificial. Três bugigangas. Duas degeneradas. Escola é mudança lenta tipo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
Fila: medidas nulas onde a prefeitura não publicou a quebra; formato da planilha como dimensão degenerada. Tempo tem duas hierarquias porque a fila foi trimestral até 2022 e bimestral depois. Desfecho: fato agregado; as taxas são recalculadas pelas contagens em qualquer nível, nunca como média de taxas.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
Os dois assuntos que completam a planilha do grupo. Ocupação de turma: agregado do fato de matrícula pelo id da turma; a capacidade não é publicada, então medimos alunos ativos em 30 de junho. População: Censo 2022 no grão de setor censitário, com setor ≤ distrito ≤ DRE ≤ município ≤ UF. As duas estrelas estão implementadas e testadas; os números reais saem na próxima carga.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
Cinco fatos, catorze dimensões. Território é compartilhado pelos cinco. Onde os grãos diferem, cada fato manteve o seu e as dimensões de grão mais alto são rollups encolhidos conformados (tracejado): Tempo e Ano Letivo de Data, Etapa de Série, Faixa Etária de Idade, Território de Setor Censitário. O drill-across agrega cada fato até o grão comum e une pelos atributos conformados.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
O enunciado pede ao menos duas de roll-up ou drill-down, uma slice and dice, uma pivot e uma drill-across. Temos três, uma, uma e três. Cada consulta responde a uma pergunta do gestor e cita os fatos que usa. C7 é a que liga fila, matrícula e população; C8 é a da ocupação das turmas.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
Resultados da consulta 5 na carga com os dados reais de 2015 a 2024. A fila de creche em junho caiu 97% em dez anos e a fração da demanda fora da rede passou de 34% para 1%. Os anos 2016, 2018 e 2023 não aparecem no gráfico porque não estão na tabela de resultados documentada. Consulta 3: 85% das matrículas de creche estão na rede conveniada, quase todas em jornada integral. C7 e C8 ainda não foram rodadas com os dados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
Seis das 23 decisões documentadas no repositório. Cada uma tem a alternativa descartada e o argumento. Destacar as duas que mais aparecem em perguntas: por que rollups encolhidos em vez de um grão único, e por que nulo e não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
Encerramento. Lembrar que o relatório em PDF traz a descrição completa de cada atributo, com a coluna de origem e a integração, e que o repositório tem o pipeline completo, os testes e a documentação.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640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SCC0245 Processamento Analítico de Dados · Primeiro Trabalho Prático · Grupo 7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3258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 Municipal Paulistana: oferta escolar e demanda não atendida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2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data warehouse para decidir onde abrir vagas, com dados abertos da SME-SP e do IBGE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6908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   18046529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Rodrigues Gouveia da Silva   18066911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Afonso Borges dos Santos   12608581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Luís Antônio Arruda Soares   12559486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4983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Dra. Cristina Dutra de Aguiar</a:t>
            </a:r>
            <a:endParaRPr lang="en-US" sz="1400" dirty="0"/>
          </a:p>
          <a:p>
            <a:pPr algn="r" indent="0" marL="0">
              <a:buNone/>
            </a:pPr>
            <a:r>
              <a:rPr lang="en-US" sz="14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ICMC-USP, São Carlos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falta de vaga na educação infantil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falta de vaga em creche foi por anos o principal problema de acesso da educação infantil em São Paulo.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 (Lei 13.005/2014), Meta 1: creche para ao menos metade das crianças de até 3 anos; pré-escola universal.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decidir onde abrir vagas, o gestor precisa cruzar fila, matrícula, ocupação das turmas e população, que estão em bases diferentes.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858000" y="137160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086600" y="153619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em junho de 2015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086600" y="1993392"/>
            <a:ext cx="4297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086600" y="20116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A5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124.741 crianças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7086600" y="28803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da demanda de creche fora da rede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858000" y="370332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86600" y="38679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em junho de 2024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4325112"/>
            <a:ext cx="4297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43434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3.633 crianças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7086600" y="5212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da demanda de creche fora da rede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3550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Demanda Registrada e Matrículas (SME-SP); consulta 5 sobre a carga com os dados reais.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 que o data warehouse responde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abrir vagas?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9339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por distrito e DRE, fila contra matrícula e contra a população de 0 a 4 anos.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63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· C5 · C7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37160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0" y="153619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oferta é feita?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199339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da rede conveniada e da jornada integral na creche e em cada DRE.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3063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 · C4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395935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nova ou lugar ocioso?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41655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por turma em funcionamento, do município ao distrito.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5486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C8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72200" y="379476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0" y="395935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e abandono andam juntos?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41655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 abandono no ensino fundamental, por DRE.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5486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C6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São Paulo, e não São Carlos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394960" cy="2926080"/>
          </a:xfrm>
          <a:prstGeom prst="roundRect">
            <a:avLst>
              <a:gd name="adj" fmla="val 2500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proposta: São Carlos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93392"/>
            <a:ext cx="49377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escolar por setor censitário.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dado aberto de vaga nem de fila, a demanda não atendida teria de ser estimada.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394960" cy="2926080"/>
          </a:xfrm>
          <a:prstGeom prst="roundRect">
            <a:avLst>
              <a:gd name="adj" fmla="val 2500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36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Escolha: São Paulo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93392"/>
            <a:ext cx="49377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SME publica o microdado de cada matrícula e a fila de espera por distrito: demanda medida, não estimada.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milhões de matrículas de 2015 a 2024.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66344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vale para São Carlos: </a:t>
            </a:r>
            <a:pPr indent="0" marL="0"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matrícula, turma e desfecho vêm do registro que todo sistema de gestão escolar mantém, e o Censo 2022 já tem a população por setor censitário do município. Falta só a rede registrar e publicar a fila.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assuntos de interesse, cinco processos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566160"/>
                <a:gridCol w="3840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Assunto de interesse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 (tabela de fatos)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vínculo aluno-turma em um ano letivo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(demanda registrada)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por vaga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 × mês × etapa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e ocupação das turmas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 em um ano letivo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 em idade escolar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 residente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 censitário × faixa etária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 escolar por setor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 da escola e território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dimensões Escola, Território, Setor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(acompanhamento do acesso)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Desfecho da 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escola × ano × série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fontes de dados reais e oficiais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Microdados de Matrículas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93392"/>
            <a:ext cx="31089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SME-SP · anual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97180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linha por vínculo aluno-turma: escola, turma, turno, série, idade, perfil, deficiência, datas e desfecho.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milhões de matrículas de escolarização (2015-2024).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Registrada e Matrículas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93392"/>
            <a:ext cx="31089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SME-SP · trimestral, bimestral desde 2023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97180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distrito e etapa: matrículas, matrículas em processo e fila.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planilhas × 96 distritos no recorte; sete formatos diferentes.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046720" y="137160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Demográfico 2022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1993392"/>
            <a:ext cx="31089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· Agregados por Setores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297180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residentes por setor censitário e grupo de idade (variáveis V01031 a V01041).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 referência: noite de 31/07 para 01/08/2022.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Integração: mesmo dado, representações diferentes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3017520"/>
                <a:gridCol w="32918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data warehouse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AGUA RASA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Água Rasa + código de 9 dígitos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normalizado, chave da dimensão Território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 simples em 31/03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grupo de 0 a 4, 5 a 9, ...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faixa IBGE na dimensão 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Creche, Pré Escola (fila); MODALIDADE (microdado)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aplica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catálogo único de etapas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CD_SETOR: 4 dígitos, administrativo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CD_SETOR: 15 dígitos, censitário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homônimo: nunca cruzados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8920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9834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Reconciliação: </a:t>
            </a:r>
            <a:pPr indent="0" marL="0"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ativas em junho no microdado contra a matrícula da planilha de fila, por distrito e etapa: diferença abaixo de 1% de 2015 a 2020 (creche: +0,03% em 2015, +0,17% em 2019).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reais nos dados e como foram tratados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da escola corrompido (2022-2024)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3172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recuperado pelo nome, tipo e distrito em 94,8% a 98,6% das matrículas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9768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formatos da planilha de fila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233172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lidas do cabeçalho; significado de (1), (2), (3) lido do rodapé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04672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não publicado em 2021</a:t>
            </a:r>
            <a:endParaRPr lang="en-US" sz="155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33172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deduzido do código da turma, conferido pelos horários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com vírgula, nula ou nascida em 1900</a:t>
            </a:r>
            <a:endParaRPr lang="en-US" sz="15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70916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recalculada pelo nascimento; impossível vira não informada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9768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26280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em cinco formatos, inclusive serial do Excel</a:t>
            </a:r>
            <a:endParaRPr lang="en-US" sz="1550" dirty="0"/>
          </a:p>
        </p:txBody>
      </p:sp>
      <p:sp>
        <p:nvSpPr>
          <p:cNvPr id="19" name="Text 16"/>
          <p:cNvSpPr txBox="1"/>
          <p:nvPr/>
        </p:nvSpPr>
        <p:spPr>
          <a:xfrm>
            <a:off x="4526280" y="470916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lidos; fora da janela do ano letivo, descartadas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4672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Quebra da fila publicada só a partir de 2020</a:t>
            </a:r>
            <a:endParaRPr lang="en-US" sz="1550" dirty="0"/>
          </a:p>
        </p:txBody>
      </p:sp>
      <p:sp>
        <p:nvSpPr>
          <p:cNvPr id="22" name="Text 19"/>
          <p:cNvSpPr txBox="1"/>
          <p:nvPr/>
        </p:nvSpPr>
        <p:spPr>
          <a:xfrm>
            <a:off x="8275320" y="470916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 onde não foi publicada, nunca zero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Grão e aditividade dos fatos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834640"/>
                <a:gridCol w="3657600"/>
                <a:gridCol w="24688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 de fatos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Aditividade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vínculo aluno-turma × ano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 (=1), dias de 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 × mês × etapa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matrículas, em processo, demanda e categorias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semiaditivo (estoque)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Desfecho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escola × ano × série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contagens por desfecho; taxas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aditivo; taxas não aditivas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 × ano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turmas, matrículas, ativas em junho; alunos por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aditivo; média não aditiva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 censitário × faixa × Censo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pessoas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semiaditivo (estoque)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estrela Matrícula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/home/user/OLAP2026/docs/apresentacao/figuras/estrela-matricu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452360" cy="518107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183880" y="1280160"/>
            <a:ext cx="35204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com dois papéis: início e fim da matrícula.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de fatos sem fato: quantidade = 1.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Bugigangas: Perfil, Deficiência, Situação.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Degeneradas: id turma, código da matrícula.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Escola: mudança lenta tipo 2.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Hierarquias: dia ≤ mês ≤ trimestre ≤ semestre ≤ ano; série ≤ etapa ≤ nível; idade ≤ faixa IBGE.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Estrelas Fila e Desfecho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5" name="Image 0" descr="/home/user/OLAP2026/docs/apresentacao/figuras/estrela-fi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315200" cy="2396936"/>
          </a:xfrm>
          <a:prstGeom prst="rect">
            <a:avLst/>
          </a:prstGeom>
        </p:spPr>
      </p:pic>
      <p:pic>
        <p:nvPicPr>
          <p:cNvPr id="6" name="Image 1" descr="/home/user/OLAP2026/docs/apresentacao/figuras/estrela-desfech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794760"/>
            <a:ext cx="7315200" cy="2306034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092440" y="1280160"/>
            <a:ext cx="36118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Fila: estoque; SOMA no território e na etapa, um único mês no tempo.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Tempo: mês ≤ trimestre ≤ semestre ≤ ano e mês ≤ bimestre ≤ ano.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Desfecho: contagens aditivas; taxas derivadas, recalculadas.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Território: distrito ≤ DRE ≤ município ≤ UF.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Estrelas Ocupação de Turma e População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5" name="Image 0" descr="/home/user/OLAP2026/docs/apresentacao/figuras/estrela-tu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400800" cy="2716886"/>
          </a:xfrm>
          <a:prstGeom prst="rect">
            <a:avLst/>
          </a:prstGeom>
        </p:spPr>
      </p:pic>
      <p:pic>
        <p:nvPicPr>
          <p:cNvPr id="6" name="Image 1" descr="/home/user/OLAP2026/docs/apresentacao/figuras/estrela-popula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069080"/>
            <a:ext cx="6400800" cy="224383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178040" y="1280160"/>
            <a:ext cx="45262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Ocupação: alunos ativos em 30/06 por turma ativa; média recalculada pelas somas.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não publicada por nenhuma fonte: não é estimada.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População: estoque na data do Censo; valor não publicado fica nulo.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censitário ≤ distrito ≤ DRE ≤ município ≤ UF.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Etária é rollup encolhido de Idade.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Constelação de fatos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home/user/OLAP2026/docs/apresentacao/figuras/constel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11155680" cy="463040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Tracejado: rollup encolhido conformado. Território é compartilhado pelos cinco fatos.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Oito consultas OLAP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5486400"/>
                <a:gridCol w="31089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Pergunta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de creche: município → DRE →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roll-up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matrículas: etapa → nível → total, ano a 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 and dice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creche por rede e jornada, 2019 e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pivot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 nas linhas, jornada nas colunas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contra matrícula ativa em junho, por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Fila, 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de creche e abandono no fundamental, por DRE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Fila, Matrícula, Desfecho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crianças de 0 a 4 anos: residentes, matriculadas e na 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População, Matrícula, 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alunos por turma: município → DRE →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com os dados reais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34440"/>
          <a:ext cx="56692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309360" y="123444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2"/>
          <p:cNvSpPr/>
          <p:nvPr/>
        </p:nvSpPr>
        <p:spPr>
          <a:xfrm>
            <a:off x="6309360" y="443484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37960" y="45994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da creche é conveniada</a:t>
            </a:r>
            <a:endParaRPr lang="en-US" sz="1700" dirty="0"/>
          </a:p>
        </p:txBody>
      </p:sp>
      <p:sp>
        <p:nvSpPr>
          <p:cNvPr id="9" name="Text 4"/>
          <p:cNvSpPr txBox="1"/>
          <p:nvPr/>
        </p:nvSpPr>
        <p:spPr>
          <a:xfrm>
            <a:off x="6537960" y="50566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 e 2024, quase toda em jornada integral (consulta 3).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63550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SME-SP, Demanda Registrada e Matrículas e Microdados de Matrículas; consultas 3 e 5. C7 e C8 serão medidas na próxima carga.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de projeto em destaque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5361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mais fino na matrícula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19659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vínculo aluno-turma: preserva perfil e desfecho de cada aluno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0" y="18288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5361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Rollups encolhidos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19659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fato mantém o seu grão; Etapa, Tempo, Faixa Etária e Território conformam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34290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1363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 não é zero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35661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não publicada fica nula; zero faria a fila sumir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7220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0" y="34290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1363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 tipo 2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7086600" y="35661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402 escolas mudam de nome, tipo, distrito ou DRE na série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240" y="5029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463040" y="47365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não inventada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51663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medida pelos alunos ativos; nenhuma vaga estimada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17220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5029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7086600" y="47365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de referência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7086600" y="51663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junho para fila × matrícula; 31/07/2022 para população × matrícula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8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 Perguntas?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0789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Relatório: descrição do problema, povoamento atributo por atributo, cinco estrelas, constelação e oito consultas.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Repositório: pipeline do portal ao DuckDB, 12 verificações de qualidade e testes automáticos.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rodar a carga com o Censo 2022 e medir as consultas 7 e 8 com os dados reais.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846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github.com/kevennlaranjeira/OLAP2026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6928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  ·  Thiago Rodrigues Gouveia da Silva  ·  Daniel Afonso Borges dos Santos  ·  Luís Antônio Arruda Soares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 Municipal Paulistana: oferta escolar e demanda não atendida</dc:title>
  <dc:subject>PptxGenJS Presentation</dc:subject>
  <dc:creator>Grupo 7, SCC0245</dc:creator>
  <cp:lastModifiedBy>Grupo 7, SCC0245</cp:lastModifiedBy>
  <cp:revision>1</cp:revision>
  <dcterms:created xsi:type="dcterms:W3CDTF">2026-10-01T19:24:24Z</dcterms:created>
  <dcterms:modified xsi:type="dcterms:W3CDTF">2026-10-01T19:24:24Z</dcterms:modified>
</cp:coreProperties>
</file>