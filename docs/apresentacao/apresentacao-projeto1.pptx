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decidir onde abrir vaga, precisamos de três respostas sobre cada distrito, e cada uma vem de uma fonte. Quem já tem vaga: o microdado de matrículas da SME, 13,4 milhões de linhas, uma por aluno numa turma. Quem espera vaga: a planilha de demanda da SME, 44 meses de fila, uma linha por distrito com uma coluna por etapa. Quantas crianças moram ali: o Censo 2022 do IBGE, 26.889 setores, uma linha por setor com uma coluna por faixa de idade. Repare que cada fonte tem um tamanho de linha diferente; é isso que os próximos slides resolvem. Para não ficar abstrato, vamos seguir um distrito, o Tremembé: 153 crianças na fila de creche em junho de 2024 e 11.498 crianças de 0 a 4 anos morando 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Integrar é fazer as fontes falarem a mesma língua. Leia cada linha da esquerda para a direita: como o dado chega, a regra que aplicamos e o que fica no data warehouse. Distrito: a fila escreve TREMEMBE com um espaço sobrando no fim, a matrícula escreve TREMEMBE, o IBGE escreve Tremembé com acento; a mesma regra de normalização transforma os três numa única linha da dimensão Território. Idade: a matrícula traz a idade exata, o IBGE só o grupo de 0 a 4; cada idade ganha a faixa do IBGE, e as duas bases passam a ser comparadas na mesma faixa. Setor: as duas bases usam o nome CD_SETOR para coisas diferentes, setor administrativo de 4 dígitos e setor censitário de 15; é um homônimo, então viram atributos separados e nunca são cruzados. Como sabemos que deu certo: contamos a mesma coisa nas duas bases da SME. Matrículas de creche ativas em junho de 2015: 240.905 no microdado e 240.840 na planilha. De 2015 a 2020 a diferença fica abaixo 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Os dados reais chegaram com vários defeitos; vou mostrar um, de ponta a ponta, porque é o mais grave e mostra como tratamos todos. À esquerda, como o código da escola chega. Em 2021 a UNIAO DE VILA NOVA I tem o código 19459. Em 2022 o código vem embaralhado. Em 2023 vem em notação científica, 9,20961E+15, e o mesmo código aparece também na BEIJA FLOR, outra escola: o código deixou de identificar a escola. O que fizemos, em três passos. Um: medimos cada ano no próprio dado; em 2023 há E+ e um código em duas escolas, então o ano está corrompido, e 2021 é o último ano confiável. Dois: procuramos a escola pelo nome, tipo e distrito em 2021; a UNIAO DE VILA NOVA I, EMEI da Vila Jacuí, tem um único código, 19459. Três: um código só, copiamos; a BEIJA FLOR tem duas escolas com esse nome em 2021, então é ambígua e recebe uma chave sintética, nunca um chute. À direita, como ficou. Resultado: 94,8% a 98,6% das matrículas de 2022 a 2024 ficam com o código real. Os outros problemas (fila em sete formatos, turno de 2021, idade, datas e valores escondidos pelo IBGE) seguem a mesma lógica: medir, corrigir com uma regra testada e, na dúvida, não inventar; o que não foi publicado fica nulo, nunca zero, como os 6.543 valores que o IBGE esconde em setores pequenos. Depois de cada carga rodam catorze verificações automáticas, e nenhuma deu FALHA. (O exemplo é do teste do projeto, no formato dos arquivos.)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Dois conceitos, cada um com uma pergunta. Grão: o que uma linha da tabela representa? É a primeira decisão do modelo, tomada antes das dimensões. No fato Fila, uma linha é o Tremembé, junho de 2024, creche, com o número 153. No fato Matrícula, uma linha é um aluno numa turma, com o número 1. Por isso uma criança não é uma linha da fila: ela é uma das 153; quando consegue a vaga, vira uma linha do fato Matrícula. Aditividade: posso somar essa medida? Somar distritos pode: 153 do Tremembé mais 88 do Grajaú dá 241 crianças na fila. Somar meses não pode: a fila é um estoque, um retrato numa data, e quem esperou de abril a junho apareceria duas vezes. Taxas e médias nunca se somam: recalculamos a partir das contagens. A tabela em cima resume os cinco fatos: matrícula, desfecho e ocupação somam; fila e população são estoques.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A primeira estrela do modelo: o fato Matrícula no centro, dez dimensões em volta, e cada recurso de modelagem resolve um problema concreto. Um: a dimensão Data entra duas vezes, como início e fim da matrícula, como a internação e a alta do artigo da disciplina; com as duas datas sabemos se a matrícula estava ativa em 30 de junho, que é o número que se compara com a fila. Dois: cada linha tem um campo igual a 1, técnica das tabelas de fatos sem fato, e contar matrículas vira uma soma; a outra medida é dias de matrícula. Três: sexo, raça, deficiências e situação são mais de 30 indicadores; em vez de 30 dimensões minúsculas, ficam em 3 dimensões bugiganga. Quatro: id da turma e código da matrícula ficam no fato, sem tabela própria; são dimensões degeneradas. Cinco: a escola é mudança lenta tipo 2; 402 escolas mudam de nome ou tipo na série, e a matrícula de 2017 continua com o nome que a escola tinha em 2017. Fechar o passo 1: os dados estão limpos e integrados, e o passo 2 é o modelo. Passar a palavra ao Daniel.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456"/>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57"/>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458"/>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459"/>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460"/>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461"/>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462"/>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463"/>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464"/>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465"/>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466"/>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467"/>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468"/>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16</a:t>
            </a:r>
            <a:endParaRPr lang="en-US" sz="1200" dirty="0"/>
          </a:p>
        </p:txBody>
      </p:sp>
      <p:sp>
        <p:nvSpPr>
          <p:cNvPr id="18" name="anim:2:469"/>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470"/>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471"/>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472"/>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473"/>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474"/>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475"/>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476"/>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17 a 21</a:t>
            </a:r>
            <a:endParaRPr lang="en-US" sz="1200" dirty="0"/>
          </a:p>
        </p:txBody>
      </p:sp>
      <p:sp>
        <p:nvSpPr>
          <p:cNvPr id="26" name="anim:3:477"/>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478"/>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479"/>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480"/>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481"/>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482"/>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483"/>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484"/>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22 a 28</a:t>
            </a:r>
            <a:endParaRPr lang="en-US" sz="1200" dirty="0"/>
          </a:p>
        </p:txBody>
      </p:sp>
      <p:sp>
        <p:nvSpPr>
          <p:cNvPr id="34" name="anim:4:485"/>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486"/>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487"/>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488"/>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489"/>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490"/>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três perguntas sobre cada distrito</a:t>
            </a:r>
            <a:endParaRPr lang="en-US" sz="3200" dirty="0"/>
          </a:p>
        </p:txBody>
      </p:sp>
      <p:sp>
        <p:nvSpPr>
          <p:cNvPr id="5" name="anim:1:201"/>
          <p:cNvSpPr/>
          <p:nvPr/>
        </p:nvSpPr>
        <p:spPr>
          <a:xfrm>
            <a:off x="54864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ANUAL</a:t>
            </a:r>
            <a:endParaRPr lang="en-US" sz="1000" dirty="0"/>
          </a:p>
        </p:txBody>
      </p:sp>
      <p:sp>
        <p:nvSpPr>
          <p:cNvPr id="7" name="anim:1:203"/>
          <p:cNvSpPr txBox="1"/>
          <p:nvPr/>
        </p:nvSpPr>
        <p:spPr>
          <a:xfrm>
            <a:off x="82296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já tem vaga?</a:t>
            </a:r>
            <a:endParaRPr lang="en-US" sz="1900" dirty="0"/>
          </a:p>
        </p:txBody>
      </p:sp>
      <p:sp>
        <p:nvSpPr>
          <p:cNvPr id="8" name="anim:1:204"/>
          <p:cNvSpPr txBox="1"/>
          <p:nvPr/>
        </p:nvSpPr>
        <p:spPr>
          <a:xfrm>
            <a:off x="82296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Microdados de Matrículas</a:t>
            </a:r>
            <a:endParaRPr lang="en-US" sz="1200" dirty="0"/>
          </a:p>
        </p:txBody>
      </p:sp>
      <p:sp>
        <p:nvSpPr>
          <p:cNvPr id="9" name="anim:1:205"/>
          <p:cNvSpPr txBox="1"/>
          <p:nvPr/>
        </p:nvSpPr>
        <p:spPr>
          <a:xfrm>
            <a:off x="82296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13,4 mi</a:t>
            </a:r>
            <a:endParaRPr lang="en-US" sz="3200" dirty="0"/>
          </a:p>
        </p:txBody>
      </p:sp>
      <p:sp>
        <p:nvSpPr>
          <p:cNvPr id="10" name="anim:1:206"/>
          <p:cNvSpPr txBox="1"/>
          <p:nvPr/>
        </p:nvSpPr>
        <p:spPr>
          <a:xfrm>
            <a:off x="82296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2015 a 2024</a:t>
            </a:r>
            <a:endParaRPr lang="en-US" sz="1200" dirty="0"/>
          </a:p>
        </p:txBody>
      </p:sp>
      <p:sp>
        <p:nvSpPr>
          <p:cNvPr id="11" name="anim:1:207"/>
          <p:cNvSpPr/>
          <p:nvPr/>
        </p:nvSpPr>
        <p:spPr>
          <a:xfrm>
            <a:off x="822960" y="3657600"/>
            <a:ext cx="3017520" cy="0"/>
          </a:xfrm>
          <a:prstGeom prst="line">
            <a:avLst/>
          </a:prstGeom>
          <a:noFill/>
          <a:ln w="9525">
            <a:solidFill>
              <a:srgbClr val="D6E0F0"/>
            </a:solidFill>
            <a:prstDash val="solid"/>
          </a:ln>
        </p:spPr>
      </p:sp>
      <p:sp>
        <p:nvSpPr>
          <p:cNvPr id="12" name="anim:1:208"/>
          <p:cNvSpPr txBox="1"/>
          <p:nvPr/>
        </p:nvSpPr>
        <p:spPr>
          <a:xfrm>
            <a:off x="82296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13" name="anim:1:209"/>
          <p:cNvSpPr txBox="1"/>
          <p:nvPr/>
        </p:nvSpPr>
        <p:spPr>
          <a:xfrm>
            <a:off x="82296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aluno numa turma, num ano letivo</a:t>
            </a:r>
            <a:endParaRPr lang="en-US" sz="1400" dirty="0"/>
          </a:p>
        </p:txBody>
      </p:sp>
      <p:sp>
        <p:nvSpPr>
          <p:cNvPr id="14" name="anim:2:210"/>
          <p:cNvSpPr/>
          <p:nvPr/>
        </p:nvSpPr>
        <p:spPr>
          <a:xfrm>
            <a:off x="429768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5" name="anim:2:211"/>
          <p:cNvSpPr txBox="1"/>
          <p:nvPr/>
        </p:nvSpPr>
        <p:spPr>
          <a:xfrm>
            <a:off x="457200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TRIMESTRAL E BIMESTRAL</a:t>
            </a:r>
            <a:endParaRPr lang="en-US" sz="1000" dirty="0"/>
          </a:p>
        </p:txBody>
      </p:sp>
      <p:sp>
        <p:nvSpPr>
          <p:cNvPr id="16" name="anim:2:212"/>
          <p:cNvSpPr txBox="1"/>
          <p:nvPr/>
        </p:nvSpPr>
        <p:spPr>
          <a:xfrm>
            <a:off x="457200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espera vaga?</a:t>
            </a:r>
            <a:endParaRPr lang="en-US" sz="1900" dirty="0"/>
          </a:p>
        </p:txBody>
      </p:sp>
      <p:sp>
        <p:nvSpPr>
          <p:cNvPr id="17" name="anim:2:213"/>
          <p:cNvSpPr txBox="1"/>
          <p:nvPr/>
        </p:nvSpPr>
        <p:spPr>
          <a:xfrm>
            <a:off x="457200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Demanda Registrada e Matrículas</a:t>
            </a:r>
            <a:endParaRPr lang="en-US" sz="1200" dirty="0"/>
          </a:p>
        </p:txBody>
      </p:sp>
      <p:sp>
        <p:nvSpPr>
          <p:cNvPr id="18" name="anim:2:214"/>
          <p:cNvSpPr txBox="1"/>
          <p:nvPr/>
        </p:nvSpPr>
        <p:spPr>
          <a:xfrm>
            <a:off x="457200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44 meses</a:t>
            </a:r>
            <a:endParaRPr lang="en-US" sz="3200" dirty="0"/>
          </a:p>
        </p:txBody>
      </p:sp>
      <p:sp>
        <p:nvSpPr>
          <p:cNvPr id="19" name="anim:2:215"/>
          <p:cNvSpPr txBox="1"/>
          <p:nvPr/>
        </p:nvSpPr>
        <p:spPr>
          <a:xfrm>
            <a:off x="457200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 fila, 96 distritos em cada mês</a:t>
            </a:r>
            <a:endParaRPr lang="en-US" sz="1200" dirty="0"/>
          </a:p>
        </p:txBody>
      </p:sp>
      <p:sp>
        <p:nvSpPr>
          <p:cNvPr id="20" name="anim:2:216"/>
          <p:cNvSpPr/>
          <p:nvPr/>
        </p:nvSpPr>
        <p:spPr>
          <a:xfrm>
            <a:off x="4572000" y="3657600"/>
            <a:ext cx="3017520" cy="0"/>
          </a:xfrm>
          <a:prstGeom prst="line">
            <a:avLst/>
          </a:prstGeom>
          <a:noFill/>
          <a:ln w="9525">
            <a:solidFill>
              <a:srgbClr val="D6E0F0"/>
            </a:solidFill>
            <a:prstDash val="solid"/>
          </a:ln>
        </p:spPr>
      </p:sp>
      <p:sp>
        <p:nvSpPr>
          <p:cNvPr id="21" name="anim:2:217"/>
          <p:cNvSpPr txBox="1"/>
          <p:nvPr/>
        </p:nvSpPr>
        <p:spPr>
          <a:xfrm>
            <a:off x="457200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22" name="anim:2:218"/>
          <p:cNvSpPr txBox="1"/>
          <p:nvPr/>
        </p:nvSpPr>
        <p:spPr>
          <a:xfrm>
            <a:off x="457200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distrito num mês, com uma coluna por etapa</a:t>
            </a:r>
            <a:endParaRPr lang="en-US" sz="1400" dirty="0"/>
          </a:p>
        </p:txBody>
      </p:sp>
      <p:sp>
        <p:nvSpPr>
          <p:cNvPr id="23" name="anim:3:219"/>
          <p:cNvSpPr/>
          <p:nvPr/>
        </p:nvSpPr>
        <p:spPr>
          <a:xfrm>
            <a:off x="804672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3:220"/>
          <p:cNvSpPr txBox="1"/>
          <p:nvPr/>
        </p:nvSpPr>
        <p:spPr>
          <a:xfrm>
            <a:off x="832104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IBGE · CENSO 2022</a:t>
            </a:r>
            <a:endParaRPr lang="en-US" sz="1000" dirty="0"/>
          </a:p>
        </p:txBody>
      </p:sp>
      <p:sp>
        <p:nvSpPr>
          <p:cNvPr id="25" name="anim:3:221"/>
          <p:cNvSpPr txBox="1"/>
          <p:nvPr/>
        </p:nvSpPr>
        <p:spPr>
          <a:xfrm>
            <a:off x="832104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Quantas crianças moram ali?</a:t>
            </a:r>
            <a:endParaRPr lang="en-US" sz="1900" dirty="0"/>
          </a:p>
        </p:txBody>
      </p:sp>
      <p:sp>
        <p:nvSpPr>
          <p:cNvPr id="26" name="anim:3:222"/>
          <p:cNvSpPr txBox="1"/>
          <p:nvPr/>
        </p:nvSpPr>
        <p:spPr>
          <a:xfrm>
            <a:off x="832104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Agregados por Setores Censitários</a:t>
            </a:r>
            <a:endParaRPr lang="en-US" sz="1200" dirty="0"/>
          </a:p>
        </p:txBody>
      </p:sp>
      <p:sp>
        <p:nvSpPr>
          <p:cNvPr id="27" name="anim:3:223"/>
          <p:cNvSpPr txBox="1"/>
          <p:nvPr/>
        </p:nvSpPr>
        <p:spPr>
          <a:xfrm>
            <a:off x="832104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26.889</a:t>
            </a:r>
            <a:endParaRPr lang="en-US" sz="3200" dirty="0"/>
          </a:p>
        </p:txBody>
      </p:sp>
      <p:sp>
        <p:nvSpPr>
          <p:cNvPr id="28" name="anim:3:224"/>
          <p:cNvSpPr txBox="1"/>
          <p:nvPr/>
        </p:nvSpPr>
        <p:spPr>
          <a:xfrm>
            <a:off x="832104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11,4 milhões de moradores</a:t>
            </a:r>
            <a:endParaRPr lang="en-US" sz="1200" dirty="0"/>
          </a:p>
        </p:txBody>
      </p:sp>
      <p:sp>
        <p:nvSpPr>
          <p:cNvPr id="29" name="anim:3:225"/>
          <p:cNvSpPr/>
          <p:nvPr/>
        </p:nvSpPr>
        <p:spPr>
          <a:xfrm>
            <a:off x="8321040" y="3657600"/>
            <a:ext cx="3017520" cy="0"/>
          </a:xfrm>
          <a:prstGeom prst="line">
            <a:avLst/>
          </a:prstGeom>
          <a:noFill/>
          <a:ln w="9525">
            <a:solidFill>
              <a:srgbClr val="D6E0F0"/>
            </a:solidFill>
            <a:prstDash val="solid"/>
          </a:ln>
        </p:spPr>
      </p:sp>
      <p:sp>
        <p:nvSpPr>
          <p:cNvPr id="30" name="anim:3:226"/>
          <p:cNvSpPr txBox="1"/>
          <p:nvPr/>
        </p:nvSpPr>
        <p:spPr>
          <a:xfrm>
            <a:off x="832104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31" name="anim:3:227"/>
          <p:cNvSpPr txBox="1"/>
          <p:nvPr/>
        </p:nvSpPr>
        <p:spPr>
          <a:xfrm>
            <a:off x="832104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setor censitário, com uma coluna por faixa de idade</a:t>
            </a:r>
            <a:endParaRPr lang="en-US" sz="1400" dirty="0"/>
          </a:p>
        </p:txBody>
      </p:sp>
      <p:sp>
        <p:nvSpPr>
          <p:cNvPr id="32" name="anim:4:228"/>
          <p:cNvSpPr/>
          <p:nvPr/>
        </p:nvSpPr>
        <p:spPr>
          <a:xfrm>
            <a:off x="548640" y="5074920"/>
            <a:ext cx="11064240" cy="914400"/>
          </a:xfrm>
          <a:prstGeom prst="roundRect">
            <a:avLst>
              <a:gd name="adj" fmla="val 12000"/>
            </a:avLst>
          </a:prstGeom>
          <a:solidFill>
            <a:srgbClr val="EEF2F8"/>
          </a:solidFill>
          <a:ln w="9525">
            <a:solidFill>
              <a:srgbClr val="EEF2F8"/>
            </a:solidFill>
            <a:prstDash val="solid"/>
          </a:ln>
        </p:spPr>
      </p:sp>
      <p:sp>
        <p:nvSpPr>
          <p:cNvPr id="33" name="anim:4:229"/>
          <p:cNvSpPr/>
          <p:nvPr/>
        </p:nvSpPr>
        <p:spPr>
          <a:xfrm>
            <a:off x="777240" y="5303520"/>
            <a:ext cx="457200" cy="457200"/>
          </a:xfrm>
          <a:prstGeom prst="ellipse">
            <a:avLst/>
          </a:prstGeom>
          <a:solidFill>
            <a:srgbClr val="F2A541"/>
          </a:solidFill>
          <a:ln w="12700">
            <a:solidFill>
              <a:srgbClr val="F2A541"/>
            </a:solidFill>
            <a:prstDash val="solid"/>
          </a:ln>
        </p:spPr>
      </p:sp>
      <p:sp>
        <p:nvSpPr>
          <p:cNvPr id="34" name="anim:4:230"/>
          <p:cNvSpPr txBox="1"/>
          <p:nvPr/>
        </p:nvSpPr>
        <p:spPr>
          <a:xfrm>
            <a:off x="777240" y="5303520"/>
            <a:ext cx="457200" cy="45720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5" name="anim:4:231"/>
          <p:cNvSpPr txBox="1"/>
          <p:nvPr/>
        </p:nvSpPr>
        <p:spPr>
          <a:xfrm>
            <a:off x="1463040" y="5120640"/>
            <a:ext cx="9966960" cy="8229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O exemplo que vamos seguir: o Tremembé. </a:t>
            </a:r>
            <a:pPr indent="0" marL="0">
              <a:buNone/>
            </a:pPr>
            <a:r>
              <a:rPr lang="en-US" sz="1400" dirty="0">
                <a:solidFill>
                  <a:srgbClr val="1F2937"/>
                </a:solidFill>
                <a:latin typeface="Calibri" pitchFamily="34" charset="0"/>
                <a:ea typeface="Calibri" pitchFamily="34" charset="-122"/>
                <a:cs typeface="Calibri" pitchFamily="34" charset="-120"/>
              </a:rPr>
              <a:t>Em junho de 2024, 153 crianças esperavam creche lá; o Censo conta 11.498 crianças de 0 a 4 anos morando no distrito; e cada matrícula das escolas do distrito é uma linha do microdado.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escrito de jeitos diferentes</a:t>
            </a:r>
            <a:endParaRPr lang="en-US" sz="3200" dirty="0"/>
          </a:p>
        </p:txBody>
      </p:sp>
      <p:sp>
        <p:nvSpPr>
          <p:cNvPr id="5" name="anim:1:232"/>
          <p:cNvSpPr txBox="1"/>
          <p:nvPr/>
        </p:nvSpPr>
        <p:spPr>
          <a:xfrm>
            <a:off x="54864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CHEGA</a:t>
            </a:r>
            <a:endParaRPr lang="en-US" sz="1000" dirty="0"/>
          </a:p>
        </p:txBody>
      </p:sp>
      <p:sp>
        <p:nvSpPr>
          <p:cNvPr id="6" name="anim:1:233"/>
          <p:cNvSpPr txBox="1"/>
          <p:nvPr/>
        </p:nvSpPr>
        <p:spPr>
          <a:xfrm>
            <a:off x="525780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REGRA</a:t>
            </a:r>
            <a:endParaRPr lang="en-US" sz="1000" dirty="0"/>
          </a:p>
        </p:txBody>
      </p:sp>
      <p:sp>
        <p:nvSpPr>
          <p:cNvPr id="7" name="anim:1:234"/>
          <p:cNvSpPr txBox="1"/>
          <p:nvPr/>
        </p:nvSpPr>
        <p:spPr>
          <a:xfrm>
            <a:off x="841248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NO DATA WAREHOUSE</a:t>
            </a:r>
            <a:endParaRPr lang="en-US" sz="1000" dirty="0"/>
          </a:p>
        </p:txBody>
      </p:sp>
      <p:sp>
        <p:nvSpPr>
          <p:cNvPr id="8" name="anim:2:235"/>
          <p:cNvSpPr/>
          <p:nvPr/>
        </p:nvSpPr>
        <p:spPr>
          <a:xfrm>
            <a:off x="548640" y="1691640"/>
            <a:ext cx="11064240" cy="841248"/>
          </a:xfrm>
          <a:prstGeom prst="roundRect">
            <a:avLst>
              <a:gd name="adj" fmla="val 13043"/>
            </a:avLst>
          </a:prstGeom>
          <a:solidFill>
            <a:srgbClr val="FFFFFF"/>
          </a:solidFill>
          <a:ln w="9525">
            <a:solidFill>
              <a:srgbClr val="D6E0F0"/>
            </a:solidFill>
            <a:prstDash val="solid"/>
          </a:ln>
        </p:spPr>
      </p:sp>
      <p:sp>
        <p:nvSpPr>
          <p:cNvPr id="9" name="anim:2:236"/>
          <p:cNvSpPr txBox="1"/>
          <p:nvPr/>
        </p:nvSpPr>
        <p:spPr>
          <a:xfrm>
            <a:off x="731520" y="175564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Distrito</a:t>
            </a:r>
            <a:endParaRPr lang="en-US" sz="1300" dirty="0"/>
          </a:p>
        </p:txBody>
      </p:sp>
      <p:sp>
        <p:nvSpPr>
          <p:cNvPr id="10" name="anim:2:237"/>
          <p:cNvSpPr txBox="1"/>
          <p:nvPr/>
        </p:nvSpPr>
        <p:spPr>
          <a:xfrm>
            <a:off x="731520" y="2002536"/>
            <a:ext cx="155448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fila</a:t>
            </a:r>
            <a:endParaRPr lang="en-US" sz="1000" dirty="0"/>
          </a:p>
        </p:txBody>
      </p:sp>
      <p:sp>
        <p:nvSpPr>
          <p:cNvPr id="11" name="anim:2:238"/>
          <p:cNvSpPr/>
          <p:nvPr/>
        </p:nvSpPr>
        <p:spPr>
          <a:xfrm>
            <a:off x="731520" y="2203704"/>
            <a:ext cx="1188720" cy="274320"/>
          </a:xfrm>
          <a:prstGeom prst="roundRect">
            <a:avLst>
              <a:gd name="adj" fmla="val 20000"/>
            </a:avLst>
          </a:prstGeom>
          <a:solidFill>
            <a:srgbClr val="EEF2F8"/>
          </a:solidFill>
          <a:ln w="6350">
            <a:solidFill>
              <a:srgbClr val="D6E0F0"/>
            </a:solidFill>
            <a:prstDash val="solid"/>
          </a:ln>
        </p:spPr>
      </p:sp>
      <p:sp>
        <p:nvSpPr>
          <p:cNvPr id="12" name="anim:2:239"/>
          <p:cNvSpPr txBox="1"/>
          <p:nvPr/>
        </p:nvSpPr>
        <p:spPr>
          <a:xfrm>
            <a:off x="731520" y="2203704"/>
            <a:ext cx="118872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 "</a:t>
            </a:r>
            <a:endParaRPr lang="en-US" sz="1200" dirty="0"/>
          </a:p>
        </p:txBody>
      </p:sp>
      <p:sp>
        <p:nvSpPr>
          <p:cNvPr id="13" name="anim:2:240"/>
          <p:cNvSpPr txBox="1"/>
          <p:nvPr/>
        </p:nvSpPr>
        <p:spPr>
          <a:xfrm>
            <a:off x="205740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a:t>
            </a:r>
            <a:endParaRPr lang="en-US" sz="1000" dirty="0"/>
          </a:p>
        </p:txBody>
      </p:sp>
      <p:sp>
        <p:nvSpPr>
          <p:cNvPr id="14" name="anim:2:241"/>
          <p:cNvSpPr/>
          <p:nvPr/>
        </p:nvSpPr>
        <p:spPr>
          <a:xfrm>
            <a:off x="2057400" y="2203704"/>
            <a:ext cx="1097280" cy="274320"/>
          </a:xfrm>
          <a:prstGeom prst="roundRect">
            <a:avLst>
              <a:gd name="adj" fmla="val 20000"/>
            </a:avLst>
          </a:prstGeom>
          <a:solidFill>
            <a:srgbClr val="EEF2F8"/>
          </a:solidFill>
          <a:ln w="6350">
            <a:solidFill>
              <a:srgbClr val="D6E0F0"/>
            </a:solidFill>
            <a:prstDash val="solid"/>
          </a:ln>
        </p:spPr>
      </p:sp>
      <p:sp>
        <p:nvSpPr>
          <p:cNvPr id="15" name="anim:2:242"/>
          <p:cNvSpPr txBox="1"/>
          <p:nvPr/>
        </p:nvSpPr>
        <p:spPr>
          <a:xfrm>
            <a:off x="205740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p>
        </p:txBody>
      </p:sp>
      <p:sp>
        <p:nvSpPr>
          <p:cNvPr id="16" name="anim:2:243"/>
          <p:cNvSpPr txBox="1"/>
          <p:nvPr/>
        </p:nvSpPr>
        <p:spPr>
          <a:xfrm>
            <a:off x="329184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a:t>
            </a:r>
            <a:endParaRPr lang="en-US" sz="1000" dirty="0"/>
          </a:p>
        </p:txBody>
      </p:sp>
      <p:sp>
        <p:nvSpPr>
          <p:cNvPr id="17" name="anim:2:244"/>
          <p:cNvSpPr/>
          <p:nvPr/>
        </p:nvSpPr>
        <p:spPr>
          <a:xfrm>
            <a:off x="3291840" y="2203704"/>
            <a:ext cx="1097280" cy="274320"/>
          </a:xfrm>
          <a:prstGeom prst="roundRect">
            <a:avLst>
              <a:gd name="adj" fmla="val 20000"/>
            </a:avLst>
          </a:prstGeom>
          <a:solidFill>
            <a:srgbClr val="EEF2F8"/>
          </a:solidFill>
          <a:ln w="6350">
            <a:solidFill>
              <a:srgbClr val="D6E0F0"/>
            </a:solidFill>
            <a:prstDash val="solid"/>
          </a:ln>
        </p:spPr>
      </p:sp>
      <p:sp>
        <p:nvSpPr>
          <p:cNvPr id="18" name="anim:2:245"/>
          <p:cNvSpPr txBox="1"/>
          <p:nvPr/>
        </p:nvSpPr>
        <p:spPr>
          <a:xfrm>
            <a:off x="329184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"Tremembé"</a:t>
            </a:r>
            <a:endParaRPr lang="en-US" sz="1200" dirty="0"/>
          </a:p>
        </p:txBody>
      </p:sp>
      <p:sp>
        <p:nvSpPr>
          <p:cNvPr id="19" name="anim:2:246"/>
          <p:cNvSpPr txBox="1"/>
          <p:nvPr/>
        </p:nvSpPr>
        <p:spPr>
          <a:xfrm>
            <a:off x="47548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0" name="anim:2:247"/>
          <p:cNvSpPr txBox="1"/>
          <p:nvPr/>
        </p:nvSpPr>
        <p:spPr>
          <a:xfrm>
            <a:off x="5257800" y="169164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maiúsculas, sem acento, sem espaço sobrando</a:t>
            </a:r>
            <a:endParaRPr lang="en-US" sz="1300" dirty="0"/>
          </a:p>
        </p:txBody>
      </p:sp>
      <p:sp>
        <p:nvSpPr>
          <p:cNvPr id="21" name="anim:2:248"/>
          <p:cNvSpPr txBox="1"/>
          <p:nvPr/>
        </p:nvSpPr>
        <p:spPr>
          <a:xfrm>
            <a:off x="79552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2" name="anim:2:249"/>
          <p:cNvSpPr txBox="1"/>
          <p:nvPr/>
        </p:nvSpPr>
        <p:spPr>
          <a:xfrm>
            <a:off x="8412480" y="169164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TREMEMBE: uma única linha da dimensão Território</a:t>
            </a:r>
            <a:endParaRPr lang="en-US" sz="1300" dirty="0"/>
          </a:p>
        </p:txBody>
      </p:sp>
      <p:sp>
        <p:nvSpPr>
          <p:cNvPr id="23" name="anim:3:250"/>
          <p:cNvSpPr/>
          <p:nvPr/>
        </p:nvSpPr>
        <p:spPr>
          <a:xfrm>
            <a:off x="548640" y="2651760"/>
            <a:ext cx="11064240" cy="841248"/>
          </a:xfrm>
          <a:prstGeom prst="roundRect">
            <a:avLst>
              <a:gd name="adj" fmla="val 13043"/>
            </a:avLst>
          </a:prstGeom>
          <a:solidFill>
            <a:srgbClr val="FFFFFF"/>
          </a:solidFill>
          <a:ln w="9525">
            <a:solidFill>
              <a:srgbClr val="D6E0F0"/>
            </a:solidFill>
            <a:prstDash val="solid"/>
          </a:ln>
        </p:spPr>
      </p:sp>
      <p:sp>
        <p:nvSpPr>
          <p:cNvPr id="24" name="anim:3:251"/>
          <p:cNvSpPr txBox="1"/>
          <p:nvPr/>
        </p:nvSpPr>
        <p:spPr>
          <a:xfrm>
            <a:off x="731520" y="271576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Idade</a:t>
            </a:r>
            <a:endParaRPr lang="en-US" sz="1300" dirty="0"/>
          </a:p>
        </p:txBody>
      </p:sp>
      <p:sp>
        <p:nvSpPr>
          <p:cNvPr id="25" name="anim:3:252"/>
          <p:cNvSpPr txBox="1"/>
          <p:nvPr/>
        </p:nvSpPr>
        <p:spPr>
          <a:xfrm>
            <a:off x="7315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 idade exata</a:t>
            </a:r>
            <a:endParaRPr lang="en-US" sz="1000" dirty="0"/>
          </a:p>
        </p:txBody>
      </p:sp>
      <p:sp>
        <p:nvSpPr>
          <p:cNvPr id="26" name="anim:3:253"/>
          <p:cNvSpPr/>
          <p:nvPr/>
        </p:nvSpPr>
        <p:spPr>
          <a:xfrm>
            <a:off x="731520" y="3163824"/>
            <a:ext cx="1463040" cy="274320"/>
          </a:xfrm>
          <a:prstGeom prst="roundRect">
            <a:avLst>
              <a:gd name="adj" fmla="val 20000"/>
            </a:avLst>
          </a:prstGeom>
          <a:solidFill>
            <a:srgbClr val="EEF2F8"/>
          </a:solidFill>
          <a:ln w="6350">
            <a:solidFill>
              <a:srgbClr val="D6E0F0"/>
            </a:solidFill>
            <a:prstDash val="solid"/>
          </a:ln>
        </p:spPr>
      </p:sp>
      <p:sp>
        <p:nvSpPr>
          <p:cNvPr id="27" name="anim:3:254"/>
          <p:cNvSpPr txBox="1"/>
          <p:nvPr/>
        </p:nvSpPr>
        <p:spPr>
          <a:xfrm>
            <a:off x="7315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2 anos</a:t>
            </a:r>
            <a:endParaRPr lang="en-US" sz="1200" dirty="0"/>
          </a:p>
        </p:txBody>
      </p:sp>
      <p:sp>
        <p:nvSpPr>
          <p:cNvPr id="28" name="anim:3:255"/>
          <p:cNvSpPr txBox="1"/>
          <p:nvPr/>
        </p:nvSpPr>
        <p:spPr>
          <a:xfrm>
            <a:off x="23317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só o grupo</a:t>
            </a:r>
            <a:endParaRPr lang="en-US" sz="1000" dirty="0"/>
          </a:p>
        </p:txBody>
      </p:sp>
      <p:sp>
        <p:nvSpPr>
          <p:cNvPr id="29" name="anim:3:256"/>
          <p:cNvSpPr/>
          <p:nvPr/>
        </p:nvSpPr>
        <p:spPr>
          <a:xfrm>
            <a:off x="2331720" y="3163824"/>
            <a:ext cx="1463040" cy="274320"/>
          </a:xfrm>
          <a:prstGeom prst="roundRect">
            <a:avLst>
              <a:gd name="adj" fmla="val 20000"/>
            </a:avLst>
          </a:prstGeom>
          <a:solidFill>
            <a:srgbClr val="EEF2F8"/>
          </a:solidFill>
          <a:ln w="6350">
            <a:solidFill>
              <a:srgbClr val="D6E0F0"/>
            </a:solidFill>
            <a:prstDash val="solid"/>
          </a:ln>
        </p:spPr>
      </p:sp>
      <p:sp>
        <p:nvSpPr>
          <p:cNvPr id="30" name="anim:3:257"/>
          <p:cNvSpPr txBox="1"/>
          <p:nvPr/>
        </p:nvSpPr>
        <p:spPr>
          <a:xfrm>
            <a:off x="23317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0 a 4 anos</a:t>
            </a:r>
            <a:endParaRPr lang="en-US" sz="1200" dirty="0"/>
          </a:p>
        </p:txBody>
      </p:sp>
      <p:sp>
        <p:nvSpPr>
          <p:cNvPr id="31" name="anim:3:258"/>
          <p:cNvSpPr txBox="1"/>
          <p:nvPr/>
        </p:nvSpPr>
        <p:spPr>
          <a:xfrm>
            <a:off x="47548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2" name="anim:3:259"/>
          <p:cNvSpPr txBox="1"/>
          <p:nvPr/>
        </p:nvSpPr>
        <p:spPr>
          <a:xfrm>
            <a:off x="5257800" y="265176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cada idade ganha a faixa do IBGE em que cai</a:t>
            </a:r>
            <a:endParaRPr lang="en-US" sz="1300" dirty="0"/>
          </a:p>
        </p:txBody>
      </p:sp>
      <p:sp>
        <p:nvSpPr>
          <p:cNvPr id="33" name="anim:3:260"/>
          <p:cNvSpPr txBox="1"/>
          <p:nvPr/>
        </p:nvSpPr>
        <p:spPr>
          <a:xfrm>
            <a:off x="79552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4" name="anim:3:261"/>
          <p:cNvSpPr txBox="1"/>
          <p:nvPr/>
        </p:nvSpPr>
        <p:spPr>
          <a:xfrm>
            <a:off x="8412480" y="265176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matrícula e população comparadas na mesma faixa, 0 a 4 anos</a:t>
            </a:r>
            <a:endParaRPr lang="en-US" sz="1300" dirty="0"/>
          </a:p>
        </p:txBody>
      </p:sp>
      <p:sp>
        <p:nvSpPr>
          <p:cNvPr id="35" name="anim:4:262"/>
          <p:cNvSpPr/>
          <p:nvPr/>
        </p:nvSpPr>
        <p:spPr>
          <a:xfrm>
            <a:off x="548640" y="3611880"/>
            <a:ext cx="11064240" cy="841248"/>
          </a:xfrm>
          <a:prstGeom prst="roundRect">
            <a:avLst>
              <a:gd name="adj" fmla="val 13043"/>
            </a:avLst>
          </a:prstGeom>
          <a:solidFill>
            <a:srgbClr val="FFFFFF"/>
          </a:solidFill>
          <a:ln w="9525">
            <a:solidFill>
              <a:srgbClr val="D6E0F0"/>
            </a:solidFill>
            <a:prstDash val="solid"/>
          </a:ln>
        </p:spPr>
      </p:sp>
      <p:sp>
        <p:nvSpPr>
          <p:cNvPr id="36" name="anim:4:263"/>
          <p:cNvSpPr txBox="1"/>
          <p:nvPr/>
        </p:nvSpPr>
        <p:spPr>
          <a:xfrm>
            <a:off x="731520" y="367588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Setor</a:t>
            </a:r>
            <a:endParaRPr lang="en-US" sz="1300" dirty="0"/>
          </a:p>
        </p:txBody>
      </p:sp>
      <p:sp>
        <p:nvSpPr>
          <p:cNvPr id="37" name="anim:4:264"/>
          <p:cNvSpPr txBox="1"/>
          <p:nvPr/>
        </p:nvSpPr>
        <p:spPr>
          <a:xfrm>
            <a:off x="731520" y="3922776"/>
            <a:ext cx="219456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SME: administrativo</a:t>
            </a:r>
            <a:endParaRPr lang="en-US" sz="1000" dirty="0"/>
          </a:p>
        </p:txBody>
      </p:sp>
      <p:sp>
        <p:nvSpPr>
          <p:cNvPr id="38" name="anim:4:265"/>
          <p:cNvSpPr/>
          <p:nvPr/>
        </p:nvSpPr>
        <p:spPr>
          <a:xfrm>
            <a:off x="731520" y="4123944"/>
            <a:ext cx="1828800" cy="274320"/>
          </a:xfrm>
          <a:prstGeom prst="roundRect">
            <a:avLst>
              <a:gd name="adj" fmla="val 20000"/>
            </a:avLst>
          </a:prstGeom>
          <a:solidFill>
            <a:srgbClr val="EEF2F8"/>
          </a:solidFill>
          <a:ln w="6350">
            <a:solidFill>
              <a:srgbClr val="D6E0F0"/>
            </a:solidFill>
            <a:prstDash val="solid"/>
          </a:ln>
        </p:spPr>
      </p:sp>
      <p:sp>
        <p:nvSpPr>
          <p:cNvPr id="39" name="anim:4:266"/>
          <p:cNvSpPr txBox="1"/>
          <p:nvPr/>
        </p:nvSpPr>
        <p:spPr>
          <a:xfrm>
            <a:off x="731520" y="4123944"/>
            <a:ext cx="182880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4 dígitos</a:t>
            </a:r>
            <a:endParaRPr lang="en-US" sz="1200" dirty="0"/>
          </a:p>
        </p:txBody>
      </p:sp>
      <p:sp>
        <p:nvSpPr>
          <p:cNvPr id="40" name="anim:4:267"/>
          <p:cNvSpPr txBox="1"/>
          <p:nvPr/>
        </p:nvSpPr>
        <p:spPr>
          <a:xfrm>
            <a:off x="2697480" y="3922776"/>
            <a:ext cx="22860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censitário</a:t>
            </a:r>
            <a:endParaRPr lang="en-US" sz="1000" dirty="0"/>
          </a:p>
        </p:txBody>
      </p:sp>
      <p:sp>
        <p:nvSpPr>
          <p:cNvPr id="41" name="anim:4:268"/>
          <p:cNvSpPr/>
          <p:nvPr/>
        </p:nvSpPr>
        <p:spPr>
          <a:xfrm>
            <a:off x="2697480" y="4123944"/>
            <a:ext cx="1920240" cy="274320"/>
          </a:xfrm>
          <a:prstGeom prst="roundRect">
            <a:avLst>
              <a:gd name="adj" fmla="val 20000"/>
            </a:avLst>
          </a:prstGeom>
          <a:solidFill>
            <a:srgbClr val="EEF2F8"/>
          </a:solidFill>
          <a:ln w="6350">
            <a:solidFill>
              <a:srgbClr val="D6E0F0"/>
            </a:solidFill>
            <a:prstDash val="solid"/>
          </a:ln>
        </p:spPr>
      </p:sp>
      <p:sp>
        <p:nvSpPr>
          <p:cNvPr id="42" name="anim:4:269"/>
          <p:cNvSpPr txBox="1"/>
          <p:nvPr/>
        </p:nvSpPr>
        <p:spPr>
          <a:xfrm>
            <a:off x="2697480" y="4123944"/>
            <a:ext cx="19202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15 dígitos</a:t>
            </a:r>
            <a:endParaRPr lang="en-US" sz="1200" dirty="0"/>
          </a:p>
        </p:txBody>
      </p:sp>
      <p:sp>
        <p:nvSpPr>
          <p:cNvPr id="43" name="anim:4:270"/>
          <p:cNvSpPr txBox="1"/>
          <p:nvPr/>
        </p:nvSpPr>
        <p:spPr>
          <a:xfrm>
            <a:off x="47548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4" name="anim:4:271"/>
          <p:cNvSpPr txBox="1"/>
          <p:nvPr/>
        </p:nvSpPr>
        <p:spPr>
          <a:xfrm>
            <a:off x="5257800" y="361188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mesmo nome, coisas diferentes: um homônimo</a:t>
            </a:r>
            <a:endParaRPr lang="en-US" sz="1300" dirty="0"/>
          </a:p>
        </p:txBody>
      </p:sp>
      <p:sp>
        <p:nvSpPr>
          <p:cNvPr id="45" name="anim:4:272"/>
          <p:cNvSpPr txBox="1"/>
          <p:nvPr/>
        </p:nvSpPr>
        <p:spPr>
          <a:xfrm>
            <a:off x="79552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6" name="anim:4:273"/>
          <p:cNvSpPr txBox="1"/>
          <p:nvPr/>
        </p:nvSpPr>
        <p:spPr>
          <a:xfrm>
            <a:off x="8412480" y="361188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dois atributos com nomes distintos, nunca cruzados</a:t>
            </a:r>
            <a:endParaRPr lang="en-US" sz="1300" dirty="0"/>
          </a:p>
        </p:txBody>
      </p:sp>
      <p:sp>
        <p:nvSpPr>
          <p:cNvPr id="47" name="anim:5:274"/>
          <p:cNvSpPr/>
          <p:nvPr/>
        </p:nvSpPr>
        <p:spPr>
          <a:xfrm>
            <a:off x="548640" y="4663440"/>
            <a:ext cx="11064240" cy="1280160"/>
          </a:xfrm>
          <a:prstGeom prst="roundRect">
            <a:avLst>
              <a:gd name="adj" fmla="val 8571"/>
            </a:avLst>
          </a:prstGeom>
          <a:solidFill>
            <a:srgbClr val="EEF2F8"/>
          </a:solidFill>
          <a:ln w="9525">
            <a:solidFill>
              <a:srgbClr val="EEF2F8"/>
            </a:solidFill>
            <a:prstDash val="solid"/>
          </a:ln>
        </p:spPr>
      </p:sp>
      <p:sp>
        <p:nvSpPr>
          <p:cNvPr id="48" name="anim:5:275"/>
          <p:cNvSpPr txBox="1"/>
          <p:nvPr/>
        </p:nvSpPr>
        <p:spPr>
          <a:xfrm>
            <a:off x="822960" y="4754880"/>
            <a:ext cx="2011680" cy="109728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49" name="anim:5:276"/>
          <p:cNvSpPr txBox="1"/>
          <p:nvPr/>
        </p:nvSpPr>
        <p:spPr>
          <a:xfrm>
            <a:off x="2926080" y="4754880"/>
            <a:ext cx="8503920" cy="10972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Como sabemos que deu certo? </a:t>
            </a:r>
            <a:pPr indent="0" marL="0">
              <a:buNone/>
            </a:pPr>
            <a:r>
              <a:rPr lang="en-US" sz="1500" dirty="0">
                <a:solidFill>
                  <a:srgbClr val="1F2937"/>
                </a:solidFill>
                <a:latin typeface="Calibri" pitchFamily="34" charset="0"/>
                <a:ea typeface="Calibri" pitchFamily="34" charset="-122"/>
                <a:cs typeface="Calibri" pitchFamily="34" charset="-120"/>
              </a:rPr>
              <a:t>Contamos a mesma coisa nas duas bases da SME: as matrículas de creche ativas em junho de 2015 foram 240.905 no microdado e 240.840 na planilha da fila. De 2015 a 2020 a diferença fica abaixo de 1%.</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75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problema real, de ponta a ponta: o código da escola</a:t>
            </a:r>
            <a:endParaRPr lang="en-US" sz="3200" dirty="0"/>
          </a:p>
        </p:txBody>
      </p:sp>
      <p:sp>
        <p:nvSpPr>
          <p:cNvPr id="5" name="anim:1:277"/>
          <p:cNvSpPr/>
          <p:nvPr/>
        </p:nvSpPr>
        <p:spPr>
          <a:xfrm>
            <a:off x="548640" y="1463040"/>
            <a:ext cx="4846320" cy="1691640"/>
          </a:xfrm>
          <a:prstGeom prst="roundRect">
            <a:avLst>
              <a:gd name="adj" fmla="val 6486"/>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78"/>
          <p:cNvSpPr txBox="1"/>
          <p:nvPr/>
        </p:nvSpPr>
        <p:spPr>
          <a:xfrm>
            <a:off x="731520" y="1572768"/>
            <a:ext cx="44805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CHEGOU  · exemplo no formato do arquivo</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847088"/>
          <a:ext cx="4480560" cy="914400"/>
        </p:xfrm>
        <a:graphic>
          <a:graphicData uri="http://schemas.openxmlformats.org/drawingml/2006/table">
            <a:tbl>
              <a:tblPr/>
              <a:tblGrid>
                <a:gridCol w="548640"/>
                <a:gridCol w="1783080"/>
                <a:gridCol w="2148840"/>
              </a:tblGrid>
              <a:tr h="237744">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ano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código publicado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escola</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2021</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2022</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9209611322271640</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9,20961E+15</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9,20961E+15</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BEIJA FLOR</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bl>
          </a:graphicData>
        </a:graphic>
      </p:graphicFrame>
      <p:sp>
        <p:nvSpPr>
          <p:cNvPr id="8" name="anim:5:279"/>
          <p:cNvSpPr txBox="1"/>
          <p:nvPr/>
        </p:nvSpPr>
        <p:spPr>
          <a:xfrm>
            <a:off x="5394960" y="1965960"/>
            <a:ext cx="1371600" cy="640080"/>
          </a:xfrm>
          <a:prstGeom prst="rect">
            <a:avLst/>
          </a:prstGeom>
          <a:noFill/>
          <a:ln/>
        </p:spPr>
        <p:txBody>
          <a:bodyPr wrap="square" lIns="0" tIns="0" rIns="0" bIns="0" rtlCol="0" anchor="ctr"/>
          <a:lstStyle/>
          <a:p>
            <a:pPr algn="ctr" indent="0" marL="0">
              <a:buNone/>
            </a:pPr>
            <a:r>
              <a:rPr lang="en-US" sz="4000" b="1" dirty="0">
                <a:solidFill>
                  <a:srgbClr val="F2A541"/>
                </a:solidFill>
                <a:latin typeface="Calibri" pitchFamily="34" charset="0"/>
                <a:ea typeface="Calibri" pitchFamily="34" charset="-122"/>
                <a:cs typeface="Calibri" pitchFamily="34" charset="-120"/>
              </a:rPr>
              <a:t>→</a:t>
            </a:r>
            <a:endParaRPr lang="en-US" sz="4000" dirty="0"/>
          </a:p>
        </p:txBody>
      </p:sp>
      <p:sp>
        <p:nvSpPr>
          <p:cNvPr id="9" name="anim:5:280"/>
          <p:cNvSpPr/>
          <p:nvPr/>
        </p:nvSpPr>
        <p:spPr>
          <a:xfrm>
            <a:off x="6766560" y="1463040"/>
            <a:ext cx="4846320" cy="1691640"/>
          </a:xfrm>
          <a:prstGeom prst="roundRect">
            <a:avLst>
              <a:gd name="adj" fmla="val 6486"/>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0" name="anim:5:281"/>
          <p:cNvSpPr txBox="1"/>
          <p:nvPr/>
        </p:nvSpPr>
        <p:spPr>
          <a:xfrm>
            <a:off x="6949440" y="1572768"/>
            <a:ext cx="44805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FICOU NO DATA WAREHOUSE</a:t>
            </a:r>
            <a:endParaRPr lang="en-US" sz="10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949440" y="1847088"/>
          <a:ext cx="4480560" cy="914400"/>
        </p:xfrm>
        <a:graphic>
          <a:graphicData uri="http://schemas.openxmlformats.org/drawingml/2006/table">
            <a:tbl>
              <a:tblPr/>
              <a:tblGrid>
                <a:gridCol w="548640"/>
                <a:gridCol w="1783080"/>
                <a:gridCol w="2148840"/>
              </a:tblGrid>
              <a:tr h="237744">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ano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código no DW</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como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2021</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publicado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2022</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recuperado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recuperado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SINT-…</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chave sintética</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bl>
          </a:graphicData>
        </a:graphic>
      </p:graphicFrame>
      <p:sp>
        <p:nvSpPr>
          <p:cNvPr id="12" name="anim:2:282"/>
          <p:cNvSpPr/>
          <p:nvPr/>
        </p:nvSpPr>
        <p:spPr>
          <a:xfrm>
            <a:off x="54864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283"/>
          <p:cNvSpPr/>
          <p:nvPr/>
        </p:nvSpPr>
        <p:spPr>
          <a:xfrm>
            <a:off x="731520" y="3493008"/>
            <a:ext cx="292608" cy="292608"/>
          </a:xfrm>
          <a:prstGeom prst="ellipse">
            <a:avLst/>
          </a:prstGeom>
          <a:solidFill>
            <a:srgbClr val="F2A541"/>
          </a:solidFill>
          <a:ln w="12700">
            <a:solidFill>
              <a:srgbClr val="F2A541"/>
            </a:solidFill>
            <a:prstDash val="solid"/>
          </a:ln>
        </p:spPr>
      </p:sp>
      <p:sp>
        <p:nvSpPr>
          <p:cNvPr id="14" name="anim:2:284"/>
          <p:cNvSpPr txBox="1"/>
          <p:nvPr/>
        </p:nvSpPr>
        <p:spPr>
          <a:xfrm>
            <a:off x="73152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1</a:t>
            </a:r>
            <a:endParaRPr lang="en-US" sz="1200" dirty="0"/>
          </a:p>
        </p:txBody>
      </p:sp>
      <p:sp>
        <p:nvSpPr>
          <p:cNvPr id="15" name="anim:2:285"/>
          <p:cNvSpPr txBox="1"/>
          <p:nvPr/>
        </p:nvSpPr>
        <p:spPr>
          <a:xfrm>
            <a:off x="111556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Medir o ano</a:t>
            </a:r>
            <a:endParaRPr lang="en-US" sz="1500" dirty="0"/>
          </a:p>
        </p:txBody>
      </p:sp>
      <p:sp>
        <p:nvSpPr>
          <p:cNvPr id="16" name="anim:2:286"/>
          <p:cNvSpPr txBox="1"/>
          <p:nvPr/>
        </p:nvSpPr>
        <p:spPr>
          <a:xfrm>
            <a:off x="73152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Em 2023 há "E+" e </a:t>
            </a:r>
            <a:pPr indent="0" marL="0">
              <a:buNone/>
            </a:pPr>
            <a:r>
              <a:rPr lang="en-US" sz="1250" b="1" dirty="0">
                <a:solidFill>
                  <a:srgbClr val="1B2A4A"/>
                </a:solidFill>
                <a:latin typeface="Calibri" pitchFamily="34" charset="0"/>
                <a:ea typeface="Calibri" pitchFamily="34" charset="-122"/>
                <a:cs typeface="Calibri" pitchFamily="34" charset="-120"/>
              </a:rPr>
              <a:t>o mesmo código em duas escolas</a:t>
            </a:r>
            <a:pPr indent="0" marL="0">
              <a:buNone/>
            </a:pPr>
            <a:r>
              <a:rPr lang="en-US" sz="1250" dirty="0">
                <a:solidFill>
                  <a:srgbClr val="1F2937"/>
                </a:solidFill>
                <a:latin typeface="Calibri" pitchFamily="34" charset="0"/>
                <a:ea typeface="Calibri" pitchFamily="34" charset="-122"/>
                <a:cs typeface="Calibri" pitchFamily="34" charset="-120"/>
              </a:rPr>
              <a:t>: o ano está corrompido. 2021 é o último ano confiável.</a:t>
            </a:r>
            <a:endParaRPr lang="en-US" sz="1250" dirty="0"/>
          </a:p>
        </p:txBody>
      </p:sp>
      <p:sp>
        <p:nvSpPr>
          <p:cNvPr id="17" name="anim:3:287"/>
          <p:cNvSpPr/>
          <p:nvPr/>
        </p:nvSpPr>
        <p:spPr>
          <a:xfrm>
            <a:off x="429768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288"/>
          <p:cNvSpPr/>
          <p:nvPr/>
        </p:nvSpPr>
        <p:spPr>
          <a:xfrm>
            <a:off x="4480560" y="3493008"/>
            <a:ext cx="292608" cy="292608"/>
          </a:xfrm>
          <a:prstGeom prst="ellipse">
            <a:avLst/>
          </a:prstGeom>
          <a:solidFill>
            <a:srgbClr val="F2A541"/>
          </a:solidFill>
          <a:ln w="12700">
            <a:solidFill>
              <a:srgbClr val="F2A541"/>
            </a:solidFill>
            <a:prstDash val="solid"/>
          </a:ln>
        </p:spPr>
      </p:sp>
      <p:sp>
        <p:nvSpPr>
          <p:cNvPr id="19" name="anim:3:289"/>
          <p:cNvSpPr txBox="1"/>
          <p:nvPr/>
        </p:nvSpPr>
        <p:spPr>
          <a:xfrm>
            <a:off x="448056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2</a:t>
            </a:r>
            <a:endParaRPr lang="en-US" sz="1200" dirty="0"/>
          </a:p>
        </p:txBody>
      </p:sp>
      <p:sp>
        <p:nvSpPr>
          <p:cNvPr id="20" name="anim:3:290"/>
          <p:cNvSpPr txBox="1"/>
          <p:nvPr/>
        </p:nvSpPr>
        <p:spPr>
          <a:xfrm>
            <a:off x="486460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Procurar a escola</a:t>
            </a:r>
            <a:endParaRPr lang="en-US" sz="1500" dirty="0"/>
          </a:p>
        </p:txBody>
      </p:sp>
      <p:sp>
        <p:nvSpPr>
          <p:cNvPr id="21" name="anim:3:291"/>
          <p:cNvSpPr txBox="1"/>
          <p:nvPr/>
        </p:nvSpPr>
        <p:spPr>
          <a:xfrm>
            <a:off x="448056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Junta </a:t>
            </a:r>
            <a:pPr indent="0" marL="0">
              <a:buNone/>
            </a:pPr>
            <a:r>
              <a:rPr lang="en-US" sz="1250" b="1" dirty="0">
                <a:solidFill>
                  <a:srgbClr val="1B2A4A"/>
                </a:solidFill>
                <a:latin typeface="Calibri" pitchFamily="34" charset="0"/>
                <a:ea typeface="Calibri" pitchFamily="34" charset="-122"/>
                <a:cs typeface="Calibri" pitchFamily="34" charset="-120"/>
              </a:rPr>
              <a:t>nome + tipo + distrito</a:t>
            </a:r>
            <a:pPr indent="0" marL="0">
              <a:buNone/>
            </a:pPr>
            <a:r>
              <a:rPr lang="en-US" sz="1250" dirty="0">
                <a:solidFill>
                  <a:srgbClr val="1F2937"/>
                </a:solidFill>
                <a:latin typeface="Calibri" pitchFamily="34" charset="0"/>
                <a:ea typeface="Calibri" pitchFamily="34" charset="-122"/>
                <a:cs typeface="Calibri" pitchFamily="34" charset="-120"/>
              </a:rPr>
              <a:t> e procura em 2021: UNIAO DE VILA NOVA I, EMEI, Vila Jacuí, tem um único código, 19459.</a:t>
            </a:r>
            <a:endParaRPr lang="en-US" sz="1250" dirty="0"/>
          </a:p>
        </p:txBody>
      </p:sp>
      <p:sp>
        <p:nvSpPr>
          <p:cNvPr id="22" name="anim:4:292"/>
          <p:cNvSpPr/>
          <p:nvPr/>
        </p:nvSpPr>
        <p:spPr>
          <a:xfrm>
            <a:off x="804672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3" name="anim:4:293"/>
          <p:cNvSpPr/>
          <p:nvPr/>
        </p:nvSpPr>
        <p:spPr>
          <a:xfrm>
            <a:off x="8229600" y="3493008"/>
            <a:ext cx="292608" cy="292608"/>
          </a:xfrm>
          <a:prstGeom prst="ellipse">
            <a:avLst/>
          </a:prstGeom>
          <a:solidFill>
            <a:srgbClr val="F2A541"/>
          </a:solidFill>
          <a:ln w="12700">
            <a:solidFill>
              <a:srgbClr val="F2A541"/>
            </a:solidFill>
            <a:prstDash val="solid"/>
          </a:ln>
        </p:spPr>
      </p:sp>
      <p:sp>
        <p:nvSpPr>
          <p:cNvPr id="24" name="anim:4:294"/>
          <p:cNvSpPr txBox="1"/>
          <p:nvPr/>
        </p:nvSpPr>
        <p:spPr>
          <a:xfrm>
            <a:off x="822960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3</a:t>
            </a:r>
            <a:endParaRPr lang="en-US" sz="1200" dirty="0"/>
          </a:p>
        </p:txBody>
      </p:sp>
      <p:sp>
        <p:nvSpPr>
          <p:cNvPr id="25" name="anim:4:295"/>
          <p:cNvSpPr txBox="1"/>
          <p:nvPr/>
        </p:nvSpPr>
        <p:spPr>
          <a:xfrm>
            <a:off x="861364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Decidir o código</a:t>
            </a:r>
            <a:endParaRPr lang="en-US" sz="1500" dirty="0"/>
          </a:p>
        </p:txBody>
      </p:sp>
      <p:sp>
        <p:nvSpPr>
          <p:cNvPr id="26" name="anim:4:296"/>
          <p:cNvSpPr txBox="1"/>
          <p:nvPr/>
        </p:nvSpPr>
        <p:spPr>
          <a:xfrm>
            <a:off x="822960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Um código só: </a:t>
            </a:r>
            <a:pPr indent="0" marL="0">
              <a:buNone/>
            </a:pPr>
            <a:r>
              <a:rPr lang="en-US" sz="1250" b="1" dirty="0">
                <a:solidFill>
                  <a:srgbClr val="1B2A4A"/>
                </a:solidFill>
                <a:latin typeface="Calibri" pitchFamily="34" charset="0"/>
                <a:ea typeface="Calibri" pitchFamily="34" charset="-122"/>
                <a:cs typeface="Calibri" pitchFamily="34" charset="-120"/>
              </a:rPr>
              <a:t>copia</a:t>
            </a:r>
            <a:pPr indent="0" marL="0">
              <a:buNone/>
            </a:pPr>
            <a:r>
              <a:rPr lang="en-US" sz="1250" dirty="0">
                <a:solidFill>
                  <a:srgbClr val="1F2937"/>
                </a:solidFill>
                <a:latin typeface="Calibri" pitchFamily="34" charset="0"/>
                <a:ea typeface="Calibri" pitchFamily="34" charset="-122"/>
                <a:cs typeface="Calibri" pitchFamily="34" charset="-120"/>
              </a:rPr>
              <a:t>. BEIJA FLOR tem duas escolas com esse nome em 2021: ambígua, recebe </a:t>
            </a:r>
            <a:pPr indent="0" marL="0">
              <a:buNone/>
            </a:pPr>
            <a:r>
              <a:rPr lang="en-US" sz="1250" b="1" dirty="0">
                <a:solidFill>
                  <a:srgbClr val="1B2A4A"/>
                </a:solidFill>
                <a:latin typeface="Calibri" pitchFamily="34" charset="0"/>
                <a:ea typeface="Calibri" pitchFamily="34" charset="-122"/>
                <a:cs typeface="Calibri" pitchFamily="34" charset="-120"/>
              </a:rPr>
              <a:t>chave sintética</a:t>
            </a:r>
            <a:pPr indent="0" marL="0">
              <a:buNone/>
            </a:pPr>
            <a:r>
              <a:rPr lang="en-US" sz="1250" dirty="0">
                <a:solidFill>
                  <a:srgbClr val="1F2937"/>
                </a:solidFill>
                <a:latin typeface="Calibri" pitchFamily="34" charset="0"/>
                <a:ea typeface="Calibri" pitchFamily="34" charset="-122"/>
                <a:cs typeface="Calibri" pitchFamily="34" charset="-120"/>
              </a:rPr>
              <a:t>, nunca um chute.</a:t>
            </a:r>
            <a:endParaRPr lang="en-US" sz="1250" dirty="0"/>
          </a:p>
        </p:txBody>
      </p:sp>
      <p:sp>
        <p:nvSpPr>
          <p:cNvPr id="27" name="anim:6:297"/>
          <p:cNvSpPr/>
          <p:nvPr/>
        </p:nvSpPr>
        <p:spPr>
          <a:xfrm>
            <a:off x="548640" y="4846320"/>
            <a:ext cx="11064240" cy="868680"/>
          </a:xfrm>
          <a:prstGeom prst="roundRect">
            <a:avLst>
              <a:gd name="adj" fmla="val 12632"/>
            </a:avLst>
          </a:prstGeom>
          <a:solidFill>
            <a:srgbClr val="EEF2F8"/>
          </a:solidFill>
          <a:ln w="9525">
            <a:solidFill>
              <a:srgbClr val="EEF2F8"/>
            </a:solidFill>
            <a:prstDash val="solid"/>
          </a:ln>
        </p:spPr>
      </p:sp>
      <p:sp>
        <p:nvSpPr>
          <p:cNvPr id="28" name="anim:6:298"/>
          <p:cNvSpPr txBox="1"/>
          <p:nvPr/>
        </p:nvSpPr>
        <p:spPr>
          <a:xfrm>
            <a:off x="777240" y="4846320"/>
            <a:ext cx="3108960" cy="868680"/>
          </a:xfrm>
          <a:prstGeom prst="rect">
            <a:avLst/>
          </a:prstGeom>
          <a:noFill/>
          <a:ln/>
        </p:spPr>
        <p:txBody>
          <a:bodyPr wrap="square" lIns="0" tIns="0" rIns="0" bIns="0" rtlCol="0" anchor="ctr"/>
          <a:lstStyle/>
          <a:p>
            <a:pPr algn="l" indent="0" marL="0">
              <a:buNone/>
            </a:pPr>
            <a:r>
              <a:rPr lang="en-US" sz="3000" b="1" dirty="0">
                <a:solidFill>
                  <a:srgbClr val="2E5EAA"/>
                </a:solidFill>
                <a:latin typeface="Calibri" pitchFamily="34" charset="0"/>
                <a:ea typeface="Calibri" pitchFamily="34" charset="-122"/>
                <a:cs typeface="Calibri" pitchFamily="34" charset="-120"/>
              </a:rPr>
              <a:t>94,8% a 98,6%</a:t>
            </a:r>
            <a:endParaRPr lang="en-US" sz="3000" dirty="0"/>
          </a:p>
        </p:txBody>
      </p:sp>
      <p:sp>
        <p:nvSpPr>
          <p:cNvPr id="29" name="anim:6:299"/>
          <p:cNvSpPr txBox="1"/>
          <p:nvPr/>
        </p:nvSpPr>
        <p:spPr>
          <a:xfrm>
            <a:off x="3931920" y="4892040"/>
            <a:ext cx="7498080" cy="77724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das matrículas de 2022 a 2024 ficam com o código real. Os outros problemas (fila, turno, idade, datas, IBGE) seguem a mesma lógica: </a:t>
            </a:r>
            <a:pPr indent="0" marL="0">
              <a:buNone/>
            </a:pPr>
            <a:r>
              <a:rPr lang="en-US" sz="1350" b="1" dirty="0">
                <a:solidFill>
                  <a:srgbClr val="1B2A4A"/>
                </a:solidFill>
                <a:latin typeface="Calibri" pitchFamily="34" charset="0"/>
                <a:ea typeface="Calibri" pitchFamily="34" charset="-122"/>
                <a:cs typeface="Calibri" pitchFamily="34" charset="-120"/>
              </a:rPr>
              <a:t>medir, corrigir com regra testada e, na dúvida, não inventar.</a:t>
            </a:r>
            <a:endParaRPr lang="en-US" sz="135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400"/>
                                        <p:tgtEl>
                                          <p:spTgt spid="12"/>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00"/>
                                        <p:tgtEl>
                                          <p:spTgt spid="14"/>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400"/>
                                        <p:tgtEl>
                                          <p:spTgt spid="18"/>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00"/>
                                        <p:tgtEl>
                                          <p:spTgt spid="19"/>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00"/>
                                        <p:tgtEl>
                                          <p:spTgt spid="21"/>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400"/>
                                        <p:tgtEl>
                                          <p:spTgt spid="24"/>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8"/>
                                        </p:tgtEl>
                                        <p:attrNameLst>
                                          <p:attrName>style.visibility</p:attrName>
                                        </p:attrNameLst>
                                      </p:cBhvr>
                                      <p:to>
                                        <p:strVal val="visible"/>
                                      </p:to>
                                    </p:set>
                                    <p:animEffect transition="in" filter="fade">
                                      <p:cBhvr>
                                        <p:cTn id="75" dur="400"/>
                                        <p:tgtEl>
                                          <p:spTgt spid="8"/>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fade">
                                      <p:cBhvr>
                                        <p:cTn id="79" dur="400"/>
                                        <p:tgtEl>
                                          <p:spTgt spid="9"/>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10"/>
                                        </p:tgtEl>
                                        <p:attrNameLst>
                                          <p:attrName>style.visibility</p:attrName>
                                        </p:attrNameLst>
                                      </p:cBhvr>
                                      <p:to>
                                        <p:strVal val="visible"/>
                                      </p:to>
                                    </p:set>
                                    <p:animEffect transition="in" filter="fade">
                                      <p:cBhvr>
                                        <p:cTn id="83" dur="400"/>
                                        <p:tgtEl>
                                          <p:spTgt spid="10"/>
                                        </p:tgtEl>
                                      </p:cBhvr>
                                    </p:animEffect>
                                  </p:childTnLst>
                                </p:cTn>
                              </p:par>
                            </p:childTnLst>
                          </p:cTn>
                        </p:par>
                        <p:par>
                          <p:cTn id="84" fill="hold">
                            <p:stCondLst>
                              <p:cond delay="1250"/>
                            </p:stCondLst>
                            <p:childTnLst>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400"/>
                                        <p:tgtEl>
                                          <p:spTgt spid="27"/>
                                        </p:tgtEl>
                                      </p:cBhvr>
                                    </p:animEffect>
                                  </p:childTnLst>
                                </p:cTn>
                              </p:par>
                            </p:childTnLst>
                          </p:cTn>
                        </p:par>
                        <p:par>
                          <p:cTn id="88" fill="hold">
                            <p:stCondLst>
                              <p:cond delay="1250"/>
                            </p:stCondLst>
                            <p:childTnLst>
                              <p:par>
                                <p:cTn id="89" presetID="10"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400"/>
                                        <p:tgtEl>
                                          <p:spTgt spid="28"/>
                                        </p:tgtEl>
                                      </p:cBhvr>
                                    </p:animEffect>
                                  </p:childTnLst>
                                </p:cTn>
                              </p:par>
                            </p:childTnLst>
                          </p:cTn>
                        </p:par>
                        <p:par>
                          <p:cTn id="92" fill="hold">
                            <p:stCondLst>
                              <p:cond delay="1250"/>
                            </p:stCondLst>
                            <p:childTnLst>
                              <p:par>
                                <p:cTn id="93" presetID="10" presetClass="entr" presetSubtype="0" fill="hold" grpId="0"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o que é uma linha. Aditividade: o que soma.</a:t>
            </a:r>
            <a:endParaRPr lang="en-US" sz="3200" dirty="0"/>
          </a:p>
        </p:txBody>
      </p:sp>
      <p:sp>
        <p:nvSpPr>
          <p:cNvPr id="5" name="anim:1:300"/>
          <p:cNvSpPr/>
          <p:nvPr/>
        </p:nvSpPr>
        <p:spPr>
          <a:xfrm>
            <a:off x="548640" y="35204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01"/>
          <p:cNvSpPr txBox="1"/>
          <p:nvPr/>
        </p:nvSpPr>
        <p:spPr>
          <a:xfrm>
            <a:off x="777240" y="36576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GRÃO = O QUE UMA LINHA REPRESENTA</a:t>
            </a:r>
            <a:endParaRPr lang="en-US" sz="1000" dirty="0"/>
          </a:p>
        </p:txBody>
      </p:sp>
      <p:sp>
        <p:nvSpPr>
          <p:cNvPr id="7" name="anim:1:302"/>
          <p:cNvSpPr txBox="1"/>
          <p:nvPr/>
        </p:nvSpPr>
        <p:spPr>
          <a:xfrm>
            <a:off x="777240" y="393192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Fila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417880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jun/2024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CRECHE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153</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9" name="anim:1:303"/>
          <p:cNvSpPr txBox="1"/>
          <p:nvPr/>
        </p:nvSpPr>
        <p:spPr>
          <a:xfrm>
            <a:off x="777240" y="457200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Matrícula</a:t>
            </a:r>
            <a:endParaRPr lang="en-US" sz="11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77240" y="481888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 aluno</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uma turma</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11" name="anim:1:304"/>
          <p:cNvSpPr txBox="1"/>
          <p:nvPr/>
        </p:nvSpPr>
        <p:spPr>
          <a:xfrm>
            <a:off x="777240" y="5239512"/>
            <a:ext cx="4983480" cy="566928"/>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Uma criança não é uma linha da fila: </a:t>
            </a:r>
            <a:pPr indent="0" marL="0">
              <a:buNone/>
            </a:pPr>
            <a:r>
              <a:rPr lang="en-US" sz="1300" b="1" dirty="0">
                <a:solidFill>
                  <a:srgbClr val="1B2A4A"/>
                </a:solidFill>
                <a:latin typeface="Calibri" pitchFamily="34" charset="0"/>
                <a:ea typeface="Calibri" pitchFamily="34" charset="-122"/>
                <a:cs typeface="Calibri" pitchFamily="34" charset="-120"/>
              </a:rPr>
              <a:t>é uma das 153</a:t>
            </a:r>
            <a:pPr indent="0" marL="0">
              <a:buNone/>
            </a:pPr>
            <a:r>
              <a:rPr lang="en-US" sz="1300" dirty="0">
                <a:solidFill>
                  <a:srgbClr val="1F2937"/>
                </a:solidFill>
                <a:latin typeface="Calibri" pitchFamily="34" charset="0"/>
                <a:ea typeface="Calibri" pitchFamily="34" charset="-122"/>
                <a:cs typeface="Calibri" pitchFamily="34" charset="-120"/>
              </a:rPr>
              <a:t>. Quando consegue a vaga, vira uma linha do fato Matrícula.</a:t>
            </a:r>
            <a:endParaRPr lang="en-US" sz="1300" dirty="0"/>
          </a:p>
        </p:txBody>
      </p:sp>
      <p:sp>
        <p:nvSpPr>
          <p:cNvPr id="12" name="anim:2:305"/>
          <p:cNvSpPr/>
          <p:nvPr/>
        </p:nvSpPr>
        <p:spPr>
          <a:xfrm>
            <a:off x="6172200" y="35204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306"/>
          <p:cNvSpPr txBox="1"/>
          <p:nvPr/>
        </p:nvSpPr>
        <p:spPr>
          <a:xfrm>
            <a:off x="6400800" y="36576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ADITIVIDADE = POSSO SOMAR?</a:t>
            </a:r>
            <a:endParaRPr lang="en-US" sz="1000" dirty="0"/>
          </a:p>
        </p:txBody>
      </p:sp>
      <p:sp>
        <p:nvSpPr>
          <p:cNvPr id="14" name="anim:2:307"/>
          <p:cNvSpPr/>
          <p:nvPr/>
        </p:nvSpPr>
        <p:spPr>
          <a:xfrm>
            <a:off x="6400800" y="4005072"/>
            <a:ext cx="310896" cy="310896"/>
          </a:xfrm>
          <a:prstGeom prst="ellipse">
            <a:avLst/>
          </a:prstGeom>
          <a:solidFill>
            <a:srgbClr val="2E5EAA"/>
          </a:solidFill>
          <a:ln w="12700">
            <a:solidFill>
              <a:srgbClr val="2E5EAA"/>
            </a:solidFill>
            <a:prstDash val="solid"/>
          </a:ln>
        </p:spPr>
      </p:sp>
      <p:sp>
        <p:nvSpPr>
          <p:cNvPr id="15" name="anim:2:308"/>
          <p:cNvSpPr txBox="1"/>
          <p:nvPr/>
        </p:nvSpPr>
        <p:spPr>
          <a:xfrm>
            <a:off x="6400800" y="4005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anim:2:309"/>
          <p:cNvSpPr txBox="1"/>
          <p:nvPr/>
        </p:nvSpPr>
        <p:spPr>
          <a:xfrm>
            <a:off x="6858000" y="3977640"/>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distritos: </a:t>
            </a:r>
            <a:pPr indent="0" marL="0">
              <a:buNone/>
            </a:pPr>
            <a:r>
              <a:rPr lang="en-US" sz="1300" dirty="0">
                <a:solidFill>
                  <a:srgbClr val="1F2937"/>
                </a:solidFill>
                <a:latin typeface="Calibri" pitchFamily="34" charset="0"/>
                <a:ea typeface="Calibri" pitchFamily="34" charset="-122"/>
                <a:cs typeface="Calibri" pitchFamily="34" charset="-120"/>
              </a:rPr>
              <a:t>Tremembé + Grajaú em junho de 2024 = 153 + 88 = 241 crianças na fila.</a:t>
            </a:r>
            <a:endParaRPr lang="en-US" sz="1300" dirty="0"/>
          </a:p>
        </p:txBody>
      </p:sp>
      <p:sp>
        <p:nvSpPr>
          <p:cNvPr id="17" name="anim:2:310"/>
          <p:cNvSpPr/>
          <p:nvPr/>
        </p:nvSpPr>
        <p:spPr>
          <a:xfrm>
            <a:off x="6400800" y="4626864"/>
            <a:ext cx="310896" cy="310896"/>
          </a:xfrm>
          <a:prstGeom prst="ellipse">
            <a:avLst/>
          </a:prstGeom>
          <a:solidFill>
            <a:srgbClr val="8A5300"/>
          </a:solidFill>
          <a:ln w="12700">
            <a:solidFill>
              <a:srgbClr val="8A5300"/>
            </a:solidFill>
            <a:prstDash val="solid"/>
          </a:ln>
        </p:spPr>
      </p:sp>
      <p:sp>
        <p:nvSpPr>
          <p:cNvPr id="18" name="anim:2:311"/>
          <p:cNvSpPr txBox="1"/>
          <p:nvPr/>
        </p:nvSpPr>
        <p:spPr>
          <a:xfrm>
            <a:off x="6400800" y="4626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anim:2:312"/>
          <p:cNvSpPr txBox="1"/>
          <p:nvPr/>
        </p:nvSpPr>
        <p:spPr>
          <a:xfrm>
            <a:off x="6858000" y="4599432"/>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meses: </a:t>
            </a:r>
            <a:pPr indent="0" marL="0">
              <a:buNone/>
            </a:pPr>
            <a:r>
              <a:rPr lang="en-US" sz="1300" dirty="0">
                <a:solidFill>
                  <a:srgbClr val="1F2937"/>
                </a:solidFill>
                <a:latin typeface="Calibri" pitchFamily="34" charset="0"/>
                <a:ea typeface="Calibri" pitchFamily="34" charset="-122"/>
                <a:cs typeface="Calibri" pitchFamily="34" charset="-120"/>
              </a:rPr>
              <a:t>fila de abril + fila de junho conta duas vezes quem continuou esperando. A fila é um estoque.</a:t>
            </a:r>
            <a:endParaRPr lang="en-US" sz="1300" dirty="0"/>
          </a:p>
        </p:txBody>
      </p:sp>
      <p:sp>
        <p:nvSpPr>
          <p:cNvPr id="20" name="anim:2:313"/>
          <p:cNvSpPr/>
          <p:nvPr/>
        </p:nvSpPr>
        <p:spPr>
          <a:xfrm>
            <a:off x="6400800" y="5248656"/>
            <a:ext cx="310896" cy="310896"/>
          </a:xfrm>
          <a:prstGeom prst="ellipse">
            <a:avLst/>
          </a:prstGeom>
          <a:solidFill>
            <a:srgbClr val="566175"/>
          </a:solidFill>
          <a:ln w="12700">
            <a:solidFill>
              <a:srgbClr val="566175"/>
            </a:solidFill>
            <a:prstDash val="solid"/>
          </a:ln>
        </p:spPr>
      </p:sp>
      <p:sp>
        <p:nvSpPr>
          <p:cNvPr id="21" name="anim:2:314"/>
          <p:cNvSpPr txBox="1"/>
          <p:nvPr/>
        </p:nvSpPr>
        <p:spPr>
          <a:xfrm>
            <a:off x="6400800" y="5248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anim:2:315"/>
          <p:cNvSpPr txBox="1"/>
          <p:nvPr/>
        </p:nvSpPr>
        <p:spPr>
          <a:xfrm>
            <a:off x="6858000" y="5221224"/>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Taxas e médias: </a:t>
            </a:r>
            <a:pPr indent="0" marL="0">
              <a:buNone/>
            </a:pPr>
            <a:r>
              <a:rPr lang="en-US" sz="1300" dirty="0">
                <a:solidFill>
                  <a:srgbClr val="1F2937"/>
                </a:solidFill>
                <a:latin typeface="Calibri" pitchFamily="34" charset="0"/>
                <a:ea typeface="Calibri" pitchFamily="34" charset="-122"/>
                <a:cs typeface="Calibri" pitchFamily="34" charset="-120"/>
              </a:rPr>
              <a:t>nunca somar nem tirar média; recalcular das somas (abandonos ÷ matrículas).</a:t>
            </a:r>
            <a:endParaRPr lang="en-US" sz="13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194560"/>
                <a:gridCol w="3566160"/>
                <a:gridCol w="5303520"/>
              </a:tblGrid>
              <a:tr h="3200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Tabela de fatos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Uma linha é</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Pode somar?</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Matrícula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um vínculo aluno-turma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soma em tudo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Fila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distrito × mês × etapa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distritos e etapas, não meses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Desfecho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escola × ano × série</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taxas recalculadas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Ocupação de Turma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alunos por turma recalculado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População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setor censitário × faixa × Censo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setores e faixas, não Censos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00"/>
                                        <p:tgtEl>
                                          <p:spTgt spid="18"/>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316"/>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17"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318"/>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319"/>
          <p:cNvSpPr txBox="1"/>
          <p:nvPr/>
        </p:nvSpPr>
        <p:spPr>
          <a:xfrm>
            <a:off x="8458200" y="1627632"/>
            <a:ext cx="301752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CADA RECURSO RESOLVE UM PROBLEMA</a:t>
            </a:r>
            <a:endParaRPr lang="en-US" sz="1000" dirty="0"/>
          </a:p>
        </p:txBody>
      </p:sp>
      <p:sp>
        <p:nvSpPr>
          <p:cNvPr id="9" name="anim:3:320"/>
          <p:cNvSpPr/>
          <p:nvPr/>
        </p:nvSpPr>
        <p:spPr>
          <a:xfrm>
            <a:off x="8458200" y="1984248"/>
            <a:ext cx="274320" cy="274320"/>
          </a:xfrm>
          <a:prstGeom prst="ellipse">
            <a:avLst/>
          </a:prstGeom>
          <a:solidFill>
            <a:srgbClr val="F2A541"/>
          </a:solidFill>
          <a:ln w="12700">
            <a:solidFill>
              <a:srgbClr val="F2A541"/>
            </a:solidFill>
            <a:prstDash val="solid"/>
          </a:ln>
        </p:spPr>
      </p:sp>
      <p:sp>
        <p:nvSpPr>
          <p:cNvPr id="10" name="anim:3:321"/>
          <p:cNvSpPr txBox="1"/>
          <p:nvPr/>
        </p:nvSpPr>
        <p:spPr>
          <a:xfrm>
            <a:off x="8458200" y="19842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11" name="anim:3:322"/>
          <p:cNvSpPr txBox="1"/>
          <p:nvPr/>
        </p:nvSpPr>
        <p:spPr>
          <a:xfrm>
            <a:off x="8823960" y="1965960"/>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Data com dois papéis</a:t>
            </a:r>
            <a:pPr indent="0" marL="0">
              <a:buNone/>
            </a:pPr>
            <a:r>
              <a:rPr lang="en-US" sz="1200" dirty="0">
                <a:solidFill>
                  <a:srgbClr val="1F2937"/>
                </a:solidFill>
                <a:latin typeface="Calibri" pitchFamily="34" charset="0"/>
                <a:ea typeface="Calibri" pitchFamily="34" charset="-122"/>
                <a:cs typeface="Calibri" pitchFamily="34" charset="-120"/>
              </a:rPr>
              <a:t> (início e fim): diz se a matrícula estava ativa em 30 de junho, o número que se compara com a fila.</a:t>
            </a:r>
            <a:endParaRPr lang="en-US" sz="1200" dirty="0"/>
          </a:p>
        </p:txBody>
      </p:sp>
      <p:sp>
        <p:nvSpPr>
          <p:cNvPr id="12" name="anim:4:323"/>
          <p:cNvSpPr/>
          <p:nvPr/>
        </p:nvSpPr>
        <p:spPr>
          <a:xfrm>
            <a:off x="8458200" y="2788920"/>
            <a:ext cx="274320" cy="274320"/>
          </a:xfrm>
          <a:prstGeom prst="ellipse">
            <a:avLst/>
          </a:prstGeom>
          <a:solidFill>
            <a:srgbClr val="F2A541"/>
          </a:solidFill>
          <a:ln w="12700">
            <a:solidFill>
              <a:srgbClr val="F2A541"/>
            </a:solidFill>
            <a:prstDash val="solid"/>
          </a:ln>
        </p:spPr>
      </p:sp>
      <p:sp>
        <p:nvSpPr>
          <p:cNvPr id="13" name="anim:4:324"/>
          <p:cNvSpPr txBox="1"/>
          <p:nvPr/>
        </p:nvSpPr>
        <p:spPr>
          <a:xfrm>
            <a:off x="8458200" y="2788920"/>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14" name="anim:4:325"/>
          <p:cNvSpPr txBox="1"/>
          <p:nvPr/>
        </p:nvSpPr>
        <p:spPr>
          <a:xfrm>
            <a:off x="8823960" y="2770632"/>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Campo igual a 1</a:t>
            </a:r>
            <a:pPr indent="0" marL="0">
              <a:buNone/>
            </a:pPr>
            <a:r>
              <a:rPr lang="en-US" sz="1200" dirty="0">
                <a:solidFill>
                  <a:srgbClr val="1F2937"/>
                </a:solidFill>
                <a:latin typeface="Calibri" pitchFamily="34" charset="0"/>
                <a:ea typeface="Calibri" pitchFamily="34" charset="-122"/>
                <a:cs typeface="Calibri" pitchFamily="34" charset="-120"/>
              </a:rPr>
              <a:t> em cada linha: contar matrículas vira uma soma. Dias de matrícula é a outra medida.</a:t>
            </a:r>
            <a:endParaRPr lang="en-US" sz="1200" dirty="0"/>
          </a:p>
        </p:txBody>
      </p:sp>
      <p:sp>
        <p:nvSpPr>
          <p:cNvPr id="15" name="anim:5:326"/>
          <p:cNvSpPr/>
          <p:nvPr/>
        </p:nvSpPr>
        <p:spPr>
          <a:xfrm>
            <a:off x="8458200" y="3593592"/>
            <a:ext cx="274320" cy="274320"/>
          </a:xfrm>
          <a:prstGeom prst="ellipse">
            <a:avLst/>
          </a:prstGeom>
          <a:solidFill>
            <a:srgbClr val="F2A541"/>
          </a:solidFill>
          <a:ln w="12700">
            <a:solidFill>
              <a:srgbClr val="F2A541"/>
            </a:solidFill>
            <a:prstDash val="solid"/>
          </a:ln>
        </p:spPr>
      </p:sp>
      <p:sp>
        <p:nvSpPr>
          <p:cNvPr id="16" name="anim:5:327"/>
          <p:cNvSpPr txBox="1"/>
          <p:nvPr/>
        </p:nvSpPr>
        <p:spPr>
          <a:xfrm>
            <a:off x="8458200" y="3593592"/>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17" name="anim:5:328"/>
          <p:cNvSpPr txBox="1"/>
          <p:nvPr/>
        </p:nvSpPr>
        <p:spPr>
          <a:xfrm>
            <a:off x="8823960" y="3575304"/>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Bugigangas</a:t>
            </a:r>
            <a:pPr indent="0" marL="0">
              <a:buNone/>
            </a:pPr>
            <a:r>
              <a:rPr lang="en-US" sz="1200" dirty="0">
                <a:solidFill>
                  <a:srgbClr val="1F2937"/>
                </a:solidFill>
                <a:latin typeface="Calibri" pitchFamily="34" charset="0"/>
                <a:ea typeface="Calibri" pitchFamily="34" charset="-122"/>
                <a:cs typeface="Calibri" pitchFamily="34" charset="-120"/>
              </a:rPr>
              <a:t> (Perfil, Deficiência, Situação): mais de 30 indicadores em 3 dimensões, e não em 30.</a:t>
            </a:r>
            <a:endParaRPr lang="en-US" sz="1200" dirty="0"/>
          </a:p>
        </p:txBody>
      </p:sp>
      <p:sp>
        <p:nvSpPr>
          <p:cNvPr id="18" name="anim:6:329"/>
          <p:cNvSpPr/>
          <p:nvPr/>
        </p:nvSpPr>
        <p:spPr>
          <a:xfrm>
            <a:off x="8458200" y="4398264"/>
            <a:ext cx="274320" cy="274320"/>
          </a:xfrm>
          <a:prstGeom prst="ellipse">
            <a:avLst/>
          </a:prstGeom>
          <a:solidFill>
            <a:srgbClr val="F2A541"/>
          </a:solidFill>
          <a:ln w="12700">
            <a:solidFill>
              <a:srgbClr val="F2A541"/>
            </a:solidFill>
            <a:prstDash val="solid"/>
          </a:ln>
        </p:spPr>
      </p:sp>
      <p:sp>
        <p:nvSpPr>
          <p:cNvPr id="19" name="anim:6:330"/>
          <p:cNvSpPr txBox="1"/>
          <p:nvPr/>
        </p:nvSpPr>
        <p:spPr>
          <a:xfrm>
            <a:off x="8458200" y="4398264"/>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20" name="anim:6:331"/>
          <p:cNvSpPr txBox="1"/>
          <p:nvPr/>
        </p:nvSpPr>
        <p:spPr>
          <a:xfrm>
            <a:off x="8823960" y="4379976"/>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Degeneradas</a:t>
            </a:r>
            <a:pPr indent="0" marL="0">
              <a:buNone/>
            </a:pPr>
            <a:r>
              <a:rPr lang="en-US" sz="1200" dirty="0">
                <a:solidFill>
                  <a:srgbClr val="1F2937"/>
                </a:solidFill>
                <a:latin typeface="Calibri" pitchFamily="34" charset="0"/>
                <a:ea typeface="Calibri" pitchFamily="34" charset="-122"/>
                <a:cs typeface="Calibri" pitchFamily="34" charset="-120"/>
              </a:rPr>
              <a:t> (id da turma, código da matrícula): identificadores que ficam no fato, sem tabela própria.</a:t>
            </a:r>
            <a:endParaRPr lang="en-US" sz="1200" dirty="0"/>
          </a:p>
        </p:txBody>
      </p:sp>
      <p:sp>
        <p:nvSpPr>
          <p:cNvPr id="21" name="anim:7:332"/>
          <p:cNvSpPr/>
          <p:nvPr/>
        </p:nvSpPr>
        <p:spPr>
          <a:xfrm>
            <a:off x="8458200" y="5202936"/>
            <a:ext cx="274320" cy="274320"/>
          </a:xfrm>
          <a:prstGeom prst="ellipse">
            <a:avLst/>
          </a:prstGeom>
          <a:solidFill>
            <a:srgbClr val="F2A541"/>
          </a:solidFill>
          <a:ln w="12700">
            <a:solidFill>
              <a:srgbClr val="F2A541"/>
            </a:solidFill>
            <a:prstDash val="solid"/>
          </a:ln>
        </p:spPr>
      </p:sp>
      <p:sp>
        <p:nvSpPr>
          <p:cNvPr id="22" name="anim:7:333"/>
          <p:cNvSpPr txBox="1"/>
          <p:nvPr/>
        </p:nvSpPr>
        <p:spPr>
          <a:xfrm>
            <a:off x="8458200" y="5202936"/>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3" name="anim:7:334"/>
          <p:cNvSpPr txBox="1"/>
          <p:nvPr/>
        </p:nvSpPr>
        <p:spPr>
          <a:xfrm>
            <a:off x="8823960" y="5184648"/>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Escola tipo 2</a:t>
            </a:r>
            <a:pPr indent="0" marL="0">
              <a:buNone/>
            </a:pPr>
            <a:r>
              <a:rPr lang="en-US" sz="1200" dirty="0">
                <a:solidFill>
                  <a:srgbClr val="1F2937"/>
                </a:solidFill>
                <a:latin typeface="Calibri" pitchFamily="34" charset="0"/>
                <a:ea typeface="Calibri" pitchFamily="34" charset="-122"/>
                <a:cs typeface="Calibri" pitchFamily="34" charset="-120"/>
              </a:rPr>
              <a:t>: a escola que muda de nome ganha uma versão nova, e a matrícula antiga guarda o nome da época.</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50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335"/>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36"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337"/>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338"/>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339"/>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0"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341"/>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342"/>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343"/>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4"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345"/>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346"/>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347"/>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8"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349"/>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350"/>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351"/>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52"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353"/>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354"/>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355"/>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356"/>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357"/>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358"/>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59"/>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360"/>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361"/>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362"/>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363"/>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364"/>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365"/>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366"/>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67"/>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368"/>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69"/>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370"/>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371"/>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372"/>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373"/>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374"/>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375"/>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376"/>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377"/>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378"/>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379"/>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380"/>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381"/>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382"/>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383"/>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384"/>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385"/>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386"/>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387"/>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388"/>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389"/>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390"/>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391"/>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392"/>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393"/>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394"/>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395"/>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396"/>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97"/>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398"/>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399"/>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400"/>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401"/>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402"/>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403"/>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404"/>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405"/>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406"/>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407"/>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408"/>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409"/>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410"/>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411"/>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412"/>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413"/>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414"/>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415"/>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416"/>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417"/>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418"/>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419"/>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420"/>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421"/>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422"/>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423"/>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424"/>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425"/>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426"/>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427"/>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428"/>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429"/>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430"/>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431"/>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432"/>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433"/>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434"/>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435"/>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436"/>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437"/>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438"/>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439"/>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440"/>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441"/>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442"/>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443"/>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444"/>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445"/>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446"/>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447"/>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448"/>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449"/>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450"/>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451"/>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452"/>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453"/>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454"/>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455"/>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2026-10-29T16:06:05Z</dcterms:created>
  <dcterms:modified xsi:type="dcterms:W3CDTF">2026-10-29T16:06:05Z</dcterms:modified>
</cp:coreProperties>
</file>