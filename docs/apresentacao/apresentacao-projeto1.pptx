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Começar pelo que deu certo. A falta de vaga em creche foi por anos o principal problema de acesso da educação infantil paulistana, e o PNE (Lei 13.005/2014), Meta 1, pede creche para pelo menos metade das crianças de até 3 anos e pré-escola universal. A cidade avançou: a fila de creche em junho caiu de 124.741 crianças em 2015 para 3.633 em 2024, e a parte da demanda fora da rede passou de 34% para 1%. Só que 3.633 não é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Pausa, falando para a plateia. Em junho de 2024 ainda havia 3.633 crianças esperando vaga em creche, e havia fila nos 96 distritos. E se uma delas fosse o seu filho? Ele passaria meses fora da creche e poderia chegar à escola atrás das crianças que tiveram educação infantil. Você teria de faltar ao trabalho, pagar alguém para cuidar ou deixar o emprego até a vaga sair, e avós e vizinhos cobririam o horário da creche. As consequências são um cenário ilustrativo; o número de crianças é real. Para essas famílias, a espera continua, e a pergunta deste trabalho é como fazer essa fila cair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a fila não acaba? A planilha da prefeitura separa dois grupos. Quem aceita qualquer unidade não espera muito: em junho de 2024, eram 1.131 crianças, e nenhuma estava na fila havia mais de 30 dias. As outras 2.502, quase sete em cada dez, esperavam uma unidade específica, escolhida pela família, perto de casa ou do trabalho. E a fila está nos 96 distritos, com oferta que vai de menos de 50 a mais de 100 matrículas por 100 crianças de 0 a 4 anos, conforme o distrito. A pergunta deixou de ser quantas vagas abrir e virou onde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é difícil responder onde? Porque os dados publicados atrapalham, e estes quatro casos são reais, da nossa carga. Matrícula em dobro: em junho de 2022, o microdado mostrava 378.954 matrículas de creche ativas, mas, contando cada aluno uma vez, eram 340.085; transferências saem sem data de fim, e a rede parece atender 38.869 crianças a mais. Código repetido: em 2024, 193 códigos cobriam 4.011 escolas, em notação científica. Totais que não fecham: na fila de junho de 2023, a soma dos distritos dava 2.926 crianças com opção, e o total publicado, 2.904. Zero que não é zero: até setembro de 2020 a fila não separava quem esperava havia mais de 30 dias, e gravar zero faria essa espera sumir. No passo 1, o Thiago mostra como tratamos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Para achar o lugar certo entre 96 distritos, o gestor precisa cruzar quatro coisas: quem está na fila, quem já tem vaga, se as turmas estão cheias e quantas crianças moram em cada lugar. Hoje cada uma está numa base diferente. Nossa solução junta as três num data warehouse: um comando baixa, limpa, carrega e confere tudo, e cinco fatos e catorze dimensões se cruzam por distrito, etapa e data.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O que a proposta melhora, com números da nossa carga real. Mais rápida: as oito consultas, somadas, rodam em 0,42 segundo sobre 13,4 milhões de matrículas, e a carga leva 3,5 minutos, com um comando. Mais confiável: catorze verificações rodam a cada carga, e na carga real nenhuma deu FALHA; as duas bases da SME concordam com diferença abaixo de 1% de 2015 a 2020, e de 2022 em diante a diferença fica à vista em vez de se misturar. E uma linguagem só: distrito, etapa e idade têm a mesma representação nas três bases, nulo quer dizer não publicado, e a Secretaria e as 13 Diretorias olham o mesmo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Como os dados ajudam a fila a cair mais: um ciclo de quatro passos. Medir: a cada publicação, a fila de cada distrito e etapa, separando quem espera uma unidade específica de quem aceita qualquer uma. Localizar: as consultas 1, 5 e 7 mostram onde a fila resiste e onde a oferta por criança é menor. Decidir: a consulta 8 mostra quantas crianças as turmas já têm, o que ajuda a escolher entre turma nova e lugar ocioso, e as consultas 3 e 4 mostram como a oferta é feita, por rede e jornada. Acompanhar: a publicação seguinte mostra se a fila do distrito caiu, e o ciclo recomeça. Como quase sete em cada dez crianças da fila esperam uma unidade específica, o que falta é vaga no lugar certo, e é isso que o ciclo procura.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medir a fila em vez de estimar.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responde a uma parte da decisão de onde abrir vagas: quem espera, quem já tem vaga, se as turmas estão cheias, quantas crianças moram em cada lugar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Agora a proposta vira plano.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os resultados e um exemplo de onde abrir a próxima vaga, e volta à pergunta do começo. A adoção é um cenário hipotético; os números são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0,75 min.
Passo 1: os dados entram. Para decidir onde abrir vaga, precisamos de três respostas sobre cada distrito, e cada uma vem de uma fonte. Quem já tem vaga: o microdado de matrículas da SME, 13,4 milhões de linhas, uma por aluno numa turma. Quem espera vaga: a planilha de demanda da SME, 44 meses de fila, uma linha por distrito com uma coluna por etapa. Quantas crianças moram ali: o Censo 2022 do IBGE, 26.889 setores, uma linha por setor com uma coluna por faixa de idade. Repare que cada fonte tem um tamanho de linha diferente; é isso que os próximos slides resolvem. Para não ficar abstrato, vamos seguir um distrito, o Tremembé: 153 crianças na fila de creche em junho de 2024 e 11.498 crianças de 0 a 4 anos morando lá.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Integrar é fazer as fontes falarem a mesma língua. Leia cada linha da esquerda para a direita: como o dado chega, a regra que aplicamos e o que fica no data warehouse. Distrito: a fila escreve TREMEMBE com um espaço sobrando no fim, a matrícula escreve TREMEMBE, o IBGE escreve Tremembé com acento; a mesma regra de normalização transforma os três numa única linha da dimensão Território. Idade: a matrícula traz a idade exata, o IBGE só o grupo de 0 a 4; cada idade ganha a faixa do IBGE, e as duas bases passam a ser comparadas na mesma faixa. Setor: as duas bases usam o nome CD_SETOR para coisas diferentes, setor administrativo de 4 dígitos e setor censitário de 15; é um homônimo, então viram atributos separados e nunca são cruzados. Como sabemos que deu certo: contamos a mesma coisa nas duas bases da SME. Matrículas de creche ativas em junho de 2015: 240.905 no microdado e 240.840 na planilha. De 2015 a 2020 a diferença fica abaixo 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0,75 min.
Dois slides de problemas, três em cada um. Em cada cartão, à esquerda, o dado como chegou; à direita, o que fizemos, em passos. Um: o código da escola. Em 2021 a UNIAO DE VILA NOVA I tem o código 19459; em 2022 o código vem embaralhado; em 2023 vem em notação científica, e o mesmo 9,20961E+15 aparece também na BEIJA FLOR, outra escola. Medimos isso ano a ano, procuramos cada escola pelo nome, tipo e distrito em 2021 e copiamos o código; quando há ambiguidade, chave sintética, nunca um chute. Resultado: 94,8% a 98,6% das matrículas com o código real. Dois: a coluna (2) da fila quer dizer recusou vaga e preferiu esperar uma unidade em 2019 e espera de mais de 30 dias em 2024; lemos o sentido no rodapé de cada arquivo, e nota desconhecida para a carga. Três: o turno de 2021 vem só como código; o código é o de 2020 somado de 3, conferido pelos horários. (Os exemplos de escola são do teste do projeto, no formato dos arquivos; os rodapés da fila são reais.)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0,75 min.
Mais três, no mesmo formato. Quatro: a idade vem com vírgula, vazia, com nascimento em 1900 ou com mês 18. Usamos a publicada quando é plausível; senão, calculamos em 31 de março: quem nasceu em maio de 2018 tem 2 anos em 2021. Mês impossível vira idade estimada, e nascimento em 1900 vira não informada. Cinco: as datas vêm em cinco formatos; 45397 é o jeito do Excel guardar 15 de abril de 2024. Com início e fim da matrícula sabemos quem estava matriculado em 30 de junho. Seis: o IBGE esconde valores de setores pequenos com um X; esses 6.543 valores ficam nulos, porque nulo quer dizer não publicado e zero quer dizer nenhuma criança. Depois de cada carga rodam catorze verificações automáticas, e na carga real nenhuma deu FALHA.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Dois conceitos, cada um com uma pergunta. Grão: o que uma linha da tabela representa? É a primeira decisão do modelo, tomada antes das dimensões. No fato Fila, uma linha é o Tremembé, junho de 2024, creche, com o número 153. No fato Matrícula, uma linha é um aluno numa turma, com o número 1. Por isso uma criança não é uma linha da fila: ela é uma das 153; quando consegue a vaga, vira uma linha do fato Matrícula. Aditividade: posso somar essa medida? Somar distritos pode: 153 do Tremembé mais 88 do Grajaú dá 241 crianças na fila. Somar meses não pode: a fila é um estoque, um retrato numa data, e quem esperou de abril a junho apareceria duas vezes. Taxas e médias nunca se somam: recalculamos a partir das contagens. A tabela embaixo resume os cinco fatos: matrícula, desfecho e ocupação somam; fila e população são estoques.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0,75 min.
A primeira estrela do modelo: o fato Matrícula no centro, dez dimensões em volta, e cada recurso de modelagem resolve um problema concreto. Um: a dimensão Data entra duas vezes, como início e fim da matrícula, como a internação e a alta do artigo da disciplina; com as duas datas sabemos se a matrícula estava ativa em 30 de junho, que é o número que se compara com a fila. Dois: cada linha tem um campo igual a 1, técnica das tabelas de fatos sem fato, e contar matrículas vira uma soma; a outra medida é dias de matrícula. Três: sexo, raça, deficiências e situação são mais de 30 indicadores; em vez de 30 dimensões minúsculas, ficam em 3 dimensões bugiganga. Quatro: id da turma e código da matrícula ficam no fato, sem tabela própria; são dimensões degeneradas. Cinco: a escola é mudança lenta tipo 2; 402 escolas mudam de nome ou tipo na série, e a matrícula de 2017 continua com o nome que a escola tinha em 2017. Fechar o passo 1: os dados estão limpos e integrados, e o passo 2 é o modelo. Passar a palavra ao Daniel.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fica nesta estrela: por exemplo,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quem sai da fila e consegue a vaga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um distrito, como o Tremembé,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decidir onde abrir vaga,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Um exemplo do passo de localizar, com números reais.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Voltar à pergunta do começo. Se fosse o seu filho, o que mudaria com o data warehouse? A prefeitura enxergaria onde a fila resiste, como no Tremembé, e abriria vaga lá. A criança sairia da fila e viraria uma linha do fato Matrícula, e a família voltaria a trabalhar com o filho na creche. O que faz a diferença é juntar números que já existem: uma consulta no lugar de três bases, respostas em menos de um segundo, catorze verificações a cada carga e dez anos de histórico. É um cenário hipotético; a prefeitura não usa o nosso data warehouse, mas tudo o que ele mostra sai dos dados reais. Cada vaga aberta no lugar certo é uma criança a menos 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29</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29</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Em dez anos, a fila de creche caiu 97%</a:t>
            </a:r>
            <a:endParaRPr lang="en-US" sz="3200" dirty="0"/>
          </a:p>
        </p:txBody>
      </p:sp>
      <p:sp>
        <p:nvSpPr>
          <p:cNvPr id="5" name="anim:1:21"/>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cidade avançou: a demanda de creche fora da rede passou de 34% para 1%.</a:t>
            </a:r>
            <a:endParaRPr lang="en-US" sz="1700" dirty="0"/>
          </a:p>
        </p:txBody>
      </p:sp>
      <p:sp>
        <p:nvSpPr>
          <p:cNvPr id="6" name="anim:2:22"/>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23"/>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24"/>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25"/>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26"/>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27"/>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28"/>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29"/>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30"/>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31"/>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consulta 5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 se fosse o seu filho?</a:t>
            </a:r>
            <a:endParaRPr lang="en-US" sz="3200" dirty="0"/>
          </a:p>
        </p:txBody>
      </p:sp>
      <p:sp>
        <p:nvSpPr>
          <p:cNvPr id="5" name="anim:1:32"/>
          <p:cNvSpPr txBox="1"/>
          <p:nvPr/>
        </p:nvSpPr>
        <p:spPr>
          <a:xfrm>
            <a:off x="548640" y="1554480"/>
            <a:ext cx="5029200" cy="1280160"/>
          </a:xfrm>
          <a:prstGeom prst="rect">
            <a:avLst/>
          </a:prstGeom>
          <a:noFill/>
          <a:ln/>
        </p:spPr>
        <p:txBody>
          <a:bodyPr wrap="square" lIns="0" tIns="0" rIns="0" bIns="0" rtlCol="0" anchor="t"/>
          <a:lstStyle/>
          <a:p>
            <a:pPr algn="l" indent="0" marL="0">
              <a:buNone/>
            </a:pPr>
            <a:r>
              <a:rPr lang="en-US" sz="8000" b="1" dirty="0">
                <a:solidFill>
                  <a:srgbClr val="F2A541"/>
                </a:solidFill>
                <a:latin typeface="Calibri" pitchFamily="34" charset="0"/>
                <a:ea typeface="Calibri" pitchFamily="34" charset="-122"/>
                <a:cs typeface="Calibri" pitchFamily="34" charset="-120"/>
              </a:rPr>
              <a:t>3.633</a:t>
            </a:r>
            <a:endParaRPr lang="en-US" sz="8000" dirty="0"/>
          </a:p>
        </p:txBody>
      </p:sp>
      <p:sp>
        <p:nvSpPr>
          <p:cNvPr id="6" name="anim:1:33"/>
          <p:cNvSpPr txBox="1"/>
          <p:nvPr/>
        </p:nvSpPr>
        <p:spPr>
          <a:xfrm>
            <a:off x="548640" y="2880360"/>
            <a:ext cx="5029200" cy="914400"/>
          </a:xfrm>
          <a:prstGeom prst="rect">
            <a:avLst/>
          </a:prstGeom>
          <a:noFill/>
          <a:ln/>
        </p:spPr>
        <p:txBody>
          <a:bodyPr wrap="square" lIns="0" tIns="0" rIns="0" bIns="0" rtlCol="0" anchor="t"/>
          <a:lstStyle/>
          <a:p>
            <a:pPr algn="l" indent="0" marL="0">
              <a:buNone/>
            </a:pPr>
            <a:r>
              <a:rPr lang="en-US" sz="2000" dirty="0">
                <a:solidFill>
                  <a:srgbClr val="FFFFFF"/>
                </a:solidFill>
                <a:latin typeface="Calibri" pitchFamily="34" charset="0"/>
                <a:ea typeface="Calibri" pitchFamily="34" charset="-122"/>
                <a:cs typeface="Calibri" pitchFamily="34" charset="-120"/>
              </a:rPr>
              <a:t>crianças ainda esperavam vaga em creche em junho de 2024, em todos os 96 distritos</a:t>
            </a:r>
            <a:endParaRPr lang="en-US" sz="2000" dirty="0"/>
          </a:p>
        </p:txBody>
      </p:sp>
      <p:sp>
        <p:nvSpPr>
          <p:cNvPr id="7" name="anim:2:34"/>
          <p:cNvSpPr/>
          <p:nvPr/>
        </p:nvSpPr>
        <p:spPr>
          <a:xfrm>
            <a:off x="5989320" y="1554480"/>
            <a:ext cx="5623560" cy="932688"/>
          </a:xfrm>
          <a:prstGeom prst="roundRect">
            <a:avLst>
              <a:gd name="adj" fmla="val 11765"/>
            </a:avLst>
          </a:prstGeom>
          <a:solidFill>
            <a:srgbClr val="FFFFFF">
              <a:alpha val="10000"/>
            </a:srgbClr>
          </a:solidFill>
          <a:ln w="9525">
            <a:solidFill>
              <a:srgbClr val="3A4D73"/>
            </a:solidFill>
            <a:prstDash val="solid"/>
          </a:ln>
        </p:spPr>
      </p:sp>
      <p:sp>
        <p:nvSpPr>
          <p:cNvPr id="8" name="anim:2:35"/>
          <p:cNvSpPr txBox="1"/>
          <p:nvPr/>
        </p:nvSpPr>
        <p:spPr>
          <a:xfrm>
            <a:off x="6217920" y="1664208"/>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FILHO</a:t>
            </a:r>
            <a:endParaRPr lang="en-US" sz="1200" dirty="0"/>
          </a:p>
        </p:txBody>
      </p:sp>
      <p:sp>
        <p:nvSpPr>
          <p:cNvPr id="9" name="anim:2:36"/>
          <p:cNvSpPr txBox="1"/>
          <p:nvPr/>
        </p:nvSpPr>
        <p:spPr>
          <a:xfrm>
            <a:off x="6217920" y="1920240"/>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Meses fora da creche. Poderia chegar à escola atrás das crianças que tiveram educação infantil.</a:t>
            </a:r>
            <a:endParaRPr lang="en-US" sz="1400" dirty="0"/>
          </a:p>
        </p:txBody>
      </p:sp>
      <p:sp>
        <p:nvSpPr>
          <p:cNvPr id="10" name="anim:3:37"/>
          <p:cNvSpPr/>
          <p:nvPr/>
        </p:nvSpPr>
        <p:spPr>
          <a:xfrm>
            <a:off x="5989320" y="2633472"/>
            <a:ext cx="5623560" cy="932688"/>
          </a:xfrm>
          <a:prstGeom prst="roundRect">
            <a:avLst>
              <a:gd name="adj" fmla="val 11765"/>
            </a:avLst>
          </a:prstGeom>
          <a:solidFill>
            <a:srgbClr val="FFFFFF">
              <a:alpha val="10000"/>
            </a:srgbClr>
          </a:solidFill>
          <a:ln w="9525">
            <a:solidFill>
              <a:srgbClr val="3A4D73"/>
            </a:solidFill>
            <a:prstDash val="solid"/>
          </a:ln>
        </p:spPr>
      </p:sp>
      <p:sp>
        <p:nvSpPr>
          <p:cNvPr id="11" name="anim:3:38"/>
          <p:cNvSpPr txBox="1"/>
          <p:nvPr/>
        </p:nvSpPr>
        <p:spPr>
          <a:xfrm>
            <a:off x="6217920" y="2743200"/>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TRABALHO</a:t>
            </a:r>
            <a:endParaRPr lang="en-US" sz="1200" dirty="0"/>
          </a:p>
        </p:txBody>
      </p:sp>
      <p:sp>
        <p:nvSpPr>
          <p:cNvPr id="12" name="anim:3:39"/>
          <p:cNvSpPr txBox="1"/>
          <p:nvPr/>
        </p:nvSpPr>
        <p:spPr>
          <a:xfrm>
            <a:off x="6217920" y="2999232"/>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Faltas, um cuidador pago ou o emprego deixado de lado até a vaga sair.</a:t>
            </a:r>
            <a:endParaRPr lang="en-US" sz="1400" dirty="0"/>
          </a:p>
        </p:txBody>
      </p:sp>
      <p:sp>
        <p:nvSpPr>
          <p:cNvPr id="13" name="anim:4:40"/>
          <p:cNvSpPr/>
          <p:nvPr/>
        </p:nvSpPr>
        <p:spPr>
          <a:xfrm>
            <a:off x="5989320" y="3712464"/>
            <a:ext cx="5623560" cy="932688"/>
          </a:xfrm>
          <a:prstGeom prst="roundRect">
            <a:avLst>
              <a:gd name="adj" fmla="val 11765"/>
            </a:avLst>
          </a:prstGeom>
          <a:solidFill>
            <a:srgbClr val="FFFFFF">
              <a:alpha val="10000"/>
            </a:srgbClr>
          </a:solidFill>
          <a:ln w="9525">
            <a:solidFill>
              <a:srgbClr val="3A4D73"/>
            </a:solidFill>
            <a:prstDash val="solid"/>
          </a:ln>
        </p:spPr>
      </p:sp>
      <p:sp>
        <p:nvSpPr>
          <p:cNvPr id="14" name="anim:4:41"/>
          <p:cNvSpPr txBox="1"/>
          <p:nvPr/>
        </p:nvSpPr>
        <p:spPr>
          <a:xfrm>
            <a:off x="6217920" y="3822192"/>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SUA CASA</a:t>
            </a:r>
            <a:endParaRPr lang="en-US" sz="1200" dirty="0"/>
          </a:p>
        </p:txBody>
      </p:sp>
      <p:sp>
        <p:nvSpPr>
          <p:cNvPr id="15" name="anim:4:42"/>
          <p:cNvSpPr txBox="1"/>
          <p:nvPr/>
        </p:nvSpPr>
        <p:spPr>
          <a:xfrm>
            <a:off x="6217920" y="4078224"/>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Avós, vizinhos e irmãos mais velhos cobrindo o horário da creche.</a:t>
            </a:r>
            <a:endParaRPr lang="en-US" sz="1400" dirty="0"/>
          </a:p>
        </p:txBody>
      </p:sp>
      <p:sp>
        <p:nvSpPr>
          <p:cNvPr id="16" name="anim:5:43"/>
          <p:cNvSpPr txBox="1"/>
          <p:nvPr/>
        </p:nvSpPr>
        <p:spPr>
          <a:xfrm>
            <a:off x="548640" y="4937760"/>
            <a:ext cx="11064240" cy="54864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A fila caiu 97%. Para essas famílias, a espera continua.</a:t>
            </a:r>
            <a:endParaRPr lang="en-US" sz="2400" dirty="0"/>
          </a:p>
        </p:txBody>
      </p:sp>
      <p:sp>
        <p:nvSpPr>
          <p:cNvPr id="17" name="Text 14"/>
          <p:cNvSpPr txBox="1"/>
          <p:nvPr/>
        </p:nvSpPr>
        <p:spPr>
          <a:xfrm>
            <a:off x="548640" y="5897880"/>
            <a:ext cx="10241280" cy="274320"/>
          </a:xfrm>
          <a:prstGeom prst="rect">
            <a:avLst/>
          </a:prstGeom>
          <a:noFill/>
          <a:ln/>
        </p:spPr>
        <p:txBody>
          <a:bodyPr wrap="square" lIns="0" tIns="0" rIns="0" bIns="0" rtlCol="0" anchor="t"/>
          <a:lstStyle/>
          <a:p>
            <a:pPr algn="l" indent="0" marL="0">
              <a:buNone/>
            </a:pPr>
            <a:r>
              <a:rPr lang="en-US" sz="1000" i="1" dirty="0">
                <a:solidFill>
                  <a:srgbClr val="C9D3E6"/>
                </a:solidFill>
                <a:latin typeface="Calibri" pitchFamily="34" charset="0"/>
                <a:ea typeface="Calibri" pitchFamily="34" charset="-122"/>
                <a:cs typeface="Calibri" pitchFamily="34" charset="-120"/>
              </a:rPr>
              <a:t>Fonte: Demanda Registrada e Matrículas (SME-SP), junho de 2024. As consequências são um cenário ilustrativo.</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44"/>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Quem aceita qualquer unidade não espera muito: em junho de 2024, nenhuma criança desse grupo estava na fila havia mais de 30 dias.</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Quase sete em cada dez crianças da fila esperavam uma unidade específica, escolhida pela família.</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fila está nos 96 distritos, e a oferta vai de menos de 50 a mais de 100 matrículas por 100 crianças (Censo 2022).</a:t>
            </a:r>
            <a:endParaRPr lang="en-US" sz="1700" dirty="0"/>
          </a:p>
        </p:txBody>
      </p:sp>
      <p:sp>
        <p:nvSpPr>
          <p:cNvPr id="6" name="anim:2:45"/>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46"/>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JUNHO DE 2024</a:t>
            </a:r>
            <a:endParaRPr lang="en-US" sz="1200" dirty="0"/>
          </a:p>
        </p:txBody>
      </p:sp>
      <p:sp>
        <p:nvSpPr>
          <p:cNvPr id="8" name="anim:2:47"/>
          <p:cNvSpPr txBox="1"/>
          <p:nvPr/>
        </p:nvSpPr>
        <p:spPr>
          <a:xfrm>
            <a:off x="6903720" y="214884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3.633</a:t>
            </a:r>
            <a:endParaRPr lang="en-US" sz="4800" dirty="0"/>
          </a:p>
        </p:txBody>
      </p:sp>
      <p:sp>
        <p:nvSpPr>
          <p:cNvPr id="9" name="anim:2:48"/>
          <p:cNvSpPr txBox="1"/>
          <p:nvPr/>
        </p:nvSpPr>
        <p:spPr>
          <a:xfrm>
            <a:off x="6903720" y="2926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esperando vaga</a:t>
            </a:r>
            <a:endParaRPr lang="en-US" sz="1400" dirty="0"/>
          </a:p>
        </p:txBody>
      </p:sp>
      <p:sp>
        <p:nvSpPr>
          <p:cNvPr id="10" name="anim:3:49"/>
          <p:cNvSpPr/>
          <p:nvPr/>
        </p:nvSpPr>
        <p:spPr>
          <a:xfrm>
            <a:off x="6903720" y="3520440"/>
            <a:ext cx="3022730" cy="274320"/>
          </a:xfrm>
          <a:prstGeom prst="roundRect">
            <a:avLst>
              <a:gd name="adj" fmla="val 26667"/>
            </a:avLst>
          </a:prstGeom>
          <a:solidFill>
            <a:srgbClr val="1B2A4A"/>
          </a:solidFill>
          <a:ln w="12700">
            <a:solidFill>
              <a:srgbClr val="1B2A4A"/>
            </a:solidFill>
            <a:prstDash val="solid"/>
          </a:ln>
        </p:spPr>
      </p:sp>
      <p:sp>
        <p:nvSpPr>
          <p:cNvPr id="11" name="anim:3:50"/>
          <p:cNvSpPr txBox="1"/>
          <p:nvPr/>
        </p:nvSpPr>
        <p:spPr>
          <a:xfrm>
            <a:off x="6903720" y="3849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2.502 </a:t>
            </a:r>
            <a:pPr indent="0" marL="0">
              <a:buNone/>
            </a:pPr>
            <a:r>
              <a:rPr lang="en-US" sz="1300" dirty="0">
                <a:solidFill>
                  <a:srgbClr val="1F2937"/>
                </a:solidFill>
                <a:latin typeface="Calibri" pitchFamily="34" charset="0"/>
                <a:ea typeface="Calibri" pitchFamily="34" charset="-122"/>
                <a:cs typeface="Calibri" pitchFamily="34" charset="-120"/>
              </a:rPr>
              <a:t>esperavam uma unidade específica, escolhida pela família</a:t>
            </a:r>
            <a:endParaRPr lang="en-US" sz="1300" dirty="0"/>
          </a:p>
        </p:txBody>
      </p:sp>
      <p:sp>
        <p:nvSpPr>
          <p:cNvPr id="12" name="anim:4:51"/>
          <p:cNvSpPr/>
          <p:nvPr/>
        </p:nvSpPr>
        <p:spPr>
          <a:xfrm>
            <a:off x="6903720" y="4663440"/>
            <a:ext cx="1366390" cy="274320"/>
          </a:xfrm>
          <a:prstGeom prst="roundRect">
            <a:avLst>
              <a:gd name="adj" fmla="val 26667"/>
            </a:avLst>
          </a:prstGeom>
          <a:solidFill>
            <a:srgbClr val="2E5EAA"/>
          </a:solidFill>
          <a:ln w="12700">
            <a:solidFill>
              <a:srgbClr val="2E5EAA"/>
            </a:solidFill>
            <a:prstDash val="solid"/>
          </a:ln>
        </p:spPr>
      </p:sp>
      <p:sp>
        <p:nvSpPr>
          <p:cNvPr id="13" name="anim:4:52"/>
          <p:cNvSpPr txBox="1"/>
          <p:nvPr/>
        </p:nvSpPr>
        <p:spPr>
          <a:xfrm>
            <a:off x="6903720" y="4992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1.131 </a:t>
            </a:r>
            <a:pPr indent="0" marL="0">
              <a:buNone/>
            </a:pPr>
            <a:r>
              <a:rPr lang="en-US" sz="1300" dirty="0">
                <a:solidFill>
                  <a:srgbClr val="1F2937"/>
                </a:solidFill>
                <a:latin typeface="Calibri" pitchFamily="34" charset="0"/>
                <a:ea typeface="Calibri" pitchFamily="34" charset="-122"/>
                <a:cs typeface="Calibri" pitchFamily="34" charset="-120"/>
              </a:rPr>
              <a:t>aceitavam qualquer unidade; nenhuma esperava havia mais de 30 dias</a:t>
            </a:r>
            <a:endParaRPr lang="en-US" sz="1300" dirty="0"/>
          </a:p>
        </p:txBody>
      </p:sp>
      <p:sp>
        <p:nvSpPr>
          <p:cNvPr id="14" name="Text 11"/>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junho de 2024, no fato Fila; Censo 2022 (IBGE), consulta 7.</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Hoje, os dados se repetem e não conversam</a:t>
            </a:r>
            <a:endParaRPr lang="en-US" sz="3200" dirty="0"/>
          </a:p>
        </p:txBody>
      </p:sp>
      <p:sp>
        <p:nvSpPr>
          <p:cNvPr id="5" name="anim:1:53"/>
          <p:cNvSpPr/>
          <p:nvPr/>
        </p:nvSpPr>
        <p:spPr>
          <a:xfrm>
            <a:off x="54864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4"/>
          <p:cNvSpPr/>
          <p:nvPr/>
        </p:nvSpPr>
        <p:spPr>
          <a:xfrm>
            <a:off x="777240" y="1783080"/>
            <a:ext cx="457200" cy="457200"/>
          </a:xfrm>
          <a:prstGeom prst="ellipse">
            <a:avLst/>
          </a:prstGeom>
          <a:solidFill>
            <a:srgbClr val="F2A541"/>
          </a:solidFill>
          <a:ln w="12700">
            <a:solidFill>
              <a:srgbClr val="F2A541"/>
            </a:solidFill>
            <a:prstDash val="solid"/>
          </a:ln>
        </p:spPr>
      </p:sp>
      <p:sp>
        <p:nvSpPr>
          <p:cNvPr id="7" name="anim:1:55"/>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56"/>
          <p:cNvSpPr txBox="1"/>
          <p:nvPr/>
        </p:nvSpPr>
        <p:spPr>
          <a:xfrm>
            <a:off x="141732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 contada em dobro</a:t>
            </a:r>
            <a:endParaRPr lang="en-US" sz="1700" dirty="0"/>
          </a:p>
        </p:txBody>
      </p:sp>
      <p:sp>
        <p:nvSpPr>
          <p:cNvPr id="9" name="anim:1:57"/>
          <p:cNvSpPr txBox="1"/>
          <p:nvPr/>
        </p:nvSpPr>
        <p:spPr>
          <a:xfrm>
            <a:off x="141732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Junho de 2022: 378.954 matrículas de creche ativas no microdado, mas 340.085 alunos.</a:t>
            </a:r>
            <a:endParaRPr lang="en-US" sz="1300" dirty="0"/>
          </a:p>
        </p:txBody>
      </p:sp>
      <p:sp>
        <p:nvSpPr>
          <p:cNvPr id="10" name="anim:1:58"/>
          <p:cNvSpPr txBox="1"/>
          <p:nvPr/>
        </p:nvSpPr>
        <p:spPr>
          <a:xfrm>
            <a:off x="141732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A rede parece atender 38.869 crianças a mais.</a:t>
            </a:r>
            <a:endParaRPr lang="en-US" sz="1300" dirty="0"/>
          </a:p>
        </p:txBody>
      </p:sp>
      <p:sp>
        <p:nvSpPr>
          <p:cNvPr id="11" name="anim:2:59"/>
          <p:cNvSpPr/>
          <p:nvPr/>
        </p:nvSpPr>
        <p:spPr>
          <a:xfrm>
            <a:off x="617220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60"/>
          <p:cNvSpPr/>
          <p:nvPr/>
        </p:nvSpPr>
        <p:spPr>
          <a:xfrm>
            <a:off x="6400800" y="1783080"/>
            <a:ext cx="457200" cy="457200"/>
          </a:xfrm>
          <a:prstGeom prst="ellipse">
            <a:avLst/>
          </a:prstGeom>
          <a:solidFill>
            <a:srgbClr val="F2A541"/>
          </a:solidFill>
          <a:ln w="12700">
            <a:solidFill>
              <a:srgbClr val="F2A541"/>
            </a:solidFill>
            <a:prstDash val="solid"/>
          </a:ln>
        </p:spPr>
      </p:sp>
      <p:sp>
        <p:nvSpPr>
          <p:cNvPr id="13" name="anim:2:61"/>
          <p:cNvSpPr txBox="1"/>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4" name="anim:2:62"/>
          <p:cNvSpPr txBox="1"/>
          <p:nvPr/>
        </p:nvSpPr>
        <p:spPr>
          <a:xfrm>
            <a:off x="704088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Escolas diferentes, um código só</a:t>
            </a:r>
            <a:endParaRPr lang="en-US" sz="1700" dirty="0"/>
          </a:p>
        </p:txBody>
      </p:sp>
      <p:sp>
        <p:nvSpPr>
          <p:cNvPr id="15" name="anim:2:63"/>
          <p:cNvSpPr txBox="1"/>
          <p:nvPr/>
        </p:nvSpPr>
        <p:spPr>
          <a:xfrm>
            <a:off x="704088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2024: 193 códigos para 4.011 escolas, em notação científica.</a:t>
            </a:r>
            <a:endParaRPr lang="en-US" sz="1300" dirty="0"/>
          </a:p>
        </p:txBody>
      </p:sp>
      <p:sp>
        <p:nvSpPr>
          <p:cNvPr id="16" name="anim:2:64"/>
          <p:cNvSpPr txBox="1"/>
          <p:nvPr/>
        </p:nvSpPr>
        <p:spPr>
          <a:xfrm>
            <a:off x="704088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Não dá para saber em qual escola está a vaga.</a:t>
            </a:r>
            <a:endParaRPr lang="en-US" sz="1300" dirty="0"/>
          </a:p>
        </p:txBody>
      </p:sp>
      <p:sp>
        <p:nvSpPr>
          <p:cNvPr id="17" name="anim:3:65"/>
          <p:cNvSpPr/>
          <p:nvPr/>
        </p:nvSpPr>
        <p:spPr>
          <a:xfrm>
            <a:off x="54864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66"/>
          <p:cNvSpPr/>
          <p:nvPr/>
        </p:nvSpPr>
        <p:spPr>
          <a:xfrm>
            <a:off x="777240" y="4023360"/>
            <a:ext cx="457200" cy="457200"/>
          </a:xfrm>
          <a:prstGeom prst="ellipse">
            <a:avLst/>
          </a:prstGeom>
          <a:solidFill>
            <a:srgbClr val="F2A541"/>
          </a:solidFill>
          <a:ln w="12700">
            <a:solidFill>
              <a:srgbClr val="F2A541"/>
            </a:solidFill>
            <a:prstDash val="solid"/>
          </a:ln>
        </p:spPr>
      </p:sp>
      <p:sp>
        <p:nvSpPr>
          <p:cNvPr id="19" name="anim:3:67"/>
          <p:cNvSpPr txBox="1"/>
          <p:nvPr/>
        </p:nvSpPr>
        <p:spPr>
          <a:xfrm>
            <a:off x="77724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20" name="anim:3:68"/>
          <p:cNvSpPr txBox="1"/>
          <p:nvPr/>
        </p:nvSpPr>
        <p:spPr>
          <a:xfrm>
            <a:off x="141732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Totais que não fecham</a:t>
            </a:r>
            <a:endParaRPr lang="en-US" sz="1700" dirty="0"/>
          </a:p>
        </p:txBody>
      </p:sp>
      <p:sp>
        <p:nvSpPr>
          <p:cNvPr id="21" name="anim:3:69"/>
          <p:cNvSpPr txBox="1"/>
          <p:nvPr/>
        </p:nvSpPr>
        <p:spPr>
          <a:xfrm>
            <a:off x="141732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de junho de 2023: a soma dos distritos dá 2.926 crianças com opção; o total publicado, 2.904.</a:t>
            </a:r>
            <a:endParaRPr lang="en-US" sz="1300" dirty="0"/>
          </a:p>
        </p:txBody>
      </p:sp>
      <p:sp>
        <p:nvSpPr>
          <p:cNvPr id="22" name="anim:3:70"/>
          <p:cNvSpPr txBox="1"/>
          <p:nvPr/>
        </p:nvSpPr>
        <p:spPr>
          <a:xfrm>
            <a:off x="141732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Cada área pode chegar a um número diferente.</a:t>
            </a:r>
            <a:endParaRPr lang="en-US" sz="1300" dirty="0"/>
          </a:p>
        </p:txBody>
      </p:sp>
      <p:sp>
        <p:nvSpPr>
          <p:cNvPr id="23" name="anim:4:71"/>
          <p:cNvSpPr/>
          <p:nvPr/>
        </p:nvSpPr>
        <p:spPr>
          <a:xfrm>
            <a:off x="617220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4:72"/>
          <p:cNvSpPr/>
          <p:nvPr/>
        </p:nvSpPr>
        <p:spPr>
          <a:xfrm>
            <a:off x="6400800" y="4023360"/>
            <a:ext cx="457200" cy="457200"/>
          </a:xfrm>
          <a:prstGeom prst="ellipse">
            <a:avLst/>
          </a:prstGeom>
          <a:solidFill>
            <a:srgbClr val="F2A541"/>
          </a:solidFill>
          <a:ln w="12700">
            <a:solidFill>
              <a:srgbClr val="F2A541"/>
            </a:solidFill>
            <a:prstDash val="solid"/>
          </a:ln>
        </p:spPr>
      </p:sp>
      <p:sp>
        <p:nvSpPr>
          <p:cNvPr id="25" name="anim:4:73"/>
          <p:cNvSpPr txBox="1"/>
          <p:nvPr/>
        </p:nvSpPr>
        <p:spPr>
          <a:xfrm>
            <a:off x="640080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6" name="anim:4:74"/>
          <p:cNvSpPr txBox="1"/>
          <p:nvPr/>
        </p:nvSpPr>
        <p:spPr>
          <a:xfrm>
            <a:off x="704088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Zero que não é zero</a:t>
            </a:r>
            <a:endParaRPr lang="en-US" sz="1700" dirty="0"/>
          </a:p>
        </p:txBody>
      </p:sp>
      <p:sp>
        <p:nvSpPr>
          <p:cNvPr id="27" name="anim:4:75"/>
          <p:cNvSpPr txBox="1"/>
          <p:nvPr/>
        </p:nvSpPr>
        <p:spPr>
          <a:xfrm>
            <a:off x="704088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Até setembro de 2020, a fila não separava quem esperava havia mais de 30 dias.</a:t>
            </a:r>
            <a:endParaRPr lang="en-US" sz="1300" dirty="0"/>
          </a:p>
        </p:txBody>
      </p:sp>
      <p:sp>
        <p:nvSpPr>
          <p:cNvPr id="28" name="anim:4:76"/>
          <p:cNvSpPr txBox="1"/>
          <p:nvPr/>
        </p:nvSpPr>
        <p:spPr>
          <a:xfrm>
            <a:off x="704088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Gravar zero faria essa espera sumir.</a:t>
            </a:r>
            <a:endParaRPr lang="en-US" sz="1300" dirty="0"/>
          </a:p>
        </p:txBody>
      </p:sp>
      <p:sp>
        <p:nvSpPr>
          <p:cNvPr id="29" name="Text 26"/>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nossa carga com os dados reais da SME-SP; o tratamento de cada caso está em docs/04 e no bloco 2.</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75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75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7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7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77"/>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78"/>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79"/>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80"/>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81"/>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82"/>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83"/>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84"/>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85"/>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86"/>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87"/>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88"/>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89"/>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90"/>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91"/>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Consultas mais confiáveis e mais rápidas</a:t>
            </a:r>
            <a:endParaRPr lang="en-US" sz="3200" dirty="0"/>
          </a:p>
        </p:txBody>
      </p:sp>
      <p:sp>
        <p:nvSpPr>
          <p:cNvPr id="5" name="anim:1:92"/>
          <p:cNvSpPr/>
          <p:nvPr/>
        </p:nvSpPr>
        <p:spPr>
          <a:xfrm>
            <a:off x="548640"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93"/>
          <p:cNvSpPr txBox="1"/>
          <p:nvPr/>
        </p:nvSpPr>
        <p:spPr>
          <a:xfrm>
            <a:off x="777240"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7" name="anim:1:94"/>
          <p:cNvSpPr txBox="1"/>
          <p:nvPr/>
        </p:nvSpPr>
        <p:spPr>
          <a:xfrm>
            <a:off x="777240"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0,42 s</a:t>
            </a:r>
            <a:endParaRPr lang="en-US" sz="3400" dirty="0"/>
          </a:p>
        </p:txBody>
      </p:sp>
      <p:sp>
        <p:nvSpPr>
          <p:cNvPr id="8" name="anim:1:95"/>
          <p:cNvSpPr txBox="1"/>
          <p:nvPr/>
        </p:nvSpPr>
        <p:spPr>
          <a:xfrm>
            <a:off x="777240"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as oito consultas OLAP, somadas, sobre 13,4 milhões de matrículas</a:t>
            </a:r>
            <a:endParaRPr lang="en-US" sz="1300" dirty="0"/>
          </a:p>
        </p:txBody>
      </p:sp>
      <p:sp>
        <p:nvSpPr>
          <p:cNvPr id="9" name="anim:2:96"/>
          <p:cNvSpPr/>
          <p:nvPr/>
        </p:nvSpPr>
        <p:spPr>
          <a:xfrm>
            <a:off x="3364992"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0" name="anim:2:97"/>
          <p:cNvSpPr txBox="1"/>
          <p:nvPr/>
        </p:nvSpPr>
        <p:spPr>
          <a:xfrm>
            <a:off x="3593592"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11" name="anim:2:98"/>
          <p:cNvSpPr txBox="1"/>
          <p:nvPr/>
        </p:nvSpPr>
        <p:spPr>
          <a:xfrm>
            <a:off x="3593592"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3,5 min</a:t>
            </a:r>
            <a:endParaRPr lang="en-US" sz="3400" dirty="0"/>
          </a:p>
        </p:txBody>
      </p:sp>
      <p:sp>
        <p:nvSpPr>
          <p:cNvPr id="12" name="anim:2:99"/>
          <p:cNvSpPr txBox="1"/>
          <p:nvPr/>
        </p:nvSpPr>
        <p:spPr>
          <a:xfrm>
            <a:off x="3593592"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carregar tudo no banco, com um comando</a:t>
            </a:r>
            <a:endParaRPr lang="en-US" sz="1300" dirty="0"/>
          </a:p>
        </p:txBody>
      </p:sp>
      <p:sp>
        <p:nvSpPr>
          <p:cNvPr id="13" name="anim:3:100"/>
          <p:cNvSpPr/>
          <p:nvPr/>
        </p:nvSpPr>
        <p:spPr>
          <a:xfrm>
            <a:off x="6181344"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3:101"/>
          <p:cNvSpPr txBox="1"/>
          <p:nvPr/>
        </p:nvSpPr>
        <p:spPr>
          <a:xfrm>
            <a:off x="6409944"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5" name="anim:3:102"/>
          <p:cNvSpPr txBox="1"/>
          <p:nvPr/>
        </p:nvSpPr>
        <p:spPr>
          <a:xfrm>
            <a:off x="6409944"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14</a:t>
            </a:r>
            <a:endParaRPr lang="en-US" sz="3400" dirty="0"/>
          </a:p>
        </p:txBody>
      </p:sp>
      <p:sp>
        <p:nvSpPr>
          <p:cNvPr id="16" name="anim:3:103"/>
          <p:cNvSpPr txBox="1"/>
          <p:nvPr/>
        </p:nvSpPr>
        <p:spPr>
          <a:xfrm>
            <a:off x="6409944"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verificações a cada carga; nenhuma FALHA na carga real</a:t>
            </a:r>
            <a:endParaRPr lang="en-US" sz="1300" dirty="0"/>
          </a:p>
        </p:txBody>
      </p:sp>
      <p:sp>
        <p:nvSpPr>
          <p:cNvPr id="17" name="anim:4:104"/>
          <p:cNvSpPr/>
          <p:nvPr/>
        </p:nvSpPr>
        <p:spPr>
          <a:xfrm>
            <a:off x="8997696"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4:105"/>
          <p:cNvSpPr txBox="1"/>
          <p:nvPr/>
        </p:nvSpPr>
        <p:spPr>
          <a:xfrm>
            <a:off x="9226296"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9" name="anim:4:106"/>
          <p:cNvSpPr txBox="1"/>
          <p:nvPr/>
        </p:nvSpPr>
        <p:spPr>
          <a:xfrm>
            <a:off x="9226296"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&lt; 1%</a:t>
            </a:r>
            <a:endParaRPr lang="en-US" sz="3400" dirty="0"/>
          </a:p>
        </p:txBody>
      </p:sp>
      <p:sp>
        <p:nvSpPr>
          <p:cNvPr id="20" name="anim:4:107"/>
          <p:cNvSpPr txBox="1"/>
          <p:nvPr/>
        </p:nvSpPr>
        <p:spPr>
          <a:xfrm>
            <a:off x="9226296"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de diferença entre as bases da SME de 2015 a 2020; depois, a diferença fica à vista</a:t>
            </a:r>
            <a:endParaRPr lang="en-US" sz="1300" dirty="0"/>
          </a:p>
        </p:txBody>
      </p:sp>
      <p:sp>
        <p:nvSpPr>
          <p:cNvPr id="21" name="anim:5:108"/>
          <p:cNvSpPr/>
          <p:nvPr/>
        </p:nvSpPr>
        <p:spPr>
          <a:xfrm>
            <a:off x="548640" y="4343400"/>
            <a:ext cx="11064240" cy="1371600"/>
          </a:xfrm>
          <a:prstGeom prst="roundRect">
            <a:avLst>
              <a:gd name="adj" fmla="val 8000"/>
            </a:avLst>
          </a:prstGeom>
          <a:solidFill>
            <a:srgbClr val="EEF2F8"/>
          </a:solidFill>
          <a:ln w="9525">
            <a:solidFill>
              <a:srgbClr val="EEF2F8"/>
            </a:solidFill>
            <a:prstDash val="solid"/>
          </a:ln>
        </p:spPr>
      </p:sp>
      <p:sp>
        <p:nvSpPr>
          <p:cNvPr id="22" name="anim:5:109"/>
          <p:cNvSpPr/>
          <p:nvPr/>
        </p:nvSpPr>
        <p:spPr>
          <a:xfrm>
            <a:off x="777240" y="4599432"/>
            <a:ext cx="512064" cy="512064"/>
          </a:xfrm>
          <a:prstGeom prst="ellipse">
            <a:avLst/>
          </a:prstGeom>
          <a:solidFill>
            <a:srgbClr val="F2A541"/>
          </a:solidFill>
          <a:ln w="12700">
            <a:solidFill>
              <a:srgbClr val="F2A541"/>
            </a:solidFill>
            <a:prstDash val="solid"/>
          </a:ln>
        </p:spPr>
      </p:sp>
      <p:sp>
        <p:nvSpPr>
          <p:cNvPr id="23" name="anim:5:110"/>
          <p:cNvSpPr txBox="1"/>
          <p:nvPr/>
        </p:nvSpPr>
        <p:spPr>
          <a:xfrm>
            <a:off x="777240" y="4599432"/>
            <a:ext cx="512064" cy="512064"/>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24" name="anim:5:111"/>
          <p:cNvSpPr txBox="1"/>
          <p:nvPr/>
        </p:nvSpPr>
        <p:spPr>
          <a:xfrm>
            <a:off x="1508760" y="4553712"/>
            <a:ext cx="98755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Uma linguagem só</a:t>
            </a:r>
            <a:endParaRPr lang="en-US" sz="1700" dirty="0"/>
          </a:p>
        </p:txBody>
      </p:sp>
      <p:sp>
        <p:nvSpPr>
          <p:cNvPr id="25" name="anim:5:112"/>
          <p:cNvSpPr txBox="1"/>
          <p:nvPr/>
        </p:nvSpPr>
        <p:spPr>
          <a:xfrm>
            <a:off x="1508760" y="4937760"/>
            <a:ext cx="9875520" cy="91440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Distrito, etapa e idade com a mesma representação nas três bases; nulo quer dizer não publicado, nunca zero; a contagem em dobro do microdado fica ao lado da matrícula da planilha, sem se misturar. A Secretaria e as 13 Diretorias olham o mesmo número.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0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Do dado à vaga: como a fila pode cair mais</a:t>
            </a:r>
            <a:endParaRPr lang="en-US" sz="3200" dirty="0"/>
          </a:p>
        </p:txBody>
      </p:sp>
      <p:sp>
        <p:nvSpPr>
          <p:cNvPr id="5" name="anim:1:113"/>
          <p:cNvSpPr/>
          <p:nvPr/>
        </p:nvSpPr>
        <p:spPr>
          <a:xfrm>
            <a:off x="548640"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1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11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116"/>
          <p:cNvSpPr txBox="1"/>
          <p:nvPr/>
        </p:nvSpPr>
        <p:spPr>
          <a:xfrm>
            <a:off x="777240"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Medir</a:t>
            </a:r>
            <a:endParaRPr lang="en-US" sz="1900" dirty="0"/>
          </a:p>
        </p:txBody>
      </p:sp>
      <p:sp>
        <p:nvSpPr>
          <p:cNvPr id="9" name="anim:1:117"/>
          <p:cNvSpPr txBox="1"/>
          <p:nvPr/>
        </p:nvSpPr>
        <p:spPr>
          <a:xfrm>
            <a:off x="777240"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fila de cada distrito e etapa, a cada publicação, separando quem espera uma unidade específica.</a:t>
            </a:r>
            <a:endParaRPr lang="en-US" sz="1400" dirty="0"/>
          </a:p>
        </p:txBody>
      </p:sp>
      <p:sp>
        <p:nvSpPr>
          <p:cNvPr id="10" name="anim:1:118"/>
          <p:cNvSpPr/>
          <p:nvPr/>
        </p:nvSpPr>
        <p:spPr>
          <a:xfrm>
            <a:off x="777240" y="4343400"/>
            <a:ext cx="1097280" cy="310896"/>
          </a:xfrm>
          <a:prstGeom prst="roundRect">
            <a:avLst>
              <a:gd name="adj" fmla="val 50000"/>
            </a:avLst>
          </a:prstGeom>
          <a:solidFill>
            <a:srgbClr val="2E5EAA"/>
          </a:solidFill>
          <a:ln w="12700">
            <a:solidFill>
              <a:srgbClr val="2E5EAA"/>
            </a:solidFill>
            <a:prstDash val="solid"/>
          </a:ln>
        </p:spPr>
      </p:sp>
      <p:sp>
        <p:nvSpPr>
          <p:cNvPr id="11" name="anim:1:119"/>
          <p:cNvSpPr txBox="1"/>
          <p:nvPr/>
        </p:nvSpPr>
        <p:spPr>
          <a:xfrm>
            <a:off x="777240" y="4343400"/>
            <a:ext cx="10972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fato Fila</a:t>
            </a:r>
            <a:endParaRPr lang="en-US" sz="1200" dirty="0"/>
          </a:p>
        </p:txBody>
      </p:sp>
      <p:sp>
        <p:nvSpPr>
          <p:cNvPr id="12" name="anim:1:120"/>
          <p:cNvSpPr/>
          <p:nvPr/>
        </p:nvSpPr>
        <p:spPr>
          <a:xfrm>
            <a:off x="3118104" y="3108960"/>
            <a:ext cx="219456" cy="274320"/>
          </a:xfrm>
          <a:prstGeom prst="rightArrow">
            <a:avLst/>
          </a:prstGeom>
          <a:solidFill>
            <a:srgbClr val="F2A541"/>
          </a:solidFill>
          <a:ln w="12700">
            <a:solidFill>
              <a:srgbClr val="F2A541"/>
            </a:solidFill>
            <a:prstDash val="solid"/>
          </a:ln>
        </p:spPr>
      </p:sp>
      <p:sp>
        <p:nvSpPr>
          <p:cNvPr id="13" name="anim:2:121"/>
          <p:cNvSpPr/>
          <p:nvPr/>
        </p:nvSpPr>
        <p:spPr>
          <a:xfrm>
            <a:off x="3364992"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12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12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124"/>
          <p:cNvSpPr txBox="1"/>
          <p:nvPr/>
        </p:nvSpPr>
        <p:spPr>
          <a:xfrm>
            <a:off x="3593592"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Localizar</a:t>
            </a:r>
            <a:endParaRPr lang="en-US" sz="1900" dirty="0"/>
          </a:p>
        </p:txBody>
      </p:sp>
      <p:sp>
        <p:nvSpPr>
          <p:cNvPr id="17" name="anim:2:125"/>
          <p:cNvSpPr txBox="1"/>
          <p:nvPr/>
        </p:nvSpPr>
        <p:spPr>
          <a:xfrm>
            <a:off x="3593592"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Onde a fila resiste e onde a oferta por criança é menor.</a:t>
            </a:r>
            <a:endParaRPr lang="en-US" sz="1400" dirty="0"/>
          </a:p>
        </p:txBody>
      </p:sp>
      <p:sp>
        <p:nvSpPr>
          <p:cNvPr id="18" name="anim:2:126"/>
          <p:cNvSpPr/>
          <p:nvPr/>
        </p:nvSpPr>
        <p:spPr>
          <a:xfrm>
            <a:off x="3593592" y="4343400"/>
            <a:ext cx="566928" cy="310896"/>
          </a:xfrm>
          <a:prstGeom prst="roundRect">
            <a:avLst>
              <a:gd name="adj" fmla="val 50000"/>
            </a:avLst>
          </a:prstGeom>
          <a:solidFill>
            <a:srgbClr val="2E5EAA"/>
          </a:solidFill>
          <a:ln w="12700">
            <a:solidFill>
              <a:srgbClr val="2E5EAA"/>
            </a:solidFill>
            <a:prstDash val="solid"/>
          </a:ln>
        </p:spPr>
      </p:sp>
      <p:sp>
        <p:nvSpPr>
          <p:cNvPr id="19" name="anim:2:127"/>
          <p:cNvSpPr txBox="1"/>
          <p:nvPr/>
        </p:nvSpPr>
        <p:spPr>
          <a:xfrm>
            <a:off x="359359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20" name="anim:2:128"/>
          <p:cNvSpPr/>
          <p:nvPr/>
        </p:nvSpPr>
        <p:spPr>
          <a:xfrm>
            <a:off x="4251960" y="4343400"/>
            <a:ext cx="566928" cy="310896"/>
          </a:xfrm>
          <a:prstGeom prst="roundRect">
            <a:avLst>
              <a:gd name="adj" fmla="val 50000"/>
            </a:avLst>
          </a:prstGeom>
          <a:solidFill>
            <a:srgbClr val="2E5EAA"/>
          </a:solidFill>
          <a:ln w="12700">
            <a:solidFill>
              <a:srgbClr val="2E5EAA"/>
            </a:solidFill>
            <a:prstDash val="solid"/>
          </a:ln>
        </p:spPr>
      </p:sp>
      <p:sp>
        <p:nvSpPr>
          <p:cNvPr id="21" name="anim:2:129"/>
          <p:cNvSpPr txBox="1"/>
          <p:nvPr/>
        </p:nvSpPr>
        <p:spPr>
          <a:xfrm>
            <a:off x="425196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22" name="anim:2:130"/>
          <p:cNvSpPr/>
          <p:nvPr/>
        </p:nvSpPr>
        <p:spPr>
          <a:xfrm>
            <a:off x="4910328" y="4343400"/>
            <a:ext cx="566928" cy="310896"/>
          </a:xfrm>
          <a:prstGeom prst="roundRect">
            <a:avLst>
              <a:gd name="adj" fmla="val 50000"/>
            </a:avLst>
          </a:prstGeom>
          <a:solidFill>
            <a:srgbClr val="2E5EAA"/>
          </a:solidFill>
          <a:ln w="12700">
            <a:solidFill>
              <a:srgbClr val="2E5EAA"/>
            </a:solidFill>
            <a:prstDash val="solid"/>
          </a:ln>
        </p:spPr>
      </p:sp>
      <p:sp>
        <p:nvSpPr>
          <p:cNvPr id="23" name="anim:2:131"/>
          <p:cNvSpPr txBox="1"/>
          <p:nvPr/>
        </p:nvSpPr>
        <p:spPr>
          <a:xfrm>
            <a:off x="4910328"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24" name="anim:2:132"/>
          <p:cNvSpPr/>
          <p:nvPr/>
        </p:nvSpPr>
        <p:spPr>
          <a:xfrm>
            <a:off x="5934456" y="3108960"/>
            <a:ext cx="219456" cy="274320"/>
          </a:xfrm>
          <a:prstGeom prst="rightArrow">
            <a:avLst/>
          </a:prstGeom>
          <a:solidFill>
            <a:srgbClr val="F2A541"/>
          </a:solidFill>
          <a:ln w="12700">
            <a:solidFill>
              <a:srgbClr val="F2A541"/>
            </a:solidFill>
            <a:prstDash val="solid"/>
          </a:ln>
        </p:spPr>
      </p:sp>
      <p:sp>
        <p:nvSpPr>
          <p:cNvPr id="25" name="anim:3:133"/>
          <p:cNvSpPr/>
          <p:nvPr/>
        </p:nvSpPr>
        <p:spPr>
          <a:xfrm>
            <a:off x="6181344"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134"/>
          <p:cNvSpPr/>
          <p:nvPr/>
        </p:nvSpPr>
        <p:spPr>
          <a:xfrm>
            <a:off x="6409944" y="1810512"/>
            <a:ext cx="502920" cy="502920"/>
          </a:xfrm>
          <a:prstGeom prst="ellipse">
            <a:avLst/>
          </a:prstGeom>
          <a:solidFill>
            <a:srgbClr val="F2A541"/>
          </a:solidFill>
          <a:ln w="12700">
            <a:solidFill>
              <a:srgbClr val="F2A541"/>
            </a:solidFill>
            <a:prstDash val="solid"/>
          </a:ln>
        </p:spPr>
      </p:sp>
      <p:sp>
        <p:nvSpPr>
          <p:cNvPr id="27" name="anim:3:135"/>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136"/>
          <p:cNvSpPr txBox="1"/>
          <p:nvPr/>
        </p:nvSpPr>
        <p:spPr>
          <a:xfrm>
            <a:off x="6409944"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Decidir</a:t>
            </a:r>
            <a:endParaRPr lang="en-US" sz="1900" dirty="0"/>
          </a:p>
        </p:txBody>
      </p:sp>
      <p:sp>
        <p:nvSpPr>
          <p:cNvPr id="29" name="anim:3:137"/>
          <p:cNvSpPr txBox="1"/>
          <p:nvPr/>
        </p:nvSpPr>
        <p:spPr>
          <a:xfrm>
            <a:off x="6409944"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Turma nova ou lugar ocioso, pela ocupação das turmas, e por qual rede abrir a vaga.</a:t>
            </a:r>
            <a:endParaRPr lang="en-US" sz="1400" dirty="0"/>
          </a:p>
        </p:txBody>
      </p:sp>
      <p:sp>
        <p:nvSpPr>
          <p:cNvPr id="30" name="anim:3:138"/>
          <p:cNvSpPr/>
          <p:nvPr/>
        </p:nvSpPr>
        <p:spPr>
          <a:xfrm>
            <a:off x="6409944" y="4343400"/>
            <a:ext cx="566928" cy="310896"/>
          </a:xfrm>
          <a:prstGeom prst="roundRect">
            <a:avLst>
              <a:gd name="adj" fmla="val 50000"/>
            </a:avLst>
          </a:prstGeom>
          <a:solidFill>
            <a:srgbClr val="2E5EAA"/>
          </a:solidFill>
          <a:ln w="12700">
            <a:solidFill>
              <a:srgbClr val="2E5EAA"/>
            </a:solidFill>
            <a:prstDash val="solid"/>
          </a:ln>
        </p:spPr>
      </p:sp>
      <p:sp>
        <p:nvSpPr>
          <p:cNvPr id="31" name="anim:3:139"/>
          <p:cNvSpPr txBox="1"/>
          <p:nvPr/>
        </p:nvSpPr>
        <p:spPr>
          <a:xfrm>
            <a:off x="640994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32" name="anim:3:140"/>
          <p:cNvSpPr/>
          <p:nvPr/>
        </p:nvSpPr>
        <p:spPr>
          <a:xfrm>
            <a:off x="7068312" y="4343400"/>
            <a:ext cx="566928" cy="310896"/>
          </a:xfrm>
          <a:prstGeom prst="roundRect">
            <a:avLst>
              <a:gd name="adj" fmla="val 50000"/>
            </a:avLst>
          </a:prstGeom>
          <a:solidFill>
            <a:srgbClr val="2E5EAA"/>
          </a:solidFill>
          <a:ln w="12700">
            <a:solidFill>
              <a:srgbClr val="2E5EAA"/>
            </a:solidFill>
            <a:prstDash val="solid"/>
          </a:ln>
        </p:spPr>
      </p:sp>
      <p:sp>
        <p:nvSpPr>
          <p:cNvPr id="33" name="anim:3:141"/>
          <p:cNvSpPr txBox="1"/>
          <p:nvPr/>
        </p:nvSpPr>
        <p:spPr>
          <a:xfrm>
            <a:off x="706831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34" name="anim:3:142"/>
          <p:cNvSpPr/>
          <p:nvPr/>
        </p:nvSpPr>
        <p:spPr>
          <a:xfrm>
            <a:off x="7726680" y="4343400"/>
            <a:ext cx="566928" cy="310896"/>
          </a:xfrm>
          <a:prstGeom prst="roundRect">
            <a:avLst>
              <a:gd name="adj" fmla="val 50000"/>
            </a:avLst>
          </a:prstGeom>
          <a:solidFill>
            <a:srgbClr val="2E5EAA"/>
          </a:solidFill>
          <a:ln w="12700">
            <a:solidFill>
              <a:srgbClr val="2E5EAA"/>
            </a:solidFill>
            <a:prstDash val="solid"/>
          </a:ln>
        </p:spPr>
      </p:sp>
      <p:sp>
        <p:nvSpPr>
          <p:cNvPr id="35" name="anim:3:143"/>
          <p:cNvSpPr txBox="1"/>
          <p:nvPr/>
        </p:nvSpPr>
        <p:spPr>
          <a:xfrm>
            <a:off x="772668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6" name="anim:3:144"/>
          <p:cNvSpPr/>
          <p:nvPr/>
        </p:nvSpPr>
        <p:spPr>
          <a:xfrm>
            <a:off x="8750808" y="3108960"/>
            <a:ext cx="219456" cy="274320"/>
          </a:xfrm>
          <a:prstGeom prst="rightArrow">
            <a:avLst/>
          </a:prstGeom>
          <a:solidFill>
            <a:srgbClr val="F2A541"/>
          </a:solidFill>
          <a:ln w="12700">
            <a:solidFill>
              <a:srgbClr val="F2A541"/>
            </a:solidFill>
            <a:prstDash val="solid"/>
          </a:ln>
        </p:spPr>
      </p:sp>
      <p:sp>
        <p:nvSpPr>
          <p:cNvPr id="37" name="anim:4:145"/>
          <p:cNvSpPr/>
          <p:nvPr/>
        </p:nvSpPr>
        <p:spPr>
          <a:xfrm>
            <a:off x="8997696"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8" name="anim:4:146"/>
          <p:cNvSpPr/>
          <p:nvPr/>
        </p:nvSpPr>
        <p:spPr>
          <a:xfrm>
            <a:off x="9226296" y="1810512"/>
            <a:ext cx="502920" cy="502920"/>
          </a:xfrm>
          <a:prstGeom prst="ellipse">
            <a:avLst/>
          </a:prstGeom>
          <a:solidFill>
            <a:srgbClr val="F2A541"/>
          </a:solidFill>
          <a:ln w="12700">
            <a:solidFill>
              <a:srgbClr val="F2A541"/>
            </a:solidFill>
            <a:prstDash val="solid"/>
          </a:ln>
        </p:spPr>
      </p:sp>
      <p:sp>
        <p:nvSpPr>
          <p:cNvPr id="39" name="anim:4:147"/>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40" name="anim:4:148"/>
          <p:cNvSpPr txBox="1"/>
          <p:nvPr/>
        </p:nvSpPr>
        <p:spPr>
          <a:xfrm>
            <a:off x="9226296"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Acompanhar</a:t>
            </a:r>
            <a:endParaRPr lang="en-US" sz="1900" dirty="0"/>
          </a:p>
        </p:txBody>
      </p:sp>
      <p:sp>
        <p:nvSpPr>
          <p:cNvPr id="41" name="anim:4:149"/>
          <p:cNvSpPr txBox="1"/>
          <p:nvPr/>
        </p:nvSpPr>
        <p:spPr>
          <a:xfrm>
            <a:off x="9226296"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publicação seguinte mostra se a fila do distrito caiu; o ciclo recomeça.</a:t>
            </a:r>
            <a:endParaRPr lang="en-US" sz="1400" dirty="0"/>
          </a:p>
        </p:txBody>
      </p:sp>
      <p:sp>
        <p:nvSpPr>
          <p:cNvPr id="42" name="anim:4:150"/>
          <p:cNvSpPr/>
          <p:nvPr/>
        </p:nvSpPr>
        <p:spPr>
          <a:xfrm>
            <a:off x="9226296" y="4343400"/>
            <a:ext cx="566928" cy="310896"/>
          </a:xfrm>
          <a:prstGeom prst="roundRect">
            <a:avLst>
              <a:gd name="adj" fmla="val 50000"/>
            </a:avLst>
          </a:prstGeom>
          <a:solidFill>
            <a:srgbClr val="2E5EAA"/>
          </a:solidFill>
          <a:ln w="12700">
            <a:solidFill>
              <a:srgbClr val="2E5EAA"/>
            </a:solidFill>
            <a:prstDash val="solid"/>
          </a:ln>
        </p:spPr>
      </p:sp>
      <p:sp>
        <p:nvSpPr>
          <p:cNvPr id="43" name="anim:4:151"/>
          <p:cNvSpPr txBox="1"/>
          <p:nvPr/>
        </p:nvSpPr>
        <p:spPr>
          <a:xfrm>
            <a:off x="9226296"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44" name="anim:4:152"/>
          <p:cNvSpPr/>
          <p:nvPr/>
        </p:nvSpPr>
        <p:spPr>
          <a:xfrm>
            <a:off x="9884664" y="4343400"/>
            <a:ext cx="566928" cy="310896"/>
          </a:xfrm>
          <a:prstGeom prst="roundRect">
            <a:avLst>
              <a:gd name="adj" fmla="val 50000"/>
            </a:avLst>
          </a:prstGeom>
          <a:solidFill>
            <a:srgbClr val="2E5EAA"/>
          </a:solidFill>
          <a:ln w="12700">
            <a:solidFill>
              <a:srgbClr val="2E5EAA"/>
            </a:solidFill>
            <a:prstDash val="solid"/>
          </a:ln>
        </p:spPr>
      </p:sp>
      <p:sp>
        <p:nvSpPr>
          <p:cNvPr id="45" name="anim:4:153"/>
          <p:cNvSpPr txBox="1"/>
          <p:nvPr/>
        </p:nvSpPr>
        <p:spPr>
          <a:xfrm>
            <a:off x="988466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46" name="anim:5:154"/>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47" name="anim:5:155"/>
          <p:cNvSpPr/>
          <p:nvPr/>
        </p:nvSpPr>
        <p:spPr>
          <a:xfrm>
            <a:off x="777240" y="5321808"/>
            <a:ext cx="512064" cy="512064"/>
          </a:xfrm>
          <a:prstGeom prst="ellipse">
            <a:avLst/>
          </a:prstGeom>
          <a:solidFill>
            <a:srgbClr val="F2A541"/>
          </a:solidFill>
          <a:ln w="12700">
            <a:solidFill>
              <a:srgbClr val="F2A541"/>
            </a:solidFill>
            <a:prstDash val="solid"/>
          </a:ln>
        </p:spPr>
      </p:sp>
      <p:sp>
        <p:nvSpPr>
          <p:cNvPr id="48" name="anim:5:156"/>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9" name="anim:5:157"/>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Quase sete em cada dez crianças da fila de creche esperavam uma unidade específica: </a:t>
            </a:r>
            <a:pPr indent="0" marL="0">
              <a:buNone/>
            </a:pPr>
            <a:r>
              <a:rPr lang="en-US" sz="1500" dirty="0">
                <a:solidFill>
                  <a:srgbClr val="1F2937"/>
                </a:solidFill>
                <a:latin typeface="Calibri" pitchFamily="34" charset="0"/>
                <a:ea typeface="Calibri" pitchFamily="34" charset="-122"/>
                <a:cs typeface="Calibri" pitchFamily="34" charset="-120"/>
              </a:rPr>
              <a:t>falta vaga no lugar certo, e é isso que o ciclo procura.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50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5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100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158"/>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59"/>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60"/>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61"/>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62"/>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63"/>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64"/>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65"/>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66"/>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67"/>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68"/>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69"/>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70"/>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71"/>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72"/>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73"/>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74"/>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75"/>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76"/>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77"/>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78"/>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79"/>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80"/>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81"/>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82"/>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83"/>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84"/>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85"/>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86"/>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87"/>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88"/>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89"/>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90"/>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91"/>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92"/>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93"/>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94"/>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95"/>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96"/>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97"/>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98"/>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99"/>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200"/>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537"/>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38"/>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539"/>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540"/>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541"/>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11</a:t>
            </a:r>
            <a:endParaRPr lang="en-US" sz="1200" dirty="0"/>
          </a:p>
        </p:txBody>
      </p:sp>
      <p:sp>
        <p:nvSpPr>
          <p:cNvPr id="10" name="anim:1:542"/>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543"/>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 fila que ainda existe, a proposta, os ganhos, São Paulo e os assuntos.</a:t>
            </a:r>
            <a:endParaRPr lang="en-US" sz="1300" dirty="0"/>
          </a:p>
        </p:txBody>
      </p:sp>
      <p:sp>
        <p:nvSpPr>
          <p:cNvPr id="12" name="anim:1:544"/>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545"/>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546"/>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547"/>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548"/>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549"/>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12 a 17</a:t>
            </a:r>
            <a:endParaRPr lang="en-US" sz="1200" dirty="0"/>
          </a:p>
        </p:txBody>
      </p:sp>
      <p:sp>
        <p:nvSpPr>
          <p:cNvPr id="18" name="anim:2:550"/>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551"/>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552"/>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553"/>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554"/>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555"/>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556"/>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557"/>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18 a 22</a:t>
            </a:r>
            <a:endParaRPr lang="en-US" sz="1200" dirty="0"/>
          </a:p>
        </p:txBody>
      </p:sp>
      <p:sp>
        <p:nvSpPr>
          <p:cNvPr id="26" name="anim:3:558"/>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559"/>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560"/>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561"/>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562"/>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563"/>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564"/>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565"/>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23 a 29</a:t>
            </a:r>
            <a:endParaRPr lang="en-US" sz="1200" dirty="0"/>
          </a:p>
        </p:txBody>
      </p:sp>
      <p:sp>
        <p:nvSpPr>
          <p:cNvPr id="34" name="anim:4:566"/>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567"/>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um exemplo de onde abrir vaga.</a:t>
            </a:r>
            <a:endParaRPr lang="en-US" sz="1300" dirty="0"/>
          </a:p>
        </p:txBody>
      </p:sp>
      <p:sp>
        <p:nvSpPr>
          <p:cNvPr id="36" name="anim:5:568"/>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569"/>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570"/>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571"/>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adoção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três perguntas sobre cada distrito</a:t>
            </a:r>
            <a:endParaRPr lang="en-US" sz="3200" dirty="0"/>
          </a:p>
        </p:txBody>
      </p:sp>
      <p:sp>
        <p:nvSpPr>
          <p:cNvPr id="5" name="anim:1:201"/>
          <p:cNvSpPr/>
          <p:nvPr/>
        </p:nvSpPr>
        <p:spPr>
          <a:xfrm>
            <a:off x="54864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02"/>
          <p:cNvSpPr txBox="1"/>
          <p:nvPr/>
        </p:nvSpPr>
        <p:spPr>
          <a:xfrm>
            <a:off x="82296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ANUAL</a:t>
            </a:r>
            <a:endParaRPr lang="en-US" sz="1000" dirty="0"/>
          </a:p>
        </p:txBody>
      </p:sp>
      <p:sp>
        <p:nvSpPr>
          <p:cNvPr id="7" name="anim:1:203"/>
          <p:cNvSpPr txBox="1"/>
          <p:nvPr/>
        </p:nvSpPr>
        <p:spPr>
          <a:xfrm>
            <a:off x="82296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já tem vaga?</a:t>
            </a:r>
            <a:endParaRPr lang="en-US" sz="1900" dirty="0"/>
          </a:p>
        </p:txBody>
      </p:sp>
      <p:sp>
        <p:nvSpPr>
          <p:cNvPr id="8" name="anim:1:204"/>
          <p:cNvSpPr txBox="1"/>
          <p:nvPr/>
        </p:nvSpPr>
        <p:spPr>
          <a:xfrm>
            <a:off x="82296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Microdados de Matrículas</a:t>
            </a:r>
            <a:endParaRPr lang="en-US" sz="1200" dirty="0"/>
          </a:p>
        </p:txBody>
      </p:sp>
      <p:sp>
        <p:nvSpPr>
          <p:cNvPr id="9" name="anim:1:205"/>
          <p:cNvSpPr txBox="1"/>
          <p:nvPr/>
        </p:nvSpPr>
        <p:spPr>
          <a:xfrm>
            <a:off x="82296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13,4 mi</a:t>
            </a:r>
            <a:endParaRPr lang="en-US" sz="3200" dirty="0"/>
          </a:p>
        </p:txBody>
      </p:sp>
      <p:sp>
        <p:nvSpPr>
          <p:cNvPr id="10" name="anim:1:206"/>
          <p:cNvSpPr txBox="1"/>
          <p:nvPr/>
        </p:nvSpPr>
        <p:spPr>
          <a:xfrm>
            <a:off x="82296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matrículas, 2015 a 2024</a:t>
            </a:r>
            <a:endParaRPr lang="en-US" sz="1200" dirty="0"/>
          </a:p>
        </p:txBody>
      </p:sp>
      <p:sp>
        <p:nvSpPr>
          <p:cNvPr id="11" name="anim:1:207"/>
          <p:cNvSpPr/>
          <p:nvPr/>
        </p:nvSpPr>
        <p:spPr>
          <a:xfrm>
            <a:off x="822960" y="3657600"/>
            <a:ext cx="3017520" cy="0"/>
          </a:xfrm>
          <a:prstGeom prst="line">
            <a:avLst/>
          </a:prstGeom>
          <a:noFill/>
          <a:ln w="9525">
            <a:solidFill>
              <a:srgbClr val="D6E0F0"/>
            </a:solidFill>
            <a:prstDash val="solid"/>
          </a:ln>
        </p:spPr>
      </p:sp>
      <p:sp>
        <p:nvSpPr>
          <p:cNvPr id="12" name="anim:1:208"/>
          <p:cNvSpPr txBox="1"/>
          <p:nvPr/>
        </p:nvSpPr>
        <p:spPr>
          <a:xfrm>
            <a:off x="82296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13" name="anim:1:209"/>
          <p:cNvSpPr txBox="1"/>
          <p:nvPr/>
        </p:nvSpPr>
        <p:spPr>
          <a:xfrm>
            <a:off x="82296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aluno numa turma, num ano letivo</a:t>
            </a:r>
            <a:endParaRPr lang="en-US" sz="1400" dirty="0"/>
          </a:p>
        </p:txBody>
      </p:sp>
      <p:sp>
        <p:nvSpPr>
          <p:cNvPr id="14" name="anim:2:210"/>
          <p:cNvSpPr/>
          <p:nvPr/>
        </p:nvSpPr>
        <p:spPr>
          <a:xfrm>
            <a:off x="429768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5" name="anim:2:211"/>
          <p:cNvSpPr txBox="1"/>
          <p:nvPr/>
        </p:nvSpPr>
        <p:spPr>
          <a:xfrm>
            <a:off x="457200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TRIMESTRAL E BIMESTRAL</a:t>
            </a:r>
            <a:endParaRPr lang="en-US" sz="1000" dirty="0"/>
          </a:p>
        </p:txBody>
      </p:sp>
      <p:sp>
        <p:nvSpPr>
          <p:cNvPr id="16" name="anim:2:212"/>
          <p:cNvSpPr txBox="1"/>
          <p:nvPr/>
        </p:nvSpPr>
        <p:spPr>
          <a:xfrm>
            <a:off x="457200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espera vaga?</a:t>
            </a:r>
            <a:endParaRPr lang="en-US" sz="1900" dirty="0"/>
          </a:p>
        </p:txBody>
      </p:sp>
      <p:sp>
        <p:nvSpPr>
          <p:cNvPr id="17" name="anim:2:213"/>
          <p:cNvSpPr txBox="1"/>
          <p:nvPr/>
        </p:nvSpPr>
        <p:spPr>
          <a:xfrm>
            <a:off x="457200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Demanda Registrada e Matrículas</a:t>
            </a:r>
            <a:endParaRPr lang="en-US" sz="1200" dirty="0"/>
          </a:p>
        </p:txBody>
      </p:sp>
      <p:sp>
        <p:nvSpPr>
          <p:cNvPr id="18" name="anim:2:214"/>
          <p:cNvSpPr txBox="1"/>
          <p:nvPr/>
        </p:nvSpPr>
        <p:spPr>
          <a:xfrm>
            <a:off x="457200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44 meses</a:t>
            </a:r>
            <a:endParaRPr lang="en-US" sz="3200" dirty="0"/>
          </a:p>
        </p:txBody>
      </p:sp>
      <p:sp>
        <p:nvSpPr>
          <p:cNvPr id="19" name="anim:2:215"/>
          <p:cNvSpPr txBox="1"/>
          <p:nvPr/>
        </p:nvSpPr>
        <p:spPr>
          <a:xfrm>
            <a:off x="457200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 fila, 96 distritos em cada mês</a:t>
            </a:r>
            <a:endParaRPr lang="en-US" sz="1200" dirty="0"/>
          </a:p>
        </p:txBody>
      </p:sp>
      <p:sp>
        <p:nvSpPr>
          <p:cNvPr id="20" name="anim:2:216"/>
          <p:cNvSpPr/>
          <p:nvPr/>
        </p:nvSpPr>
        <p:spPr>
          <a:xfrm>
            <a:off x="4572000" y="3657600"/>
            <a:ext cx="3017520" cy="0"/>
          </a:xfrm>
          <a:prstGeom prst="line">
            <a:avLst/>
          </a:prstGeom>
          <a:noFill/>
          <a:ln w="9525">
            <a:solidFill>
              <a:srgbClr val="D6E0F0"/>
            </a:solidFill>
            <a:prstDash val="solid"/>
          </a:ln>
        </p:spPr>
      </p:sp>
      <p:sp>
        <p:nvSpPr>
          <p:cNvPr id="21" name="anim:2:217"/>
          <p:cNvSpPr txBox="1"/>
          <p:nvPr/>
        </p:nvSpPr>
        <p:spPr>
          <a:xfrm>
            <a:off x="457200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22" name="anim:2:218"/>
          <p:cNvSpPr txBox="1"/>
          <p:nvPr/>
        </p:nvSpPr>
        <p:spPr>
          <a:xfrm>
            <a:off x="457200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distrito num mês, com uma coluna por etapa</a:t>
            </a:r>
            <a:endParaRPr lang="en-US" sz="1400" dirty="0"/>
          </a:p>
        </p:txBody>
      </p:sp>
      <p:sp>
        <p:nvSpPr>
          <p:cNvPr id="23" name="anim:3:219"/>
          <p:cNvSpPr/>
          <p:nvPr/>
        </p:nvSpPr>
        <p:spPr>
          <a:xfrm>
            <a:off x="804672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3:220"/>
          <p:cNvSpPr txBox="1"/>
          <p:nvPr/>
        </p:nvSpPr>
        <p:spPr>
          <a:xfrm>
            <a:off x="832104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IBGE · CENSO 2022</a:t>
            </a:r>
            <a:endParaRPr lang="en-US" sz="1000" dirty="0"/>
          </a:p>
        </p:txBody>
      </p:sp>
      <p:sp>
        <p:nvSpPr>
          <p:cNvPr id="25" name="anim:3:221"/>
          <p:cNvSpPr txBox="1"/>
          <p:nvPr/>
        </p:nvSpPr>
        <p:spPr>
          <a:xfrm>
            <a:off x="832104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Quantas crianças moram ali?</a:t>
            </a:r>
            <a:endParaRPr lang="en-US" sz="1900" dirty="0"/>
          </a:p>
        </p:txBody>
      </p:sp>
      <p:sp>
        <p:nvSpPr>
          <p:cNvPr id="26" name="anim:3:222"/>
          <p:cNvSpPr txBox="1"/>
          <p:nvPr/>
        </p:nvSpPr>
        <p:spPr>
          <a:xfrm>
            <a:off x="832104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Agregados por Setores Censitários</a:t>
            </a:r>
            <a:endParaRPr lang="en-US" sz="1200" dirty="0"/>
          </a:p>
        </p:txBody>
      </p:sp>
      <p:sp>
        <p:nvSpPr>
          <p:cNvPr id="27" name="anim:3:223"/>
          <p:cNvSpPr txBox="1"/>
          <p:nvPr/>
        </p:nvSpPr>
        <p:spPr>
          <a:xfrm>
            <a:off x="832104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26.889</a:t>
            </a:r>
            <a:endParaRPr lang="en-US" sz="3200" dirty="0"/>
          </a:p>
        </p:txBody>
      </p:sp>
      <p:sp>
        <p:nvSpPr>
          <p:cNvPr id="28" name="anim:3:224"/>
          <p:cNvSpPr txBox="1"/>
          <p:nvPr/>
        </p:nvSpPr>
        <p:spPr>
          <a:xfrm>
            <a:off x="832104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setores, 11,4 milhões de moradores</a:t>
            </a:r>
            <a:endParaRPr lang="en-US" sz="1200" dirty="0"/>
          </a:p>
        </p:txBody>
      </p:sp>
      <p:sp>
        <p:nvSpPr>
          <p:cNvPr id="29" name="anim:3:225"/>
          <p:cNvSpPr/>
          <p:nvPr/>
        </p:nvSpPr>
        <p:spPr>
          <a:xfrm>
            <a:off x="8321040" y="3657600"/>
            <a:ext cx="3017520" cy="0"/>
          </a:xfrm>
          <a:prstGeom prst="line">
            <a:avLst/>
          </a:prstGeom>
          <a:noFill/>
          <a:ln w="9525">
            <a:solidFill>
              <a:srgbClr val="D6E0F0"/>
            </a:solidFill>
            <a:prstDash val="solid"/>
          </a:ln>
        </p:spPr>
      </p:sp>
      <p:sp>
        <p:nvSpPr>
          <p:cNvPr id="30" name="anim:3:226"/>
          <p:cNvSpPr txBox="1"/>
          <p:nvPr/>
        </p:nvSpPr>
        <p:spPr>
          <a:xfrm>
            <a:off x="832104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31" name="anim:3:227"/>
          <p:cNvSpPr txBox="1"/>
          <p:nvPr/>
        </p:nvSpPr>
        <p:spPr>
          <a:xfrm>
            <a:off x="832104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setor censitário, com uma coluna por faixa de idade</a:t>
            </a:r>
            <a:endParaRPr lang="en-US" sz="1400" dirty="0"/>
          </a:p>
        </p:txBody>
      </p:sp>
      <p:sp>
        <p:nvSpPr>
          <p:cNvPr id="32" name="anim:4:228"/>
          <p:cNvSpPr/>
          <p:nvPr/>
        </p:nvSpPr>
        <p:spPr>
          <a:xfrm>
            <a:off x="548640" y="5074920"/>
            <a:ext cx="11064240" cy="914400"/>
          </a:xfrm>
          <a:prstGeom prst="roundRect">
            <a:avLst>
              <a:gd name="adj" fmla="val 12000"/>
            </a:avLst>
          </a:prstGeom>
          <a:solidFill>
            <a:srgbClr val="EEF2F8"/>
          </a:solidFill>
          <a:ln w="9525">
            <a:solidFill>
              <a:srgbClr val="EEF2F8"/>
            </a:solidFill>
            <a:prstDash val="solid"/>
          </a:ln>
        </p:spPr>
      </p:sp>
      <p:sp>
        <p:nvSpPr>
          <p:cNvPr id="33" name="anim:4:229"/>
          <p:cNvSpPr/>
          <p:nvPr/>
        </p:nvSpPr>
        <p:spPr>
          <a:xfrm>
            <a:off x="777240" y="5303520"/>
            <a:ext cx="457200" cy="457200"/>
          </a:xfrm>
          <a:prstGeom prst="ellipse">
            <a:avLst/>
          </a:prstGeom>
          <a:solidFill>
            <a:srgbClr val="F2A541"/>
          </a:solidFill>
          <a:ln w="12700">
            <a:solidFill>
              <a:srgbClr val="F2A541"/>
            </a:solidFill>
            <a:prstDash val="solid"/>
          </a:ln>
        </p:spPr>
      </p:sp>
      <p:sp>
        <p:nvSpPr>
          <p:cNvPr id="34" name="anim:4:230"/>
          <p:cNvSpPr txBox="1"/>
          <p:nvPr/>
        </p:nvSpPr>
        <p:spPr>
          <a:xfrm>
            <a:off x="777240" y="5303520"/>
            <a:ext cx="457200" cy="457200"/>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5" name="anim:4:231"/>
          <p:cNvSpPr txBox="1"/>
          <p:nvPr/>
        </p:nvSpPr>
        <p:spPr>
          <a:xfrm>
            <a:off x="1463040" y="5120640"/>
            <a:ext cx="9966960" cy="8229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O exemplo que vamos seguir: o Tremembé. </a:t>
            </a:r>
            <a:pPr indent="0" marL="0">
              <a:buNone/>
            </a:pPr>
            <a:r>
              <a:rPr lang="en-US" sz="1400" dirty="0">
                <a:solidFill>
                  <a:srgbClr val="1F2937"/>
                </a:solidFill>
                <a:latin typeface="Calibri" pitchFamily="34" charset="0"/>
                <a:ea typeface="Calibri" pitchFamily="34" charset="-122"/>
                <a:cs typeface="Calibri" pitchFamily="34" charset="-120"/>
              </a:rPr>
              <a:t>Em junho de 2024, 153 crianças esperavam creche lá; o Censo conta 11.498 crianças de 0 a 4 anos morando no distrito; e cada matrícula das escolas do distrito é uma linha do microdado.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escrito de jeitos diferentes</a:t>
            </a:r>
            <a:endParaRPr lang="en-US" sz="3200" dirty="0"/>
          </a:p>
        </p:txBody>
      </p:sp>
      <p:sp>
        <p:nvSpPr>
          <p:cNvPr id="5" name="anim:1:232"/>
          <p:cNvSpPr txBox="1"/>
          <p:nvPr/>
        </p:nvSpPr>
        <p:spPr>
          <a:xfrm>
            <a:off x="54864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CHEGA</a:t>
            </a:r>
            <a:endParaRPr lang="en-US" sz="1000" dirty="0"/>
          </a:p>
        </p:txBody>
      </p:sp>
      <p:sp>
        <p:nvSpPr>
          <p:cNvPr id="6" name="anim:1:233"/>
          <p:cNvSpPr txBox="1"/>
          <p:nvPr/>
        </p:nvSpPr>
        <p:spPr>
          <a:xfrm>
            <a:off x="525780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REGRA</a:t>
            </a:r>
            <a:endParaRPr lang="en-US" sz="1000" dirty="0"/>
          </a:p>
        </p:txBody>
      </p:sp>
      <p:sp>
        <p:nvSpPr>
          <p:cNvPr id="7" name="anim:1:234"/>
          <p:cNvSpPr txBox="1"/>
          <p:nvPr/>
        </p:nvSpPr>
        <p:spPr>
          <a:xfrm>
            <a:off x="841248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NO DATA WAREHOUSE</a:t>
            </a:r>
            <a:endParaRPr lang="en-US" sz="1000" dirty="0"/>
          </a:p>
        </p:txBody>
      </p:sp>
      <p:sp>
        <p:nvSpPr>
          <p:cNvPr id="8" name="anim:2:235"/>
          <p:cNvSpPr/>
          <p:nvPr/>
        </p:nvSpPr>
        <p:spPr>
          <a:xfrm>
            <a:off x="548640" y="1691640"/>
            <a:ext cx="11064240" cy="841248"/>
          </a:xfrm>
          <a:prstGeom prst="roundRect">
            <a:avLst>
              <a:gd name="adj" fmla="val 13043"/>
            </a:avLst>
          </a:prstGeom>
          <a:solidFill>
            <a:srgbClr val="FFFFFF"/>
          </a:solidFill>
          <a:ln w="9525">
            <a:solidFill>
              <a:srgbClr val="D6E0F0"/>
            </a:solidFill>
            <a:prstDash val="solid"/>
          </a:ln>
        </p:spPr>
      </p:sp>
      <p:sp>
        <p:nvSpPr>
          <p:cNvPr id="9" name="anim:2:236"/>
          <p:cNvSpPr txBox="1"/>
          <p:nvPr/>
        </p:nvSpPr>
        <p:spPr>
          <a:xfrm>
            <a:off x="731520" y="175564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Distrito</a:t>
            </a:r>
            <a:endParaRPr lang="en-US" sz="1300" dirty="0"/>
          </a:p>
        </p:txBody>
      </p:sp>
      <p:sp>
        <p:nvSpPr>
          <p:cNvPr id="10" name="anim:2:237"/>
          <p:cNvSpPr txBox="1"/>
          <p:nvPr/>
        </p:nvSpPr>
        <p:spPr>
          <a:xfrm>
            <a:off x="731520" y="2002536"/>
            <a:ext cx="155448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fila</a:t>
            </a:r>
            <a:endParaRPr lang="en-US" sz="1000" dirty="0"/>
          </a:p>
        </p:txBody>
      </p:sp>
      <p:sp>
        <p:nvSpPr>
          <p:cNvPr id="11" name="anim:2:238"/>
          <p:cNvSpPr/>
          <p:nvPr/>
        </p:nvSpPr>
        <p:spPr>
          <a:xfrm>
            <a:off x="731520" y="2203704"/>
            <a:ext cx="1188720" cy="274320"/>
          </a:xfrm>
          <a:prstGeom prst="roundRect">
            <a:avLst>
              <a:gd name="adj" fmla="val 20000"/>
            </a:avLst>
          </a:prstGeom>
          <a:solidFill>
            <a:srgbClr val="EEF2F8"/>
          </a:solidFill>
          <a:ln w="6350">
            <a:solidFill>
              <a:srgbClr val="D6E0F0"/>
            </a:solidFill>
            <a:prstDash val="solid"/>
          </a:ln>
        </p:spPr>
      </p:sp>
      <p:sp>
        <p:nvSpPr>
          <p:cNvPr id="12" name="anim:2:239"/>
          <p:cNvSpPr txBox="1"/>
          <p:nvPr/>
        </p:nvSpPr>
        <p:spPr>
          <a:xfrm>
            <a:off x="731520" y="2203704"/>
            <a:ext cx="118872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 "</a:t>
            </a:r>
            <a:endParaRPr lang="en-US" sz="1200" dirty="0"/>
          </a:p>
        </p:txBody>
      </p:sp>
      <p:sp>
        <p:nvSpPr>
          <p:cNvPr id="13" name="anim:2:240"/>
          <p:cNvSpPr txBox="1"/>
          <p:nvPr/>
        </p:nvSpPr>
        <p:spPr>
          <a:xfrm>
            <a:off x="205740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a:t>
            </a:r>
            <a:endParaRPr lang="en-US" sz="1000" dirty="0"/>
          </a:p>
        </p:txBody>
      </p:sp>
      <p:sp>
        <p:nvSpPr>
          <p:cNvPr id="14" name="anim:2:241"/>
          <p:cNvSpPr/>
          <p:nvPr/>
        </p:nvSpPr>
        <p:spPr>
          <a:xfrm>
            <a:off x="2057400" y="2203704"/>
            <a:ext cx="1097280" cy="274320"/>
          </a:xfrm>
          <a:prstGeom prst="roundRect">
            <a:avLst>
              <a:gd name="adj" fmla="val 20000"/>
            </a:avLst>
          </a:prstGeom>
          <a:solidFill>
            <a:srgbClr val="EEF2F8"/>
          </a:solidFill>
          <a:ln w="6350">
            <a:solidFill>
              <a:srgbClr val="D6E0F0"/>
            </a:solidFill>
            <a:prstDash val="solid"/>
          </a:ln>
        </p:spPr>
      </p:sp>
      <p:sp>
        <p:nvSpPr>
          <p:cNvPr id="15" name="anim:2:242"/>
          <p:cNvSpPr txBox="1"/>
          <p:nvPr/>
        </p:nvSpPr>
        <p:spPr>
          <a:xfrm>
            <a:off x="205740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p>
        </p:txBody>
      </p:sp>
      <p:sp>
        <p:nvSpPr>
          <p:cNvPr id="16" name="anim:2:243"/>
          <p:cNvSpPr txBox="1"/>
          <p:nvPr/>
        </p:nvSpPr>
        <p:spPr>
          <a:xfrm>
            <a:off x="329184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a:t>
            </a:r>
            <a:endParaRPr lang="en-US" sz="1000" dirty="0"/>
          </a:p>
        </p:txBody>
      </p:sp>
      <p:sp>
        <p:nvSpPr>
          <p:cNvPr id="17" name="anim:2:244"/>
          <p:cNvSpPr/>
          <p:nvPr/>
        </p:nvSpPr>
        <p:spPr>
          <a:xfrm>
            <a:off x="3291840" y="2203704"/>
            <a:ext cx="1097280" cy="274320"/>
          </a:xfrm>
          <a:prstGeom prst="roundRect">
            <a:avLst>
              <a:gd name="adj" fmla="val 20000"/>
            </a:avLst>
          </a:prstGeom>
          <a:solidFill>
            <a:srgbClr val="EEF2F8"/>
          </a:solidFill>
          <a:ln w="6350">
            <a:solidFill>
              <a:srgbClr val="D6E0F0"/>
            </a:solidFill>
            <a:prstDash val="solid"/>
          </a:ln>
        </p:spPr>
      </p:sp>
      <p:sp>
        <p:nvSpPr>
          <p:cNvPr id="18" name="anim:2:245"/>
          <p:cNvSpPr txBox="1"/>
          <p:nvPr/>
        </p:nvSpPr>
        <p:spPr>
          <a:xfrm>
            <a:off x="329184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"Tremembé"</a:t>
            </a:r>
            <a:endParaRPr lang="en-US" sz="1200" dirty="0"/>
          </a:p>
        </p:txBody>
      </p:sp>
      <p:sp>
        <p:nvSpPr>
          <p:cNvPr id="19" name="anim:2:246"/>
          <p:cNvSpPr txBox="1"/>
          <p:nvPr/>
        </p:nvSpPr>
        <p:spPr>
          <a:xfrm>
            <a:off x="47548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0" name="anim:2:247"/>
          <p:cNvSpPr txBox="1"/>
          <p:nvPr/>
        </p:nvSpPr>
        <p:spPr>
          <a:xfrm>
            <a:off x="5257800" y="169164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maiúsculas, sem acento, sem espaço sobrando</a:t>
            </a:r>
            <a:endParaRPr lang="en-US" sz="1300" dirty="0"/>
          </a:p>
        </p:txBody>
      </p:sp>
      <p:sp>
        <p:nvSpPr>
          <p:cNvPr id="21" name="anim:2:248"/>
          <p:cNvSpPr txBox="1"/>
          <p:nvPr/>
        </p:nvSpPr>
        <p:spPr>
          <a:xfrm>
            <a:off x="79552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2" name="anim:2:249"/>
          <p:cNvSpPr txBox="1"/>
          <p:nvPr/>
        </p:nvSpPr>
        <p:spPr>
          <a:xfrm>
            <a:off x="8412480" y="169164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TREMEMBE: uma única linha da dimensão Território</a:t>
            </a:r>
            <a:endParaRPr lang="en-US" sz="1300" dirty="0"/>
          </a:p>
        </p:txBody>
      </p:sp>
      <p:sp>
        <p:nvSpPr>
          <p:cNvPr id="23" name="anim:3:250"/>
          <p:cNvSpPr/>
          <p:nvPr/>
        </p:nvSpPr>
        <p:spPr>
          <a:xfrm>
            <a:off x="548640" y="2651760"/>
            <a:ext cx="11064240" cy="841248"/>
          </a:xfrm>
          <a:prstGeom prst="roundRect">
            <a:avLst>
              <a:gd name="adj" fmla="val 13043"/>
            </a:avLst>
          </a:prstGeom>
          <a:solidFill>
            <a:srgbClr val="FFFFFF"/>
          </a:solidFill>
          <a:ln w="9525">
            <a:solidFill>
              <a:srgbClr val="D6E0F0"/>
            </a:solidFill>
            <a:prstDash val="solid"/>
          </a:ln>
        </p:spPr>
      </p:sp>
      <p:sp>
        <p:nvSpPr>
          <p:cNvPr id="24" name="anim:3:251"/>
          <p:cNvSpPr txBox="1"/>
          <p:nvPr/>
        </p:nvSpPr>
        <p:spPr>
          <a:xfrm>
            <a:off x="731520" y="271576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Idade</a:t>
            </a:r>
            <a:endParaRPr lang="en-US" sz="1300" dirty="0"/>
          </a:p>
        </p:txBody>
      </p:sp>
      <p:sp>
        <p:nvSpPr>
          <p:cNvPr id="25" name="anim:3:252"/>
          <p:cNvSpPr txBox="1"/>
          <p:nvPr/>
        </p:nvSpPr>
        <p:spPr>
          <a:xfrm>
            <a:off x="7315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 idade exata</a:t>
            </a:r>
            <a:endParaRPr lang="en-US" sz="1000" dirty="0"/>
          </a:p>
        </p:txBody>
      </p:sp>
      <p:sp>
        <p:nvSpPr>
          <p:cNvPr id="26" name="anim:3:253"/>
          <p:cNvSpPr/>
          <p:nvPr/>
        </p:nvSpPr>
        <p:spPr>
          <a:xfrm>
            <a:off x="731520" y="3163824"/>
            <a:ext cx="1463040" cy="274320"/>
          </a:xfrm>
          <a:prstGeom prst="roundRect">
            <a:avLst>
              <a:gd name="adj" fmla="val 20000"/>
            </a:avLst>
          </a:prstGeom>
          <a:solidFill>
            <a:srgbClr val="EEF2F8"/>
          </a:solidFill>
          <a:ln w="6350">
            <a:solidFill>
              <a:srgbClr val="D6E0F0"/>
            </a:solidFill>
            <a:prstDash val="solid"/>
          </a:ln>
        </p:spPr>
      </p:sp>
      <p:sp>
        <p:nvSpPr>
          <p:cNvPr id="27" name="anim:3:254"/>
          <p:cNvSpPr txBox="1"/>
          <p:nvPr/>
        </p:nvSpPr>
        <p:spPr>
          <a:xfrm>
            <a:off x="7315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2 anos</a:t>
            </a:r>
            <a:endParaRPr lang="en-US" sz="1200" dirty="0"/>
          </a:p>
        </p:txBody>
      </p:sp>
      <p:sp>
        <p:nvSpPr>
          <p:cNvPr id="28" name="anim:3:255"/>
          <p:cNvSpPr txBox="1"/>
          <p:nvPr/>
        </p:nvSpPr>
        <p:spPr>
          <a:xfrm>
            <a:off x="23317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só o grupo</a:t>
            </a:r>
            <a:endParaRPr lang="en-US" sz="1000" dirty="0"/>
          </a:p>
        </p:txBody>
      </p:sp>
      <p:sp>
        <p:nvSpPr>
          <p:cNvPr id="29" name="anim:3:256"/>
          <p:cNvSpPr/>
          <p:nvPr/>
        </p:nvSpPr>
        <p:spPr>
          <a:xfrm>
            <a:off x="2331720" y="3163824"/>
            <a:ext cx="1463040" cy="274320"/>
          </a:xfrm>
          <a:prstGeom prst="roundRect">
            <a:avLst>
              <a:gd name="adj" fmla="val 20000"/>
            </a:avLst>
          </a:prstGeom>
          <a:solidFill>
            <a:srgbClr val="EEF2F8"/>
          </a:solidFill>
          <a:ln w="6350">
            <a:solidFill>
              <a:srgbClr val="D6E0F0"/>
            </a:solidFill>
            <a:prstDash val="solid"/>
          </a:ln>
        </p:spPr>
      </p:sp>
      <p:sp>
        <p:nvSpPr>
          <p:cNvPr id="30" name="anim:3:257"/>
          <p:cNvSpPr txBox="1"/>
          <p:nvPr/>
        </p:nvSpPr>
        <p:spPr>
          <a:xfrm>
            <a:off x="23317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0 a 4 anos</a:t>
            </a:r>
            <a:endParaRPr lang="en-US" sz="1200" dirty="0"/>
          </a:p>
        </p:txBody>
      </p:sp>
      <p:sp>
        <p:nvSpPr>
          <p:cNvPr id="31" name="anim:3:258"/>
          <p:cNvSpPr txBox="1"/>
          <p:nvPr/>
        </p:nvSpPr>
        <p:spPr>
          <a:xfrm>
            <a:off x="47548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2" name="anim:3:259"/>
          <p:cNvSpPr txBox="1"/>
          <p:nvPr/>
        </p:nvSpPr>
        <p:spPr>
          <a:xfrm>
            <a:off x="5257800" y="265176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cada idade ganha a faixa do IBGE em que cai</a:t>
            </a:r>
            <a:endParaRPr lang="en-US" sz="1300" dirty="0"/>
          </a:p>
        </p:txBody>
      </p:sp>
      <p:sp>
        <p:nvSpPr>
          <p:cNvPr id="33" name="anim:3:260"/>
          <p:cNvSpPr txBox="1"/>
          <p:nvPr/>
        </p:nvSpPr>
        <p:spPr>
          <a:xfrm>
            <a:off x="79552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4" name="anim:3:261"/>
          <p:cNvSpPr txBox="1"/>
          <p:nvPr/>
        </p:nvSpPr>
        <p:spPr>
          <a:xfrm>
            <a:off x="8412480" y="265176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matrícula e população comparadas na mesma faixa, 0 a 4 anos</a:t>
            </a:r>
            <a:endParaRPr lang="en-US" sz="1300" dirty="0"/>
          </a:p>
        </p:txBody>
      </p:sp>
      <p:sp>
        <p:nvSpPr>
          <p:cNvPr id="35" name="anim:4:262"/>
          <p:cNvSpPr/>
          <p:nvPr/>
        </p:nvSpPr>
        <p:spPr>
          <a:xfrm>
            <a:off x="548640" y="3611880"/>
            <a:ext cx="11064240" cy="841248"/>
          </a:xfrm>
          <a:prstGeom prst="roundRect">
            <a:avLst>
              <a:gd name="adj" fmla="val 13043"/>
            </a:avLst>
          </a:prstGeom>
          <a:solidFill>
            <a:srgbClr val="FFFFFF"/>
          </a:solidFill>
          <a:ln w="9525">
            <a:solidFill>
              <a:srgbClr val="D6E0F0"/>
            </a:solidFill>
            <a:prstDash val="solid"/>
          </a:ln>
        </p:spPr>
      </p:sp>
      <p:sp>
        <p:nvSpPr>
          <p:cNvPr id="36" name="anim:4:263"/>
          <p:cNvSpPr txBox="1"/>
          <p:nvPr/>
        </p:nvSpPr>
        <p:spPr>
          <a:xfrm>
            <a:off x="731520" y="367588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Setor</a:t>
            </a:r>
            <a:endParaRPr lang="en-US" sz="1300" dirty="0"/>
          </a:p>
        </p:txBody>
      </p:sp>
      <p:sp>
        <p:nvSpPr>
          <p:cNvPr id="37" name="anim:4:264"/>
          <p:cNvSpPr txBox="1"/>
          <p:nvPr/>
        </p:nvSpPr>
        <p:spPr>
          <a:xfrm>
            <a:off x="731520" y="3922776"/>
            <a:ext cx="219456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SME: administrativo</a:t>
            </a:r>
            <a:endParaRPr lang="en-US" sz="1000" dirty="0"/>
          </a:p>
        </p:txBody>
      </p:sp>
      <p:sp>
        <p:nvSpPr>
          <p:cNvPr id="38" name="anim:4:265"/>
          <p:cNvSpPr/>
          <p:nvPr/>
        </p:nvSpPr>
        <p:spPr>
          <a:xfrm>
            <a:off x="731520" y="4123944"/>
            <a:ext cx="1828800" cy="274320"/>
          </a:xfrm>
          <a:prstGeom prst="roundRect">
            <a:avLst>
              <a:gd name="adj" fmla="val 20000"/>
            </a:avLst>
          </a:prstGeom>
          <a:solidFill>
            <a:srgbClr val="EEF2F8"/>
          </a:solidFill>
          <a:ln w="6350">
            <a:solidFill>
              <a:srgbClr val="D6E0F0"/>
            </a:solidFill>
            <a:prstDash val="solid"/>
          </a:ln>
        </p:spPr>
      </p:sp>
      <p:sp>
        <p:nvSpPr>
          <p:cNvPr id="39" name="anim:4:266"/>
          <p:cNvSpPr txBox="1"/>
          <p:nvPr/>
        </p:nvSpPr>
        <p:spPr>
          <a:xfrm>
            <a:off x="731520" y="4123944"/>
            <a:ext cx="182880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4 dígitos</a:t>
            </a:r>
            <a:endParaRPr lang="en-US" sz="1200" dirty="0"/>
          </a:p>
        </p:txBody>
      </p:sp>
      <p:sp>
        <p:nvSpPr>
          <p:cNvPr id="40" name="anim:4:267"/>
          <p:cNvSpPr txBox="1"/>
          <p:nvPr/>
        </p:nvSpPr>
        <p:spPr>
          <a:xfrm>
            <a:off x="2697480" y="3922776"/>
            <a:ext cx="22860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censitário</a:t>
            </a:r>
            <a:endParaRPr lang="en-US" sz="1000" dirty="0"/>
          </a:p>
        </p:txBody>
      </p:sp>
      <p:sp>
        <p:nvSpPr>
          <p:cNvPr id="41" name="anim:4:268"/>
          <p:cNvSpPr/>
          <p:nvPr/>
        </p:nvSpPr>
        <p:spPr>
          <a:xfrm>
            <a:off x="2697480" y="4123944"/>
            <a:ext cx="1920240" cy="274320"/>
          </a:xfrm>
          <a:prstGeom prst="roundRect">
            <a:avLst>
              <a:gd name="adj" fmla="val 20000"/>
            </a:avLst>
          </a:prstGeom>
          <a:solidFill>
            <a:srgbClr val="EEF2F8"/>
          </a:solidFill>
          <a:ln w="6350">
            <a:solidFill>
              <a:srgbClr val="D6E0F0"/>
            </a:solidFill>
            <a:prstDash val="solid"/>
          </a:ln>
        </p:spPr>
      </p:sp>
      <p:sp>
        <p:nvSpPr>
          <p:cNvPr id="42" name="anim:4:269"/>
          <p:cNvSpPr txBox="1"/>
          <p:nvPr/>
        </p:nvSpPr>
        <p:spPr>
          <a:xfrm>
            <a:off x="2697480" y="4123944"/>
            <a:ext cx="19202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15 dígitos</a:t>
            </a:r>
            <a:endParaRPr lang="en-US" sz="1200" dirty="0"/>
          </a:p>
        </p:txBody>
      </p:sp>
      <p:sp>
        <p:nvSpPr>
          <p:cNvPr id="43" name="anim:4:270"/>
          <p:cNvSpPr txBox="1"/>
          <p:nvPr/>
        </p:nvSpPr>
        <p:spPr>
          <a:xfrm>
            <a:off x="47548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4" name="anim:4:271"/>
          <p:cNvSpPr txBox="1"/>
          <p:nvPr/>
        </p:nvSpPr>
        <p:spPr>
          <a:xfrm>
            <a:off x="5257800" y="361188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mesmo nome, coisas diferentes: um homônimo</a:t>
            </a:r>
            <a:endParaRPr lang="en-US" sz="1300" dirty="0"/>
          </a:p>
        </p:txBody>
      </p:sp>
      <p:sp>
        <p:nvSpPr>
          <p:cNvPr id="45" name="anim:4:272"/>
          <p:cNvSpPr txBox="1"/>
          <p:nvPr/>
        </p:nvSpPr>
        <p:spPr>
          <a:xfrm>
            <a:off x="79552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6" name="anim:4:273"/>
          <p:cNvSpPr txBox="1"/>
          <p:nvPr/>
        </p:nvSpPr>
        <p:spPr>
          <a:xfrm>
            <a:off x="8412480" y="361188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dois atributos com nomes distintos, nunca cruzados</a:t>
            </a:r>
            <a:endParaRPr lang="en-US" sz="1300" dirty="0"/>
          </a:p>
        </p:txBody>
      </p:sp>
      <p:sp>
        <p:nvSpPr>
          <p:cNvPr id="47" name="anim:5:274"/>
          <p:cNvSpPr/>
          <p:nvPr/>
        </p:nvSpPr>
        <p:spPr>
          <a:xfrm>
            <a:off x="548640" y="4663440"/>
            <a:ext cx="11064240" cy="1280160"/>
          </a:xfrm>
          <a:prstGeom prst="roundRect">
            <a:avLst>
              <a:gd name="adj" fmla="val 8571"/>
            </a:avLst>
          </a:prstGeom>
          <a:solidFill>
            <a:srgbClr val="EEF2F8"/>
          </a:solidFill>
          <a:ln w="9525">
            <a:solidFill>
              <a:srgbClr val="EEF2F8"/>
            </a:solidFill>
            <a:prstDash val="solid"/>
          </a:ln>
        </p:spPr>
      </p:sp>
      <p:sp>
        <p:nvSpPr>
          <p:cNvPr id="48" name="anim:5:275"/>
          <p:cNvSpPr txBox="1"/>
          <p:nvPr/>
        </p:nvSpPr>
        <p:spPr>
          <a:xfrm>
            <a:off x="822960" y="4754880"/>
            <a:ext cx="2011680" cy="109728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49" name="anim:5:276"/>
          <p:cNvSpPr txBox="1"/>
          <p:nvPr/>
        </p:nvSpPr>
        <p:spPr>
          <a:xfrm>
            <a:off x="2926080" y="4754880"/>
            <a:ext cx="8503920" cy="10972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Como sabemos que deu certo? </a:t>
            </a:r>
            <a:pPr indent="0" marL="0">
              <a:buNone/>
            </a:pPr>
            <a:r>
              <a:rPr lang="en-US" sz="1500" dirty="0">
                <a:solidFill>
                  <a:srgbClr val="1F2937"/>
                </a:solidFill>
                <a:latin typeface="Calibri" pitchFamily="34" charset="0"/>
                <a:ea typeface="Calibri" pitchFamily="34" charset="-122"/>
                <a:cs typeface="Calibri" pitchFamily="34" charset="-120"/>
              </a:rPr>
              <a:t>Contamos a mesma coisa nas duas bases da SME: as matrículas de creche ativas em junho de 2015 foram 240.905 no microdado e 240.840 na planilha da fila. De 2015 a 2020 a diferença fica abaixo de 1%.</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75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75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Problemas nos dados (1 de 2): escola, fila e turno</a:t>
            </a:r>
            <a:endParaRPr lang="en-US" sz="3200" dirty="0"/>
          </a:p>
        </p:txBody>
      </p:sp>
      <p:sp>
        <p:nvSpPr>
          <p:cNvPr id="5" name="anim:1:277"/>
          <p:cNvSpPr/>
          <p:nvPr/>
        </p:nvSpPr>
        <p:spPr>
          <a:xfrm>
            <a:off x="548640" y="1417320"/>
            <a:ext cx="11064240" cy="1417320"/>
          </a:xfrm>
          <a:prstGeom prst="roundRect">
            <a:avLst>
              <a:gd name="adj" fmla="val 7742"/>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78"/>
          <p:cNvSpPr/>
          <p:nvPr/>
        </p:nvSpPr>
        <p:spPr>
          <a:xfrm>
            <a:off x="731520" y="1527048"/>
            <a:ext cx="274320" cy="274320"/>
          </a:xfrm>
          <a:prstGeom prst="ellipse">
            <a:avLst/>
          </a:prstGeom>
          <a:solidFill>
            <a:srgbClr val="F2A541"/>
          </a:solidFill>
          <a:ln w="12700">
            <a:solidFill>
              <a:srgbClr val="F2A541"/>
            </a:solidFill>
            <a:prstDash val="solid"/>
          </a:ln>
        </p:spPr>
      </p:sp>
      <p:sp>
        <p:nvSpPr>
          <p:cNvPr id="7" name="anim:1:279"/>
          <p:cNvSpPr txBox="1"/>
          <p:nvPr/>
        </p:nvSpPr>
        <p:spPr>
          <a:xfrm>
            <a:off x="731520" y="152704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1</a:t>
            </a:r>
            <a:endParaRPr lang="en-US" sz="1100" dirty="0"/>
          </a:p>
        </p:txBody>
      </p:sp>
      <p:sp>
        <p:nvSpPr>
          <p:cNvPr id="8" name="anim:1:280"/>
          <p:cNvSpPr txBox="1"/>
          <p:nvPr/>
        </p:nvSpPr>
        <p:spPr>
          <a:xfrm>
            <a:off x="1097280" y="1508760"/>
            <a:ext cx="4480560" cy="310896"/>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Código da escola</a:t>
            </a:r>
            <a:endParaRPr lang="en-US" sz="1500" dirty="0"/>
          </a:p>
        </p:txBody>
      </p:sp>
      <p:sp>
        <p:nvSpPr>
          <p:cNvPr id="9" name="anim:1:281"/>
          <p:cNvSpPr txBox="1"/>
          <p:nvPr/>
        </p:nvSpPr>
        <p:spPr>
          <a:xfrm>
            <a:off x="731520" y="1856232"/>
            <a:ext cx="5029200" cy="182880"/>
          </a:xfrm>
          <a:prstGeom prst="rect">
            <a:avLst/>
          </a:prstGeom>
          <a:noFill/>
          <a:ln/>
        </p:spPr>
        <p:txBody>
          <a:bodyPr wrap="square" lIns="0" tIns="0" rIns="0" bIns="0" rtlCol="0" anchor="ctr"/>
          <a:lstStyle/>
          <a:p>
            <a:pPr indent="0" marL="0">
              <a:buNone/>
            </a:pPr>
            <a:r>
              <a:rPr lang="en-US" sz="850" b="1" spc="100" kern="0" dirty="0">
                <a:solidFill>
                  <a:srgbClr val="566175"/>
                </a:solidFill>
                <a:latin typeface="Calibri" pitchFamily="34" charset="0"/>
                <a:ea typeface="Calibri" pitchFamily="34" charset="-122"/>
                <a:cs typeface="Calibri" pitchFamily="34" charset="-120"/>
              </a:rPr>
              <a:t>COMO CHEGOU</a:t>
            </a:r>
            <a:pPr indent="0" marL="0">
              <a:buNone/>
            </a:pPr>
            <a:r>
              <a:rPr lang="en-US" sz="850" dirty="0">
                <a:solidFill>
                  <a:srgbClr val="566175"/>
                </a:solidFill>
                <a:latin typeface="Calibri" pitchFamily="34" charset="0"/>
                <a:ea typeface="Calibri" pitchFamily="34" charset="-122"/>
                <a:cs typeface="Calibri" pitchFamily="34" charset="-120"/>
              </a:rPr>
              <a:t>  · exemplo no formato do arquivo</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2020824"/>
          <a:ext cx="5029200" cy="914400"/>
        </p:xfrm>
        <a:graphic>
          <a:graphicData uri="http://schemas.openxmlformats.org/drawingml/2006/table">
            <a:tbl>
              <a:tblPr/>
              <a:tblGrid>
                <a:gridCol w="457200"/>
                <a:gridCol w="1371600"/>
                <a:gridCol w="3200400"/>
              </a:tblGrid>
              <a:tr h="146304">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ano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código publicado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escola</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2021</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19459</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UNIAO DE VILA NOVA I</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2022</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9209611322271640</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UNIAO DE VILA NOVA I</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2023</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9,20961E+15</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UNIAO DE VILA NOVA I</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2023</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9,20961E+15</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BEIJA FLOR  &lt;- mesmo código, outra escola</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bl>
          </a:graphicData>
        </a:graphic>
      </p:graphicFrame>
      <p:sp>
        <p:nvSpPr>
          <p:cNvPr id="11" name="anim:1:282"/>
          <p:cNvSpPr/>
          <p:nvPr/>
        </p:nvSpPr>
        <p:spPr>
          <a:xfrm>
            <a:off x="5989320" y="1554480"/>
            <a:ext cx="0" cy="1143000"/>
          </a:xfrm>
          <a:prstGeom prst="line">
            <a:avLst/>
          </a:prstGeom>
          <a:noFill/>
          <a:ln w="9525">
            <a:solidFill>
              <a:srgbClr val="D6E0F0"/>
            </a:solidFill>
            <a:prstDash val="solid"/>
          </a:ln>
        </p:spPr>
      </p:sp>
      <p:sp>
        <p:nvSpPr>
          <p:cNvPr id="12" name="anim:1:283"/>
          <p:cNvSpPr txBox="1"/>
          <p:nvPr/>
        </p:nvSpPr>
        <p:spPr>
          <a:xfrm>
            <a:off x="6172200" y="1527048"/>
            <a:ext cx="5212080" cy="182880"/>
          </a:xfrm>
          <a:prstGeom prst="rect">
            <a:avLst/>
          </a:prstGeom>
          <a:noFill/>
          <a:ln/>
        </p:spPr>
        <p:txBody>
          <a:bodyPr wrap="square" lIns="0" tIns="0" rIns="0" bIns="0" rtlCol="0" anchor="t"/>
          <a:lstStyle/>
          <a:p>
            <a:pPr algn="l" indent="0" marL="0">
              <a:buNone/>
            </a:pPr>
            <a:r>
              <a:rPr lang="en-US" sz="850" b="1" spc="100" kern="0" dirty="0">
                <a:solidFill>
                  <a:srgbClr val="566175"/>
                </a:solidFill>
                <a:latin typeface="Calibri" pitchFamily="34" charset="0"/>
                <a:ea typeface="Calibri" pitchFamily="34" charset="-122"/>
                <a:cs typeface="Calibri" pitchFamily="34" charset="-120"/>
              </a:rPr>
              <a:t>O QUE FIZEMOS</a:t>
            </a:r>
            <a:endParaRPr lang="en-US" sz="850" dirty="0"/>
          </a:p>
        </p:txBody>
      </p:sp>
      <p:sp>
        <p:nvSpPr>
          <p:cNvPr id="13" name="anim:1:284"/>
          <p:cNvSpPr/>
          <p:nvPr/>
        </p:nvSpPr>
        <p:spPr>
          <a:xfrm>
            <a:off x="6172200" y="1773936"/>
            <a:ext cx="182880" cy="182880"/>
          </a:xfrm>
          <a:prstGeom prst="ellipse">
            <a:avLst/>
          </a:prstGeom>
          <a:solidFill>
            <a:srgbClr val="1B2A4A"/>
          </a:solidFill>
          <a:ln w="12700">
            <a:solidFill>
              <a:srgbClr val="1B2A4A"/>
            </a:solidFill>
            <a:prstDash val="solid"/>
          </a:ln>
        </p:spPr>
      </p:sp>
      <p:sp>
        <p:nvSpPr>
          <p:cNvPr id="14" name="anim:1:285"/>
          <p:cNvSpPr txBox="1"/>
          <p:nvPr/>
        </p:nvSpPr>
        <p:spPr>
          <a:xfrm>
            <a:off x="6172200" y="1773936"/>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anim:1:286"/>
          <p:cNvSpPr txBox="1"/>
          <p:nvPr/>
        </p:nvSpPr>
        <p:spPr>
          <a:xfrm>
            <a:off x="6446520" y="1755648"/>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Mede cada ano no dado: tem "E+" ou um código em duas escolas? Ano corrompido.</a:t>
            </a:r>
            <a:endParaRPr lang="en-US" sz="1100" dirty="0"/>
          </a:p>
        </p:txBody>
      </p:sp>
      <p:sp>
        <p:nvSpPr>
          <p:cNvPr id="16" name="anim:1:287"/>
          <p:cNvSpPr/>
          <p:nvPr/>
        </p:nvSpPr>
        <p:spPr>
          <a:xfrm>
            <a:off x="6172200" y="2020824"/>
            <a:ext cx="182880" cy="182880"/>
          </a:xfrm>
          <a:prstGeom prst="ellipse">
            <a:avLst/>
          </a:prstGeom>
          <a:solidFill>
            <a:srgbClr val="1B2A4A"/>
          </a:solidFill>
          <a:ln w="12700">
            <a:solidFill>
              <a:srgbClr val="1B2A4A"/>
            </a:solidFill>
            <a:prstDash val="solid"/>
          </a:ln>
        </p:spPr>
      </p:sp>
      <p:sp>
        <p:nvSpPr>
          <p:cNvPr id="17" name="anim:1:288"/>
          <p:cNvSpPr txBox="1"/>
          <p:nvPr/>
        </p:nvSpPr>
        <p:spPr>
          <a:xfrm>
            <a:off x="6172200" y="2020824"/>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18" name="anim:1:289"/>
          <p:cNvSpPr txBox="1"/>
          <p:nvPr/>
        </p:nvSpPr>
        <p:spPr>
          <a:xfrm>
            <a:off x="6446520" y="2002536"/>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Procura a escola por nome + tipo + distrito em 2021, o último ano confiável.</a:t>
            </a:r>
            <a:endParaRPr lang="en-US" sz="1100" dirty="0"/>
          </a:p>
        </p:txBody>
      </p:sp>
      <p:sp>
        <p:nvSpPr>
          <p:cNvPr id="19" name="anim:1:290"/>
          <p:cNvSpPr/>
          <p:nvPr/>
        </p:nvSpPr>
        <p:spPr>
          <a:xfrm>
            <a:off x="6172200" y="2267712"/>
            <a:ext cx="182880" cy="182880"/>
          </a:xfrm>
          <a:prstGeom prst="ellipse">
            <a:avLst/>
          </a:prstGeom>
          <a:solidFill>
            <a:srgbClr val="1B2A4A"/>
          </a:solidFill>
          <a:ln w="12700">
            <a:solidFill>
              <a:srgbClr val="1B2A4A"/>
            </a:solidFill>
            <a:prstDash val="solid"/>
          </a:ln>
        </p:spPr>
      </p:sp>
      <p:sp>
        <p:nvSpPr>
          <p:cNvPr id="20" name="anim:1:291"/>
          <p:cNvSpPr txBox="1"/>
          <p:nvPr/>
        </p:nvSpPr>
        <p:spPr>
          <a:xfrm>
            <a:off x="6172200" y="2267712"/>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1" name="anim:1:292"/>
          <p:cNvSpPr txBox="1"/>
          <p:nvPr/>
        </p:nvSpPr>
        <p:spPr>
          <a:xfrm>
            <a:off x="6446520" y="2249424"/>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Um código só: copia (volta a ser 19459). Ambíguo ou escola nova: chave SINT-…</a:t>
            </a:r>
            <a:endParaRPr lang="en-US" sz="1100" dirty="0"/>
          </a:p>
        </p:txBody>
      </p:sp>
      <p:sp>
        <p:nvSpPr>
          <p:cNvPr id="22" name="anim:1:293"/>
          <p:cNvSpPr txBox="1"/>
          <p:nvPr/>
        </p:nvSpPr>
        <p:spPr>
          <a:xfrm>
            <a:off x="6172200" y="2532888"/>
            <a:ext cx="5303520" cy="228600"/>
          </a:xfrm>
          <a:prstGeom prst="rect">
            <a:avLst/>
          </a:prstGeom>
          <a:noFill/>
          <a:ln/>
        </p:spPr>
        <p:txBody>
          <a:bodyPr wrap="square" lIns="0" tIns="0" rIns="0" bIns="0" rtlCol="0" anchor="ctr"/>
          <a:lstStyle/>
          <a:p>
            <a:pPr algn="l" indent="0" marL="0">
              <a:buNone/>
            </a:pPr>
            <a:r>
              <a:rPr lang="en-US" sz="1100" b="1" dirty="0">
                <a:solidFill>
                  <a:srgbClr val="2E5EAA"/>
                </a:solidFill>
                <a:latin typeface="Calibri" pitchFamily="34" charset="0"/>
                <a:ea typeface="Calibri" pitchFamily="34" charset="-122"/>
                <a:cs typeface="Calibri" pitchFamily="34" charset="-120"/>
              </a:rPr>
              <a:t>94,8% a 98,6% das matrículas de 2022 a 2024 com o código real.</a:t>
            </a:r>
            <a:endParaRPr lang="en-US" sz="1100" dirty="0"/>
          </a:p>
        </p:txBody>
      </p:sp>
      <p:sp>
        <p:nvSpPr>
          <p:cNvPr id="23" name="anim:2:294"/>
          <p:cNvSpPr/>
          <p:nvPr/>
        </p:nvSpPr>
        <p:spPr>
          <a:xfrm>
            <a:off x="548640" y="2926080"/>
            <a:ext cx="11064240" cy="1417320"/>
          </a:xfrm>
          <a:prstGeom prst="roundRect">
            <a:avLst>
              <a:gd name="adj" fmla="val 7742"/>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2:295"/>
          <p:cNvSpPr/>
          <p:nvPr/>
        </p:nvSpPr>
        <p:spPr>
          <a:xfrm>
            <a:off x="731520" y="3035808"/>
            <a:ext cx="274320" cy="274320"/>
          </a:xfrm>
          <a:prstGeom prst="ellipse">
            <a:avLst/>
          </a:prstGeom>
          <a:solidFill>
            <a:srgbClr val="F2A541"/>
          </a:solidFill>
          <a:ln w="12700">
            <a:solidFill>
              <a:srgbClr val="F2A541"/>
            </a:solidFill>
            <a:prstDash val="solid"/>
          </a:ln>
        </p:spPr>
      </p:sp>
      <p:sp>
        <p:nvSpPr>
          <p:cNvPr id="25" name="anim:2:296"/>
          <p:cNvSpPr txBox="1"/>
          <p:nvPr/>
        </p:nvSpPr>
        <p:spPr>
          <a:xfrm>
            <a:off x="731520" y="303580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2</a:t>
            </a:r>
            <a:endParaRPr lang="en-US" sz="1100" dirty="0"/>
          </a:p>
        </p:txBody>
      </p:sp>
      <p:sp>
        <p:nvSpPr>
          <p:cNvPr id="26" name="anim:2:297"/>
          <p:cNvSpPr txBox="1"/>
          <p:nvPr/>
        </p:nvSpPr>
        <p:spPr>
          <a:xfrm>
            <a:off x="1097280" y="3017520"/>
            <a:ext cx="4480560" cy="310896"/>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Planilha de fila em sete formatos</a:t>
            </a:r>
            <a:endParaRPr lang="en-US" sz="1500" dirty="0"/>
          </a:p>
        </p:txBody>
      </p:sp>
      <p:sp>
        <p:nvSpPr>
          <p:cNvPr id="27" name="anim:2:298"/>
          <p:cNvSpPr txBox="1"/>
          <p:nvPr/>
        </p:nvSpPr>
        <p:spPr>
          <a:xfrm>
            <a:off x="731520" y="3364992"/>
            <a:ext cx="5029200" cy="182880"/>
          </a:xfrm>
          <a:prstGeom prst="rect">
            <a:avLst/>
          </a:prstGeom>
          <a:noFill/>
          <a:ln/>
        </p:spPr>
        <p:txBody>
          <a:bodyPr wrap="square" lIns="0" tIns="0" rIns="0" bIns="0" rtlCol="0" anchor="ctr"/>
          <a:lstStyle/>
          <a:p>
            <a:pPr indent="0" marL="0">
              <a:buNone/>
            </a:pPr>
            <a:r>
              <a:rPr lang="en-US" sz="850" b="1" spc="100" kern="0" dirty="0">
                <a:solidFill>
                  <a:srgbClr val="566175"/>
                </a:solidFill>
                <a:latin typeface="Calibri" pitchFamily="34" charset="0"/>
                <a:ea typeface="Calibri" pitchFamily="34" charset="-122"/>
                <a:cs typeface="Calibri" pitchFamily="34" charset="-120"/>
              </a:rPr>
              <a:t>COMO CHEGOU</a:t>
            </a:r>
            <a:pPr indent="0" marL="0">
              <a:buNone/>
            </a:pPr>
            <a:r>
              <a:rPr lang="en-US" sz="850" dirty="0">
                <a:solidFill>
                  <a:srgbClr val="566175"/>
                </a:solidFill>
                <a:latin typeface="Calibri" pitchFamily="34" charset="0"/>
                <a:ea typeface="Calibri" pitchFamily="34" charset="-122"/>
                <a:cs typeface="Calibri" pitchFamily="34" charset="-120"/>
              </a:rPr>
              <a:t>  · a mesma coluna (2), dois sentidos</a:t>
            </a:r>
            <a:endParaRPr lang="en-US" sz="850" dirty="0"/>
          </a:p>
        </p:txBody>
      </p:sp>
      <p:sp>
        <p:nvSpPr>
          <p:cNvPr id="28" name="anim:2:299"/>
          <p:cNvSpPr txBox="1"/>
          <p:nvPr/>
        </p:nvSpPr>
        <p:spPr>
          <a:xfrm>
            <a:off x="731520" y="3529584"/>
            <a:ext cx="5029200" cy="310896"/>
          </a:xfrm>
          <a:prstGeom prst="rect">
            <a:avLst/>
          </a:prstGeom>
          <a:noFill/>
          <a:ln/>
        </p:spPr>
        <p:txBody>
          <a:bodyPr wrap="square" lIns="0" tIns="0" rIns="0" bIns="0" rtlCol="0" anchor="t"/>
          <a:lstStyle/>
          <a:p>
            <a:pPr indent="0" marL="0">
              <a:buNone/>
            </a:pPr>
            <a:r>
              <a:rPr lang="en-US" sz="1000" b="1" dirty="0">
                <a:solidFill>
                  <a:srgbClr val="566175"/>
                </a:solidFill>
                <a:latin typeface="Consolas" pitchFamily="34" charset="0"/>
                <a:ea typeface="Consolas" pitchFamily="34" charset="-122"/>
                <a:cs typeface="Consolas" pitchFamily="34" charset="-120"/>
              </a:rPr>
              <a:t>set/2019  </a:t>
            </a:r>
            <a:pPr indent="0" marL="0">
              <a:buNone/>
            </a:pPr>
            <a:r>
              <a:rPr lang="en-US" sz="1000" i="1" dirty="0">
                <a:solidFill>
                  <a:srgbClr val="1F2937"/>
                </a:solidFill>
                <a:latin typeface="Calibri" pitchFamily="34" charset="0"/>
                <a:ea typeface="Calibri" pitchFamily="34" charset="-122"/>
                <a:cs typeface="Calibri" pitchFamily="34" charset="-120"/>
              </a:rPr>
              <a:t>"(2) - Demanda que recusou vaga oferecida e optou por aguardar numa unidade específica"</a:t>
            </a:r>
            <a:endParaRPr lang="en-US" sz="1000" dirty="0"/>
          </a:p>
        </p:txBody>
      </p:sp>
      <p:sp>
        <p:nvSpPr>
          <p:cNvPr id="29" name="anim:2:300"/>
          <p:cNvSpPr txBox="1"/>
          <p:nvPr/>
        </p:nvSpPr>
        <p:spPr>
          <a:xfrm>
            <a:off x="731520" y="3858768"/>
            <a:ext cx="5029200" cy="310896"/>
          </a:xfrm>
          <a:prstGeom prst="rect">
            <a:avLst/>
          </a:prstGeom>
          <a:noFill/>
          <a:ln/>
        </p:spPr>
        <p:txBody>
          <a:bodyPr wrap="square" lIns="0" tIns="0" rIns="0" bIns="0" rtlCol="0" anchor="t"/>
          <a:lstStyle/>
          <a:p>
            <a:pPr indent="0" marL="0">
              <a:buNone/>
            </a:pPr>
            <a:r>
              <a:rPr lang="en-US" sz="1000" b="1" dirty="0">
                <a:solidFill>
                  <a:srgbClr val="566175"/>
                </a:solidFill>
                <a:latin typeface="Consolas" pitchFamily="34" charset="0"/>
                <a:ea typeface="Consolas" pitchFamily="34" charset="-122"/>
                <a:cs typeface="Consolas" pitchFamily="34" charset="-120"/>
              </a:rPr>
              <a:t>abr/2024  </a:t>
            </a:r>
            <a:pPr indent="0" marL="0">
              <a:buNone/>
            </a:pPr>
            <a:r>
              <a:rPr lang="en-US" sz="1000" i="1" dirty="0">
                <a:solidFill>
                  <a:srgbClr val="1F2937"/>
                </a:solidFill>
                <a:latin typeface="Calibri" pitchFamily="34" charset="0"/>
                <a:ea typeface="Calibri" pitchFamily="34" charset="-122"/>
                <a:cs typeface="Calibri" pitchFamily="34" charset="-120"/>
              </a:rPr>
              <a:t>"(2) - Demanda sem opção por unidade específica em espera a mais de 30 dias"</a:t>
            </a:r>
            <a:endParaRPr lang="en-US" sz="1000" dirty="0"/>
          </a:p>
        </p:txBody>
      </p:sp>
      <p:sp>
        <p:nvSpPr>
          <p:cNvPr id="30" name="anim:2:301"/>
          <p:cNvSpPr/>
          <p:nvPr/>
        </p:nvSpPr>
        <p:spPr>
          <a:xfrm>
            <a:off x="5989320" y="3063240"/>
            <a:ext cx="0" cy="1143000"/>
          </a:xfrm>
          <a:prstGeom prst="line">
            <a:avLst/>
          </a:prstGeom>
          <a:noFill/>
          <a:ln w="9525">
            <a:solidFill>
              <a:srgbClr val="D6E0F0"/>
            </a:solidFill>
            <a:prstDash val="solid"/>
          </a:ln>
        </p:spPr>
      </p:sp>
      <p:sp>
        <p:nvSpPr>
          <p:cNvPr id="31" name="anim:2:302"/>
          <p:cNvSpPr txBox="1"/>
          <p:nvPr/>
        </p:nvSpPr>
        <p:spPr>
          <a:xfrm>
            <a:off x="6172200" y="3035808"/>
            <a:ext cx="5212080" cy="182880"/>
          </a:xfrm>
          <a:prstGeom prst="rect">
            <a:avLst/>
          </a:prstGeom>
          <a:noFill/>
          <a:ln/>
        </p:spPr>
        <p:txBody>
          <a:bodyPr wrap="square" lIns="0" tIns="0" rIns="0" bIns="0" rtlCol="0" anchor="t"/>
          <a:lstStyle/>
          <a:p>
            <a:pPr algn="l" indent="0" marL="0">
              <a:buNone/>
            </a:pPr>
            <a:r>
              <a:rPr lang="en-US" sz="850" b="1" spc="100" kern="0" dirty="0">
                <a:solidFill>
                  <a:srgbClr val="566175"/>
                </a:solidFill>
                <a:latin typeface="Calibri" pitchFamily="34" charset="0"/>
                <a:ea typeface="Calibri" pitchFamily="34" charset="-122"/>
                <a:cs typeface="Calibri" pitchFamily="34" charset="-120"/>
              </a:rPr>
              <a:t>O QUE FIZEMOS</a:t>
            </a:r>
            <a:endParaRPr lang="en-US" sz="850" dirty="0"/>
          </a:p>
        </p:txBody>
      </p:sp>
      <p:sp>
        <p:nvSpPr>
          <p:cNvPr id="32" name="anim:2:303"/>
          <p:cNvSpPr/>
          <p:nvPr/>
        </p:nvSpPr>
        <p:spPr>
          <a:xfrm>
            <a:off x="6172200" y="3282696"/>
            <a:ext cx="182880" cy="182880"/>
          </a:xfrm>
          <a:prstGeom prst="ellipse">
            <a:avLst/>
          </a:prstGeom>
          <a:solidFill>
            <a:srgbClr val="1B2A4A"/>
          </a:solidFill>
          <a:ln w="12700">
            <a:solidFill>
              <a:srgbClr val="1B2A4A"/>
            </a:solidFill>
            <a:prstDash val="solid"/>
          </a:ln>
        </p:spPr>
      </p:sp>
      <p:sp>
        <p:nvSpPr>
          <p:cNvPr id="33" name="anim:2:304"/>
          <p:cNvSpPr txBox="1"/>
          <p:nvPr/>
        </p:nvSpPr>
        <p:spPr>
          <a:xfrm>
            <a:off x="6172200" y="3282696"/>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4" name="anim:2:305"/>
          <p:cNvSpPr txBox="1"/>
          <p:nvPr/>
        </p:nvSpPr>
        <p:spPr>
          <a:xfrm>
            <a:off x="6446520" y="3264408"/>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Lê as duas linhas de cabeçalho: grupo e etapa de cada coluna, sem posição fixa.</a:t>
            </a:r>
            <a:endParaRPr lang="en-US" sz="1100" dirty="0"/>
          </a:p>
        </p:txBody>
      </p:sp>
      <p:sp>
        <p:nvSpPr>
          <p:cNvPr id="35" name="anim:2:306"/>
          <p:cNvSpPr/>
          <p:nvPr/>
        </p:nvSpPr>
        <p:spPr>
          <a:xfrm>
            <a:off x="6172200" y="3529584"/>
            <a:ext cx="182880" cy="182880"/>
          </a:xfrm>
          <a:prstGeom prst="ellipse">
            <a:avLst/>
          </a:prstGeom>
          <a:solidFill>
            <a:srgbClr val="1B2A4A"/>
          </a:solidFill>
          <a:ln w="12700">
            <a:solidFill>
              <a:srgbClr val="1B2A4A"/>
            </a:solidFill>
            <a:prstDash val="solid"/>
          </a:ln>
        </p:spPr>
      </p:sp>
      <p:sp>
        <p:nvSpPr>
          <p:cNvPr id="36" name="anim:2:307"/>
          <p:cNvSpPr txBox="1"/>
          <p:nvPr/>
        </p:nvSpPr>
        <p:spPr>
          <a:xfrm>
            <a:off x="6172200" y="3529584"/>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7" name="anim:2:308"/>
          <p:cNvSpPr txBox="1"/>
          <p:nvPr/>
        </p:nvSpPr>
        <p:spPr>
          <a:xfrm>
            <a:off x="6446520" y="3511296"/>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Traduz cada nota (n) do rodapé por palavras-chave: "mais de 30", "unidade específica".</a:t>
            </a:r>
            <a:endParaRPr lang="en-US" sz="1100" dirty="0"/>
          </a:p>
        </p:txBody>
      </p:sp>
      <p:sp>
        <p:nvSpPr>
          <p:cNvPr id="38" name="anim:2:309"/>
          <p:cNvSpPr/>
          <p:nvPr/>
        </p:nvSpPr>
        <p:spPr>
          <a:xfrm>
            <a:off x="6172200" y="3776472"/>
            <a:ext cx="182880" cy="182880"/>
          </a:xfrm>
          <a:prstGeom prst="ellipse">
            <a:avLst/>
          </a:prstGeom>
          <a:solidFill>
            <a:srgbClr val="1B2A4A"/>
          </a:solidFill>
          <a:ln w="12700">
            <a:solidFill>
              <a:srgbClr val="1B2A4A"/>
            </a:solidFill>
            <a:prstDash val="solid"/>
          </a:ln>
        </p:spPr>
      </p:sp>
      <p:sp>
        <p:nvSpPr>
          <p:cNvPr id="39" name="anim:2:310"/>
          <p:cNvSpPr txBox="1"/>
          <p:nvPr/>
        </p:nvSpPr>
        <p:spPr>
          <a:xfrm>
            <a:off x="6172200" y="3776472"/>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40" name="anim:2:311"/>
          <p:cNvSpPr txBox="1"/>
          <p:nvPr/>
        </p:nvSpPr>
        <p:spPr>
          <a:xfrm>
            <a:off x="6446520" y="3758184"/>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Nota desconhecida: a carga para, em vez de gravar o número com sentido errado.</a:t>
            </a:r>
            <a:endParaRPr lang="en-US" sz="1100" dirty="0"/>
          </a:p>
        </p:txBody>
      </p:sp>
      <p:sp>
        <p:nvSpPr>
          <p:cNvPr id="41" name="anim:2:312"/>
          <p:cNvSpPr txBox="1"/>
          <p:nvPr/>
        </p:nvSpPr>
        <p:spPr>
          <a:xfrm>
            <a:off x="6172200" y="4041648"/>
            <a:ext cx="5303520" cy="228600"/>
          </a:xfrm>
          <a:prstGeom prst="rect">
            <a:avLst/>
          </a:prstGeom>
          <a:noFill/>
          <a:ln/>
        </p:spPr>
        <p:txBody>
          <a:bodyPr wrap="square" lIns="0" tIns="0" rIns="0" bIns="0" rtlCol="0" anchor="ctr"/>
          <a:lstStyle/>
          <a:p>
            <a:pPr algn="l" indent="0" marL="0">
              <a:buNone/>
            </a:pPr>
            <a:r>
              <a:rPr lang="en-US" sz="1100" b="1" dirty="0">
                <a:solidFill>
                  <a:srgbClr val="2E5EAA"/>
                </a:solidFill>
                <a:latin typeface="Calibri" pitchFamily="34" charset="0"/>
                <a:ea typeface="Calibri" pitchFamily="34" charset="-122"/>
                <a:cs typeface="Calibri" pitchFamily="34" charset="-120"/>
              </a:rPr>
              <a:t>Nenhum número entra trocado; o que não foi publicado fica nulo.</a:t>
            </a:r>
            <a:endParaRPr lang="en-US" sz="1100" dirty="0"/>
          </a:p>
        </p:txBody>
      </p:sp>
      <p:sp>
        <p:nvSpPr>
          <p:cNvPr id="42" name="anim:3:313"/>
          <p:cNvSpPr/>
          <p:nvPr/>
        </p:nvSpPr>
        <p:spPr>
          <a:xfrm>
            <a:off x="548640" y="4434840"/>
            <a:ext cx="11064240" cy="1417320"/>
          </a:xfrm>
          <a:prstGeom prst="roundRect">
            <a:avLst>
              <a:gd name="adj" fmla="val 7742"/>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43" name="anim:3:314"/>
          <p:cNvSpPr/>
          <p:nvPr/>
        </p:nvSpPr>
        <p:spPr>
          <a:xfrm>
            <a:off x="731520" y="4544568"/>
            <a:ext cx="274320" cy="274320"/>
          </a:xfrm>
          <a:prstGeom prst="ellipse">
            <a:avLst/>
          </a:prstGeom>
          <a:solidFill>
            <a:srgbClr val="F2A541"/>
          </a:solidFill>
          <a:ln w="12700">
            <a:solidFill>
              <a:srgbClr val="F2A541"/>
            </a:solidFill>
            <a:prstDash val="solid"/>
          </a:ln>
        </p:spPr>
      </p:sp>
      <p:sp>
        <p:nvSpPr>
          <p:cNvPr id="44" name="anim:3:315"/>
          <p:cNvSpPr txBox="1"/>
          <p:nvPr/>
        </p:nvSpPr>
        <p:spPr>
          <a:xfrm>
            <a:off x="731520" y="454456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3</a:t>
            </a:r>
            <a:endParaRPr lang="en-US" sz="1100" dirty="0"/>
          </a:p>
        </p:txBody>
      </p:sp>
      <p:sp>
        <p:nvSpPr>
          <p:cNvPr id="45" name="anim:3:316"/>
          <p:cNvSpPr txBox="1"/>
          <p:nvPr/>
        </p:nvSpPr>
        <p:spPr>
          <a:xfrm>
            <a:off x="1097280" y="4526280"/>
            <a:ext cx="4480560" cy="310896"/>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Turno não publicado em 2021</a:t>
            </a:r>
            <a:endParaRPr lang="en-US" sz="1500" dirty="0"/>
          </a:p>
        </p:txBody>
      </p:sp>
      <p:sp>
        <p:nvSpPr>
          <p:cNvPr id="46" name="anim:3:317"/>
          <p:cNvSpPr txBox="1"/>
          <p:nvPr/>
        </p:nvSpPr>
        <p:spPr>
          <a:xfrm>
            <a:off x="731520" y="4873752"/>
            <a:ext cx="5029200" cy="182880"/>
          </a:xfrm>
          <a:prstGeom prst="rect">
            <a:avLst/>
          </a:prstGeom>
          <a:noFill/>
          <a:ln/>
        </p:spPr>
        <p:txBody>
          <a:bodyPr wrap="square" lIns="0" tIns="0" rIns="0" bIns="0" rtlCol="0" anchor="ctr"/>
          <a:lstStyle/>
          <a:p>
            <a:pPr indent="0" marL="0">
              <a:buNone/>
            </a:pPr>
            <a:r>
              <a:rPr lang="en-US" sz="850" b="1" spc="100" kern="0" dirty="0">
                <a:solidFill>
                  <a:srgbClr val="566175"/>
                </a:solidFill>
                <a:latin typeface="Calibri" pitchFamily="34" charset="0"/>
                <a:ea typeface="Calibri" pitchFamily="34" charset="-122"/>
                <a:cs typeface="Calibri" pitchFamily="34" charset="-120"/>
              </a:rPr>
              <a:t>COMO CHEGOU</a:t>
            </a:r>
            <a:pPr indent="0" marL="0">
              <a:buNone/>
            </a:pPr>
            <a:endParaRPr lang="en-US" sz="8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731520" y="5038344"/>
          <a:ext cx="5029200" cy="914400"/>
        </p:xfrm>
        <a:graphic>
          <a:graphicData uri="http://schemas.openxmlformats.org/drawingml/2006/table">
            <a:tbl>
              <a:tblPr/>
              <a:tblGrid>
                <a:gridCol w="1828800"/>
                <a:gridCol w="822960"/>
                <a:gridCol w="1188720"/>
                <a:gridCol w="1188720"/>
              </a:tblGrid>
              <a:tr h="146304">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ano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código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descrição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horário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2020</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6</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INTEGRAL</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7h às 17h</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2021</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9</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(vazia)</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7h às 17h</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2022 (19.954 linhas)</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(vazio)</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(vazia)</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7h às 17h</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bl>
          </a:graphicData>
        </a:graphic>
      </p:graphicFrame>
      <p:sp>
        <p:nvSpPr>
          <p:cNvPr id="48" name="anim:3:318"/>
          <p:cNvSpPr/>
          <p:nvPr/>
        </p:nvSpPr>
        <p:spPr>
          <a:xfrm>
            <a:off x="5989320" y="4572000"/>
            <a:ext cx="0" cy="1143000"/>
          </a:xfrm>
          <a:prstGeom prst="line">
            <a:avLst/>
          </a:prstGeom>
          <a:noFill/>
          <a:ln w="9525">
            <a:solidFill>
              <a:srgbClr val="D6E0F0"/>
            </a:solidFill>
            <a:prstDash val="solid"/>
          </a:ln>
        </p:spPr>
      </p:sp>
      <p:sp>
        <p:nvSpPr>
          <p:cNvPr id="49" name="anim:3:319"/>
          <p:cNvSpPr txBox="1"/>
          <p:nvPr/>
        </p:nvSpPr>
        <p:spPr>
          <a:xfrm>
            <a:off x="6172200" y="4544568"/>
            <a:ext cx="5212080" cy="182880"/>
          </a:xfrm>
          <a:prstGeom prst="rect">
            <a:avLst/>
          </a:prstGeom>
          <a:noFill/>
          <a:ln/>
        </p:spPr>
        <p:txBody>
          <a:bodyPr wrap="square" lIns="0" tIns="0" rIns="0" bIns="0" rtlCol="0" anchor="t"/>
          <a:lstStyle/>
          <a:p>
            <a:pPr algn="l" indent="0" marL="0">
              <a:buNone/>
            </a:pPr>
            <a:r>
              <a:rPr lang="en-US" sz="850" b="1" spc="100" kern="0" dirty="0">
                <a:solidFill>
                  <a:srgbClr val="566175"/>
                </a:solidFill>
                <a:latin typeface="Calibri" pitchFamily="34" charset="0"/>
                <a:ea typeface="Calibri" pitchFamily="34" charset="-122"/>
                <a:cs typeface="Calibri" pitchFamily="34" charset="-120"/>
              </a:rPr>
              <a:t>O QUE FIZEMOS</a:t>
            </a:r>
            <a:endParaRPr lang="en-US" sz="850" dirty="0"/>
          </a:p>
        </p:txBody>
      </p:sp>
      <p:sp>
        <p:nvSpPr>
          <p:cNvPr id="50" name="anim:3:320"/>
          <p:cNvSpPr/>
          <p:nvPr/>
        </p:nvSpPr>
        <p:spPr>
          <a:xfrm>
            <a:off x="6172200" y="4791456"/>
            <a:ext cx="182880" cy="182880"/>
          </a:xfrm>
          <a:prstGeom prst="ellipse">
            <a:avLst/>
          </a:prstGeom>
          <a:solidFill>
            <a:srgbClr val="1B2A4A"/>
          </a:solidFill>
          <a:ln w="12700">
            <a:solidFill>
              <a:srgbClr val="1B2A4A"/>
            </a:solidFill>
            <a:prstDash val="solid"/>
          </a:ln>
        </p:spPr>
      </p:sp>
      <p:sp>
        <p:nvSpPr>
          <p:cNvPr id="51" name="anim:3:321"/>
          <p:cNvSpPr txBox="1"/>
          <p:nvPr/>
        </p:nvSpPr>
        <p:spPr>
          <a:xfrm>
            <a:off x="6172200" y="4791456"/>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2" name="anim:3:322"/>
          <p:cNvSpPr txBox="1"/>
          <p:nvPr/>
        </p:nvSpPr>
        <p:spPr>
          <a:xfrm>
            <a:off x="6446520" y="4773168"/>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Usa a descrição publicada, quando existe.</a:t>
            </a:r>
            <a:endParaRPr lang="en-US" sz="1100" dirty="0"/>
          </a:p>
        </p:txBody>
      </p:sp>
      <p:sp>
        <p:nvSpPr>
          <p:cNvPr id="53" name="anim:3:323"/>
          <p:cNvSpPr/>
          <p:nvPr/>
        </p:nvSpPr>
        <p:spPr>
          <a:xfrm>
            <a:off x="6172200" y="5038344"/>
            <a:ext cx="182880" cy="182880"/>
          </a:xfrm>
          <a:prstGeom prst="ellipse">
            <a:avLst/>
          </a:prstGeom>
          <a:solidFill>
            <a:srgbClr val="1B2A4A"/>
          </a:solidFill>
          <a:ln w="12700">
            <a:solidFill>
              <a:srgbClr val="1B2A4A"/>
            </a:solidFill>
            <a:prstDash val="solid"/>
          </a:ln>
        </p:spPr>
      </p:sp>
      <p:sp>
        <p:nvSpPr>
          <p:cNvPr id="54" name="anim:3:324"/>
          <p:cNvSpPr txBox="1"/>
          <p:nvPr/>
        </p:nvSpPr>
        <p:spPr>
          <a:xfrm>
            <a:off x="6172200" y="5038344"/>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55" name="anim:3:325"/>
          <p:cNvSpPr txBox="1"/>
          <p:nvPr/>
        </p:nvSpPr>
        <p:spPr>
          <a:xfrm>
            <a:off x="6446520" y="5020056"/>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Em 2021, código − 3 = código de 2020: 9 − 3 = 6, integral. Conferido pelo horário.</a:t>
            </a:r>
            <a:endParaRPr lang="en-US" sz="1100" dirty="0"/>
          </a:p>
        </p:txBody>
      </p:sp>
      <p:sp>
        <p:nvSpPr>
          <p:cNvPr id="56" name="anim:3:326"/>
          <p:cNvSpPr/>
          <p:nvPr/>
        </p:nvSpPr>
        <p:spPr>
          <a:xfrm>
            <a:off x="6172200" y="5285232"/>
            <a:ext cx="182880" cy="182880"/>
          </a:xfrm>
          <a:prstGeom prst="ellipse">
            <a:avLst/>
          </a:prstGeom>
          <a:solidFill>
            <a:srgbClr val="1B2A4A"/>
          </a:solidFill>
          <a:ln w="12700">
            <a:solidFill>
              <a:srgbClr val="1B2A4A"/>
            </a:solidFill>
            <a:prstDash val="solid"/>
          </a:ln>
        </p:spPr>
      </p:sp>
      <p:sp>
        <p:nvSpPr>
          <p:cNvPr id="57" name="anim:3:327"/>
          <p:cNvSpPr txBox="1"/>
          <p:nvPr/>
        </p:nvSpPr>
        <p:spPr>
          <a:xfrm>
            <a:off x="6172200" y="5285232"/>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58" name="anim:3:328"/>
          <p:cNvSpPr txBox="1"/>
          <p:nvPr/>
        </p:nvSpPr>
        <p:spPr>
          <a:xfrm>
            <a:off x="6446520" y="5266944"/>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Sem descrição nem código: pelo horário (noite após 18h; integral com 7 h ou mais).</a:t>
            </a:r>
            <a:endParaRPr lang="en-US" sz="1100" dirty="0"/>
          </a:p>
        </p:txBody>
      </p:sp>
      <p:sp>
        <p:nvSpPr>
          <p:cNvPr id="59" name="anim:3:329"/>
          <p:cNvSpPr txBox="1"/>
          <p:nvPr/>
        </p:nvSpPr>
        <p:spPr>
          <a:xfrm>
            <a:off x="6172200" y="5550408"/>
            <a:ext cx="5303520" cy="228600"/>
          </a:xfrm>
          <a:prstGeom prst="rect">
            <a:avLst/>
          </a:prstGeom>
          <a:noFill/>
          <a:ln/>
        </p:spPr>
        <p:txBody>
          <a:bodyPr wrap="square" lIns="0" tIns="0" rIns="0" bIns="0" rtlCol="0" anchor="ctr"/>
          <a:lstStyle/>
          <a:p>
            <a:pPr algn="l" indent="0" marL="0">
              <a:buNone/>
            </a:pPr>
            <a:r>
              <a:rPr lang="en-US" sz="1100" b="1" dirty="0">
                <a:solidFill>
                  <a:srgbClr val="2E5EAA"/>
                </a:solidFill>
                <a:latin typeface="Calibri" pitchFamily="34" charset="0"/>
                <a:ea typeface="Calibri" pitchFamily="34" charset="-122"/>
                <a:cs typeface="Calibri" pitchFamily="34" charset="-120"/>
              </a:rPr>
              <a:t>Cada turno guarda a origem: publicado, código de 2021 ou horário.</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par>
                          <p:cTn id="84" fill="hold">
                            <p:stCondLst>
                              <p:cond delay="250"/>
                            </p:stCondLst>
                            <p:childTnLst>
                              <p:par>
                                <p:cTn id="85" presetID="10" presetClass="entr" presetSubtype="0" fill="hold" grpId="0" nodeType="with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400"/>
                                        <p:tgtEl>
                                          <p:spTgt spid="26"/>
                                        </p:tgtEl>
                                      </p:cBhvr>
                                    </p:animEffect>
                                  </p:childTnLst>
                                </p:cTn>
                              </p:par>
                            </p:childTnLst>
                          </p:cTn>
                        </p:par>
                        <p:par>
                          <p:cTn id="88" fill="hold">
                            <p:stCondLst>
                              <p:cond delay="250"/>
                            </p:stCondLst>
                            <p:childTnLst>
                              <p:par>
                                <p:cTn id="89" presetID="10" presetClass="entr" presetSubtype="0" fill="hold" grpId="0" nodeType="withEffect">
                                  <p:stCondLst>
                                    <p:cond delay="0"/>
                                  </p:stCondLst>
                                  <p:childTnLst>
                                    <p:set>
                                      <p:cBhvr>
                                        <p:cTn id="90" dur="1" fill="hold">
                                          <p:stCondLst>
                                            <p:cond delay="0"/>
                                          </p:stCondLst>
                                        </p:cTn>
                                        <p:tgtEl>
                                          <p:spTgt spid="27"/>
                                        </p:tgtEl>
                                        <p:attrNameLst>
                                          <p:attrName>style.visibility</p:attrName>
                                        </p:attrNameLst>
                                      </p:cBhvr>
                                      <p:to>
                                        <p:strVal val="visible"/>
                                      </p:to>
                                    </p:set>
                                    <p:animEffect transition="in" filter="fade">
                                      <p:cBhvr>
                                        <p:cTn id="91" dur="400"/>
                                        <p:tgtEl>
                                          <p:spTgt spid="27"/>
                                        </p:tgtEl>
                                      </p:cBhvr>
                                    </p:animEffect>
                                  </p:childTnLst>
                                </p:cTn>
                              </p:par>
                            </p:childTnLst>
                          </p:cTn>
                        </p:par>
                        <p:par>
                          <p:cTn id="92" fill="hold">
                            <p:stCondLst>
                              <p:cond delay="250"/>
                            </p:stCondLst>
                            <p:childTnLst>
                              <p:par>
                                <p:cTn id="93" presetID="10" presetClass="entr" presetSubtype="0" fill="hold" grpId="0" nodeType="with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400"/>
                                        <p:tgtEl>
                                          <p:spTgt spid="28"/>
                                        </p:tgtEl>
                                      </p:cBhvr>
                                    </p:animEffect>
                                  </p:childTnLst>
                                </p:cTn>
                              </p:par>
                            </p:childTnLst>
                          </p:cTn>
                        </p:par>
                        <p:par>
                          <p:cTn id="96" fill="hold">
                            <p:stCondLst>
                              <p:cond delay="250"/>
                            </p:stCondLst>
                            <p:childTnLst>
                              <p:par>
                                <p:cTn id="97" presetID="10" presetClass="entr" presetSubtype="0" fill="hold" grpId="0" nodeType="with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400"/>
                                        <p:tgtEl>
                                          <p:spTgt spid="29"/>
                                        </p:tgtEl>
                                      </p:cBhvr>
                                    </p:animEffect>
                                  </p:childTnLst>
                                </p:cTn>
                              </p:par>
                            </p:childTnLst>
                          </p:cTn>
                        </p:par>
                        <p:par>
                          <p:cTn id="100" fill="hold">
                            <p:stCondLst>
                              <p:cond delay="250"/>
                            </p:stCondLst>
                            <p:childTnLst>
                              <p:par>
                                <p:cTn id="101" presetID="10" presetClass="entr" presetSubtype="0" fill="hold" grpId="0" nodeType="withEffect">
                                  <p:stCondLst>
                                    <p:cond delay="0"/>
                                  </p:stCondLst>
                                  <p:childTnLst>
                                    <p:set>
                                      <p:cBhvr>
                                        <p:cTn id="102" dur="1" fill="hold">
                                          <p:stCondLst>
                                            <p:cond delay="0"/>
                                          </p:stCondLst>
                                        </p:cTn>
                                        <p:tgtEl>
                                          <p:spTgt spid="30"/>
                                        </p:tgtEl>
                                        <p:attrNameLst>
                                          <p:attrName>style.visibility</p:attrName>
                                        </p:attrNameLst>
                                      </p:cBhvr>
                                      <p:to>
                                        <p:strVal val="visible"/>
                                      </p:to>
                                    </p:set>
                                    <p:animEffect transition="in" filter="fade">
                                      <p:cBhvr>
                                        <p:cTn id="103" dur="400"/>
                                        <p:tgtEl>
                                          <p:spTgt spid="30"/>
                                        </p:tgtEl>
                                      </p:cBhvr>
                                    </p:animEffect>
                                  </p:childTnLst>
                                </p:cTn>
                              </p:par>
                            </p:childTnLst>
                          </p:cTn>
                        </p:par>
                        <p:par>
                          <p:cTn id="104" fill="hold">
                            <p:stCondLst>
                              <p:cond delay="250"/>
                            </p:stCondLst>
                            <p:childTnLst>
                              <p:par>
                                <p:cTn id="105" presetID="10" presetClass="entr" presetSubtype="0" fill="hold" grpId="0" nodeType="withEffect">
                                  <p:stCondLst>
                                    <p:cond delay="0"/>
                                  </p:stCondLst>
                                  <p:childTnLst>
                                    <p:set>
                                      <p:cBhvr>
                                        <p:cTn id="106" dur="1" fill="hold">
                                          <p:stCondLst>
                                            <p:cond delay="0"/>
                                          </p:stCondLst>
                                        </p:cTn>
                                        <p:tgtEl>
                                          <p:spTgt spid="31"/>
                                        </p:tgtEl>
                                        <p:attrNameLst>
                                          <p:attrName>style.visibility</p:attrName>
                                        </p:attrNameLst>
                                      </p:cBhvr>
                                      <p:to>
                                        <p:strVal val="visible"/>
                                      </p:to>
                                    </p:set>
                                    <p:animEffect transition="in" filter="fade">
                                      <p:cBhvr>
                                        <p:cTn id="107" dur="400"/>
                                        <p:tgtEl>
                                          <p:spTgt spid="31"/>
                                        </p:tgtEl>
                                      </p:cBhvr>
                                    </p:animEffect>
                                  </p:childTnLst>
                                </p:cTn>
                              </p:par>
                            </p:childTnLst>
                          </p:cTn>
                        </p:par>
                        <p:par>
                          <p:cTn id="108" fill="hold">
                            <p:stCondLst>
                              <p:cond delay="250"/>
                            </p:stCondLst>
                            <p:childTnLst>
                              <p:par>
                                <p:cTn id="109" presetID="10" presetClass="entr" presetSubtype="0" fill="hold" grpId="0" nodeType="withEffect">
                                  <p:stCondLst>
                                    <p:cond delay="0"/>
                                  </p:stCondLst>
                                  <p:childTnLst>
                                    <p:set>
                                      <p:cBhvr>
                                        <p:cTn id="110" dur="1" fill="hold">
                                          <p:stCondLst>
                                            <p:cond delay="0"/>
                                          </p:stCondLst>
                                        </p:cTn>
                                        <p:tgtEl>
                                          <p:spTgt spid="32"/>
                                        </p:tgtEl>
                                        <p:attrNameLst>
                                          <p:attrName>style.visibility</p:attrName>
                                        </p:attrNameLst>
                                      </p:cBhvr>
                                      <p:to>
                                        <p:strVal val="visible"/>
                                      </p:to>
                                    </p:set>
                                    <p:animEffect transition="in" filter="fade">
                                      <p:cBhvr>
                                        <p:cTn id="111" dur="400"/>
                                        <p:tgtEl>
                                          <p:spTgt spid="32"/>
                                        </p:tgtEl>
                                      </p:cBhvr>
                                    </p:animEffect>
                                  </p:childTnLst>
                                </p:cTn>
                              </p:par>
                            </p:childTnLst>
                          </p:cTn>
                        </p:par>
                        <p:par>
                          <p:cTn id="112" fill="hold">
                            <p:stCondLst>
                              <p:cond delay="250"/>
                            </p:stCondLst>
                            <p:childTnLst>
                              <p:par>
                                <p:cTn id="113" presetID="10" presetClass="entr" presetSubtype="0" fill="hold" grpId="0" nodeType="withEffect">
                                  <p:stCondLst>
                                    <p:cond delay="0"/>
                                  </p:stCondLst>
                                  <p:childTnLst>
                                    <p:set>
                                      <p:cBhvr>
                                        <p:cTn id="114" dur="1" fill="hold">
                                          <p:stCondLst>
                                            <p:cond delay="0"/>
                                          </p:stCondLst>
                                        </p:cTn>
                                        <p:tgtEl>
                                          <p:spTgt spid="33"/>
                                        </p:tgtEl>
                                        <p:attrNameLst>
                                          <p:attrName>style.visibility</p:attrName>
                                        </p:attrNameLst>
                                      </p:cBhvr>
                                      <p:to>
                                        <p:strVal val="visible"/>
                                      </p:to>
                                    </p:set>
                                    <p:animEffect transition="in" filter="fade">
                                      <p:cBhvr>
                                        <p:cTn id="115" dur="400"/>
                                        <p:tgtEl>
                                          <p:spTgt spid="33"/>
                                        </p:tgtEl>
                                      </p:cBhvr>
                                    </p:animEffect>
                                  </p:childTnLst>
                                </p:cTn>
                              </p:par>
                            </p:childTnLst>
                          </p:cTn>
                        </p:par>
                        <p:par>
                          <p:cTn id="116" fill="hold">
                            <p:stCondLst>
                              <p:cond delay="250"/>
                            </p:stCondLst>
                            <p:childTnLst>
                              <p:par>
                                <p:cTn id="117" presetID="10" presetClass="entr" presetSubtype="0" fill="hold" grpId="0" nodeType="withEffect">
                                  <p:stCondLst>
                                    <p:cond delay="0"/>
                                  </p:stCondLst>
                                  <p:childTnLst>
                                    <p:set>
                                      <p:cBhvr>
                                        <p:cTn id="118" dur="1" fill="hold">
                                          <p:stCondLst>
                                            <p:cond delay="0"/>
                                          </p:stCondLst>
                                        </p:cTn>
                                        <p:tgtEl>
                                          <p:spTgt spid="34"/>
                                        </p:tgtEl>
                                        <p:attrNameLst>
                                          <p:attrName>style.visibility</p:attrName>
                                        </p:attrNameLst>
                                      </p:cBhvr>
                                      <p:to>
                                        <p:strVal val="visible"/>
                                      </p:to>
                                    </p:set>
                                    <p:animEffect transition="in" filter="fade">
                                      <p:cBhvr>
                                        <p:cTn id="119" dur="400"/>
                                        <p:tgtEl>
                                          <p:spTgt spid="34"/>
                                        </p:tgtEl>
                                      </p:cBhvr>
                                    </p:animEffect>
                                  </p:childTnLst>
                                </p:cTn>
                              </p:par>
                            </p:childTnLst>
                          </p:cTn>
                        </p:par>
                        <p:par>
                          <p:cTn id="120" fill="hold">
                            <p:stCondLst>
                              <p:cond delay="250"/>
                            </p:stCondLst>
                            <p:childTnLst>
                              <p:par>
                                <p:cTn id="121" presetID="10" presetClass="entr" presetSubtype="0" fill="hold" grpId="0" nodeType="withEffect">
                                  <p:stCondLst>
                                    <p:cond delay="0"/>
                                  </p:stCondLst>
                                  <p:childTnLst>
                                    <p:set>
                                      <p:cBhvr>
                                        <p:cTn id="122" dur="1" fill="hold">
                                          <p:stCondLst>
                                            <p:cond delay="0"/>
                                          </p:stCondLst>
                                        </p:cTn>
                                        <p:tgtEl>
                                          <p:spTgt spid="35"/>
                                        </p:tgtEl>
                                        <p:attrNameLst>
                                          <p:attrName>style.visibility</p:attrName>
                                        </p:attrNameLst>
                                      </p:cBhvr>
                                      <p:to>
                                        <p:strVal val="visible"/>
                                      </p:to>
                                    </p:set>
                                    <p:animEffect transition="in" filter="fade">
                                      <p:cBhvr>
                                        <p:cTn id="123" dur="400"/>
                                        <p:tgtEl>
                                          <p:spTgt spid="35"/>
                                        </p:tgtEl>
                                      </p:cBhvr>
                                    </p:animEffect>
                                  </p:childTnLst>
                                </p:cTn>
                              </p:par>
                            </p:childTnLst>
                          </p:cTn>
                        </p:par>
                        <p:par>
                          <p:cTn id="124" fill="hold">
                            <p:stCondLst>
                              <p:cond delay="250"/>
                            </p:stCondLst>
                            <p:childTnLst>
                              <p:par>
                                <p:cTn id="125" presetID="10" presetClass="entr" presetSubtype="0" fill="hold" grpId="0" nodeType="with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fade">
                                      <p:cBhvr>
                                        <p:cTn id="127" dur="400"/>
                                        <p:tgtEl>
                                          <p:spTgt spid="36"/>
                                        </p:tgtEl>
                                      </p:cBhvr>
                                    </p:animEffect>
                                  </p:childTnLst>
                                </p:cTn>
                              </p:par>
                            </p:childTnLst>
                          </p:cTn>
                        </p:par>
                        <p:par>
                          <p:cTn id="128" fill="hold">
                            <p:stCondLst>
                              <p:cond delay="250"/>
                            </p:stCondLst>
                            <p:childTnLst>
                              <p:par>
                                <p:cTn id="129" presetID="10" presetClass="entr" presetSubtype="0" fill="hold" grpId="0" nodeType="with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400"/>
                                        <p:tgtEl>
                                          <p:spTgt spid="37"/>
                                        </p:tgtEl>
                                      </p:cBhvr>
                                    </p:animEffect>
                                  </p:childTnLst>
                                </p:cTn>
                              </p:par>
                            </p:childTnLst>
                          </p:cTn>
                        </p:par>
                        <p:par>
                          <p:cTn id="132" fill="hold">
                            <p:stCondLst>
                              <p:cond delay="250"/>
                            </p:stCondLst>
                            <p:childTnLst>
                              <p:par>
                                <p:cTn id="133" presetID="10" presetClass="entr" presetSubtype="0" fill="hold" grpId="0" nodeType="withEffect">
                                  <p:stCondLst>
                                    <p:cond delay="0"/>
                                  </p:stCondLst>
                                  <p:childTnLst>
                                    <p:set>
                                      <p:cBhvr>
                                        <p:cTn id="134" dur="1" fill="hold">
                                          <p:stCondLst>
                                            <p:cond delay="0"/>
                                          </p:stCondLst>
                                        </p:cTn>
                                        <p:tgtEl>
                                          <p:spTgt spid="38"/>
                                        </p:tgtEl>
                                        <p:attrNameLst>
                                          <p:attrName>style.visibility</p:attrName>
                                        </p:attrNameLst>
                                      </p:cBhvr>
                                      <p:to>
                                        <p:strVal val="visible"/>
                                      </p:to>
                                    </p:set>
                                    <p:animEffect transition="in" filter="fade">
                                      <p:cBhvr>
                                        <p:cTn id="135" dur="400"/>
                                        <p:tgtEl>
                                          <p:spTgt spid="38"/>
                                        </p:tgtEl>
                                      </p:cBhvr>
                                    </p:animEffect>
                                  </p:childTnLst>
                                </p:cTn>
                              </p:par>
                            </p:childTnLst>
                          </p:cTn>
                        </p:par>
                        <p:par>
                          <p:cTn id="136" fill="hold">
                            <p:stCondLst>
                              <p:cond delay="250"/>
                            </p:stCondLst>
                            <p:childTnLst>
                              <p:par>
                                <p:cTn id="137" presetID="10" presetClass="entr" presetSubtype="0" fill="hold" grpId="0" nodeType="with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fade">
                                      <p:cBhvr>
                                        <p:cTn id="139" dur="400"/>
                                        <p:tgtEl>
                                          <p:spTgt spid="39"/>
                                        </p:tgtEl>
                                      </p:cBhvr>
                                    </p:animEffect>
                                  </p:childTnLst>
                                </p:cTn>
                              </p:par>
                            </p:childTnLst>
                          </p:cTn>
                        </p:par>
                        <p:par>
                          <p:cTn id="140" fill="hold">
                            <p:stCondLst>
                              <p:cond delay="250"/>
                            </p:stCondLst>
                            <p:childTnLst>
                              <p:par>
                                <p:cTn id="141" presetID="10" presetClass="entr" presetSubtype="0" fill="hold" grpId="0" nodeType="withEffect">
                                  <p:stCondLst>
                                    <p:cond delay="0"/>
                                  </p:stCondLst>
                                  <p:childTnLst>
                                    <p:set>
                                      <p:cBhvr>
                                        <p:cTn id="142" dur="1" fill="hold">
                                          <p:stCondLst>
                                            <p:cond delay="0"/>
                                          </p:stCondLst>
                                        </p:cTn>
                                        <p:tgtEl>
                                          <p:spTgt spid="40"/>
                                        </p:tgtEl>
                                        <p:attrNameLst>
                                          <p:attrName>style.visibility</p:attrName>
                                        </p:attrNameLst>
                                      </p:cBhvr>
                                      <p:to>
                                        <p:strVal val="visible"/>
                                      </p:to>
                                    </p:set>
                                    <p:animEffect transition="in" filter="fade">
                                      <p:cBhvr>
                                        <p:cTn id="143" dur="400"/>
                                        <p:tgtEl>
                                          <p:spTgt spid="40"/>
                                        </p:tgtEl>
                                      </p:cBhvr>
                                    </p:animEffect>
                                  </p:childTnLst>
                                </p:cTn>
                              </p:par>
                            </p:childTnLst>
                          </p:cTn>
                        </p:par>
                        <p:par>
                          <p:cTn id="144" fill="hold">
                            <p:stCondLst>
                              <p:cond delay="250"/>
                            </p:stCondLst>
                            <p:childTnLst>
                              <p:par>
                                <p:cTn id="145" presetID="10" presetClass="entr" presetSubtype="0" fill="hold" grpId="0" nodeType="withEffect">
                                  <p:stCondLst>
                                    <p:cond delay="0"/>
                                  </p:stCondLst>
                                  <p:childTnLst>
                                    <p:set>
                                      <p:cBhvr>
                                        <p:cTn id="146" dur="1" fill="hold">
                                          <p:stCondLst>
                                            <p:cond delay="0"/>
                                          </p:stCondLst>
                                        </p:cTn>
                                        <p:tgtEl>
                                          <p:spTgt spid="41"/>
                                        </p:tgtEl>
                                        <p:attrNameLst>
                                          <p:attrName>style.visibility</p:attrName>
                                        </p:attrNameLst>
                                      </p:cBhvr>
                                      <p:to>
                                        <p:strVal val="visible"/>
                                      </p:to>
                                    </p:set>
                                    <p:animEffect transition="in" filter="fade">
                                      <p:cBhvr>
                                        <p:cTn id="147" dur="400"/>
                                        <p:tgtEl>
                                          <p:spTgt spid="41"/>
                                        </p:tgtEl>
                                      </p:cBhvr>
                                    </p:animEffect>
                                  </p:childTnLst>
                                </p:cTn>
                              </p:par>
                            </p:childTnLst>
                          </p:cTn>
                        </p:par>
                        <p:par>
                          <p:cTn id="148" fill="hold">
                            <p:stCondLst>
                              <p:cond delay="500"/>
                            </p:stCondLst>
                            <p:childTnLst>
                              <p:par>
                                <p:cTn id="149" presetID="10" presetClass="entr" presetSubtype="0" fill="hold" grpId="0" nodeType="with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fade">
                                      <p:cBhvr>
                                        <p:cTn id="151" dur="400"/>
                                        <p:tgtEl>
                                          <p:spTgt spid="42"/>
                                        </p:tgtEl>
                                      </p:cBhvr>
                                    </p:animEffect>
                                  </p:childTnLst>
                                </p:cTn>
                              </p:par>
                            </p:childTnLst>
                          </p:cTn>
                        </p:par>
                        <p:par>
                          <p:cTn id="152" fill="hold">
                            <p:stCondLst>
                              <p:cond delay="500"/>
                            </p:stCondLst>
                            <p:childTnLst>
                              <p:par>
                                <p:cTn id="153" presetID="10" presetClass="entr" presetSubtype="0" fill="hold" grpId="0" nodeType="withEffect">
                                  <p:stCondLst>
                                    <p:cond delay="0"/>
                                  </p:stCondLst>
                                  <p:childTnLst>
                                    <p:set>
                                      <p:cBhvr>
                                        <p:cTn id="154" dur="1" fill="hold">
                                          <p:stCondLst>
                                            <p:cond delay="0"/>
                                          </p:stCondLst>
                                        </p:cTn>
                                        <p:tgtEl>
                                          <p:spTgt spid="43"/>
                                        </p:tgtEl>
                                        <p:attrNameLst>
                                          <p:attrName>style.visibility</p:attrName>
                                        </p:attrNameLst>
                                      </p:cBhvr>
                                      <p:to>
                                        <p:strVal val="visible"/>
                                      </p:to>
                                    </p:set>
                                    <p:animEffect transition="in" filter="fade">
                                      <p:cBhvr>
                                        <p:cTn id="155" dur="400"/>
                                        <p:tgtEl>
                                          <p:spTgt spid="43"/>
                                        </p:tgtEl>
                                      </p:cBhvr>
                                    </p:animEffect>
                                  </p:childTnLst>
                                </p:cTn>
                              </p:par>
                            </p:childTnLst>
                          </p:cTn>
                        </p:par>
                        <p:par>
                          <p:cTn id="156" fill="hold">
                            <p:stCondLst>
                              <p:cond delay="500"/>
                            </p:stCondLst>
                            <p:childTnLst>
                              <p:par>
                                <p:cTn id="157" presetID="10" presetClass="entr" presetSubtype="0" fill="hold" grpId="0" nodeType="withEffect">
                                  <p:stCondLst>
                                    <p:cond delay="0"/>
                                  </p:stCondLst>
                                  <p:childTnLst>
                                    <p:set>
                                      <p:cBhvr>
                                        <p:cTn id="158" dur="1" fill="hold">
                                          <p:stCondLst>
                                            <p:cond delay="0"/>
                                          </p:stCondLst>
                                        </p:cTn>
                                        <p:tgtEl>
                                          <p:spTgt spid="44"/>
                                        </p:tgtEl>
                                        <p:attrNameLst>
                                          <p:attrName>style.visibility</p:attrName>
                                        </p:attrNameLst>
                                      </p:cBhvr>
                                      <p:to>
                                        <p:strVal val="visible"/>
                                      </p:to>
                                    </p:set>
                                    <p:animEffect transition="in" filter="fade">
                                      <p:cBhvr>
                                        <p:cTn id="159" dur="400"/>
                                        <p:tgtEl>
                                          <p:spTgt spid="44"/>
                                        </p:tgtEl>
                                      </p:cBhvr>
                                    </p:animEffect>
                                  </p:childTnLst>
                                </p:cTn>
                              </p:par>
                            </p:childTnLst>
                          </p:cTn>
                        </p:par>
                        <p:par>
                          <p:cTn id="160" fill="hold">
                            <p:stCondLst>
                              <p:cond delay="500"/>
                            </p:stCondLst>
                            <p:childTnLst>
                              <p:par>
                                <p:cTn id="161" presetID="10" presetClass="entr" presetSubtype="0" fill="hold" grpId="0" nodeType="withEffect">
                                  <p:stCondLst>
                                    <p:cond delay="0"/>
                                  </p:stCondLst>
                                  <p:childTnLst>
                                    <p:set>
                                      <p:cBhvr>
                                        <p:cTn id="162" dur="1" fill="hold">
                                          <p:stCondLst>
                                            <p:cond delay="0"/>
                                          </p:stCondLst>
                                        </p:cTn>
                                        <p:tgtEl>
                                          <p:spTgt spid="45"/>
                                        </p:tgtEl>
                                        <p:attrNameLst>
                                          <p:attrName>style.visibility</p:attrName>
                                        </p:attrNameLst>
                                      </p:cBhvr>
                                      <p:to>
                                        <p:strVal val="visible"/>
                                      </p:to>
                                    </p:set>
                                    <p:animEffect transition="in" filter="fade">
                                      <p:cBhvr>
                                        <p:cTn id="163" dur="400"/>
                                        <p:tgtEl>
                                          <p:spTgt spid="45"/>
                                        </p:tgtEl>
                                      </p:cBhvr>
                                    </p:animEffect>
                                  </p:childTnLst>
                                </p:cTn>
                              </p:par>
                            </p:childTnLst>
                          </p:cTn>
                        </p:par>
                        <p:par>
                          <p:cTn id="164" fill="hold">
                            <p:stCondLst>
                              <p:cond delay="500"/>
                            </p:stCondLst>
                            <p:childTnLst>
                              <p:par>
                                <p:cTn id="165" presetID="10" presetClass="entr" presetSubtype="0" fill="hold" grpId="0" nodeType="withEffect">
                                  <p:stCondLst>
                                    <p:cond delay="0"/>
                                  </p:stCondLst>
                                  <p:childTnLst>
                                    <p:set>
                                      <p:cBhvr>
                                        <p:cTn id="166" dur="1" fill="hold">
                                          <p:stCondLst>
                                            <p:cond delay="0"/>
                                          </p:stCondLst>
                                        </p:cTn>
                                        <p:tgtEl>
                                          <p:spTgt spid="46"/>
                                        </p:tgtEl>
                                        <p:attrNameLst>
                                          <p:attrName>style.visibility</p:attrName>
                                        </p:attrNameLst>
                                      </p:cBhvr>
                                      <p:to>
                                        <p:strVal val="visible"/>
                                      </p:to>
                                    </p:set>
                                    <p:animEffect transition="in" filter="fade">
                                      <p:cBhvr>
                                        <p:cTn id="167" dur="400"/>
                                        <p:tgtEl>
                                          <p:spTgt spid="46"/>
                                        </p:tgtEl>
                                      </p:cBhvr>
                                    </p:animEffect>
                                  </p:childTnLst>
                                </p:cTn>
                              </p:par>
                            </p:childTnLst>
                          </p:cTn>
                        </p:par>
                        <p:par>
                          <p:cTn id="168" fill="hold">
                            <p:stCondLst>
                              <p:cond delay="500"/>
                            </p:stCondLst>
                            <p:childTnLst>
                              <p:par>
                                <p:cTn id="169" presetID="10" presetClass="entr" presetSubtype="0" fill="hold" grpId="0" nodeType="withEffect">
                                  <p:stCondLst>
                                    <p:cond delay="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400"/>
                                        <p:tgtEl>
                                          <p:spTgt spid="48"/>
                                        </p:tgtEl>
                                      </p:cBhvr>
                                    </p:animEffect>
                                  </p:childTnLst>
                                </p:cTn>
                              </p:par>
                            </p:childTnLst>
                          </p:cTn>
                        </p:par>
                        <p:par>
                          <p:cTn id="172" fill="hold">
                            <p:stCondLst>
                              <p:cond delay="500"/>
                            </p:stCondLst>
                            <p:childTnLst>
                              <p:par>
                                <p:cTn id="173" presetID="10" presetClass="entr" presetSubtype="0" fill="hold" grpId="0" nodeType="withEffect">
                                  <p:stCondLst>
                                    <p:cond delay="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400"/>
                                        <p:tgtEl>
                                          <p:spTgt spid="49"/>
                                        </p:tgtEl>
                                      </p:cBhvr>
                                    </p:animEffect>
                                  </p:childTnLst>
                                </p:cTn>
                              </p:par>
                            </p:childTnLst>
                          </p:cTn>
                        </p:par>
                        <p:par>
                          <p:cTn id="176" fill="hold">
                            <p:stCondLst>
                              <p:cond delay="500"/>
                            </p:stCondLst>
                            <p:childTnLst>
                              <p:par>
                                <p:cTn id="177" presetID="10" presetClass="entr" presetSubtype="0" fill="hold" grpId="0" nodeType="with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400"/>
                                        <p:tgtEl>
                                          <p:spTgt spid="50"/>
                                        </p:tgtEl>
                                      </p:cBhvr>
                                    </p:animEffect>
                                  </p:childTnLst>
                                </p:cTn>
                              </p:par>
                            </p:childTnLst>
                          </p:cTn>
                        </p:par>
                        <p:par>
                          <p:cTn id="180" fill="hold">
                            <p:stCondLst>
                              <p:cond delay="500"/>
                            </p:stCondLst>
                            <p:childTnLst>
                              <p:par>
                                <p:cTn id="181" presetID="10" presetClass="entr" presetSubtype="0" fill="hold" grpId="0" nodeType="withEffect">
                                  <p:stCondLst>
                                    <p:cond delay="0"/>
                                  </p:stCondLst>
                                  <p:childTnLst>
                                    <p:set>
                                      <p:cBhvr>
                                        <p:cTn id="182" dur="1" fill="hold">
                                          <p:stCondLst>
                                            <p:cond delay="0"/>
                                          </p:stCondLst>
                                        </p:cTn>
                                        <p:tgtEl>
                                          <p:spTgt spid="51"/>
                                        </p:tgtEl>
                                        <p:attrNameLst>
                                          <p:attrName>style.visibility</p:attrName>
                                        </p:attrNameLst>
                                      </p:cBhvr>
                                      <p:to>
                                        <p:strVal val="visible"/>
                                      </p:to>
                                    </p:set>
                                    <p:animEffect transition="in" filter="fade">
                                      <p:cBhvr>
                                        <p:cTn id="183" dur="400"/>
                                        <p:tgtEl>
                                          <p:spTgt spid="51"/>
                                        </p:tgtEl>
                                      </p:cBhvr>
                                    </p:animEffect>
                                  </p:childTnLst>
                                </p:cTn>
                              </p:par>
                            </p:childTnLst>
                          </p:cTn>
                        </p:par>
                        <p:par>
                          <p:cTn id="184" fill="hold">
                            <p:stCondLst>
                              <p:cond delay="500"/>
                            </p:stCondLst>
                            <p:childTnLst>
                              <p:par>
                                <p:cTn id="185" presetID="10" presetClass="entr" presetSubtype="0" fill="hold" grpId="0" nodeType="withEffect">
                                  <p:stCondLst>
                                    <p:cond delay="0"/>
                                  </p:stCondLst>
                                  <p:childTnLst>
                                    <p:set>
                                      <p:cBhvr>
                                        <p:cTn id="186" dur="1" fill="hold">
                                          <p:stCondLst>
                                            <p:cond delay="0"/>
                                          </p:stCondLst>
                                        </p:cTn>
                                        <p:tgtEl>
                                          <p:spTgt spid="52"/>
                                        </p:tgtEl>
                                        <p:attrNameLst>
                                          <p:attrName>style.visibility</p:attrName>
                                        </p:attrNameLst>
                                      </p:cBhvr>
                                      <p:to>
                                        <p:strVal val="visible"/>
                                      </p:to>
                                    </p:set>
                                    <p:animEffect transition="in" filter="fade">
                                      <p:cBhvr>
                                        <p:cTn id="187" dur="400"/>
                                        <p:tgtEl>
                                          <p:spTgt spid="52"/>
                                        </p:tgtEl>
                                      </p:cBhvr>
                                    </p:animEffect>
                                  </p:childTnLst>
                                </p:cTn>
                              </p:par>
                            </p:childTnLst>
                          </p:cTn>
                        </p:par>
                        <p:par>
                          <p:cTn id="188" fill="hold">
                            <p:stCondLst>
                              <p:cond delay="500"/>
                            </p:stCondLst>
                            <p:childTnLst>
                              <p:par>
                                <p:cTn id="189" presetID="10" presetClass="entr" presetSubtype="0" fill="hold" grpId="0" nodeType="withEffect">
                                  <p:stCondLst>
                                    <p:cond delay="0"/>
                                  </p:stCondLst>
                                  <p:childTnLst>
                                    <p:set>
                                      <p:cBhvr>
                                        <p:cTn id="190" dur="1" fill="hold">
                                          <p:stCondLst>
                                            <p:cond delay="0"/>
                                          </p:stCondLst>
                                        </p:cTn>
                                        <p:tgtEl>
                                          <p:spTgt spid="53"/>
                                        </p:tgtEl>
                                        <p:attrNameLst>
                                          <p:attrName>style.visibility</p:attrName>
                                        </p:attrNameLst>
                                      </p:cBhvr>
                                      <p:to>
                                        <p:strVal val="visible"/>
                                      </p:to>
                                    </p:set>
                                    <p:animEffect transition="in" filter="fade">
                                      <p:cBhvr>
                                        <p:cTn id="191" dur="400"/>
                                        <p:tgtEl>
                                          <p:spTgt spid="53"/>
                                        </p:tgtEl>
                                      </p:cBhvr>
                                    </p:animEffect>
                                  </p:childTnLst>
                                </p:cTn>
                              </p:par>
                            </p:childTnLst>
                          </p:cTn>
                        </p:par>
                        <p:par>
                          <p:cTn id="192" fill="hold">
                            <p:stCondLst>
                              <p:cond delay="500"/>
                            </p:stCondLst>
                            <p:childTnLst>
                              <p:par>
                                <p:cTn id="193" presetID="10" presetClass="entr" presetSubtype="0" fill="hold" grpId="0" nodeType="withEffect">
                                  <p:stCondLst>
                                    <p:cond delay="0"/>
                                  </p:stCondLst>
                                  <p:childTnLst>
                                    <p:set>
                                      <p:cBhvr>
                                        <p:cTn id="194" dur="1" fill="hold">
                                          <p:stCondLst>
                                            <p:cond delay="0"/>
                                          </p:stCondLst>
                                        </p:cTn>
                                        <p:tgtEl>
                                          <p:spTgt spid="54"/>
                                        </p:tgtEl>
                                        <p:attrNameLst>
                                          <p:attrName>style.visibility</p:attrName>
                                        </p:attrNameLst>
                                      </p:cBhvr>
                                      <p:to>
                                        <p:strVal val="visible"/>
                                      </p:to>
                                    </p:set>
                                    <p:animEffect transition="in" filter="fade">
                                      <p:cBhvr>
                                        <p:cTn id="195" dur="400"/>
                                        <p:tgtEl>
                                          <p:spTgt spid="54"/>
                                        </p:tgtEl>
                                      </p:cBhvr>
                                    </p:animEffect>
                                  </p:childTnLst>
                                </p:cTn>
                              </p:par>
                            </p:childTnLst>
                          </p:cTn>
                        </p:par>
                        <p:par>
                          <p:cTn id="196" fill="hold">
                            <p:stCondLst>
                              <p:cond delay="500"/>
                            </p:stCondLst>
                            <p:childTnLst>
                              <p:par>
                                <p:cTn id="197" presetID="10" presetClass="entr" presetSubtype="0" fill="hold" grpId="0" nodeType="withEffect">
                                  <p:stCondLst>
                                    <p:cond delay="0"/>
                                  </p:stCondLst>
                                  <p:childTnLst>
                                    <p:set>
                                      <p:cBhvr>
                                        <p:cTn id="198" dur="1" fill="hold">
                                          <p:stCondLst>
                                            <p:cond delay="0"/>
                                          </p:stCondLst>
                                        </p:cTn>
                                        <p:tgtEl>
                                          <p:spTgt spid="55"/>
                                        </p:tgtEl>
                                        <p:attrNameLst>
                                          <p:attrName>style.visibility</p:attrName>
                                        </p:attrNameLst>
                                      </p:cBhvr>
                                      <p:to>
                                        <p:strVal val="visible"/>
                                      </p:to>
                                    </p:set>
                                    <p:animEffect transition="in" filter="fade">
                                      <p:cBhvr>
                                        <p:cTn id="199" dur="400"/>
                                        <p:tgtEl>
                                          <p:spTgt spid="55"/>
                                        </p:tgtEl>
                                      </p:cBhvr>
                                    </p:animEffect>
                                  </p:childTnLst>
                                </p:cTn>
                              </p:par>
                            </p:childTnLst>
                          </p:cTn>
                        </p:par>
                        <p:par>
                          <p:cTn id="200" fill="hold">
                            <p:stCondLst>
                              <p:cond delay="500"/>
                            </p:stCondLst>
                            <p:childTnLst>
                              <p:par>
                                <p:cTn id="201" presetID="10" presetClass="entr" presetSubtype="0" fill="hold" grpId="0" nodeType="withEffect">
                                  <p:stCondLst>
                                    <p:cond delay="0"/>
                                  </p:stCondLst>
                                  <p:childTnLst>
                                    <p:set>
                                      <p:cBhvr>
                                        <p:cTn id="202" dur="1" fill="hold">
                                          <p:stCondLst>
                                            <p:cond delay="0"/>
                                          </p:stCondLst>
                                        </p:cTn>
                                        <p:tgtEl>
                                          <p:spTgt spid="56"/>
                                        </p:tgtEl>
                                        <p:attrNameLst>
                                          <p:attrName>style.visibility</p:attrName>
                                        </p:attrNameLst>
                                      </p:cBhvr>
                                      <p:to>
                                        <p:strVal val="visible"/>
                                      </p:to>
                                    </p:set>
                                    <p:animEffect transition="in" filter="fade">
                                      <p:cBhvr>
                                        <p:cTn id="203" dur="400"/>
                                        <p:tgtEl>
                                          <p:spTgt spid="56"/>
                                        </p:tgtEl>
                                      </p:cBhvr>
                                    </p:animEffect>
                                  </p:childTnLst>
                                </p:cTn>
                              </p:par>
                            </p:childTnLst>
                          </p:cTn>
                        </p:par>
                        <p:par>
                          <p:cTn id="204" fill="hold">
                            <p:stCondLst>
                              <p:cond delay="500"/>
                            </p:stCondLst>
                            <p:childTnLst>
                              <p:par>
                                <p:cTn id="205" presetID="10" presetClass="entr" presetSubtype="0" fill="hold" grpId="0" nodeType="withEffect">
                                  <p:stCondLst>
                                    <p:cond delay="0"/>
                                  </p:stCondLst>
                                  <p:childTnLst>
                                    <p:set>
                                      <p:cBhvr>
                                        <p:cTn id="206" dur="1" fill="hold">
                                          <p:stCondLst>
                                            <p:cond delay="0"/>
                                          </p:stCondLst>
                                        </p:cTn>
                                        <p:tgtEl>
                                          <p:spTgt spid="57"/>
                                        </p:tgtEl>
                                        <p:attrNameLst>
                                          <p:attrName>style.visibility</p:attrName>
                                        </p:attrNameLst>
                                      </p:cBhvr>
                                      <p:to>
                                        <p:strVal val="visible"/>
                                      </p:to>
                                    </p:set>
                                    <p:animEffect transition="in" filter="fade">
                                      <p:cBhvr>
                                        <p:cTn id="207" dur="400"/>
                                        <p:tgtEl>
                                          <p:spTgt spid="57"/>
                                        </p:tgtEl>
                                      </p:cBhvr>
                                    </p:animEffect>
                                  </p:childTnLst>
                                </p:cTn>
                              </p:par>
                            </p:childTnLst>
                          </p:cTn>
                        </p:par>
                        <p:par>
                          <p:cTn id="208" fill="hold">
                            <p:stCondLst>
                              <p:cond delay="500"/>
                            </p:stCondLst>
                            <p:childTnLst>
                              <p:par>
                                <p:cTn id="209" presetID="10" presetClass="entr" presetSubtype="0" fill="hold" grpId="0" nodeType="withEffect">
                                  <p:stCondLst>
                                    <p:cond delay="0"/>
                                  </p:stCondLst>
                                  <p:childTnLst>
                                    <p:set>
                                      <p:cBhvr>
                                        <p:cTn id="210" dur="1" fill="hold">
                                          <p:stCondLst>
                                            <p:cond delay="0"/>
                                          </p:stCondLst>
                                        </p:cTn>
                                        <p:tgtEl>
                                          <p:spTgt spid="58"/>
                                        </p:tgtEl>
                                        <p:attrNameLst>
                                          <p:attrName>style.visibility</p:attrName>
                                        </p:attrNameLst>
                                      </p:cBhvr>
                                      <p:to>
                                        <p:strVal val="visible"/>
                                      </p:to>
                                    </p:set>
                                    <p:animEffect transition="in" filter="fade">
                                      <p:cBhvr>
                                        <p:cTn id="211" dur="400"/>
                                        <p:tgtEl>
                                          <p:spTgt spid="58"/>
                                        </p:tgtEl>
                                      </p:cBhvr>
                                    </p:animEffect>
                                  </p:childTnLst>
                                </p:cTn>
                              </p:par>
                            </p:childTnLst>
                          </p:cTn>
                        </p:par>
                        <p:par>
                          <p:cTn id="212" fill="hold">
                            <p:stCondLst>
                              <p:cond delay="500"/>
                            </p:stCondLst>
                            <p:childTnLst>
                              <p:par>
                                <p:cTn id="213" presetID="10" presetClass="entr" presetSubtype="0" fill="hold" grpId="0" nodeType="withEffect">
                                  <p:stCondLst>
                                    <p:cond delay="0"/>
                                  </p:stCondLst>
                                  <p:childTnLst>
                                    <p:set>
                                      <p:cBhvr>
                                        <p:cTn id="214" dur="1" fill="hold">
                                          <p:stCondLst>
                                            <p:cond delay="0"/>
                                          </p:stCondLst>
                                        </p:cTn>
                                        <p:tgtEl>
                                          <p:spTgt spid="59"/>
                                        </p:tgtEl>
                                        <p:attrNameLst>
                                          <p:attrName>style.visibility</p:attrName>
                                        </p:attrNameLst>
                                      </p:cBhvr>
                                      <p:to>
                                        <p:strVal val="visible"/>
                                      </p:to>
                                    </p:set>
                                    <p:animEffect transition="in" filter="fade">
                                      <p:cBhvr>
                                        <p:cTn id="215"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Problemas nos dados (2 de 2): idade, datas e IBGE</a:t>
            </a:r>
            <a:endParaRPr lang="en-US" sz="3200" dirty="0"/>
          </a:p>
        </p:txBody>
      </p:sp>
      <p:sp>
        <p:nvSpPr>
          <p:cNvPr id="5" name="anim:1:330"/>
          <p:cNvSpPr/>
          <p:nvPr/>
        </p:nvSpPr>
        <p:spPr>
          <a:xfrm>
            <a:off x="548640" y="1417320"/>
            <a:ext cx="11064240" cy="1417320"/>
          </a:xfrm>
          <a:prstGeom prst="roundRect">
            <a:avLst>
              <a:gd name="adj" fmla="val 7742"/>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31"/>
          <p:cNvSpPr/>
          <p:nvPr/>
        </p:nvSpPr>
        <p:spPr>
          <a:xfrm>
            <a:off x="731520" y="1527048"/>
            <a:ext cx="274320" cy="274320"/>
          </a:xfrm>
          <a:prstGeom prst="ellipse">
            <a:avLst/>
          </a:prstGeom>
          <a:solidFill>
            <a:srgbClr val="F2A541"/>
          </a:solidFill>
          <a:ln w="12700">
            <a:solidFill>
              <a:srgbClr val="F2A541"/>
            </a:solidFill>
            <a:prstDash val="solid"/>
          </a:ln>
        </p:spPr>
      </p:sp>
      <p:sp>
        <p:nvSpPr>
          <p:cNvPr id="7" name="anim:1:332"/>
          <p:cNvSpPr txBox="1"/>
          <p:nvPr/>
        </p:nvSpPr>
        <p:spPr>
          <a:xfrm>
            <a:off x="731520" y="152704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4</a:t>
            </a:r>
            <a:endParaRPr lang="en-US" sz="1100" dirty="0"/>
          </a:p>
        </p:txBody>
      </p:sp>
      <p:sp>
        <p:nvSpPr>
          <p:cNvPr id="8" name="anim:1:333"/>
          <p:cNvSpPr txBox="1"/>
          <p:nvPr/>
        </p:nvSpPr>
        <p:spPr>
          <a:xfrm>
            <a:off x="1097280" y="1508760"/>
            <a:ext cx="4480560" cy="310896"/>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Idade em formato errado</a:t>
            </a:r>
            <a:endParaRPr lang="en-US" sz="1500" dirty="0"/>
          </a:p>
        </p:txBody>
      </p:sp>
      <p:sp>
        <p:nvSpPr>
          <p:cNvPr id="9" name="anim:1:334"/>
          <p:cNvSpPr txBox="1"/>
          <p:nvPr/>
        </p:nvSpPr>
        <p:spPr>
          <a:xfrm>
            <a:off x="731520" y="1856232"/>
            <a:ext cx="5029200" cy="182880"/>
          </a:xfrm>
          <a:prstGeom prst="rect">
            <a:avLst/>
          </a:prstGeom>
          <a:noFill/>
          <a:ln/>
        </p:spPr>
        <p:txBody>
          <a:bodyPr wrap="square" lIns="0" tIns="0" rIns="0" bIns="0" rtlCol="0" anchor="ctr"/>
          <a:lstStyle/>
          <a:p>
            <a:pPr indent="0" marL="0">
              <a:buNone/>
            </a:pPr>
            <a:r>
              <a:rPr lang="en-US" sz="850" b="1" spc="100" kern="0" dirty="0">
                <a:solidFill>
                  <a:srgbClr val="566175"/>
                </a:solidFill>
                <a:latin typeface="Calibri" pitchFamily="34" charset="0"/>
                <a:ea typeface="Calibri" pitchFamily="34" charset="-122"/>
                <a:cs typeface="Calibri" pitchFamily="34" charset="-120"/>
              </a:rPr>
              <a:t>COMO CHEGOU</a:t>
            </a:r>
            <a:pPr indent="0" marL="0">
              <a:buNone/>
            </a:pP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2020824"/>
          <a:ext cx="5029200" cy="914400"/>
        </p:xfrm>
        <a:graphic>
          <a:graphicData uri="http://schemas.openxmlformats.org/drawingml/2006/table">
            <a:tbl>
              <a:tblPr/>
              <a:tblGrid>
                <a:gridCol w="731520"/>
                <a:gridCol w="2103120"/>
                <a:gridCol w="2194560"/>
              </a:tblGrid>
              <a:tr h="146304">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ano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idade publicada</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nascimento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2020</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5,00</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2021</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(vazia)</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05/2018</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2022</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122</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1900</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2022</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(vazia)</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mês 18</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bl>
          </a:graphicData>
        </a:graphic>
      </p:graphicFrame>
      <p:sp>
        <p:nvSpPr>
          <p:cNvPr id="11" name="anim:1:335"/>
          <p:cNvSpPr/>
          <p:nvPr/>
        </p:nvSpPr>
        <p:spPr>
          <a:xfrm>
            <a:off x="5989320" y="1554480"/>
            <a:ext cx="0" cy="1143000"/>
          </a:xfrm>
          <a:prstGeom prst="line">
            <a:avLst/>
          </a:prstGeom>
          <a:noFill/>
          <a:ln w="9525">
            <a:solidFill>
              <a:srgbClr val="D6E0F0"/>
            </a:solidFill>
            <a:prstDash val="solid"/>
          </a:ln>
        </p:spPr>
      </p:sp>
      <p:sp>
        <p:nvSpPr>
          <p:cNvPr id="12" name="anim:1:336"/>
          <p:cNvSpPr txBox="1"/>
          <p:nvPr/>
        </p:nvSpPr>
        <p:spPr>
          <a:xfrm>
            <a:off x="6172200" y="1527048"/>
            <a:ext cx="5212080" cy="182880"/>
          </a:xfrm>
          <a:prstGeom prst="rect">
            <a:avLst/>
          </a:prstGeom>
          <a:noFill/>
          <a:ln/>
        </p:spPr>
        <p:txBody>
          <a:bodyPr wrap="square" lIns="0" tIns="0" rIns="0" bIns="0" rtlCol="0" anchor="t"/>
          <a:lstStyle/>
          <a:p>
            <a:pPr algn="l" indent="0" marL="0">
              <a:buNone/>
            </a:pPr>
            <a:r>
              <a:rPr lang="en-US" sz="850" b="1" spc="100" kern="0" dirty="0">
                <a:solidFill>
                  <a:srgbClr val="566175"/>
                </a:solidFill>
                <a:latin typeface="Calibri" pitchFamily="34" charset="0"/>
                <a:ea typeface="Calibri" pitchFamily="34" charset="-122"/>
                <a:cs typeface="Calibri" pitchFamily="34" charset="-120"/>
              </a:rPr>
              <a:t>O QUE FIZEMOS</a:t>
            </a:r>
            <a:endParaRPr lang="en-US" sz="850" dirty="0"/>
          </a:p>
        </p:txBody>
      </p:sp>
      <p:sp>
        <p:nvSpPr>
          <p:cNvPr id="13" name="anim:1:337"/>
          <p:cNvSpPr/>
          <p:nvPr/>
        </p:nvSpPr>
        <p:spPr>
          <a:xfrm>
            <a:off x="6172200" y="1773936"/>
            <a:ext cx="182880" cy="182880"/>
          </a:xfrm>
          <a:prstGeom prst="ellipse">
            <a:avLst/>
          </a:prstGeom>
          <a:solidFill>
            <a:srgbClr val="1B2A4A"/>
          </a:solidFill>
          <a:ln w="12700">
            <a:solidFill>
              <a:srgbClr val="1B2A4A"/>
            </a:solidFill>
            <a:prstDash val="solid"/>
          </a:ln>
        </p:spPr>
      </p:sp>
      <p:sp>
        <p:nvSpPr>
          <p:cNvPr id="14" name="anim:1:338"/>
          <p:cNvSpPr txBox="1"/>
          <p:nvPr/>
        </p:nvSpPr>
        <p:spPr>
          <a:xfrm>
            <a:off x="6172200" y="1773936"/>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anim:1:339"/>
          <p:cNvSpPr txBox="1"/>
          <p:nvPr/>
        </p:nvSpPr>
        <p:spPr>
          <a:xfrm>
            <a:off x="6446520" y="1755648"/>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Idade publicada entre 0 e 99 (aceita "5,00"): usa.</a:t>
            </a:r>
            <a:endParaRPr lang="en-US" sz="1100" dirty="0"/>
          </a:p>
        </p:txBody>
      </p:sp>
      <p:sp>
        <p:nvSpPr>
          <p:cNvPr id="16" name="anim:1:340"/>
          <p:cNvSpPr/>
          <p:nvPr/>
        </p:nvSpPr>
        <p:spPr>
          <a:xfrm>
            <a:off x="6172200" y="2020824"/>
            <a:ext cx="182880" cy="182880"/>
          </a:xfrm>
          <a:prstGeom prst="ellipse">
            <a:avLst/>
          </a:prstGeom>
          <a:solidFill>
            <a:srgbClr val="1B2A4A"/>
          </a:solidFill>
          <a:ln w="12700">
            <a:solidFill>
              <a:srgbClr val="1B2A4A"/>
            </a:solidFill>
            <a:prstDash val="solid"/>
          </a:ln>
        </p:spPr>
      </p:sp>
      <p:sp>
        <p:nvSpPr>
          <p:cNvPr id="17" name="anim:1:341"/>
          <p:cNvSpPr txBox="1"/>
          <p:nvPr/>
        </p:nvSpPr>
        <p:spPr>
          <a:xfrm>
            <a:off x="6172200" y="2020824"/>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18" name="anim:1:342"/>
          <p:cNvSpPr txBox="1"/>
          <p:nvPr/>
        </p:nvSpPr>
        <p:spPr>
          <a:xfrm>
            <a:off x="6446520" y="2002536"/>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Senão, calcula em 31/03: 2021 − 2018 − 1 (nasceu depois de março) = 2 anos.</a:t>
            </a:r>
            <a:endParaRPr lang="en-US" sz="1100" dirty="0"/>
          </a:p>
        </p:txBody>
      </p:sp>
      <p:sp>
        <p:nvSpPr>
          <p:cNvPr id="19" name="anim:1:343"/>
          <p:cNvSpPr/>
          <p:nvPr/>
        </p:nvSpPr>
        <p:spPr>
          <a:xfrm>
            <a:off x="6172200" y="2267712"/>
            <a:ext cx="182880" cy="182880"/>
          </a:xfrm>
          <a:prstGeom prst="ellipse">
            <a:avLst/>
          </a:prstGeom>
          <a:solidFill>
            <a:srgbClr val="1B2A4A"/>
          </a:solidFill>
          <a:ln w="12700">
            <a:solidFill>
              <a:srgbClr val="1B2A4A"/>
            </a:solidFill>
            <a:prstDash val="solid"/>
          </a:ln>
        </p:spPr>
      </p:sp>
      <p:sp>
        <p:nvSpPr>
          <p:cNvPr id="20" name="anim:1:344"/>
          <p:cNvSpPr txBox="1"/>
          <p:nvPr/>
        </p:nvSpPr>
        <p:spPr>
          <a:xfrm>
            <a:off x="6172200" y="2267712"/>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1" name="anim:1:345"/>
          <p:cNvSpPr txBox="1"/>
          <p:nvPr/>
        </p:nvSpPr>
        <p:spPr>
          <a:xfrm>
            <a:off x="6446520" y="2249424"/>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Mês impossível: estima pelo ano e marca "estimada". Antes de 1901: não informada.</a:t>
            </a:r>
            <a:endParaRPr lang="en-US" sz="1100" dirty="0"/>
          </a:p>
        </p:txBody>
      </p:sp>
      <p:sp>
        <p:nvSpPr>
          <p:cNvPr id="22" name="anim:1:346"/>
          <p:cNvSpPr txBox="1"/>
          <p:nvPr/>
        </p:nvSpPr>
        <p:spPr>
          <a:xfrm>
            <a:off x="6172200" y="2532888"/>
            <a:ext cx="5303520" cy="228600"/>
          </a:xfrm>
          <a:prstGeom prst="rect">
            <a:avLst/>
          </a:prstGeom>
          <a:noFill/>
          <a:ln/>
        </p:spPr>
        <p:txBody>
          <a:bodyPr wrap="square" lIns="0" tIns="0" rIns="0" bIns="0" rtlCol="0" anchor="ctr"/>
          <a:lstStyle/>
          <a:p>
            <a:pPr algn="l" indent="0" marL="0">
              <a:buNone/>
            </a:pPr>
            <a:r>
              <a:rPr lang="en-US" sz="1100" b="1" dirty="0">
                <a:solidFill>
                  <a:srgbClr val="2E5EAA"/>
                </a:solidFill>
                <a:latin typeface="Calibri" pitchFamily="34" charset="0"/>
                <a:ea typeface="Calibri" pitchFamily="34" charset="-122"/>
                <a:cs typeface="Calibri" pitchFamily="34" charset="-120"/>
              </a:rPr>
              <a:t>A idade alimenta a faixa de 0 a 4 anos comparada com o Censo.</a:t>
            </a:r>
            <a:endParaRPr lang="en-US" sz="1100" dirty="0"/>
          </a:p>
        </p:txBody>
      </p:sp>
      <p:sp>
        <p:nvSpPr>
          <p:cNvPr id="23" name="anim:2:347"/>
          <p:cNvSpPr/>
          <p:nvPr/>
        </p:nvSpPr>
        <p:spPr>
          <a:xfrm>
            <a:off x="548640" y="2926080"/>
            <a:ext cx="11064240" cy="1417320"/>
          </a:xfrm>
          <a:prstGeom prst="roundRect">
            <a:avLst>
              <a:gd name="adj" fmla="val 7742"/>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2:348"/>
          <p:cNvSpPr/>
          <p:nvPr/>
        </p:nvSpPr>
        <p:spPr>
          <a:xfrm>
            <a:off x="731520" y="3035808"/>
            <a:ext cx="274320" cy="274320"/>
          </a:xfrm>
          <a:prstGeom prst="ellipse">
            <a:avLst/>
          </a:prstGeom>
          <a:solidFill>
            <a:srgbClr val="F2A541"/>
          </a:solidFill>
          <a:ln w="12700">
            <a:solidFill>
              <a:srgbClr val="F2A541"/>
            </a:solidFill>
            <a:prstDash val="solid"/>
          </a:ln>
        </p:spPr>
      </p:sp>
      <p:sp>
        <p:nvSpPr>
          <p:cNvPr id="25" name="anim:2:349"/>
          <p:cNvSpPr txBox="1"/>
          <p:nvPr/>
        </p:nvSpPr>
        <p:spPr>
          <a:xfrm>
            <a:off x="731520" y="303580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5</a:t>
            </a:r>
            <a:endParaRPr lang="en-US" sz="1100" dirty="0"/>
          </a:p>
        </p:txBody>
      </p:sp>
      <p:sp>
        <p:nvSpPr>
          <p:cNvPr id="26" name="anim:2:350"/>
          <p:cNvSpPr txBox="1"/>
          <p:nvPr/>
        </p:nvSpPr>
        <p:spPr>
          <a:xfrm>
            <a:off x="1097280" y="3017520"/>
            <a:ext cx="4480560" cy="310896"/>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Datas em cinco formatos</a:t>
            </a:r>
            <a:endParaRPr lang="en-US" sz="1500" dirty="0"/>
          </a:p>
        </p:txBody>
      </p:sp>
      <p:sp>
        <p:nvSpPr>
          <p:cNvPr id="27" name="anim:2:351"/>
          <p:cNvSpPr txBox="1"/>
          <p:nvPr/>
        </p:nvSpPr>
        <p:spPr>
          <a:xfrm>
            <a:off x="731520" y="3364992"/>
            <a:ext cx="5029200" cy="182880"/>
          </a:xfrm>
          <a:prstGeom prst="rect">
            <a:avLst/>
          </a:prstGeom>
          <a:noFill/>
          <a:ln/>
        </p:spPr>
        <p:txBody>
          <a:bodyPr wrap="square" lIns="0" tIns="0" rIns="0" bIns="0" rtlCol="0" anchor="ctr"/>
          <a:lstStyle/>
          <a:p>
            <a:pPr indent="0" marL="0">
              <a:buNone/>
            </a:pPr>
            <a:r>
              <a:rPr lang="en-US" sz="850" b="1" spc="100" kern="0" dirty="0">
                <a:solidFill>
                  <a:srgbClr val="566175"/>
                </a:solidFill>
                <a:latin typeface="Calibri" pitchFamily="34" charset="0"/>
                <a:ea typeface="Calibri" pitchFamily="34" charset="-122"/>
                <a:cs typeface="Calibri" pitchFamily="34" charset="-120"/>
              </a:rPr>
              <a:t>COMO CHEGOU</a:t>
            </a:r>
            <a:pPr indent="0" marL="0">
              <a:buNone/>
            </a:pPr>
            <a:endParaRPr lang="en-US" sz="8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31520" y="3529584"/>
          <a:ext cx="5029200" cy="914400"/>
        </p:xfrm>
        <a:graphic>
          <a:graphicData uri="http://schemas.openxmlformats.org/drawingml/2006/table">
            <a:tbl>
              <a:tblPr/>
              <a:tblGrid>
                <a:gridCol w="2560320"/>
                <a:gridCol w="2468880"/>
              </a:tblGrid>
              <a:tr h="146304">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como chega</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quando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2019-02-04 00:00:00</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2015-2019 e 2022</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1/10/2020 00:02:24</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2020</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01/02/2023 00:00</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2023-2024</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45397</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metade de 2024</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bl>
          </a:graphicData>
        </a:graphic>
      </p:graphicFrame>
      <p:sp>
        <p:nvSpPr>
          <p:cNvPr id="29" name="anim:2:352"/>
          <p:cNvSpPr/>
          <p:nvPr/>
        </p:nvSpPr>
        <p:spPr>
          <a:xfrm>
            <a:off x="5989320" y="3063240"/>
            <a:ext cx="0" cy="1143000"/>
          </a:xfrm>
          <a:prstGeom prst="line">
            <a:avLst/>
          </a:prstGeom>
          <a:noFill/>
          <a:ln w="9525">
            <a:solidFill>
              <a:srgbClr val="D6E0F0"/>
            </a:solidFill>
            <a:prstDash val="solid"/>
          </a:ln>
        </p:spPr>
      </p:sp>
      <p:sp>
        <p:nvSpPr>
          <p:cNvPr id="30" name="anim:2:353"/>
          <p:cNvSpPr txBox="1"/>
          <p:nvPr/>
        </p:nvSpPr>
        <p:spPr>
          <a:xfrm>
            <a:off x="6172200" y="3035808"/>
            <a:ext cx="5212080" cy="182880"/>
          </a:xfrm>
          <a:prstGeom prst="rect">
            <a:avLst/>
          </a:prstGeom>
          <a:noFill/>
          <a:ln/>
        </p:spPr>
        <p:txBody>
          <a:bodyPr wrap="square" lIns="0" tIns="0" rIns="0" bIns="0" rtlCol="0" anchor="t"/>
          <a:lstStyle/>
          <a:p>
            <a:pPr algn="l" indent="0" marL="0">
              <a:buNone/>
            </a:pPr>
            <a:r>
              <a:rPr lang="en-US" sz="850" b="1" spc="100" kern="0" dirty="0">
                <a:solidFill>
                  <a:srgbClr val="566175"/>
                </a:solidFill>
                <a:latin typeface="Calibri" pitchFamily="34" charset="0"/>
                <a:ea typeface="Calibri" pitchFamily="34" charset="-122"/>
                <a:cs typeface="Calibri" pitchFamily="34" charset="-120"/>
              </a:rPr>
              <a:t>O QUE FIZEMOS</a:t>
            </a:r>
            <a:endParaRPr lang="en-US" sz="850" dirty="0"/>
          </a:p>
        </p:txBody>
      </p:sp>
      <p:sp>
        <p:nvSpPr>
          <p:cNvPr id="31" name="anim:2:354"/>
          <p:cNvSpPr/>
          <p:nvPr/>
        </p:nvSpPr>
        <p:spPr>
          <a:xfrm>
            <a:off x="6172200" y="3282696"/>
            <a:ext cx="182880" cy="182880"/>
          </a:xfrm>
          <a:prstGeom prst="ellipse">
            <a:avLst/>
          </a:prstGeom>
          <a:solidFill>
            <a:srgbClr val="1B2A4A"/>
          </a:solidFill>
          <a:ln w="12700">
            <a:solidFill>
              <a:srgbClr val="1B2A4A"/>
            </a:solidFill>
            <a:prstDash val="solid"/>
          </a:ln>
        </p:spPr>
      </p:sp>
      <p:sp>
        <p:nvSpPr>
          <p:cNvPr id="32" name="anim:2:355"/>
          <p:cNvSpPr txBox="1"/>
          <p:nvPr/>
        </p:nvSpPr>
        <p:spPr>
          <a:xfrm>
            <a:off x="6172200" y="3282696"/>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3" name="anim:2:356"/>
          <p:cNvSpPr txBox="1"/>
          <p:nvPr/>
        </p:nvSpPr>
        <p:spPr>
          <a:xfrm>
            <a:off x="6446520" y="3264408"/>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Cinco dígitos: serial do Excel, dias desde 30/12/1899. 45397 = 15/04/2024.</a:t>
            </a:r>
            <a:endParaRPr lang="en-US" sz="1100" dirty="0"/>
          </a:p>
        </p:txBody>
      </p:sp>
      <p:sp>
        <p:nvSpPr>
          <p:cNvPr id="34" name="anim:2:357"/>
          <p:cNvSpPr/>
          <p:nvPr/>
        </p:nvSpPr>
        <p:spPr>
          <a:xfrm>
            <a:off x="6172200" y="3529584"/>
            <a:ext cx="182880" cy="182880"/>
          </a:xfrm>
          <a:prstGeom prst="ellipse">
            <a:avLst/>
          </a:prstGeom>
          <a:solidFill>
            <a:srgbClr val="1B2A4A"/>
          </a:solidFill>
          <a:ln w="12700">
            <a:solidFill>
              <a:srgbClr val="1B2A4A"/>
            </a:solidFill>
            <a:prstDash val="solid"/>
          </a:ln>
        </p:spPr>
      </p:sp>
      <p:sp>
        <p:nvSpPr>
          <p:cNvPr id="35" name="anim:2:358"/>
          <p:cNvSpPr txBox="1"/>
          <p:nvPr/>
        </p:nvSpPr>
        <p:spPr>
          <a:xfrm>
            <a:off x="6172200" y="3529584"/>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6" name="anim:2:359"/>
          <p:cNvSpPr txBox="1"/>
          <p:nvPr/>
        </p:nvSpPr>
        <p:spPr>
          <a:xfrm>
            <a:off x="6446520" y="3511296"/>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Senão, tenta os formatos de texto um por um. 2021 não tem data: "não informada".</a:t>
            </a:r>
            <a:endParaRPr lang="en-US" sz="1100" dirty="0"/>
          </a:p>
        </p:txBody>
      </p:sp>
      <p:sp>
        <p:nvSpPr>
          <p:cNvPr id="37" name="anim:2:360"/>
          <p:cNvSpPr/>
          <p:nvPr/>
        </p:nvSpPr>
        <p:spPr>
          <a:xfrm>
            <a:off x="6172200" y="3776472"/>
            <a:ext cx="182880" cy="182880"/>
          </a:xfrm>
          <a:prstGeom prst="ellipse">
            <a:avLst/>
          </a:prstGeom>
          <a:solidFill>
            <a:srgbClr val="1B2A4A"/>
          </a:solidFill>
          <a:ln w="12700">
            <a:solidFill>
              <a:srgbClr val="1B2A4A"/>
            </a:solidFill>
            <a:prstDash val="solid"/>
          </a:ln>
        </p:spPr>
      </p:sp>
      <p:sp>
        <p:nvSpPr>
          <p:cNvPr id="38" name="anim:2:361"/>
          <p:cNvSpPr txBox="1"/>
          <p:nvPr/>
        </p:nvSpPr>
        <p:spPr>
          <a:xfrm>
            <a:off x="6172200" y="3776472"/>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9" name="anim:2:362"/>
          <p:cNvSpPr txBox="1"/>
          <p:nvPr/>
        </p:nvSpPr>
        <p:spPr>
          <a:xfrm>
            <a:off x="6446520" y="3758184"/>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Fora de 1º/1 do ano anterior a 31/12 do ano seguinte: data descartada.</a:t>
            </a:r>
            <a:endParaRPr lang="en-US" sz="1100" dirty="0"/>
          </a:p>
        </p:txBody>
      </p:sp>
      <p:sp>
        <p:nvSpPr>
          <p:cNvPr id="40" name="anim:2:363"/>
          <p:cNvSpPr txBox="1"/>
          <p:nvPr/>
        </p:nvSpPr>
        <p:spPr>
          <a:xfrm>
            <a:off x="6172200" y="4041648"/>
            <a:ext cx="5303520" cy="228600"/>
          </a:xfrm>
          <a:prstGeom prst="rect">
            <a:avLst/>
          </a:prstGeom>
          <a:noFill/>
          <a:ln/>
        </p:spPr>
        <p:txBody>
          <a:bodyPr wrap="square" lIns="0" tIns="0" rIns="0" bIns="0" rtlCol="0" anchor="ctr"/>
          <a:lstStyle/>
          <a:p>
            <a:pPr algn="l" indent="0" marL="0">
              <a:buNone/>
            </a:pPr>
            <a:r>
              <a:rPr lang="en-US" sz="1100" b="1" dirty="0">
                <a:solidFill>
                  <a:srgbClr val="2E5EAA"/>
                </a:solidFill>
                <a:latin typeface="Calibri" pitchFamily="34" charset="0"/>
                <a:ea typeface="Calibri" pitchFamily="34" charset="-122"/>
                <a:cs typeface="Calibri" pitchFamily="34" charset="-120"/>
              </a:rPr>
              <a:t>Com início e fim, sabemos quem estava matriculado em 30 de junho.</a:t>
            </a:r>
            <a:endParaRPr lang="en-US" sz="1100" dirty="0"/>
          </a:p>
        </p:txBody>
      </p:sp>
      <p:sp>
        <p:nvSpPr>
          <p:cNvPr id="41" name="anim:3:364"/>
          <p:cNvSpPr/>
          <p:nvPr/>
        </p:nvSpPr>
        <p:spPr>
          <a:xfrm>
            <a:off x="548640" y="4434840"/>
            <a:ext cx="11064240" cy="1417320"/>
          </a:xfrm>
          <a:prstGeom prst="roundRect">
            <a:avLst>
              <a:gd name="adj" fmla="val 7742"/>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42" name="anim:3:365"/>
          <p:cNvSpPr/>
          <p:nvPr/>
        </p:nvSpPr>
        <p:spPr>
          <a:xfrm>
            <a:off x="731520" y="4544568"/>
            <a:ext cx="274320" cy="274320"/>
          </a:xfrm>
          <a:prstGeom prst="ellipse">
            <a:avLst/>
          </a:prstGeom>
          <a:solidFill>
            <a:srgbClr val="F2A541"/>
          </a:solidFill>
          <a:ln w="12700">
            <a:solidFill>
              <a:srgbClr val="F2A541"/>
            </a:solidFill>
            <a:prstDash val="solid"/>
          </a:ln>
        </p:spPr>
      </p:sp>
      <p:sp>
        <p:nvSpPr>
          <p:cNvPr id="43" name="anim:3:366"/>
          <p:cNvSpPr txBox="1"/>
          <p:nvPr/>
        </p:nvSpPr>
        <p:spPr>
          <a:xfrm>
            <a:off x="731520" y="454456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6</a:t>
            </a:r>
            <a:endParaRPr lang="en-US" sz="1100" dirty="0"/>
          </a:p>
        </p:txBody>
      </p:sp>
      <p:sp>
        <p:nvSpPr>
          <p:cNvPr id="44" name="anim:3:367"/>
          <p:cNvSpPr txBox="1"/>
          <p:nvPr/>
        </p:nvSpPr>
        <p:spPr>
          <a:xfrm>
            <a:off x="1097280" y="4526280"/>
            <a:ext cx="4480560" cy="310896"/>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Valores suprimidos pelo IBGE</a:t>
            </a:r>
            <a:endParaRPr lang="en-US" sz="1500" dirty="0"/>
          </a:p>
        </p:txBody>
      </p:sp>
      <p:sp>
        <p:nvSpPr>
          <p:cNvPr id="45" name="anim:3:368"/>
          <p:cNvSpPr txBox="1"/>
          <p:nvPr/>
        </p:nvSpPr>
        <p:spPr>
          <a:xfrm>
            <a:off x="731520" y="4873752"/>
            <a:ext cx="5029200" cy="182880"/>
          </a:xfrm>
          <a:prstGeom prst="rect">
            <a:avLst/>
          </a:prstGeom>
          <a:noFill/>
          <a:ln/>
        </p:spPr>
        <p:txBody>
          <a:bodyPr wrap="square" lIns="0" tIns="0" rIns="0" bIns="0" rtlCol="0" anchor="ctr"/>
          <a:lstStyle/>
          <a:p>
            <a:pPr indent="0" marL="0">
              <a:buNone/>
            </a:pPr>
            <a:r>
              <a:rPr lang="en-US" sz="850" b="1" spc="100" kern="0" dirty="0">
                <a:solidFill>
                  <a:srgbClr val="566175"/>
                </a:solidFill>
                <a:latin typeface="Calibri" pitchFamily="34" charset="0"/>
                <a:ea typeface="Calibri" pitchFamily="34" charset="-122"/>
                <a:cs typeface="Calibri" pitchFamily="34" charset="-120"/>
              </a:rPr>
              <a:t>COMO CHEGOU</a:t>
            </a:r>
            <a:pPr indent="0" marL="0">
              <a:buNone/>
            </a:pPr>
            <a:r>
              <a:rPr lang="en-US" sz="850" dirty="0">
                <a:solidFill>
                  <a:srgbClr val="566175"/>
                </a:solidFill>
                <a:latin typeface="Calibri" pitchFamily="34" charset="0"/>
                <a:ea typeface="Calibri" pitchFamily="34" charset="-122"/>
                <a:cs typeface="Calibri" pitchFamily="34" charset="-120"/>
              </a:rPr>
              <a:t>  · exemplo ilustrativo</a:t>
            </a:r>
            <a:endParaRPr lang="en-US" sz="85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731520" y="5038344"/>
          <a:ext cx="5029200" cy="914400"/>
        </p:xfrm>
        <a:graphic>
          <a:graphicData uri="http://schemas.openxmlformats.org/drawingml/2006/table">
            <a:tbl>
              <a:tblPr/>
              <a:tblGrid>
                <a:gridCol w="2103120"/>
                <a:gridCol w="1463040"/>
                <a:gridCol w="1463040"/>
              </a:tblGrid>
              <a:tr h="146304">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setor censitário</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0 a 4 anos</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750" b="1" dirty="0">
                          <a:solidFill>
                            <a:srgbClr val="566175"/>
                          </a:solidFill>
                          <a:latin typeface="Consolas" pitchFamily="34" charset="0"/>
                          <a:ea typeface="Consolas" pitchFamily="34" charset="-122"/>
                          <a:cs typeface="Consolas" pitchFamily="34" charset="-120"/>
                        </a:rPr>
                        <a:t>5 a 9 anos</a:t>
                      </a:r>
                      <a:endParaRPr lang="en-US" sz="75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3550308…</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37</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41</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146304">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3550308…</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X</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900" dirty="0">
                          <a:solidFill>
                            <a:srgbClr val="1F2937"/>
                          </a:solidFill>
                          <a:latin typeface="Consolas" pitchFamily="34" charset="0"/>
                          <a:ea typeface="Consolas" pitchFamily="34" charset="-122"/>
                          <a:cs typeface="Consolas" pitchFamily="34" charset="-120"/>
                        </a:rPr>
                        <a:t>X</a:t>
                      </a:r>
                      <a:endParaRPr lang="en-US" sz="900" dirty="0">
                        <a:latin typeface="Consolas" charset="0"/>
                        <a:ea typeface="Consolas" charset="0"/>
                        <a:cs typeface="Consolas" charset="0"/>
                      </a:endParaRPr>
                    </a:p>
                  </a:txBody>
                  <a:tcPr marL="0" marR="54864" marT="9144" marB="9144"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bl>
          </a:graphicData>
        </a:graphic>
      </p:graphicFrame>
      <p:sp>
        <p:nvSpPr>
          <p:cNvPr id="47" name="anim:3:369"/>
          <p:cNvSpPr/>
          <p:nvPr/>
        </p:nvSpPr>
        <p:spPr>
          <a:xfrm>
            <a:off x="5989320" y="4572000"/>
            <a:ext cx="0" cy="1143000"/>
          </a:xfrm>
          <a:prstGeom prst="line">
            <a:avLst/>
          </a:prstGeom>
          <a:noFill/>
          <a:ln w="9525">
            <a:solidFill>
              <a:srgbClr val="D6E0F0"/>
            </a:solidFill>
            <a:prstDash val="solid"/>
          </a:ln>
        </p:spPr>
      </p:sp>
      <p:sp>
        <p:nvSpPr>
          <p:cNvPr id="48" name="anim:3:370"/>
          <p:cNvSpPr txBox="1"/>
          <p:nvPr/>
        </p:nvSpPr>
        <p:spPr>
          <a:xfrm>
            <a:off x="6172200" y="4544568"/>
            <a:ext cx="5212080" cy="182880"/>
          </a:xfrm>
          <a:prstGeom prst="rect">
            <a:avLst/>
          </a:prstGeom>
          <a:noFill/>
          <a:ln/>
        </p:spPr>
        <p:txBody>
          <a:bodyPr wrap="square" lIns="0" tIns="0" rIns="0" bIns="0" rtlCol="0" anchor="t"/>
          <a:lstStyle/>
          <a:p>
            <a:pPr algn="l" indent="0" marL="0">
              <a:buNone/>
            </a:pPr>
            <a:r>
              <a:rPr lang="en-US" sz="850" b="1" spc="100" kern="0" dirty="0">
                <a:solidFill>
                  <a:srgbClr val="566175"/>
                </a:solidFill>
                <a:latin typeface="Calibri" pitchFamily="34" charset="0"/>
                <a:ea typeface="Calibri" pitchFamily="34" charset="-122"/>
                <a:cs typeface="Calibri" pitchFamily="34" charset="-120"/>
              </a:rPr>
              <a:t>O QUE FIZEMOS</a:t>
            </a:r>
            <a:endParaRPr lang="en-US" sz="850" dirty="0"/>
          </a:p>
        </p:txBody>
      </p:sp>
      <p:sp>
        <p:nvSpPr>
          <p:cNvPr id="49" name="anim:3:371"/>
          <p:cNvSpPr/>
          <p:nvPr/>
        </p:nvSpPr>
        <p:spPr>
          <a:xfrm>
            <a:off x="6172200" y="4791456"/>
            <a:ext cx="182880" cy="182880"/>
          </a:xfrm>
          <a:prstGeom prst="ellipse">
            <a:avLst/>
          </a:prstGeom>
          <a:solidFill>
            <a:srgbClr val="1B2A4A"/>
          </a:solidFill>
          <a:ln w="12700">
            <a:solidFill>
              <a:srgbClr val="1B2A4A"/>
            </a:solidFill>
            <a:prstDash val="solid"/>
          </a:ln>
        </p:spPr>
      </p:sp>
      <p:sp>
        <p:nvSpPr>
          <p:cNvPr id="50" name="anim:3:372"/>
          <p:cNvSpPr txBox="1"/>
          <p:nvPr/>
        </p:nvSpPr>
        <p:spPr>
          <a:xfrm>
            <a:off x="6172200" y="4791456"/>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1" name="anim:3:373"/>
          <p:cNvSpPr txBox="1"/>
          <p:nvPr/>
        </p:nvSpPr>
        <p:spPr>
          <a:xfrm>
            <a:off x="6446520" y="4773168"/>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Só dígitos viram número; o X vira nulo: "não publicado".</a:t>
            </a:r>
            <a:endParaRPr lang="en-US" sz="1100" dirty="0"/>
          </a:p>
        </p:txBody>
      </p:sp>
      <p:sp>
        <p:nvSpPr>
          <p:cNvPr id="52" name="anim:3:374"/>
          <p:cNvSpPr/>
          <p:nvPr/>
        </p:nvSpPr>
        <p:spPr>
          <a:xfrm>
            <a:off x="6172200" y="5038344"/>
            <a:ext cx="182880" cy="182880"/>
          </a:xfrm>
          <a:prstGeom prst="ellipse">
            <a:avLst/>
          </a:prstGeom>
          <a:solidFill>
            <a:srgbClr val="1B2A4A"/>
          </a:solidFill>
          <a:ln w="12700">
            <a:solidFill>
              <a:srgbClr val="1B2A4A"/>
            </a:solidFill>
            <a:prstDash val="solid"/>
          </a:ln>
        </p:spPr>
      </p:sp>
      <p:sp>
        <p:nvSpPr>
          <p:cNvPr id="53" name="anim:3:375"/>
          <p:cNvSpPr txBox="1"/>
          <p:nvPr/>
        </p:nvSpPr>
        <p:spPr>
          <a:xfrm>
            <a:off x="6172200" y="5038344"/>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54" name="anim:3:376"/>
          <p:cNvSpPr txBox="1"/>
          <p:nvPr/>
        </p:nvSpPr>
        <p:spPr>
          <a:xfrm>
            <a:off x="6446520" y="5020056"/>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Conta os nulos: 6.543 na carga real, e a verificação Q12 avisa.</a:t>
            </a:r>
            <a:endParaRPr lang="en-US" sz="1100" dirty="0"/>
          </a:p>
        </p:txBody>
      </p:sp>
      <p:sp>
        <p:nvSpPr>
          <p:cNvPr id="55" name="anim:3:377"/>
          <p:cNvSpPr/>
          <p:nvPr/>
        </p:nvSpPr>
        <p:spPr>
          <a:xfrm>
            <a:off x="6172200" y="5285232"/>
            <a:ext cx="182880" cy="182880"/>
          </a:xfrm>
          <a:prstGeom prst="ellipse">
            <a:avLst/>
          </a:prstGeom>
          <a:solidFill>
            <a:srgbClr val="1B2A4A"/>
          </a:solidFill>
          <a:ln w="12700">
            <a:solidFill>
              <a:srgbClr val="1B2A4A"/>
            </a:solidFill>
            <a:prstDash val="solid"/>
          </a:ln>
        </p:spPr>
      </p:sp>
      <p:sp>
        <p:nvSpPr>
          <p:cNvPr id="56" name="anim:3:378"/>
          <p:cNvSpPr txBox="1"/>
          <p:nvPr/>
        </p:nvSpPr>
        <p:spPr>
          <a:xfrm>
            <a:off x="6172200" y="5285232"/>
            <a:ext cx="182880"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57" name="anim:3:379"/>
          <p:cNvSpPr txBox="1"/>
          <p:nvPr/>
        </p:nvSpPr>
        <p:spPr>
          <a:xfrm>
            <a:off x="6446520" y="5266944"/>
            <a:ext cx="5029200" cy="228600"/>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Se a maioria dos valores não for número, a leitura para: o layout do arquivo mudou.</a:t>
            </a:r>
            <a:endParaRPr lang="en-US" sz="1100" dirty="0"/>
          </a:p>
        </p:txBody>
      </p:sp>
      <p:sp>
        <p:nvSpPr>
          <p:cNvPr id="58" name="anim:3:380"/>
          <p:cNvSpPr txBox="1"/>
          <p:nvPr/>
        </p:nvSpPr>
        <p:spPr>
          <a:xfrm>
            <a:off x="6172200" y="5550408"/>
            <a:ext cx="5303520" cy="228600"/>
          </a:xfrm>
          <a:prstGeom prst="rect">
            <a:avLst/>
          </a:prstGeom>
          <a:noFill/>
          <a:ln/>
        </p:spPr>
        <p:txBody>
          <a:bodyPr wrap="square" lIns="0" tIns="0" rIns="0" bIns="0" rtlCol="0" anchor="ctr"/>
          <a:lstStyle/>
          <a:p>
            <a:pPr algn="l" indent="0" marL="0">
              <a:buNone/>
            </a:pPr>
            <a:r>
              <a:rPr lang="en-US" sz="1100" b="1" dirty="0">
                <a:solidFill>
                  <a:srgbClr val="2E5EAA"/>
                </a:solidFill>
                <a:latin typeface="Calibri" pitchFamily="34" charset="0"/>
                <a:ea typeface="Calibri" pitchFamily="34" charset="-122"/>
                <a:cs typeface="Calibri" pitchFamily="34" charset="-120"/>
              </a:rPr>
              <a:t>Nulo não é zero: zero diria "nenhuma criança mora ali".</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par>
                          <p:cTn id="84" fill="hold">
                            <p:stCondLst>
                              <p:cond delay="250"/>
                            </p:stCondLst>
                            <p:childTnLst>
                              <p:par>
                                <p:cTn id="85" presetID="10" presetClass="entr" presetSubtype="0" fill="hold" grpId="0" nodeType="with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400"/>
                                        <p:tgtEl>
                                          <p:spTgt spid="26"/>
                                        </p:tgtEl>
                                      </p:cBhvr>
                                    </p:animEffect>
                                  </p:childTnLst>
                                </p:cTn>
                              </p:par>
                            </p:childTnLst>
                          </p:cTn>
                        </p:par>
                        <p:par>
                          <p:cTn id="88" fill="hold">
                            <p:stCondLst>
                              <p:cond delay="250"/>
                            </p:stCondLst>
                            <p:childTnLst>
                              <p:par>
                                <p:cTn id="89" presetID="10" presetClass="entr" presetSubtype="0" fill="hold" grpId="0" nodeType="withEffect">
                                  <p:stCondLst>
                                    <p:cond delay="0"/>
                                  </p:stCondLst>
                                  <p:childTnLst>
                                    <p:set>
                                      <p:cBhvr>
                                        <p:cTn id="90" dur="1" fill="hold">
                                          <p:stCondLst>
                                            <p:cond delay="0"/>
                                          </p:stCondLst>
                                        </p:cTn>
                                        <p:tgtEl>
                                          <p:spTgt spid="27"/>
                                        </p:tgtEl>
                                        <p:attrNameLst>
                                          <p:attrName>style.visibility</p:attrName>
                                        </p:attrNameLst>
                                      </p:cBhvr>
                                      <p:to>
                                        <p:strVal val="visible"/>
                                      </p:to>
                                    </p:set>
                                    <p:animEffect transition="in" filter="fade">
                                      <p:cBhvr>
                                        <p:cTn id="91" dur="400"/>
                                        <p:tgtEl>
                                          <p:spTgt spid="27"/>
                                        </p:tgtEl>
                                      </p:cBhvr>
                                    </p:animEffect>
                                  </p:childTnLst>
                                </p:cTn>
                              </p:par>
                            </p:childTnLst>
                          </p:cTn>
                        </p:par>
                        <p:par>
                          <p:cTn id="92" fill="hold">
                            <p:stCondLst>
                              <p:cond delay="250"/>
                            </p:stCondLst>
                            <p:childTnLst>
                              <p:par>
                                <p:cTn id="93" presetID="10" presetClass="entr" presetSubtype="0" fill="hold" grpId="0"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400"/>
                                        <p:tgtEl>
                                          <p:spTgt spid="29"/>
                                        </p:tgtEl>
                                      </p:cBhvr>
                                    </p:animEffect>
                                  </p:childTnLst>
                                </p:cTn>
                              </p:par>
                            </p:childTnLst>
                          </p:cTn>
                        </p:par>
                        <p:par>
                          <p:cTn id="96" fill="hold">
                            <p:stCondLst>
                              <p:cond delay="250"/>
                            </p:stCondLst>
                            <p:childTnLst>
                              <p:par>
                                <p:cTn id="97" presetID="10"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400"/>
                                        <p:tgtEl>
                                          <p:spTgt spid="30"/>
                                        </p:tgtEl>
                                      </p:cBhvr>
                                    </p:animEffect>
                                  </p:childTnLst>
                                </p:cTn>
                              </p:par>
                            </p:childTnLst>
                          </p:cTn>
                        </p:par>
                        <p:par>
                          <p:cTn id="100" fill="hold">
                            <p:stCondLst>
                              <p:cond delay="250"/>
                            </p:stCondLst>
                            <p:childTnLst>
                              <p:par>
                                <p:cTn id="101" presetID="10" presetClass="entr" presetSubtype="0" fill="hold" grpId="0" nodeType="with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400"/>
                                        <p:tgtEl>
                                          <p:spTgt spid="31"/>
                                        </p:tgtEl>
                                      </p:cBhvr>
                                    </p:animEffect>
                                  </p:childTnLst>
                                </p:cTn>
                              </p:par>
                            </p:childTnLst>
                          </p:cTn>
                        </p:par>
                        <p:par>
                          <p:cTn id="104" fill="hold">
                            <p:stCondLst>
                              <p:cond delay="250"/>
                            </p:stCondLst>
                            <p:childTnLst>
                              <p:par>
                                <p:cTn id="105" presetID="10" presetClass="entr" presetSubtype="0" fill="hold" grpId="0" nodeType="withEffect">
                                  <p:stCondLst>
                                    <p:cond delay="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400"/>
                                        <p:tgtEl>
                                          <p:spTgt spid="32"/>
                                        </p:tgtEl>
                                      </p:cBhvr>
                                    </p:animEffect>
                                  </p:childTnLst>
                                </p:cTn>
                              </p:par>
                            </p:childTnLst>
                          </p:cTn>
                        </p:par>
                        <p:par>
                          <p:cTn id="108" fill="hold">
                            <p:stCondLst>
                              <p:cond delay="250"/>
                            </p:stCondLst>
                            <p:childTnLst>
                              <p:par>
                                <p:cTn id="109"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400"/>
                                        <p:tgtEl>
                                          <p:spTgt spid="33"/>
                                        </p:tgtEl>
                                      </p:cBhvr>
                                    </p:animEffect>
                                  </p:childTnLst>
                                </p:cTn>
                              </p:par>
                            </p:childTnLst>
                          </p:cTn>
                        </p:par>
                        <p:par>
                          <p:cTn id="112" fill="hold">
                            <p:stCondLst>
                              <p:cond delay="250"/>
                            </p:stCondLst>
                            <p:childTnLst>
                              <p:par>
                                <p:cTn id="113" presetID="10" presetClass="entr" presetSubtype="0" fill="hold" grpId="0" nodeType="withEffect">
                                  <p:stCondLst>
                                    <p:cond delay="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400"/>
                                        <p:tgtEl>
                                          <p:spTgt spid="34"/>
                                        </p:tgtEl>
                                      </p:cBhvr>
                                    </p:animEffect>
                                  </p:childTnLst>
                                </p:cTn>
                              </p:par>
                            </p:childTnLst>
                          </p:cTn>
                        </p:par>
                        <p:par>
                          <p:cTn id="116" fill="hold">
                            <p:stCondLst>
                              <p:cond delay="250"/>
                            </p:stCondLst>
                            <p:childTnLst>
                              <p:par>
                                <p:cTn id="117" presetID="10" presetClass="entr" presetSubtype="0" fill="hold" grpId="0" nodeType="withEffect">
                                  <p:stCondLst>
                                    <p:cond delay="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400"/>
                                        <p:tgtEl>
                                          <p:spTgt spid="35"/>
                                        </p:tgtEl>
                                      </p:cBhvr>
                                    </p:animEffect>
                                  </p:childTnLst>
                                </p:cTn>
                              </p:par>
                            </p:childTnLst>
                          </p:cTn>
                        </p:par>
                        <p:par>
                          <p:cTn id="120" fill="hold">
                            <p:stCondLst>
                              <p:cond delay="250"/>
                            </p:stCondLst>
                            <p:childTnLst>
                              <p:par>
                                <p:cTn id="121" presetID="10" presetClass="entr" presetSubtype="0" fill="hold" grpId="0" nodeType="withEffect">
                                  <p:stCondLst>
                                    <p:cond delay="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400"/>
                                        <p:tgtEl>
                                          <p:spTgt spid="36"/>
                                        </p:tgtEl>
                                      </p:cBhvr>
                                    </p:animEffect>
                                  </p:childTnLst>
                                </p:cTn>
                              </p:par>
                            </p:childTnLst>
                          </p:cTn>
                        </p:par>
                        <p:par>
                          <p:cTn id="124" fill="hold">
                            <p:stCondLst>
                              <p:cond delay="250"/>
                            </p:stCondLst>
                            <p:childTnLst>
                              <p:par>
                                <p:cTn id="125" presetID="10" presetClass="entr" presetSubtype="0" fill="hold" grpId="0" nodeType="withEffect">
                                  <p:stCondLst>
                                    <p:cond delay="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400"/>
                                        <p:tgtEl>
                                          <p:spTgt spid="37"/>
                                        </p:tgtEl>
                                      </p:cBhvr>
                                    </p:animEffect>
                                  </p:childTnLst>
                                </p:cTn>
                              </p:par>
                            </p:childTnLst>
                          </p:cTn>
                        </p:par>
                        <p:par>
                          <p:cTn id="128" fill="hold">
                            <p:stCondLst>
                              <p:cond delay="250"/>
                            </p:stCondLst>
                            <p:childTnLst>
                              <p:par>
                                <p:cTn id="129" presetID="10" presetClass="entr" presetSubtype="0" fill="hold" grpId="0" nodeType="withEffect">
                                  <p:stCondLst>
                                    <p:cond delay="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400"/>
                                        <p:tgtEl>
                                          <p:spTgt spid="38"/>
                                        </p:tgtEl>
                                      </p:cBhvr>
                                    </p:animEffect>
                                  </p:childTnLst>
                                </p:cTn>
                              </p:par>
                            </p:childTnLst>
                          </p:cTn>
                        </p:par>
                        <p:par>
                          <p:cTn id="132" fill="hold">
                            <p:stCondLst>
                              <p:cond delay="250"/>
                            </p:stCondLst>
                            <p:childTnLst>
                              <p:par>
                                <p:cTn id="133" presetID="10" presetClass="entr" presetSubtype="0" fill="hold" grpId="0" nodeType="withEffect">
                                  <p:stCondLst>
                                    <p:cond delay="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400"/>
                                        <p:tgtEl>
                                          <p:spTgt spid="39"/>
                                        </p:tgtEl>
                                      </p:cBhvr>
                                    </p:animEffect>
                                  </p:childTnLst>
                                </p:cTn>
                              </p:par>
                            </p:childTnLst>
                          </p:cTn>
                        </p:par>
                        <p:par>
                          <p:cTn id="136" fill="hold">
                            <p:stCondLst>
                              <p:cond delay="250"/>
                            </p:stCondLst>
                            <p:childTnLst>
                              <p:par>
                                <p:cTn id="137" presetID="10" presetClass="entr" presetSubtype="0" fill="hold" grpId="0" nodeType="withEffect">
                                  <p:stCondLst>
                                    <p:cond delay="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400"/>
                                        <p:tgtEl>
                                          <p:spTgt spid="40"/>
                                        </p:tgtEl>
                                      </p:cBhvr>
                                    </p:animEffect>
                                  </p:childTnLst>
                                </p:cTn>
                              </p:par>
                            </p:childTnLst>
                          </p:cTn>
                        </p:par>
                        <p:par>
                          <p:cTn id="140" fill="hold">
                            <p:stCondLst>
                              <p:cond delay="500"/>
                            </p:stCondLst>
                            <p:childTnLst>
                              <p:par>
                                <p:cTn id="141" presetID="10" presetClass="entr" presetSubtype="0" fill="hold" grpId="0" nodeType="withEffect">
                                  <p:stCondLst>
                                    <p:cond delay="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400"/>
                                        <p:tgtEl>
                                          <p:spTgt spid="41"/>
                                        </p:tgtEl>
                                      </p:cBhvr>
                                    </p:animEffect>
                                  </p:childTnLst>
                                </p:cTn>
                              </p:par>
                            </p:childTnLst>
                          </p:cTn>
                        </p:par>
                        <p:par>
                          <p:cTn id="144" fill="hold">
                            <p:stCondLst>
                              <p:cond delay="500"/>
                            </p:stCondLst>
                            <p:childTnLst>
                              <p:par>
                                <p:cTn id="145" presetID="10" presetClass="entr" presetSubtype="0" fill="hold" grpId="0" nodeType="withEffect">
                                  <p:stCondLst>
                                    <p:cond delay="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400"/>
                                        <p:tgtEl>
                                          <p:spTgt spid="42"/>
                                        </p:tgtEl>
                                      </p:cBhvr>
                                    </p:animEffect>
                                  </p:childTnLst>
                                </p:cTn>
                              </p:par>
                            </p:childTnLst>
                          </p:cTn>
                        </p:par>
                        <p:par>
                          <p:cTn id="148" fill="hold">
                            <p:stCondLst>
                              <p:cond delay="500"/>
                            </p:stCondLst>
                            <p:childTnLst>
                              <p:par>
                                <p:cTn id="149" presetID="10" presetClass="entr" presetSubtype="0" fill="hold" grpId="0" nodeType="withEffect">
                                  <p:stCondLst>
                                    <p:cond delay="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400"/>
                                        <p:tgtEl>
                                          <p:spTgt spid="43"/>
                                        </p:tgtEl>
                                      </p:cBhvr>
                                    </p:animEffect>
                                  </p:childTnLst>
                                </p:cTn>
                              </p:par>
                            </p:childTnLst>
                          </p:cTn>
                        </p:par>
                        <p:par>
                          <p:cTn id="152" fill="hold">
                            <p:stCondLst>
                              <p:cond delay="500"/>
                            </p:stCondLst>
                            <p:childTnLst>
                              <p:par>
                                <p:cTn id="153" presetID="10" presetClass="entr" presetSubtype="0" fill="hold" grpId="0" nodeType="withEffect">
                                  <p:stCondLst>
                                    <p:cond delay="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400"/>
                                        <p:tgtEl>
                                          <p:spTgt spid="44"/>
                                        </p:tgtEl>
                                      </p:cBhvr>
                                    </p:animEffect>
                                  </p:childTnLst>
                                </p:cTn>
                              </p:par>
                            </p:childTnLst>
                          </p:cTn>
                        </p:par>
                        <p:par>
                          <p:cTn id="156" fill="hold">
                            <p:stCondLst>
                              <p:cond delay="500"/>
                            </p:stCondLst>
                            <p:childTnLst>
                              <p:par>
                                <p:cTn id="157" presetID="10" presetClass="entr" presetSubtype="0" fill="hold" grpId="0" nodeType="withEffect">
                                  <p:stCondLst>
                                    <p:cond delay="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400"/>
                                        <p:tgtEl>
                                          <p:spTgt spid="45"/>
                                        </p:tgtEl>
                                      </p:cBhvr>
                                    </p:animEffect>
                                  </p:childTnLst>
                                </p:cTn>
                              </p:par>
                            </p:childTnLst>
                          </p:cTn>
                        </p:par>
                        <p:par>
                          <p:cTn id="160" fill="hold">
                            <p:stCondLst>
                              <p:cond delay="500"/>
                            </p:stCondLst>
                            <p:childTnLst>
                              <p:par>
                                <p:cTn id="161" presetID="10" presetClass="entr" presetSubtype="0" fill="hold" grpId="0" nodeType="withEffect">
                                  <p:stCondLst>
                                    <p:cond delay="0"/>
                                  </p:stCondLst>
                                  <p:childTnLst>
                                    <p:set>
                                      <p:cBhvr>
                                        <p:cTn id="162" dur="1" fill="hold">
                                          <p:stCondLst>
                                            <p:cond delay="0"/>
                                          </p:stCondLst>
                                        </p:cTn>
                                        <p:tgtEl>
                                          <p:spTgt spid="47"/>
                                        </p:tgtEl>
                                        <p:attrNameLst>
                                          <p:attrName>style.visibility</p:attrName>
                                        </p:attrNameLst>
                                      </p:cBhvr>
                                      <p:to>
                                        <p:strVal val="visible"/>
                                      </p:to>
                                    </p:set>
                                    <p:animEffect transition="in" filter="fade">
                                      <p:cBhvr>
                                        <p:cTn id="163" dur="400"/>
                                        <p:tgtEl>
                                          <p:spTgt spid="47"/>
                                        </p:tgtEl>
                                      </p:cBhvr>
                                    </p:animEffect>
                                  </p:childTnLst>
                                </p:cTn>
                              </p:par>
                            </p:childTnLst>
                          </p:cTn>
                        </p:par>
                        <p:par>
                          <p:cTn id="164" fill="hold">
                            <p:stCondLst>
                              <p:cond delay="500"/>
                            </p:stCondLst>
                            <p:childTnLst>
                              <p:par>
                                <p:cTn id="165" presetID="10" presetClass="entr" presetSubtype="0" fill="hold" grpId="0" nodeType="withEffect">
                                  <p:stCondLst>
                                    <p:cond delay="0"/>
                                  </p:stCondLst>
                                  <p:childTnLst>
                                    <p:set>
                                      <p:cBhvr>
                                        <p:cTn id="166" dur="1" fill="hold">
                                          <p:stCondLst>
                                            <p:cond delay="0"/>
                                          </p:stCondLst>
                                        </p:cTn>
                                        <p:tgtEl>
                                          <p:spTgt spid="48"/>
                                        </p:tgtEl>
                                        <p:attrNameLst>
                                          <p:attrName>style.visibility</p:attrName>
                                        </p:attrNameLst>
                                      </p:cBhvr>
                                      <p:to>
                                        <p:strVal val="visible"/>
                                      </p:to>
                                    </p:set>
                                    <p:animEffect transition="in" filter="fade">
                                      <p:cBhvr>
                                        <p:cTn id="167" dur="400"/>
                                        <p:tgtEl>
                                          <p:spTgt spid="48"/>
                                        </p:tgtEl>
                                      </p:cBhvr>
                                    </p:animEffect>
                                  </p:childTnLst>
                                </p:cTn>
                              </p:par>
                            </p:childTnLst>
                          </p:cTn>
                        </p:par>
                        <p:par>
                          <p:cTn id="168" fill="hold">
                            <p:stCondLst>
                              <p:cond delay="500"/>
                            </p:stCondLst>
                            <p:childTnLst>
                              <p:par>
                                <p:cTn id="169" presetID="10" presetClass="entr" presetSubtype="0" fill="hold" grpId="0" nodeType="withEffect">
                                  <p:stCondLst>
                                    <p:cond delay="0"/>
                                  </p:stCondLst>
                                  <p:childTnLst>
                                    <p:set>
                                      <p:cBhvr>
                                        <p:cTn id="170" dur="1" fill="hold">
                                          <p:stCondLst>
                                            <p:cond delay="0"/>
                                          </p:stCondLst>
                                        </p:cTn>
                                        <p:tgtEl>
                                          <p:spTgt spid="49"/>
                                        </p:tgtEl>
                                        <p:attrNameLst>
                                          <p:attrName>style.visibility</p:attrName>
                                        </p:attrNameLst>
                                      </p:cBhvr>
                                      <p:to>
                                        <p:strVal val="visible"/>
                                      </p:to>
                                    </p:set>
                                    <p:animEffect transition="in" filter="fade">
                                      <p:cBhvr>
                                        <p:cTn id="171" dur="400"/>
                                        <p:tgtEl>
                                          <p:spTgt spid="49"/>
                                        </p:tgtEl>
                                      </p:cBhvr>
                                    </p:animEffect>
                                  </p:childTnLst>
                                </p:cTn>
                              </p:par>
                            </p:childTnLst>
                          </p:cTn>
                        </p:par>
                        <p:par>
                          <p:cTn id="172" fill="hold">
                            <p:stCondLst>
                              <p:cond delay="500"/>
                            </p:stCondLst>
                            <p:childTnLst>
                              <p:par>
                                <p:cTn id="173" presetID="10" presetClass="entr" presetSubtype="0" fill="hold" grpId="0" nodeType="withEffect">
                                  <p:stCondLst>
                                    <p:cond delay="0"/>
                                  </p:stCondLst>
                                  <p:childTnLst>
                                    <p:set>
                                      <p:cBhvr>
                                        <p:cTn id="174" dur="1" fill="hold">
                                          <p:stCondLst>
                                            <p:cond delay="0"/>
                                          </p:stCondLst>
                                        </p:cTn>
                                        <p:tgtEl>
                                          <p:spTgt spid="50"/>
                                        </p:tgtEl>
                                        <p:attrNameLst>
                                          <p:attrName>style.visibility</p:attrName>
                                        </p:attrNameLst>
                                      </p:cBhvr>
                                      <p:to>
                                        <p:strVal val="visible"/>
                                      </p:to>
                                    </p:set>
                                    <p:animEffect transition="in" filter="fade">
                                      <p:cBhvr>
                                        <p:cTn id="175" dur="400"/>
                                        <p:tgtEl>
                                          <p:spTgt spid="50"/>
                                        </p:tgtEl>
                                      </p:cBhvr>
                                    </p:animEffect>
                                  </p:childTnLst>
                                </p:cTn>
                              </p:par>
                            </p:childTnLst>
                          </p:cTn>
                        </p:par>
                        <p:par>
                          <p:cTn id="176" fill="hold">
                            <p:stCondLst>
                              <p:cond delay="500"/>
                            </p:stCondLst>
                            <p:childTnLst>
                              <p:par>
                                <p:cTn id="177" presetID="10" presetClass="entr" presetSubtype="0" fill="hold" grpId="0" nodeType="withEffect">
                                  <p:stCondLst>
                                    <p:cond delay="0"/>
                                  </p:stCondLst>
                                  <p:childTnLst>
                                    <p:set>
                                      <p:cBhvr>
                                        <p:cTn id="178" dur="1" fill="hold">
                                          <p:stCondLst>
                                            <p:cond delay="0"/>
                                          </p:stCondLst>
                                        </p:cTn>
                                        <p:tgtEl>
                                          <p:spTgt spid="51"/>
                                        </p:tgtEl>
                                        <p:attrNameLst>
                                          <p:attrName>style.visibility</p:attrName>
                                        </p:attrNameLst>
                                      </p:cBhvr>
                                      <p:to>
                                        <p:strVal val="visible"/>
                                      </p:to>
                                    </p:set>
                                    <p:animEffect transition="in" filter="fade">
                                      <p:cBhvr>
                                        <p:cTn id="179" dur="400"/>
                                        <p:tgtEl>
                                          <p:spTgt spid="51"/>
                                        </p:tgtEl>
                                      </p:cBhvr>
                                    </p:animEffect>
                                  </p:childTnLst>
                                </p:cTn>
                              </p:par>
                            </p:childTnLst>
                          </p:cTn>
                        </p:par>
                        <p:par>
                          <p:cTn id="180" fill="hold">
                            <p:stCondLst>
                              <p:cond delay="500"/>
                            </p:stCondLst>
                            <p:childTnLst>
                              <p:par>
                                <p:cTn id="181" presetID="10" presetClass="entr" presetSubtype="0" fill="hold" grpId="0" nodeType="withEffect">
                                  <p:stCondLst>
                                    <p:cond delay="0"/>
                                  </p:stCondLst>
                                  <p:childTnLst>
                                    <p:set>
                                      <p:cBhvr>
                                        <p:cTn id="182" dur="1" fill="hold">
                                          <p:stCondLst>
                                            <p:cond delay="0"/>
                                          </p:stCondLst>
                                        </p:cTn>
                                        <p:tgtEl>
                                          <p:spTgt spid="52"/>
                                        </p:tgtEl>
                                        <p:attrNameLst>
                                          <p:attrName>style.visibility</p:attrName>
                                        </p:attrNameLst>
                                      </p:cBhvr>
                                      <p:to>
                                        <p:strVal val="visible"/>
                                      </p:to>
                                    </p:set>
                                    <p:animEffect transition="in" filter="fade">
                                      <p:cBhvr>
                                        <p:cTn id="183" dur="400"/>
                                        <p:tgtEl>
                                          <p:spTgt spid="52"/>
                                        </p:tgtEl>
                                      </p:cBhvr>
                                    </p:animEffect>
                                  </p:childTnLst>
                                </p:cTn>
                              </p:par>
                            </p:childTnLst>
                          </p:cTn>
                        </p:par>
                        <p:par>
                          <p:cTn id="184" fill="hold">
                            <p:stCondLst>
                              <p:cond delay="500"/>
                            </p:stCondLst>
                            <p:childTnLst>
                              <p:par>
                                <p:cTn id="185" presetID="10" presetClass="entr" presetSubtype="0" fill="hold" grpId="0" nodeType="withEffect">
                                  <p:stCondLst>
                                    <p:cond delay="0"/>
                                  </p:stCondLst>
                                  <p:childTnLst>
                                    <p:set>
                                      <p:cBhvr>
                                        <p:cTn id="186" dur="1" fill="hold">
                                          <p:stCondLst>
                                            <p:cond delay="0"/>
                                          </p:stCondLst>
                                        </p:cTn>
                                        <p:tgtEl>
                                          <p:spTgt spid="53"/>
                                        </p:tgtEl>
                                        <p:attrNameLst>
                                          <p:attrName>style.visibility</p:attrName>
                                        </p:attrNameLst>
                                      </p:cBhvr>
                                      <p:to>
                                        <p:strVal val="visible"/>
                                      </p:to>
                                    </p:set>
                                    <p:animEffect transition="in" filter="fade">
                                      <p:cBhvr>
                                        <p:cTn id="187" dur="400"/>
                                        <p:tgtEl>
                                          <p:spTgt spid="53"/>
                                        </p:tgtEl>
                                      </p:cBhvr>
                                    </p:animEffect>
                                  </p:childTnLst>
                                </p:cTn>
                              </p:par>
                            </p:childTnLst>
                          </p:cTn>
                        </p:par>
                        <p:par>
                          <p:cTn id="188" fill="hold">
                            <p:stCondLst>
                              <p:cond delay="500"/>
                            </p:stCondLst>
                            <p:childTnLst>
                              <p:par>
                                <p:cTn id="189" presetID="10" presetClass="entr" presetSubtype="0" fill="hold" grpId="0" nodeType="withEffect">
                                  <p:stCondLst>
                                    <p:cond delay="0"/>
                                  </p:stCondLst>
                                  <p:childTnLst>
                                    <p:set>
                                      <p:cBhvr>
                                        <p:cTn id="190" dur="1" fill="hold">
                                          <p:stCondLst>
                                            <p:cond delay="0"/>
                                          </p:stCondLst>
                                        </p:cTn>
                                        <p:tgtEl>
                                          <p:spTgt spid="54"/>
                                        </p:tgtEl>
                                        <p:attrNameLst>
                                          <p:attrName>style.visibility</p:attrName>
                                        </p:attrNameLst>
                                      </p:cBhvr>
                                      <p:to>
                                        <p:strVal val="visible"/>
                                      </p:to>
                                    </p:set>
                                    <p:animEffect transition="in" filter="fade">
                                      <p:cBhvr>
                                        <p:cTn id="191" dur="400"/>
                                        <p:tgtEl>
                                          <p:spTgt spid="54"/>
                                        </p:tgtEl>
                                      </p:cBhvr>
                                    </p:animEffect>
                                  </p:childTnLst>
                                </p:cTn>
                              </p:par>
                            </p:childTnLst>
                          </p:cTn>
                        </p:par>
                        <p:par>
                          <p:cTn id="192" fill="hold">
                            <p:stCondLst>
                              <p:cond delay="500"/>
                            </p:stCondLst>
                            <p:childTnLst>
                              <p:par>
                                <p:cTn id="193" presetID="10" presetClass="entr" presetSubtype="0" fill="hold" grpId="0" nodeType="withEffect">
                                  <p:stCondLst>
                                    <p:cond delay="0"/>
                                  </p:stCondLst>
                                  <p:childTnLst>
                                    <p:set>
                                      <p:cBhvr>
                                        <p:cTn id="194" dur="1" fill="hold">
                                          <p:stCondLst>
                                            <p:cond delay="0"/>
                                          </p:stCondLst>
                                        </p:cTn>
                                        <p:tgtEl>
                                          <p:spTgt spid="55"/>
                                        </p:tgtEl>
                                        <p:attrNameLst>
                                          <p:attrName>style.visibility</p:attrName>
                                        </p:attrNameLst>
                                      </p:cBhvr>
                                      <p:to>
                                        <p:strVal val="visible"/>
                                      </p:to>
                                    </p:set>
                                    <p:animEffect transition="in" filter="fade">
                                      <p:cBhvr>
                                        <p:cTn id="195" dur="400"/>
                                        <p:tgtEl>
                                          <p:spTgt spid="55"/>
                                        </p:tgtEl>
                                      </p:cBhvr>
                                    </p:animEffect>
                                  </p:childTnLst>
                                </p:cTn>
                              </p:par>
                            </p:childTnLst>
                          </p:cTn>
                        </p:par>
                        <p:par>
                          <p:cTn id="196" fill="hold">
                            <p:stCondLst>
                              <p:cond delay="500"/>
                            </p:stCondLst>
                            <p:childTnLst>
                              <p:par>
                                <p:cTn id="197" presetID="10" presetClass="entr" presetSubtype="0" fill="hold" grpId="0" nodeType="withEffect">
                                  <p:stCondLst>
                                    <p:cond delay="0"/>
                                  </p:stCondLst>
                                  <p:childTnLst>
                                    <p:set>
                                      <p:cBhvr>
                                        <p:cTn id="198" dur="1" fill="hold">
                                          <p:stCondLst>
                                            <p:cond delay="0"/>
                                          </p:stCondLst>
                                        </p:cTn>
                                        <p:tgtEl>
                                          <p:spTgt spid="56"/>
                                        </p:tgtEl>
                                        <p:attrNameLst>
                                          <p:attrName>style.visibility</p:attrName>
                                        </p:attrNameLst>
                                      </p:cBhvr>
                                      <p:to>
                                        <p:strVal val="visible"/>
                                      </p:to>
                                    </p:set>
                                    <p:animEffect transition="in" filter="fade">
                                      <p:cBhvr>
                                        <p:cTn id="199" dur="400"/>
                                        <p:tgtEl>
                                          <p:spTgt spid="56"/>
                                        </p:tgtEl>
                                      </p:cBhvr>
                                    </p:animEffect>
                                  </p:childTnLst>
                                </p:cTn>
                              </p:par>
                            </p:childTnLst>
                          </p:cTn>
                        </p:par>
                        <p:par>
                          <p:cTn id="200" fill="hold">
                            <p:stCondLst>
                              <p:cond delay="500"/>
                            </p:stCondLst>
                            <p:childTnLst>
                              <p:par>
                                <p:cTn id="201" presetID="10" presetClass="entr" presetSubtype="0" fill="hold" grpId="0" nodeType="withEffect">
                                  <p:stCondLst>
                                    <p:cond delay="0"/>
                                  </p:stCondLst>
                                  <p:childTnLst>
                                    <p:set>
                                      <p:cBhvr>
                                        <p:cTn id="202" dur="1" fill="hold">
                                          <p:stCondLst>
                                            <p:cond delay="0"/>
                                          </p:stCondLst>
                                        </p:cTn>
                                        <p:tgtEl>
                                          <p:spTgt spid="57"/>
                                        </p:tgtEl>
                                        <p:attrNameLst>
                                          <p:attrName>style.visibility</p:attrName>
                                        </p:attrNameLst>
                                      </p:cBhvr>
                                      <p:to>
                                        <p:strVal val="visible"/>
                                      </p:to>
                                    </p:set>
                                    <p:animEffect transition="in" filter="fade">
                                      <p:cBhvr>
                                        <p:cTn id="203" dur="400"/>
                                        <p:tgtEl>
                                          <p:spTgt spid="57"/>
                                        </p:tgtEl>
                                      </p:cBhvr>
                                    </p:animEffect>
                                  </p:childTnLst>
                                </p:cTn>
                              </p:par>
                            </p:childTnLst>
                          </p:cTn>
                        </p:par>
                        <p:par>
                          <p:cTn id="204" fill="hold">
                            <p:stCondLst>
                              <p:cond delay="500"/>
                            </p:stCondLst>
                            <p:childTnLst>
                              <p:par>
                                <p:cTn id="205" presetID="10" presetClass="entr" presetSubtype="0" fill="hold" grpId="0" nodeType="withEffect">
                                  <p:stCondLst>
                                    <p:cond delay="0"/>
                                  </p:stCondLst>
                                  <p:childTnLst>
                                    <p:set>
                                      <p:cBhvr>
                                        <p:cTn id="206" dur="1" fill="hold">
                                          <p:stCondLst>
                                            <p:cond delay="0"/>
                                          </p:stCondLst>
                                        </p:cTn>
                                        <p:tgtEl>
                                          <p:spTgt spid="58"/>
                                        </p:tgtEl>
                                        <p:attrNameLst>
                                          <p:attrName>style.visibility</p:attrName>
                                        </p:attrNameLst>
                                      </p:cBhvr>
                                      <p:to>
                                        <p:strVal val="visible"/>
                                      </p:to>
                                    </p:set>
                                    <p:animEffect transition="in" filter="fade">
                                      <p:cBhvr>
                                        <p:cTn id="207"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o que é uma linha. Aditividade: o que soma.</a:t>
            </a:r>
            <a:endParaRPr lang="en-US" sz="3200" dirty="0"/>
          </a:p>
        </p:txBody>
      </p:sp>
      <p:sp>
        <p:nvSpPr>
          <p:cNvPr id="5" name="anim:1:381"/>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82"/>
          <p:cNvSpPr txBox="1"/>
          <p:nvPr/>
        </p:nvSpPr>
        <p:spPr>
          <a:xfrm>
            <a:off x="777240" y="16002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GRÃO = O QUE UMA LINHA REPRESENTA</a:t>
            </a:r>
            <a:endParaRPr lang="en-US" sz="1000" dirty="0"/>
          </a:p>
        </p:txBody>
      </p:sp>
      <p:sp>
        <p:nvSpPr>
          <p:cNvPr id="7" name="anim:1:383"/>
          <p:cNvSpPr txBox="1"/>
          <p:nvPr/>
        </p:nvSpPr>
        <p:spPr>
          <a:xfrm>
            <a:off x="777240" y="187452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Fila</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 y="212140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jun/2024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CRECHE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153</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9" name="anim:1:384"/>
          <p:cNvSpPr txBox="1"/>
          <p:nvPr/>
        </p:nvSpPr>
        <p:spPr>
          <a:xfrm>
            <a:off x="777240" y="251460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Matrícula</a:t>
            </a:r>
            <a:endParaRPr lang="en-US" sz="11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777240" y="276148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 aluno</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uma turma</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11" name="anim:1:385"/>
          <p:cNvSpPr txBox="1"/>
          <p:nvPr/>
        </p:nvSpPr>
        <p:spPr>
          <a:xfrm>
            <a:off x="777240" y="3182112"/>
            <a:ext cx="4983480" cy="566928"/>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Uma criança não é uma linha da fila: </a:t>
            </a:r>
            <a:pPr indent="0" marL="0">
              <a:buNone/>
            </a:pPr>
            <a:r>
              <a:rPr lang="en-US" sz="1300" b="1" dirty="0">
                <a:solidFill>
                  <a:srgbClr val="1B2A4A"/>
                </a:solidFill>
                <a:latin typeface="Calibri" pitchFamily="34" charset="0"/>
                <a:ea typeface="Calibri" pitchFamily="34" charset="-122"/>
                <a:cs typeface="Calibri" pitchFamily="34" charset="-120"/>
              </a:rPr>
              <a:t>é uma das 153</a:t>
            </a:r>
            <a:pPr indent="0" marL="0">
              <a:buNone/>
            </a:pPr>
            <a:r>
              <a:rPr lang="en-US" sz="1300" dirty="0">
                <a:solidFill>
                  <a:srgbClr val="1F2937"/>
                </a:solidFill>
                <a:latin typeface="Calibri" pitchFamily="34" charset="0"/>
                <a:ea typeface="Calibri" pitchFamily="34" charset="-122"/>
                <a:cs typeface="Calibri" pitchFamily="34" charset="-120"/>
              </a:rPr>
              <a:t>. Quando consegue a vaga, vira uma linha do fato Matrícula.</a:t>
            </a:r>
            <a:endParaRPr lang="en-US" sz="1300" dirty="0"/>
          </a:p>
        </p:txBody>
      </p:sp>
      <p:sp>
        <p:nvSpPr>
          <p:cNvPr id="12" name="anim:2:386"/>
          <p:cNvSpPr/>
          <p:nvPr/>
        </p:nvSpPr>
        <p:spPr>
          <a:xfrm>
            <a:off x="617220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387"/>
          <p:cNvSpPr txBox="1"/>
          <p:nvPr/>
        </p:nvSpPr>
        <p:spPr>
          <a:xfrm>
            <a:off x="6400800" y="16002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ADITIVIDADE = POSSO SOMAR?</a:t>
            </a:r>
            <a:endParaRPr lang="en-US" sz="1000" dirty="0"/>
          </a:p>
        </p:txBody>
      </p:sp>
      <p:sp>
        <p:nvSpPr>
          <p:cNvPr id="14" name="anim:2:388"/>
          <p:cNvSpPr/>
          <p:nvPr/>
        </p:nvSpPr>
        <p:spPr>
          <a:xfrm>
            <a:off x="6400800" y="1947672"/>
            <a:ext cx="310896" cy="310896"/>
          </a:xfrm>
          <a:prstGeom prst="ellipse">
            <a:avLst/>
          </a:prstGeom>
          <a:solidFill>
            <a:srgbClr val="2E5EAA"/>
          </a:solidFill>
          <a:ln w="12700">
            <a:solidFill>
              <a:srgbClr val="2E5EAA"/>
            </a:solidFill>
            <a:prstDash val="solid"/>
          </a:ln>
        </p:spPr>
      </p:sp>
      <p:sp>
        <p:nvSpPr>
          <p:cNvPr id="15" name="anim:2:389"/>
          <p:cNvSpPr txBox="1"/>
          <p:nvPr/>
        </p:nvSpPr>
        <p:spPr>
          <a:xfrm>
            <a:off x="6400800" y="19476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6" name="anim:2:390"/>
          <p:cNvSpPr txBox="1"/>
          <p:nvPr/>
        </p:nvSpPr>
        <p:spPr>
          <a:xfrm>
            <a:off x="6858000" y="1920240"/>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distritos: </a:t>
            </a:r>
            <a:pPr indent="0" marL="0">
              <a:buNone/>
            </a:pPr>
            <a:r>
              <a:rPr lang="en-US" sz="1300" dirty="0">
                <a:solidFill>
                  <a:srgbClr val="1F2937"/>
                </a:solidFill>
                <a:latin typeface="Calibri" pitchFamily="34" charset="0"/>
                <a:ea typeface="Calibri" pitchFamily="34" charset="-122"/>
                <a:cs typeface="Calibri" pitchFamily="34" charset="-120"/>
              </a:rPr>
              <a:t>Tremembé + Grajaú em junho de 2024 = 153 + 88 = 241 crianças na fila.</a:t>
            </a:r>
            <a:endParaRPr lang="en-US" sz="1300" dirty="0"/>
          </a:p>
        </p:txBody>
      </p:sp>
      <p:sp>
        <p:nvSpPr>
          <p:cNvPr id="17" name="anim:2:391"/>
          <p:cNvSpPr/>
          <p:nvPr/>
        </p:nvSpPr>
        <p:spPr>
          <a:xfrm>
            <a:off x="6400800" y="2569464"/>
            <a:ext cx="310896" cy="310896"/>
          </a:xfrm>
          <a:prstGeom prst="ellipse">
            <a:avLst/>
          </a:prstGeom>
          <a:solidFill>
            <a:srgbClr val="8A5300"/>
          </a:solidFill>
          <a:ln w="12700">
            <a:solidFill>
              <a:srgbClr val="8A5300"/>
            </a:solidFill>
            <a:prstDash val="solid"/>
          </a:ln>
        </p:spPr>
      </p:sp>
      <p:sp>
        <p:nvSpPr>
          <p:cNvPr id="18" name="anim:2:392"/>
          <p:cNvSpPr txBox="1"/>
          <p:nvPr/>
        </p:nvSpPr>
        <p:spPr>
          <a:xfrm>
            <a:off x="6400800" y="25694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9" name="anim:2:393"/>
          <p:cNvSpPr txBox="1"/>
          <p:nvPr/>
        </p:nvSpPr>
        <p:spPr>
          <a:xfrm>
            <a:off x="6858000" y="2542032"/>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meses: </a:t>
            </a:r>
            <a:pPr indent="0" marL="0">
              <a:buNone/>
            </a:pPr>
            <a:r>
              <a:rPr lang="en-US" sz="1300" dirty="0">
                <a:solidFill>
                  <a:srgbClr val="1F2937"/>
                </a:solidFill>
                <a:latin typeface="Calibri" pitchFamily="34" charset="0"/>
                <a:ea typeface="Calibri" pitchFamily="34" charset="-122"/>
                <a:cs typeface="Calibri" pitchFamily="34" charset="-120"/>
              </a:rPr>
              <a:t>fila de abril + fila de junho conta duas vezes quem continuou esperando. A fila é um estoque.</a:t>
            </a:r>
            <a:endParaRPr lang="en-US" sz="1300" dirty="0"/>
          </a:p>
        </p:txBody>
      </p:sp>
      <p:sp>
        <p:nvSpPr>
          <p:cNvPr id="20" name="anim:2:394"/>
          <p:cNvSpPr/>
          <p:nvPr/>
        </p:nvSpPr>
        <p:spPr>
          <a:xfrm>
            <a:off x="6400800" y="3191256"/>
            <a:ext cx="310896" cy="310896"/>
          </a:xfrm>
          <a:prstGeom prst="ellipse">
            <a:avLst/>
          </a:prstGeom>
          <a:solidFill>
            <a:srgbClr val="566175"/>
          </a:solidFill>
          <a:ln w="12700">
            <a:solidFill>
              <a:srgbClr val="566175"/>
            </a:solidFill>
            <a:prstDash val="solid"/>
          </a:ln>
        </p:spPr>
      </p:sp>
      <p:sp>
        <p:nvSpPr>
          <p:cNvPr id="21" name="anim:2:395"/>
          <p:cNvSpPr txBox="1"/>
          <p:nvPr/>
        </p:nvSpPr>
        <p:spPr>
          <a:xfrm>
            <a:off x="6400800" y="31912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2" name="anim:2:396"/>
          <p:cNvSpPr txBox="1"/>
          <p:nvPr/>
        </p:nvSpPr>
        <p:spPr>
          <a:xfrm>
            <a:off x="6858000" y="3163824"/>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Taxas e médias: </a:t>
            </a:r>
            <a:pPr indent="0" marL="0">
              <a:buNone/>
            </a:pPr>
            <a:r>
              <a:rPr lang="en-US" sz="1300" dirty="0">
                <a:solidFill>
                  <a:srgbClr val="1F2937"/>
                </a:solidFill>
                <a:latin typeface="Calibri" pitchFamily="34" charset="0"/>
                <a:ea typeface="Calibri" pitchFamily="34" charset="-122"/>
                <a:cs typeface="Calibri" pitchFamily="34" charset="-120"/>
              </a:rPr>
              <a:t>nunca somar nem tirar média; recalcular das somas (abandonos ÷ matrículas).</a:t>
            </a:r>
            <a:endParaRPr lang="en-US" sz="1300" dirty="0"/>
          </a:p>
        </p:txBody>
      </p:sp>
      <p:graphicFrame>
        <p:nvGraphicFramePr>
          <p:cNvPr id="49" name="Table 2"/>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3566160"/>
                <a:gridCol w="5303520"/>
              </a:tblGrid>
              <a:tr h="3200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Tabela de fatos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Uma linha é</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Pode somar?</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Matrícula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um vínculo aluno-turma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soma em tudo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Fila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distrito × mês × etapa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distritos e etapas, não meses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Desfecho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escola × ano × série</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taxas recalculadas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Ocupação de Turma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alunos por turma recalculado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População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setor censitário × faixa × Censo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setores e faixas, não Censos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00"/>
                                        <p:tgtEl>
                                          <p:spTgt spid="16"/>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00"/>
                                        <p:tgtEl>
                                          <p:spTgt spid="18"/>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00"/>
                                        <p:tgtEl>
                                          <p:spTgt spid="20"/>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397"/>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98"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399"/>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400"/>
          <p:cNvSpPr txBox="1"/>
          <p:nvPr/>
        </p:nvSpPr>
        <p:spPr>
          <a:xfrm>
            <a:off x="8458200" y="1627632"/>
            <a:ext cx="301752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CADA RECURSO RESOLVE UM PROBLEMA</a:t>
            </a:r>
            <a:endParaRPr lang="en-US" sz="1000" dirty="0"/>
          </a:p>
        </p:txBody>
      </p:sp>
      <p:sp>
        <p:nvSpPr>
          <p:cNvPr id="9" name="anim:3:401"/>
          <p:cNvSpPr/>
          <p:nvPr/>
        </p:nvSpPr>
        <p:spPr>
          <a:xfrm>
            <a:off x="8458200" y="1984248"/>
            <a:ext cx="274320" cy="274320"/>
          </a:xfrm>
          <a:prstGeom prst="ellipse">
            <a:avLst/>
          </a:prstGeom>
          <a:solidFill>
            <a:srgbClr val="F2A541"/>
          </a:solidFill>
          <a:ln w="12700">
            <a:solidFill>
              <a:srgbClr val="F2A541"/>
            </a:solidFill>
            <a:prstDash val="solid"/>
          </a:ln>
        </p:spPr>
      </p:sp>
      <p:sp>
        <p:nvSpPr>
          <p:cNvPr id="10" name="anim:3:402"/>
          <p:cNvSpPr txBox="1"/>
          <p:nvPr/>
        </p:nvSpPr>
        <p:spPr>
          <a:xfrm>
            <a:off x="8458200" y="198424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1</a:t>
            </a:r>
            <a:endParaRPr lang="en-US" sz="1100" dirty="0"/>
          </a:p>
        </p:txBody>
      </p:sp>
      <p:sp>
        <p:nvSpPr>
          <p:cNvPr id="11" name="anim:3:403"/>
          <p:cNvSpPr txBox="1"/>
          <p:nvPr/>
        </p:nvSpPr>
        <p:spPr>
          <a:xfrm>
            <a:off x="8823960" y="1965960"/>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Data com dois papéis</a:t>
            </a:r>
            <a:pPr indent="0" marL="0">
              <a:buNone/>
            </a:pPr>
            <a:r>
              <a:rPr lang="en-US" sz="1200" dirty="0">
                <a:solidFill>
                  <a:srgbClr val="1F2937"/>
                </a:solidFill>
                <a:latin typeface="Calibri" pitchFamily="34" charset="0"/>
                <a:ea typeface="Calibri" pitchFamily="34" charset="-122"/>
                <a:cs typeface="Calibri" pitchFamily="34" charset="-120"/>
              </a:rPr>
              <a:t> (início e fim): diz se a matrícula estava ativa em 30 de junho, o número que se compara com a fila.</a:t>
            </a:r>
            <a:endParaRPr lang="en-US" sz="1200" dirty="0"/>
          </a:p>
        </p:txBody>
      </p:sp>
      <p:sp>
        <p:nvSpPr>
          <p:cNvPr id="12" name="anim:4:404"/>
          <p:cNvSpPr/>
          <p:nvPr/>
        </p:nvSpPr>
        <p:spPr>
          <a:xfrm>
            <a:off x="8458200" y="2788920"/>
            <a:ext cx="274320" cy="274320"/>
          </a:xfrm>
          <a:prstGeom prst="ellipse">
            <a:avLst/>
          </a:prstGeom>
          <a:solidFill>
            <a:srgbClr val="F2A541"/>
          </a:solidFill>
          <a:ln w="12700">
            <a:solidFill>
              <a:srgbClr val="F2A541"/>
            </a:solidFill>
            <a:prstDash val="solid"/>
          </a:ln>
        </p:spPr>
      </p:sp>
      <p:sp>
        <p:nvSpPr>
          <p:cNvPr id="13" name="anim:4:405"/>
          <p:cNvSpPr txBox="1"/>
          <p:nvPr/>
        </p:nvSpPr>
        <p:spPr>
          <a:xfrm>
            <a:off x="8458200" y="2788920"/>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2</a:t>
            </a:r>
            <a:endParaRPr lang="en-US" sz="1100" dirty="0"/>
          </a:p>
        </p:txBody>
      </p:sp>
      <p:sp>
        <p:nvSpPr>
          <p:cNvPr id="14" name="anim:4:406"/>
          <p:cNvSpPr txBox="1"/>
          <p:nvPr/>
        </p:nvSpPr>
        <p:spPr>
          <a:xfrm>
            <a:off x="8823960" y="2770632"/>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Campo igual a 1</a:t>
            </a:r>
            <a:pPr indent="0" marL="0">
              <a:buNone/>
            </a:pPr>
            <a:r>
              <a:rPr lang="en-US" sz="1200" dirty="0">
                <a:solidFill>
                  <a:srgbClr val="1F2937"/>
                </a:solidFill>
                <a:latin typeface="Calibri" pitchFamily="34" charset="0"/>
                <a:ea typeface="Calibri" pitchFamily="34" charset="-122"/>
                <a:cs typeface="Calibri" pitchFamily="34" charset="-120"/>
              </a:rPr>
              <a:t> em cada linha: contar matrículas vira uma soma. Dias de matrícula é a outra medida.</a:t>
            </a:r>
            <a:endParaRPr lang="en-US" sz="1200" dirty="0"/>
          </a:p>
        </p:txBody>
      </p:sp>
      <p:sp>
        <p:nvSpPr>
          <p:cNvPr id="15" name="anim:5:407"/>
          <p:cNvSpPr/>
          <p:nvPr/>
        </p:nvSpPr>
        <p:spPr>
          <a:xfrm>
            <a:off x="8458200" y="3593592"/>
            <a:ext cx="274320" cy="274320"/>
          </a:xfrm>
          <a:prstGeom prst="ellipse">
            <a:avLst/>
          </a:prstGeom>
          <a:solidFill>
            <a:srgbClr val="F2A541"/>
          </a:solidFill>
          <a:ln w="12700">
            <a:solidFill>
              <a:srgbClr val="F2A541"/>
            </a:solidFill>
            <a:prstDash val="solid"/>
          </a:ln>
        </p:spPr>
      </p:sp>
      <p:sp>
        <p:nvSpPr>
          <p:cNvPr id="16" name="anim:5:408"/>
          <p:cNvSpPr txBox="1"/>
          <p:nvPr/>
        </p:nvSpPr>
        <p:spPr>
          <a:xfrm>
            <a:off x="8458200" y="3593592"/>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3</a:t>
            </a:r>
            <a:endParaRPr lang="en-US" sz="1100" dirty="0"/>
          </a:p>
        </p:txBody>
      </p:sp>
      <p:sp>
        <p:nvSpPr>
          <p:cNvPr id="17" name="anim:5:409"/>
          <p:cNvSpPr txBox="1"/>
          <p:nvPr/>
        </p:nvSpPr>
        <p:spPr>
          <a:xfrm>
            <a:off x="8823960" y="3575304"/>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Bugigangas</a:t>
            </a:r>
            <a:pPr indent="0" marL="0">
              <a:buNone/>
            </a:pPr>
            <a:r>
              <a:rPr lang="en-US" sz="1200" dirty="0">
                <a:solidFill>
                  <a:srgbClr val="1F2937"/>
                </a:solidFill>
                <a:latin typeface="Calibri" pitchFamily="34" charset="0"/>
                <a:ea typeface="Calibri" pitchFamily="34" charset="-122"/>
                <a:cs typeface="Calibri" pitchFamily="34" charset="-120"/>
              </a:rPr>
              <a:t> (Perfil, Deficiência, Situação): mais de 30 indicadores em 3 dimensões, e não em 30.</a:t>
            </a:r>
            <a:endParaRPr lang="en-US" sz="1200" dirty="0"/>
          </a:p>
        </p:txBody>
      </p:sp>
      <p:sp>
        <p:nvSpPr>
          <p:cNvPr id="18" name="anim:6:410"/>
          <p:cNvSpPr/>
          <p:nvPr/>
        </p:nvSpPr>
        <p:spPr>
          <a:xfrm>
            <a:off x="8458200" y="4398264"/>
            <a:ext cx="274320" cy="274320"/>
          </a:xfrm>
          <a:prstGeom prst="ellipse">
            <a:avLst/>
          </a:prstGeom>
          <a:solidFill>
            <a:srgbClr val="F2A541"/>
          </a:solidFill>
          <a:ln w="12700">
            <a:solidFill>
              <a:srgbClr val="F2A541"/>
            </a:solidFill>
            <a:prstDash val="solid"/>
          </a:ln>
        </p:spPr>
      </p:sp>
      <p:sp>
        <p:nvSpPr>
          <p:cNvPr id="19" name="anim:6:411"/>
          <p:cNvSpPr txBox="1"/>
          <p:nvPr/>
        </p:nvSpPr>
        <p:spPr>
          <a:xfrm>
            <a:off x="8458200" y="4398264"/>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4</a:t>
            </a:r>
            <a:endParaRPr lang="en-US" sz="1100" dirty="0"/>
          </a:p>
        </p:txBody>
      </p:sp>
      <p:sp>
        <p:nvSpPr>
          <p:cNvPr id="20" name="anim:6:412"/>
          <p:cNvSpPr txBox="1"/>
          <p:nvPr/>
        </p:nvSpPr>
        <p:spPr>
          <a:xfrm>
            <a:off x="8823960" y="4379976"/>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Degeneradas</a:t>
            </a:r>
            <a:pPr indent="0" marL="0">
              <a:buNone/>
            </a:pPr>
            <a:r>
              <a:rPr lang="en-US" sz="1200" dirty="0">
                <a:solidFill>
                  <a:srgbClr val="1F2937"/>
                </a:solidFill>
                <a:latin typeface="Calibri" pitchFamily="34" charset="0"/>
                <a:ea typeface="Calibri" pitchFamily="34" charset="-122"/>
                <a:cs typeface="Calibri" pitchFamily="34" charset="-120"/>
              </a:rPr>
              <a:t> (id da turma, código da matrícula): identificadores que ficam no fato, sem tabela própria.</a:t>
            </a:r>
            <a:endParaRPr lang="en-US" sz="1200" dirty="0"/>
          </a:p>
        </p:txBody>
      </p:sp>
      <p:sp>
        <p:nvSpPr>
          <p:cNvPr id="21" name="anim:7:413"/>
          <p:cNvSpPr/>
          <p:nvPr/>
        </p:nvSpPr>
        <p:spPr>
          <a:xfrm>
            <a:off x="8458200" y="5202936"/>
            <a:ext cx="274320" cy="274320"/>
          </a:xfrm>
          <a:prstGeom prst="ellipse">
            <a:avLst/>
          </a:prstGeom>
          <a:solidFill>
            <a:srgbClr val="F2A541"/>
          </a:solidFill>
          <a:ln w="12700">
            <a:solidFill>
              <a:srgbClr val="F2A541"/>
            </a:solidFill>
            <a:prstDash val="solid"/>
          </a:ln>
        </p:spPr>
      </p:sp>
      <p:sp>
        <p:nvSpPr>
          <p:cNvPr id="22" name="anim:7:414"/>
          <p:cNvSpPr txBox="1"/>
          <p:nvPr/>
        </p:nvSpPr>
        <p:spPr>
          <a:xfrm>
            <a:off x="8458200" y="5202936"/>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5</a:t>
            </a:r>
            <a:endParaRPr lang="en-US" sz="1100" dirty="0"/>
          </a:p>
        </p:txBody>
      </p:sp>
      <p:sp>
        <p:nvSpPr>
          <p:cNvPr id="23" name="anim:7:415"/>
          <p:cNvSpPr txBox="1"/>
          <p:nvPr/>
        </p:nvSpPr>
        <p:spPr>
          <a:xfrm>
            <a:off x="8823960" y="5184648"/>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Escola tipo 2</a:t>
            </a:r>
            <a:pPr indent="0" marL="0">
              <a:buNone/>
            </a:pPr>
            <a:r>
              <a:rPr lang="en-US" sz="1200" dirty="0">
                <a:solidFill>
                  <a:srgbClr val="1F2937"/>
                </a:solidFill>
                <a:latin typeface="Calibri" pitchFamily="34" charset="0"/>
                <a:ea typeface="Calibri" pitchFamily="34" charset="-122"/>
                <a:cs typeface="Calibri" pitchFamily="34" charset="-120"/>
              </a:rPr>
              <a:t>: a escola que muda de nome ganha uma versão nova, e a matrícula antiga guarda o nome da época.</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50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416"/>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417"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418"/>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419"/>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420"/>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421"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422"/>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423"/>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424"/>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425"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426"/>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427"/>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428"/>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429"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430"/>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431"/>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432"/>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433"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434"/>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435"/>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436"/>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437"/>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438"/>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439"/>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40"/>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441"/>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442"/>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443"/>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444"/>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445"/>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446"/>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447"/>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48"/>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449"/>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450"/>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451"/>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452"/>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453"/>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454"/>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455"/>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456"/>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457"/>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458"/>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459"/>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460"/>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461"/>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462"/>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463"/>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464"/>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465"/>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466"/>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467"/>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468"/>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469"/>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470"/>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471"/>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472"/>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473"/>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474"/>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475"/>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476"/>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exemplo: a próxima vaga vai para o Tremembé</a:t>
            </a:r>
            <a:endParaRPr lang="en-US" sz="3200" dirty="0"/>
          </a:p>
        </p:txBody>
      </p:sp>
      <p:sp>
        <p:nvSpPr>
          <p:cNvPr id="5" name="anim:1:477"/>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78"/>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479"/>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480"/>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481"/>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482"/>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483"/>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484"/>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485"/>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486"/>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487"/>
          <p:cNvSpPr/>
          <p:nvPr/>
        </p:nvSpPr>
        <p:spPr>
          <a:xfrm>
            <a:off x="6446520" y="1783080"/>
            <a:ext cx="1325880" cy="310896"/>
          </a:xfrm>
          <a:prstGeom prst="roundRect">
            <a:avLst>
              <a:gd name="adj" fmla="val 50000"/>
            </a:avLst>
          </a:prstGeom>
          <a:solidFill>
            <a:srgbClr val="F2A541"/>
          </a:solidFill>
          <a:ln w="12700">
            <a:solidFill>
              <a:srgbClr val="F2A541"/>
            </a:solidFill>
            <a:prstDash val="solid"/>
          </a:ln>
        </p:spPr>
      </p:sp>
      <p:sp>
        <p:nvSpPr>
          <p:cNvPr id="16" name="anim:2:488"/>
          <p:cNvSpPr txBox="1"/>
          <p:nvPr/>
        </p:nvSpPr>
        <p:spPr>
          <a:xfrm>
            <a:off x="6446520" y="1783080"/>
            <a:ext cx="13258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a:t>
            </a:r>
            <a:endParaRPr lang="en-US" sz="1200" dirty="0"/>
          </a:p>
        </p:txBody>
      </p:sp>
      <p:sp>
        <p:nvSpPr>
          <p:cNvPr id="17" name="anim:2:489"/>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490"/>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491"/>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492"/>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493"/>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494"/>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495"/>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496"/>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497"/>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498"/>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 volta à pergunta: e se fosse o seu filho?</a:t>
            </a:r>
            <a:endParaRPr lang="en-US" sz="3200" dirty="0"/>
          </a:p>
        </p:txBody>
      </p:sp>
      <p:sp>
        <p:nvSpPr>
          <p:cNvPr id="5" name="anim:1:499"/>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500"/>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501"/>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502"/>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503"/>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504"/>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vagas de creche onde a fila resiste, como no Tremembé.</a:t>
            </a:r>
            <a:endParaRPr lang="en-US" sz="1600" dirty="0"/>
          </a:p>
        </p:txBody>
      </p:sp>
      <p:sp>
        <p:nvSpPr>
          <p:cNvPr id="11" name="anim:3:505"/>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506"/>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507"/>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criança sai da fila e vira uma linha do fato Matrícula.</a:t>
            </a:r>
            <a:endParaRPr lang="en-US" sz="1600" dirty="0"/>
          </a:p>
        </p:txBody>
      </p:sp>
      <p:sp>
        <p:nvSpPr>
          <p:cNvPr id="14" name="anim:4:508"/>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509"/>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510"/>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família volta a trabalhar com o filho na creche.</a:t>
            </a:r>
            <a:endParaRPr lang="en-US" sz="1600" dirty="0"/>
          </a:p>
        </p:txBody>
      </p:sp>
      <p:sp>
        <p:nvSpPr>
          <p:cNvPr id="17" name="anim:5:511"/>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512"/>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A PROPOSTA ENTREGA</a:t>
            </a:r>
            <a:endParaRPr lang="en-US" sz="1200" dirty="0"/>
          </a:p>
        </p:txBody>
      </p:sp>
      <p:sp>
        <p:nvSpPr>
          <p:cNvPr id="19" name="anim:6:513"/>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514"/>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515"/>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Respostas em menos de um segundo</a:t>
            </a:r>
            <a:endParaRPr lang="en-US" sz="1500" dirty="0"/>
          </a:p>
        </p:txBody>
      </p:sp>
      <p:sp>
        <p:nvSpPr>
          <p:cNvPr id="22" name="anim:7:516"/>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as oito consultas rodam em 0,42 s sobre os dados reais</a:t>
            </a:r>
            <a:endParaRPr lang="en-US" sz="1300" dirty="0"/>
          </a:p>
        </p:txBody>
      </p:sp>
      <p:sp>
        <p:nvSpPr>
          <p:cNvPr id="23" name="anim:8:517"/>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conferidos</a:t>
            </a:r>
            <a:endParaRPr lang="en-US" sz="1500" dirty="0"/>
          </a:p>
        </p:txBody>
      </p:sp>
      <p:sp>
        <p:nvSpPr>
          <p:cNvPr id="24" name="anim:8:518"/>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 contagem em dobro à vista</a:t>
            </a:r>
            <a:endParaRPr lang="en-US" sz="1300" dirty="0"/>
          </a:p>
        </p:txBody>
      </p:sp>
      <p:sp>
        <p:nvSpPr>
          <p:cNvPr id="25" name="anim:9:519"/>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6" name="anim:9:520"/>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7" name="anim:10:521"/>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522"/>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523"/>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524"/>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Cada vaga aberta no lugar certo é uma criança a menos na fila.</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e da nossa carga.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525"/>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526"/>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527"/>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528"/>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529"/>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530"/>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531"/>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532"/>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533"/>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534"/>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535"/>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536"/>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2026-10-29T15:32:54Z</dcterms:created>
  <dcterms:modified xsi:type="dcterms:W3CDTF">2026-10-29T15:32:54Z</dcterms:modified>
</cp:coreProperties>
</file>