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B2A4A"/>
                </a:solidFill>
                <a:latin typeface="Calibri"/>
              </a:defRPr>
            </a:pPr>
            <a:r>
              <a:rPr sz="1500" b="0" i="0" u="none" strike="noStrike">
                <a:solidFill>
                  <a:srgbClr val="1B2A4A"/>
                </a:solidFill>
                <a:latin typeface="Calibri"/>
              </a:rPr>
              <a:t>Crianças na fila de creche em junho</a:t>
            </a:r>
          </a:p>
        </c:rich>
      </c:tx>
      <c:layout/>
      <c:overlay val="0"/>
    </c:title>
    <c:autoTitleDeleted val="0"/>
    <c:plotArea>
      <c:layout/>
      <c:barChart>
        <c:barDir val="col"/>
        <c:grouping val="clustered"/>
        <c:varyColors val="0"/>
        <c:ser>
          <c:idx val="0"/>
          <c:order val="0"/>
          <c:tx>
            <c:strRef>
              <c:f>Sheet1!$B$1</c:f>
              <c:strCache>
                <c:ptCount val="1"/>
                <c:pt idx="0">
                  <c:v>Fila de creche em junho</c:v>
                </c:pt>
              </c:strCache>
            </c:strRef>
          </c:tx>
          <c:spPr>
            <a:solidFill>
              <a:srgbClr val="2E5EAA"/>
            </a:solidFill>
            <a:effectLst/>
          </c:spPr>
          <c:invertIfNegative val="0"/>
          <c:dLbls>
            <c:numFmt formatCode="#,##0"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2015</c:v>
                  </c:pt>
                  <c:pt idx="1">
                    <c:v>2016</c:v>
                  </c:pt>
                  <c:pt idx="2">
                    <c:v>2017</c:v>
                  </c:pt>
                  <c:pt idx="3">
                    <c:v>2018</c:v>
                  </c:pt>
                  <c:pt idx="4">
                    <c:v>2019</c:v>
                  </c:pt>
                  <c:pt idx="5">
                    <c:v>2020</c:v>
                  </c:pt>
                  <c:pt idx="6">
                    <c:v>2021</c:v>
                  </c:pt>
                  <c:pt idx="7">
                    <c:v>2022</c:v>
                  </c:pt>
                  <c:pt idx="8">
                    <c:v>2023</c:v>
                  </c:pt>
                  <c:pt idx="9">
                    <c:v>2024</c:v>
                  </c:pt>
                </c:lvl>
              </c:multiLvlStrCache>
            </c:multiLvlStrRef>
          </c:cat>
          <c:val>
            <c:numRef>
              <c:f>Sheet1!$B$2:$B$11</c:f>
              <c:numCache>
                <c:formatCode>General</c:formatCode>
                <c:ptCount val="10"/>
                <c:pt idx="0">
                  <c:v>124741</c:v>
                </c:pt>
                <c:pt idx="1">
                  <c:v>103496</c:v>
                </c:pt>
                <c:pt idx="2">
                  <c:v>104268</c:v>
                </c:pt>
                <c:pt idx="3">
                  <c:v>66714</c:v>
                </c:pt>
                <c:pt idx="4">
                  <c:v>48910</c:v>
                </c:pt>
                <c:pt idx="5">
                  <c:v>22732</c:v>
                </c:pt>
                <c:pt idx="6">
                  <c:v>8767</c:v>
                </c:pt>
                <c:pt idx="7">
                  <c:v>4761</c:v>
                </c:pt>
                <c:pt idx="8">
                  <c:v>4913</c:v>
                </c:pt>
                <c:pt idx="9">
                  <c:v>3633</c:v>
                </c:pt>
              </c:numCache>
            </c:numRef>
          </c:val>
        </c:ser>
        <c:dLbls>
          <c:numFmt formatCode="#,##0"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66175"/>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8F0"/>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17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B2A4A"/>
                </a:solidFill>
                <a:latin typeface="Calibri"/>
              </a:defRPr>
            </a:pPr>
            <a:r>
              <a:rPr sz="1500" b="0" i="0" u="none" strike="noStrike">
                <a:solidFill>
                  <a:srgbClr val="1B2A4A"/>
                </a:solidFill>
                <a:latin typeface="Calibri"/>
              </a:rPr>
              <a:t>Fração da demanda de creche fora da rede (%)</a:t>
            </a:r>
          </a:p>
        </c:rich>
      </c:tx>
      <c:layout/>
      <c:overlay val="0"/>
    </c:title>
    <c:autoTitleDeleted val="0"/>
    <c:plotArea>
      <c:layout/>
      <c:lineChart>
        <c:varyColors val="0"/>
        <c:ser>
          <c:idx val="0"/>
          <c:order val="0"/>
          <c:tx>
            <c:strRef>
              <c:f>Sheet1!$B$1</c:f>
              <c:strCache>
                <c:ptCount val="1"/>
                <c:pt idx="0">
                  <c:v>Fração fora da rede</c:v>
                </c:pt>
              </c:strCache>
            </c:strRef>
          </c:tx>
          <c:spPr>
            <a:solidFill>
              <a:srgbClr val="F2A541"/>
            </a:solidFill>
            <a:ln w="38100" cap="flat">
              <a:solidFill>
                <a:srgbClr val="F2A541"/>
              </a:solidFill>
              <a:prstDash val="solid"/>
              <a:round/>
            </a:ln>
            <a:effectLst/>
          </c:spPr>
          <c:invertIfNegative val="0"/>
          <c:dLbls>
            <c:numFmt formatCode="0.0" sourceLinked="0"/>
            <c:txPr>
              <a:bodyPr/>
              <a:lstStyle/>
              <a:p>
                <a:pPr>
                  <a:defRPr b="0" i="0" strike="noStrike" sz="900" u="none">
                    <a:solidFill>
                      <a:srgbClr val="1F2937"/>
                    </a:solidFill>
                    <a:latin typeface="Calibri"/>
                  </a:defRPr>
                </a:pPr>
              </a:p>
            </c:txPr>
            <c:dLblPos val="t"/>
            <c:showLegendKey val="0"/>
            <c:showVal val="1"/>
            <c:showCatName val="0"/>
            <c:showSerName val="0"/>
            <c:showPercent val="0"/>
            <c:showBubbleSize val="0"/>
            <c:showLeaderLines val="0"/>
          </c:dLbls>
          <c:marker>
            <c:symbol val="circle"/>
            <c:size val="8"/>
            <c:spPr>
              <a:solidFill>
                <a:srgbClr val="F2A541"/>
              </a:solidFill>
              <a:ln w="9525" cap="flat">
                <a:solidFill>
                  <a:srgbClr val="F2A541"/>
                </a:solidFill>
                <a:prstDash val="solid"/>
                <a:round/>
              </a:ln>
              <a:effectLst/>
            </c:spPr>
          </c:marker>
          <c:cat>
            <c:multiLvlStrRef>
              <c:f>Sheet1!$A$2:$A$11</c:f>
              <c:multiLvlStrCache>
                <c:ptCount val="10"/>
                <c:lvl>
                  <c:pt idx="0">
                    <c:v>2015</c:v>
                  </c:pt>
                  <c:pt idx="1">
                    <c:v>2016</c:v>
                  </c:pt>
                  <c:pt idx="2">
                    <c:v>2017</c:v>
                  </c:pt>
                  <c:pt idx="3">
                    <c:v>2018</c:v>
                  </c:pt>
                  <c:pt idx="4">
                    <c:v>2019</c:v>
                  </c:pt>
                  <c:pt idx="5">
                    <c:v>2020</c:v>
                  </c:pt>
                  <c:pt idx="6">
                    <c:v>2021</c:v>
                  </c:pt>
                  <c:pt idx="7">
                    <c:v>2022</c:v>
                  </c:pt>
                  <c:pt idx="8">
                    <c:v>2023</c:v>
                  </c:pt>
                  <c:pt idx="9">
                    <c:v>2024</c:v>
                  </c:pt>
                </c:lvl>
              </c:multiLvlStrCache>
            </c:multiLvlStrRef>
          </c:cat>
          <c:val>
            <c:numRef>
              <c:f>Sheet1!$B$2:$B$11</c:f>
              <c:numCache>
                <c:formatCode>General</c:formatCode>
                <c:ptCount val="10"/>
                <c:pt idx="0">
                  <c:v>34.1</c:v>
                </c:pt>
                <c:pt idx="1">
                  <c:v>27.1</c:v>
                </c:pt>
                <c:pt idx="2">
                  <c:v>26.6</c:v>
                </c:pt>
                <c:pt idx="3">
                  <c:v>17.5</c:v>
                </c:pt>
                <c:pt idx="4">
                  <c:v>12.8</c:v>
                </c:pt>
                <c:pt idx="5">
                  <c:v>6.2</c:v>
                </c:pt>
                <c:pt idx="6">
                  <c:v>2.4</c:v>
                </c:pt>
                <c:pt idx="7">
                  <c:v>1.3</c:v>
                </c:pt>
                <c:pt idx="8">
                  <c:v>1.4</c:v>
                </c:pt>
                <c:pt idx="9">
                  <c:v>1.1</c:v>
                </c:pt>
              </c:numCache>
            </c:numRef>
          </c:val>
          <c:smooth val="0"/>
        </c:ser>
        <c:dLbls>
          <c:numFmt formatCode="0.0" sourceLinked="0"/>
          <c:txPr>
            <a:bodyPr/>
            <a:lstStyle/>
            <a:p>
              <a:pPr>
                <a:defRPr b="0" i="0" strike="noStrike" sz="900" u="none">
                  <a:solidFill>
                    <a:srgbClr val="1F2937"/>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66175"/>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17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B2A4A"/>
                </a:solidFill>
                <a:latin typeface="Calibri"/>
              </a:defRPr>
            </a:pPr>
            <a:r>
              <a:rPr sz="1500" b="0" i="0" u="none" strike="noStrike">
                <a:solidFill>
                  <a:srgbClr val="1B2A4A"/>
                </a:solidFill>
                <a:latin typeface="Calibri"/>
              </a:rPr>
              <a:t>Alunos por turma em 30 de junho (consulta 8)</a:t>
            </a:r>
          </a:p>
        </c:rich>
      </c:tx>
      <c:layout/>
      <c:overlay val="0"/>
    </c:title>
    <c:autoTitleDeleted val="0"/>
    <c:plotArea>
      <c:layout/>
      <c:barChart>
        <c:barDir val="col"/>
        <c:grouping val="clustered"/>
        <c:varyColors val="0"/>
        <c:ser>
          <c:idx val="0"/>
          <c:order val="0"/>
          <c:tx>
            <c:strRef>
              <c:f>Sheet1!$B$1</c:f>
              <c:strCache>
                <c:ptCount val="1"/>
                <c:pt idx="0">
                  <c:v>2019</c:v>
                </c:pt>
              </c:strCache>
            </c:strRef>
          </c:tx>
          <c:spPr>
            <a:solidFill>
              <a:srgbClr val="2E5EAA"/>
            </a:solidFill>
            <a:effectLst/>
          </c:spPr>
          <c:invertIfNegative val="0"/>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Creche</c:v>
                  </c:pt>
                  <c:pt idx="1">
                    <c:v>Pré-escola</c:v>
                  </c:pt>
                  <c:pt idx="2">
                    <c:v>Fund. iniciais</c:v>
                  </c:pt>
                  <c:pt idx="3">
                    <c:v>Fund. finais</c:v>
                  </c:pt>
                </c:lvl>
              </c:multiLvlStrCache>
            </c:multiLvlStrRef>
          </c:cat>
          <c:val>
            <c:numRef>
              <c:f>Sheet1!$B$2:$B$5</c:f>
              <c:numCache>
                <c:formatCode>General</c:formatCode>
                <c:ptCount val="4"/>
                <c:pt idx="0">
                  <c:v>11.5</c:v>
                </c:pt>
                <c:pt idx="1">
                  <c:v>30.7</c:v>
                </c:pt>
                <c:pt idx="2">
                  <c:v>28.7</c:v>
                </c:pt>
                <c:pt idx="3">
                  <c:v>29.4</c:v>
                </c:pt>
              </c:numCache>
            </c:numRef>
          </c:val>
        </c:ser>
        <c:ser>
          <c:idx val="1"/>
          <c:order val="1"/>
          <c:tx>
            <c:strRef>
              <c:f>Sheet1!$C$1</c:f>
              <c:strCache>
                <c:ptCount val="1"/>
                <c:pt idx="0">
                  <c:v>2024</c:v>
                </c:pt>
              </c:strCache>
            </c:strRef>
          </c:tx>
          <c:spPr>
            <a:solidFill>
              <a:srgbClr val="F2A541"/>
            </a:solidFill>
            <a:effectLst/>
          </c:spPr>
          <c:invertIfNegative val="0"/>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Creche</c:v>
                  </c:pt>
                  <c:pt idx="1">
                    <c:v>Pré-escola</c:v>
                  </c:pt>
                  <c:pt idx="2">
                    <c:v>Fund. iniciais</c:v>
                  </c:pt>
                  <c:pt idx="3">
                    <c:v>Fund. finais</c:v>
                  </c:pt>
                </c:lvl>
              </c:multiLvlStrCache>
            </c:multiLvlStrRef>
          </c:cat>
          <c:val>
            <c:numRef>
              <c:f>Sheet1!$C$2:$C$5</c:f>
              <c:numCache>
                <c:formatCode>General</c:formatCode>
                <c:ptCount val="4"/>
                <c:pt idx="0">
                  <c:v>11</c:v>
                </c:pt>
                <c:pt idx="1">
                  <c:v>26.9</c:v>
                </c:pt>
                <c:pt idx="2">
                  <c:v>30.6</c:v>
                </c:pt>
                <c:pt idx="3">
                  <c:v>31.6</c:v>
                </c:pt>
              </c:numCache>
            </c:numRef>
          </c:val>
        </c:ser>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6175"/>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175"/>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Abrir com uma pergunta, antes de nos apresentarmos: quantas crianças esperavam vaga em creche em São Paulo em junho de 2015? Foram 124.741. Depois, em uma frase: somos o Grupo 7 de SCC0245, e o tema é política pública municipal de educação. A história começa com uma menina de 1 ano, no próximo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1 min.
A Ana é uma persona hipotética, criada para dar rosto ao problema; os números do distrito dela são reais e saem da nossa carga. A Ana tem 1 ano e mora no Tremembé, na zona norte. A mãe dela precisa voltar a trabalhar e não tem com quem deixar a filha. Apareceu uma vaga, mas longe de casa, e com uma bebê de 1 ano ela decidiu esperar a creche do bairro. Enquanto isso, a mãe não volta ao trabalho e a Ana fica fora da creche: cada mês na fila é um mês a menos de creche. Em junho de 2024, a Ana seria uma das 153 crianças na fila de creche do Tremembé, a segunda maior da cidade, e 74 delas esperavam uma unidade específica, como a mãe da Ana. No distrito, 2,5% da demanda de creche estava fora da rede, mais que o dobro da média da cidade.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Sair da Ana para a cidade, falando para a plateia. A fila de creche caiu 97% desde 2015, mas em junho de 2024 ainda havia 3.633 crianças esperando vaga. E se uma delas fosse o seu filho? Quase sete em cada dez, 2.502, esperavam uma vaga numa unidade específica, escolhida pela família, como a mãe da Ana. As outras 1.131 aceitavam qualquer unidade e esperavam havia até 30 dias. Para essas famílias, a espera continua.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Por que a fila não acaba? A falta de vaga em creche foi por anos o principal problema de acesso da educação infantil paulistana, e o PNE (Lei 13.005/2014), Meta 1, pede creche para pelo menos metade das crianças de até 3 anos e pré-escola universal. A cidade avançou: a fila de creche em junho caiu de 124.741 crianças em 2015 para 3.633 em 2024, e a parte da demanda fora da rede passou de 34% para 1%. Mas a fila que sobrou está espalhada: em 2024 ela existia nos 96 distritos, e no Censo 2022 a oferta ia de menos de 50 a mais de 100 matrículas por 100 crianças de 0 a 4 anos. A pergunta deixou de ser quantas vagas abrir e virou onde abrir.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Para achar o lugar certo entre 96 distritos, o gestor precisa cruzar quatro coisas: quem está na fila, quem já tem vaga, se as turmas estão cheias e quantas crianças moram em cada lugar. Hoje cada uma está numa base: a fila em planilhas por distrito, publicadas em sete formatos; a matrícula num microdado de 13,4 milhões de linhas, com o código da escola corrompido de 2022 a 2024; a população no Censo do IBGE, por setor censitário e em faixas de cinco anos. Nem o nome do distrito é escrito igual. Nossa solução junta as três num data warehouse: um comando baixa, limpa, carrega e confere tudo, cinco fatos e catorze dimensões se cruzam por distrito, etapa e data, e catorze verificações rodam a cada carga. Quem usa é a Secretaria Municipal de Educação e as 13 Diretorias Regionais.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1 min.
Como os dados ajudam a fila a cair mais: um ciclo de quatro passos. Medir: a cada publicação, a fila de cada distrito e etapa, separando quem espera uma unidade específica de quem aceita qualquer uma. Localizar: as consultas 1, 5 e 7 mostram onde a fila resiste e onde a oferta por criança é menor. Decidir: a consulta 8 mostra quantas crianças as turmas já têm, o que ajuda a escolher entre turma nova e lugar ocioso, e as consultas 3 e 4 mostram como a oferta é feita, por rede e jornada. Acompanhar: a publicação seguinte mostra se a fila do distrito caiu, e o ciclo recomeça. Como quase sete em cada dez crianças da fila esperam uma unidade específica, o que falta é vaga no lugar certo, e é isso que o ciclo procura.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O enunciado temático prioriza São Carlos, e nossa primeira proposta foi lá. Sem dado aberto de vaga nem de fila, a demanda não atendida teria de ser estimada, e o enunciado pede dados reais. São Paulo publica o microdado de cada matrícula e a fila por distrito, e é isso que permite contar a história da Ana com números de verdade. O modelo vale para São Carlos: matrícula, turma e desfecho vêm do registro que todo sistema de gestão escolar mantém, e o Censo 2022 tem população por setor para todos os municípios.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Os cinco assuntos são os que registramos na nossa planilha, e cada um é uma peça do caso da Ana: a fila em que ela está, as matrículas das creches do bairro, se as turmas estão cheias, quantas crianças moram no Tremembé e onde a rede oferece vaga. Quatro viram tabelas de fatos; a oferta por setor sai das dimensões Escola, Território e Setor Censitário. O quinto processo, desfecho da matrícula, acompanha o que acontece depois do acesso.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Agora a proposta vira história. Imagine que a prefeitura adote o nosso data warehouse. São três passos, e cada um de nós apresenta um: no passo 1, o Thiago mostra como os dados da fila, das matrículas e do Censo entram, limpos e integrados; no passo 2, o Daniel mostra como o modelo organiza esses dados em estrelas e numa constelação; no passo 3, o Luís mostra as consultas que respondem onde abrir vagas, e é com ele que a história da Ana termina. A história é um cenário hipotético, mas cada número dela vem da nossa carga com os dados reais. Passar a palavra ao Thiago.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Passo 1: os dados entram. Para o caso da Ana, a fila do Tremembé vem da planilha de demanda, as matrículas das creches do bairro vêm do microdado e as crianças do distrito vêm do Censo. Duas fontes da SME no Portal de Dados Abertos da Prefeitura, com grão, formato e vocabulário diferentes, e o Censo 2022 do IBGE. A fila tem sete formatos entre 2006 e 2026, e o significado das colunas numeradas muda com o formato. O Censo traz a demanda potencial: quantas crianças moram em cada setor. Na carga real entraram 26.889 setores do município, todos ligados a um distrito da SME.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Exemplos de integração exigidos no enunciado. Distrito: maiúsculas sem acento na SME, com acento no IBGE; a regra de normalização é a mesma. Idade: simples no microdado, grupos de cinco anos no IBGE; a dimensão Idade carrega a faixa do IBGE. CD_SETOR é um homônimo: na SME é setor administrativo de 4 dígitos, no IBGE setor censitário de 15. A prova de que a integração entre as bases da SME está certa: contando no microdado as matrículas ativas em junho, a diferença para a planilha fica abaixo de 1% de 2015 a 2020. No caso da Ana, o distrito vem como TREMEMBE na SME e Tremembé no IBGE; depois da normalização, os dois viram a mesma linha da dimensão Território.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Cada problema foi medido nos dados reais e tratado por uma regra testada. O mais grave: de 2022 a 2024 o código da escola chega corrompido; recuperamos o código real pelo nome, tipo e distrito para 94,8% a 98,6% das matrículas. Princípio: medida não publicada fica nula, nunca zero. O pipeline roda catorze verificações automáticas depois de cada carga; na carga real nenhuma deu FALHA. É por esse cuidado que a fila do Tremembé chega ao modelo com o sentido certo.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Grão declarado antes das dimensões. Matrícula no grão mais fino que a fonte permite; fila no grão em que a prefeitura publica; desfecho e ocupação são fatos agregados do fato de matrícula; população no grão do IBGE. Fila e população são estoques: somam no território, não no tempo. Taxas e alunos por turma são derivados não aditivos, sempre recalculados a partir das somas. A Ana não é uma linha da fila: a fila é publicada por distrito, mês e etapa, então ela é uma das 153 crianças da linha Tremembé, junho de 2024, creche. Quando conseguir a vaga, ela passa a ser uma linha do fato Matrícula.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Fato no centro, dez dimensões. Dimensão Data com dois papéis, início e fim da matrícula, como a data de internação e de alta do artigo da disciplina: as duas datas permitem contar matrículas ativas em um dia. O fato principal é a ocorrência do vínculo, contada por um campo artificial igual a 1, técnica de tabela de fatos sem fato; a única medida é dias de matrícula. Três bugigangas. Duas degeneradas. Escola é mudança lenta tipo 2. Fechar o passo 1 e passar a palavra ao Daniel: os dados estão limpos e integrados, e o passo 2 é o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Passo 2: o modelo organiza os dados. A fila em que a Ana está fica nesta estrela: distrito Tremembé, junho de 2024, etapa creche, 153 crianças. Fila: medidas nulas onde a prefeitura não publicou a quebra; formato da planilha como dimensão degenerada. Tempo tem duas hierarquias porque a fila foi trimestral até 2022 e bimestral depois. A fila é estoque: soma entre distritos e etapas, mas no tempo se escolhe um mês, nunca se soma.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Desfecho: fato agregado do fato de matrícula, porque taxa de rendimento só faz sentido sobre um conjunto de alunos. As contagens somam; as taxas são recalculadas pelas contagens em qualquer nível, nunca como média de taxas. Na educação infantil não há aprovação, então a taxa fica nula. Esta estrela olha o que vem depois do acesso: quando a Ana conseguir a vaga, ela passa a contar aqui.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Ocupação de turma: agregado do fato de matrícula pelo id da turma. A capacidade não é publicada, então medimos os alunos ativos em 30 de junho por turma em funcionamento. A média é sempre soma de alunos dividida por soma de turmas. No Tremembé, as 578 turmas de creche tinham em média 10,7 crianças em junho de 2024, perto da média da cidade, de 11,0.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População: Censo 2022 no grão de setor censitário, a menor unidade territorial do modelo. Na carga real são 26.889 setores, todos ligados a um distrito da SME, e 11,4 milhões de moradores. Faixa Etária é o rollup encolhido de Idade que conforma com a matrícula. As 11.498 crianças de 0 a 4 anos do Tremembé são a soma dos setores censitários do distrito.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Cinco fatos, catorze dimensões. Território é compartilhado pelos cinco. Processo de projeto: matriz de barramento com fato e dimensão, dimensões conformadas e, onde os grãos diferem, rollups encolhidos conformados (tracejado): Tempo e Ano Letivo de Data, Etapa de Série, Faixa Etária de Idade, Território de Setor Censitário. O drill-across agrega cada fato até o grão comum e une pelos atributos conformados. Território está nos cinco fatos, e é por ele que o Tremembé da Ana liga fila, matrícula, ocupação, desfecho e população. Passar a palavra ao Luís: com o modelo pronto, o passo 3 são as respostas.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1 min.
Passo 3: as perguntas do gestor viram consultas. O enunciado pede ao menos duas de roll-up ou drill-down, uma slice and dice, uma pivot e uma drill-across. Temos três, uma, uma e três. Cada consulta responde a uma pergunta do gestor e cita os fatos que usa. C7 é a que liga fila, matrícula e população; C8 é a da ocupação das turmas. Para o caso da Ana, as que pesam são a C1, que desce do município até o distrito, a C5 e a C7, que cruzam fila, matrícula e população, e a C8, da ocupação.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Consulta 5 na carga com os dados reais de 2015 a 2024. A fila de creche em junho caiu 97% em dez anos e a fração da demanda fora da rede passou de 34% para 1%. A queda maior foi de 2017 a 2021. Consulta 3: 85% das matrículas de creche estão na rede conveniada, quase todas em jornada integral, em 2019 e em 2024. A cidade melhorou muito; o que falta é achar onde a fila resiste.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Consulta 7, na data do Censo: 598.406 crianças de 0 a 4 anos moram no município e a rede municipal tinha 514.131 matrículas ativas dessa idade, 86 por 100. A média esconde distâncias grandes: 25 distritos têm menos de 50 matrículas por 100 crianças residentes e outros 25 passam de 100, porque a matrícula conta onde a escola fica e a população onde a criança mora. Consulta 8: a creche funciona com perto de 11 crianças por turma em todas as DREs; no fundamental, o município tem de 28,7 a 31,6 alunos por turma em 2019 e 2024. O Tremembé da Ana está no grupo abaixo da média, com 71,6.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0,5 min.
Antes da decisão final, por que confiar nesses números. Seis das 23 decisões documentadas no repositório. Cada uma tem a alternativa descartada e o argumento. Destacar as duas que mais aparecem em perguntas: por que rollups encolhidos em vez de um grão único, e por que nulo e não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De volta à Ana. Olhando só o tamanho, o gestor escolheria o Grajaú: é o distrito com mais crianças de 0 a 4 anos, 24.398, e tinha a maior fila de creche da cidade em 2015, 8.018 crianças. Mas a fila do Grajaú caiu para 88 em 2024, e a oferta lá é de 82,7 matrículas por 100 crianças. No Tremembé, a fila de 2024 era de 153 crianças, a segunda maior da cidade, e a oferta era de 71,6 por 100, abaixo da média do município, de 86. Com as bases cruzadas, a próxima vaga vai para o Tremembé. Se perguntarem: a matrícula conta onde a escola fica e a população onde a criança mora, então a razão é oferta por criança residente, não taxa de atendimento.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Fim da história. Com o data warehouse, a prefeitura vê o Tremembé, abre turmas de creche no distrito, e a Ana sai da fila e vira uma linha do fato Matrícula. A mãe dela volta a trabalhar. O que fez a diferença foi juntar números que já existiam: uma consulta no lugar de três bases, catorze verificações a cada carga, dez anos de histórico e atualização com um comando. É um cenário hipotético; a prefeitura não usa o nosso data warehouse, mas tudo o que ele mostra no caso da Ana sai dos dados reais, e a mesma consulta serve para a próxima Ana, em qualquer distrito.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0,5 min.
Encerramento. A Ana é hipotética, mas a proposta está pronta: o repositório tem o pipeline completo, os testes e a documentação, e o relatório em PDF traz a descrição de cada atributo, com a coluna de origem e a integração. Abrir para perguntas.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LARO">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6858000" cy="274320"/>
          </a:xfrm>
          <a:prstGeom prst="rect">
            <a:avLst/>
          </a:prstGeom>
          <a:noFill/>
          <a:ln/>
        </p:spPr>
        <p:txBody>
          <a:bodyPr wrap="square" lIns="0" tIns="0" rIns="0" bIns="0" rtlCol="0" anchor="ctr"/>
          <a:lstStyle/>
          <a:p>
            <a:pPr indent="0" marL="0">
              <a:buNone/>
            </a:pPr>
            <a:r>
              <a:rPr lang="en-US" sz="1000" dirty="0">
                <a:solidFill>
                  <a:srgbClr val="566175"/>
                </a:solidFill>
                <a:latin typeface="Calibri" pitchFamily="34" charset="0"/>
                <a:ea typeface="Calibri" pitchFamily="34" charset="-122"/>
                <a:cs typeface="Calibri" pitchFamily="34" charset="-120"/>
              </a:rPr>
              <a:t>SCC0245 · Grupo 7 · Rede Municipal Paulistana</a:t>
            </a:r>
            <a:endParaRPr lang="en-US" sz="1000" dirty="0"/>
          </a:p>
        </p:txBody>
      </p:sp>
      <p:sp>
        <p:nvSpPr>
          <p:cNvPr id="3" name="Text 1"/>
          <p:cNvSpPr/>
          <p:nvPr/>
        </p:nvSpPr>
        <p:spPr>
          <a:xfrm>
            <a:off x="11256264" y="6400800"/>
            <a:ext cx="457200" cy="292608"/>
          </a:xfrm>
          <a:prstGeom prst="rect">
            <a:avLst/>
          </a:prstGeom>
          <a:noFill/>
          <a:ln/>
        </p:spPr>
        <p:txBody>
          <a:bodyPr wrap="square" lIns="0" tIns="0" rIns="0" bIns="0" rtlCol="0" anchor="ctr"/>
          <a:lstStyle/>
          <a:p>
            <a:pPr indent="0" marL="0">
              <a:buNone/>
            </a:pPr>
            <a:r>
              <a:rPr lang="en-US" sz="1100" dirty="0">
                <a:solidFill>
                  <a:srgbClr val="566175"/>
                </a:solidFill>
                <a:latin typeface="Calibri" pitchFamily="34" charset="0"/>
                <a:ea typeface="Calibri" pitchFamily="34" charset="-122"/>
                <a:cs typeface="Calibri" pitchFamily="34" charset="-120"/>
              </a:rPr>
              <a:t>/ 26</a:t>
            </a:r>
            <a:endParaRPr lang="en-US" sz="11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SCURO">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548640" y="6419088"/>
            <a:ext cx="6858000" cy="274320"/>
          </a:xfrm>
          <a:prstGeom prst="rect">
            <a:avLst/>
          </a:prstGeom>
          <a:noFill/>
          <a:ln/>
        </p:spPr>
        <p:txBody>
          <a:bodyPr wrap="square" lIns="0" tIns="0" rIns="0" bIns="0" rtlCol="0" anchor="ctr"/>
          <a:lstStyle/>
          <a:p>
            <a:pPr indent="0" marL="0">
              <a:buNone/>
            </a:pPr>
            <a:r>
              <a:rPr lang="en-US" sz="1000" dirty="0">
                <a:solidFill>
                  <a:srgbClr val="C9D3E6"/>
                </a:solidFill>
                <a:latin typeface="Calibri" pitchFamily="34" charset="0"/>
                <a:ea typeface="Calibri" pitchFamily="34" charset="-122"/>
                <a:cs typeface="Calibri" pitchFamily="34" charset="-120"/>
              </a:rPr>
              <a:t>SCC0245 · Grupo 7 · Rede Municipal Paulistana</a:t>
            </a:r>
            <a:endParaRPr lang="en-US" sz="1000" dirty="0"/>
          </a:p>
        </p:txBody>
      </p:sp>
      <p:sp>
        <p:nvSpPr>
          <p:cNvPr id="3" name="Text 1"/>
          <p:cNvSpPr/>
          <p:nvPr/>
        </p:nvSpPr>
        <p:spPr>
          <a:xfrm>
            <a:off x="11256264" y="6400800"/>
            <a:ext cx="457200" cy="292608"/>
          </a:xfrm>
          <a:prstGeom prst="rect">
            <a:avLst/>
          </a:prstGeom>
          <a:noFill/>
          <a:ln/>
        </p:spPr>
        <p:txBody>
          <a:bodyPr wrap="square" lIns="0" tIns="0" rIns="0" bIns="0" rtlCol="0" anchor="ctr"/>
          <a:lstStyle/>
          <a:p>
            <a:pPr indent="0" marL="0">
              <a:buNone/>
            </a:pPr>
            <a:r>
              <a:rPr lang="en-US" sz="1100" dirty="0">
                <a:solidFill>
                  <a:srgbClr val="C9D3E6"/>
                </a:solidFill>
                <a:latin typeface="Calibri" pitchFamily="34" charset="0"/>
                <a:ea typeface="Calibri" pitchFamily="34" charset="-122"/>
                <a:cs typeface="Calibri" pitchFamily="34" charset="-120"/>
              </a:rPr>
              <a:t>/ 26</a:t>
            </a:r>
            <a:endParaRPr lang="en-US" sz="11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F2A541"/>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APA">
    <p:bg>
      <p:bgPr>
        <a:solidFill>
          <a:srgbClr val="1B2A4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731520" y="685800"/>
            <a:ext cx="10515600" cy="320040"/>
          </a:xfrm>
          <a:prstGeom prst="rect">
            <a:avLst/>
          </a:prstGeom>
          <a:noFill/>
          <a:ln/>
        </p:spPr>
        <p:txBody>
          <a:bodyPr wrap="square" lIns="0" tIns="0" rIns="0" bIns="0" rtlCol="0" anchor="t"/>
          <a:lstStyle/>
          <a:p>
            <a:pPr algn="l" indent="0" marL="0">
              <a:buNone/>
            </a:pPr>
            <a:r>
              <a:rPr lang="en-US" sz="1300" b="1" spc="100" kern="0" dirty="0">
                <a:solidFill>
                  <a:srgbClr val="F2A541"/>
                </a:solidFill>
                <a:latin typeface="Calibri" pitchFamily="34" charset="0"/>
                <a:ea typeface="Calibri" pitchFamily="34" charset="-122"/>
                <a:cs typeface="Calibri" pitchFamily="34" charset="-120"/>
              </a:rPr>
              <a:t>SCC0245 · PROCESSAMENTO ANALÍTICO DE DADOS · PRIMEIRO TRABALHO PRÁTICO</a:t>
            </a:r>
            <a:endParaRPr lang="en-US" sz="1300" dirty="0"/>
          </a:p>
        </p:txBody>
      </p:sp>
      <p:sp>
        <p:nvSpPr>
          <p:cNvPr id="4" name="Text 1"/>
          <p:cNvSpPr txBox="1"/>
          <p:nvPr/>
        </p:nvSpPr>
        <p:spPr>
          <a:xfrm>
            <a:off x="731520" y="1143000"/>
            <a:ext cx="7315200" cy="1783080"/>
          </a:xfrm>
          <a:prstGeom prst="rect">
            <a:avLst/>
          </a:prstGeom>
          <a:noFill/>
          <a:ln/>
        </p:spPr>
        <p:txBody>
          <a:bodyPr wrap="square" lIns="0" tIns="0" rIns="0" bIns="0" rtlCol="0" anchor="t"/>
          <a:lstStyle/>
          <a:p>
            <a:pPr algn="l" indent="0" marL="0">
              <a:buNone/>
            </a:pPr>
            <a:r>
              <a:rPr lang="en-US" sz="4000" b="1" dirty="0">
                <a:solidFill>
                  <a:srgbClr val="FFFFFF"/>
                </a:solidFill>
                <a:latin typeface="Calibri" pitchFamily="34" charset="0"/>
                <a:ea typeface="Calibri" pitchFamily="34" charset="-122"/>
                <a:cs typeface="Calibri" pitchFamily="34" charset="-120"/>
              </a:rPr>
              <a:t>Rede Municipal Paulistana: oferta escolar e demanda não atendida</a:t>
            </a:r>
            <a:endParaRPr lang="en-US" sz="4000" dirty="0"/>
          </a:p>
        </p:txBody>
      </p:sp>
      <p:sp>
        <p:nvSpPr>
          <p:cNvPr id="5" name="Text 2"/>
          <p:cNvSpPr txBox="1"/>
          <p:nvPr/>
        </p:nvSpPr>
        <p:spPr>
          <a:xfrm>
            <a:off x="731520" y="3017520"/>
            <a:ext cx="6949440" cy="731520"/>
          </a:xfrm>
          <a:prstGeom prst="rect">
            <a:avLst/>
          </a:prstGeom>
          <a:noFill/>
          <a:ln/>
        </p:spPr>
        <p:txBody>
          <a:bodyPr wrap="square" lIns="0" tIns="0" rIns="0" bIns="0" rtlCol="0" anchor="t"/>
          <a:lstStyle/>
          <a:p>
            <a:pPr algn="l" indent="0" marL="0">
              <a:buNone/>
            </a:pPr>
            <a:r>
              <a:rPr lang="en-US" sz="1800" dirty="0">
                <a:solidFill>
                  <a:srgbClr val="C9D3E6"/>
                </a:solidFill>
                <a:latin typeface="Calibri" pitchFamily="34" charset="0"/>
                <a:ea typeface="Calibri" pitchFamily="34" charset="-122"/>
                <a:cs typeface="Calibri" pitchFamily="34" charset="-120"/>
              </a:rPr>
              <a:t>Um data warehouse para decidir onde abrir vagas, com dados abertos da SME-SP e do IBGE</a:t>
            </a:r>
            <a:endParaRPr lang="en-US" sz="1800" dirty="0"/>
          </a:p>
        </p:txBody>
      </p:sp>
      <p:sp>
        <p:nvSpPr>
          <p:cNvPr id="6" name="anim:1:1"/>
          <p:cNvSpPr/>
          <p:nvPr/>
        </p:nvSpPr>
        <p:spPr>
          <a:xfrm>
            <a:off x="731520" y="3977640"/>
            <a:ext cx="1234440" cy="310896"/>
          </a:xfrm>
          <a:prstGeom prst="roundRect">
            <a:avLst>
              <a:gd name="adj" fmla="val 50000"/>
            </a:avLst>
          </a:prstGeom>
          <a:solidFill>
            <a:srgbClr val="F2A541"/>
          </a:solidFill>
          <a:ln w="12700">
            <a:solidFill>
              <a:srgbClr val="F2A541"/>
            </a:solidFill>
            <a:prstDash val="solid"/>
          </a:ln>
        </p:spPr>
      </p:sp>
      <p:sp>
        <p:nvSpPr>
          <p:cNvPr id="7" name="anim:1:2"/>
          <p:cNvSpPr txBox="1"/>
          <p:nvPr/>
        </p:nvSpPr>
        <p:spPr>
          <a:xfrm>
            <a:off x="731520" y="3977640"/>
            <a:ext cx="1234440" cy="310896"/>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GRUPO 7</a:t>
            </a:r>
            <a:endParaRPr lang="en-US" sz="1200" dirty="0"/>
          </a:p>
        </p:txBody>
      </p:sp>
      <p:sp>
        <p:nvSpPr>
          <p:cNvPr id="8" name="anim:2:3"/>
          <p:cNvSpPr/>
          <p:nvPr/>
        </p:nvSpPr>
        <p:spPr>
          <a:xfrm>
            <a:off x="731520" y="4480560"/>
            <a:ext cx="3520440" cy="658368"/>
          </a:xfrm>
          <a:prstGeom prst="roundRect">
            <a:avLst>
              <a:gd name="adj" fmla="val 16667"/>
            </a:avLst>
          </a:prstGeom>
          <a:solidFill>
            <a:srgbClr val="FFFFFF">
              <a:alpha val="10000"/>
            </a:srgbClr>
          </a:solidFill>
          <a:ln w="9525">
            <a:solidFill>
              <a:srgbClr val="3A4D73"/>
            </a:solidFill>
            <a:prstDash val="solid"/>
          </a:ln>
        </p:spPr>
      </p:sp>
      <p:sp>
        <p:nvSpPr>
          <p:cNvPr id="9" name="anim:2:4"/>
          <p:cNvSpPr txBox="1"/>
          <p:nvPr/>
        </p:nvSpPr>
        <p:spPr>
          <a:xfrm>
            <a:off x="914400" y="4544568"/>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Kevenn Laranjeira de Oliveira</a:t>
            </a:r>
            <a:endParaRPr lang="en-US" sz="1400" dirty="0"/>
          </a:p>
        </p:txBody>
      </p:sp>
      <p:sp>
        <p:nvSpPr>
          <p:cNvPr id="10" name="anim:2:5"/>
          <p:cNvSpPr txBox="1"/>
          <p:nvPr/>
        </p:nvSpPr>
        <p:spPr>
          <a:xfrm>
            <a:off x="914400" y="4828032"/>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18046529</a:t>
            </a:r>
            <a:endParaRPr lang="en-US" sz="1200" dirty="0"/>
          </a:p>
        </p:txBody>
      </p:sp>
      <p:sp>
        <p:nvSpPr>
          <p:cNvPr id="11" name="anim:3:6"/>
          <p:cNvSpPr/>
          <p:nvPr/>
        </p:nvSpPr>
        <p:spPr>
          <a:xfrm>
            <a:off x="4434840" y="4480560"/>
            <a:ext cx="3520440" cy="658368"/>
          </a:xfrm>
          <a:prstGeom prst="roundRect">
            <a:avLst>
              <a:gd name="adj" fmla="val 16667"/>
            </a:avLst>
          </a:prstGeom>
          <a:solidFill>
            <a:srgbClr val="FFFFFF">
              <a:alpha val="10000"/>
            </a:srgbClr>
          </a:solidFill>
          <a:ln w="9525">
            <a:solidFill>
              <a:srgbClr val="3A4D73"/>
            </a:solidFill>
            <a:prstDash val="solid"/>
          </a:ln>
        </p:spPr>
      </p:sp>
      <p:sp>
        <p:nvSpPr>
          <p:cNvPr id="12" name="anim:3:7"/>
          <p:cNvSpPr txBox="1"/>
          <p:nvPr/>
        </p:nvSpPr>
        <p:spPr>
          <a:xfrm>
            <a:off x="4617720" y="4544568"/>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Thiago Rodrigues Gouveia da Silva</a:t>
            </a:r>
            <a:endParaRPr lang="en-US" sz="1400" dirty="0"/>
          </a:p>
        </p:txBody>
      </p:sp>
      <p:sp>
        <p:nvSpPr>
          <p:cNvPr id="13" name="anim:3:8"/>
          <p:cNvSpPr txBox="1"/>
          <p:nvPr/>
        </p:nvSpPr>
        <p:spPr>
          <a:xfrm>
            <a:off x="4617720" y="4828032"/>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18066911</a:t>
            </a:r>
            <a:endParaRPr lang="en-US" sz="1200" dirty="0"/>
          </a:p>
        </p:txBody>
      </p:sp>
      <p:sp>
        <p:nvSpPr>
          <p:cNvPr id="14" name="anim:4:9"/>
          <p:cNvSpPr/>
          <p:nvPr/>
        </p:nvSpPr>
        <p:spPr>
          <a:xfrm>
            <a:off x="731520" y="5266944"/>
            <a:ext cx="3520440" cy="658368"/>
          </a:xfrm>
          <a:prstGeom prst="roundRect">
            <a:avLst>
              <a:gd name="adj" fmla="val 16667"/>
            </a:avLst>
          </a:prstGeom>
          <a:solidFill>
            <a:srgbClr val="FFFFFF">
              <a:alpha val="10000"/>
            </a:srgbClr>
          </a:solidFill>
          <a:ln w="9525">
            <a:solidFill>
              <a:srgbClr val="3A4D73"/>
            </a:solidFill>
            <a:prstDash val="solid"/>
          </a:ln>
        </p:spPr>
      </p:sp>
      <p:sp>
        <p:nvSpPr>
          <p:cNvPr id="15" name="anim:4:10"/>
          <p:cNvSpPr txBox="1"/>
          <p:nvPr/>
        </p:nvSpPr>
        <p:spPr>
          <a:xfrm>
            <a:off x="914400" y="5330952"/>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Daniel Afonso Borges dos Santos</a:t>
            </a:r>
            <a:endParaRPr lang="en-US" sz="1400" dirty="0"/>
          </a:p>
        </p:txBody>
      </p:sp>
      <p:sp>
        <p:nvSpPr>
          <p:cNvPr id="16" name="anim:4:11"/>
          <p:cNvSpPr txBox="1"/>
          <p:nvPr/>
        </p:nvSpPr>
        <p:spPr>
          <a:xfrm>
            <a:off x="914400" y="5614416"/>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12608581</a:t>
            </a:r>
            <a:endParaRPr lang="en-US" sz="1200" dirty="0"/>
          </a:p>
        </p:txBody>
      </p:sp>
      <p:sp>
        <p:nvSpPr>
          <p:cNvPr id="17" name="anim:5:12"/>
          <p:cNvSpPr/>
          <p:nvPr/>
        </p:nvSpPr>
        <p:spPr>
          <a:xfrm>
            <a:off x="4434840" y="5266944"/>
            <a:ext cx="3520440" cy="658368"/>
          </a:xfrm>
          <a:prstGeom prst="roundRect">
            <a:avLst>
              <a:gd name="adj" fmla="val 16667"/>
            </a:avLst>
          </a:prstGeom>
          <a:solidFill>
            <a:srgbClr val="FFFFFF">
              <a:alpha val="10000"/>
            </a:srgbClr>
          </a:solidFill>
          <a:ln w="9525">
            <a:solidFill>
              <a:srgbClr val="3A4D73"/>
            </a:solidFill>
            <a:prstDash val="solid"/>
          </a:ln>
        </p:spPr>
      </p:sp>
      <p:sp>
        <p:nvSpPr>
          <p:cNvPr id="18" name="anim:5:13"/>
          <p:cNvSpPr txBox="1"/>
          <p:nvPr/>
        </p:nvSpPr>
        <p:spPr>
          <a:xfrm>
            <a:off x="4617720" y="5330952"/>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Luís Antônio Arruda Soares</a:t>
            </a:r>
            <a:endParaRPr lang="en-US" sz="1400" dirty="0"/>
          </a:p>
        </p:txBody>
      </p:sp>
      <p:sp>
        <p:nvSpPr>
          <p:cNvPr id="19" name="anim:5:14"/>
          <p:cNvSpPr txBox="1"/>
          <p:nvPr/>
        </p:nvSpPr>
        <p:spPr>
          <a:xfrm>
            <a:off x="4617720" y="5614416"/>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12559486</a:t>
            </a:r>
            <a:endParaRPr lang="en-US" sz="1200" dirty="0"/>
          </a:p>
        </p:txBody>
      </p:sp>
      <p:sp>
        <p:nvSpPr>
          <p:cNvPr id="20" name="anim:6:15"/>
          <p:cNvSpPr txBox="1"/>
          <p:nvPr/>
        </p:nvSpPr>
        <p:spPr>
          <a:xfrm>
            <a:off x="8549640" y="1234440"/>
            <a:ext cx="3108960" cy="685800"/>
          </a:xfrm>
          <a:prstGeom prst="rect">
            <a:avLst/>
          </a:prstGeom>
          <a:noFill/>
          <a:ln/>
        </p:spPr>
        <p:txBody>
          <a:bodyPr wrap="square" lIns="0" tIns="0" rIns="0" bIns="0" rtlCol="0" anchor="t"/>
          <a:lstStyle/>
          <a:p>
            <a:pPr algn="l" indent="0" marL="0">
              <a:buNone/>
            </a:pPr>
            <a:r>
              <a:rPr lang="en-US" sz="4000" b="1" dirty="0">
                <a:solidFill>
                  <a:srgbClr val="F2A541"/>
                </a:solidFill>
                <a:latin typeface="Calibri" pitchFamily="34" charset="0"/>
                <a:ea typeface="Calibri" pitchFamily="34" charset="-122"/>
                <a:cs typeface="Calibri" pitchFamily="34" charset="-120"/>
              </a:rPr>
              <a:t>13,4 mi</a:t>
            </a:r>
            <a:endParaRPr lang="en-US" sz="4000" dirty="0"/>
          </a:p>
        </p:txBody>
      </p:sp>
      <p:sp>
        <p:nvSpPr>
          <p:cNvPr id="21" name="anim:6:16"/>
          <p:cNvSpPr txBox="1"/>
          <p:nvPr/>
        </p:nvSpPr>
        <p:spPr>
          <a:xfrm>
            <a:off x="8549640" y="1920240"/>
            <a:ext cx="3108960" cy="36576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matrículas de 2015 a 2024</a:t>
            </a:r>
            <a:endParaRPr lang="en-US" sz="1300" dirty="0"/>
          </a:p>
        </p:txBody>
      </p:sp>
      <p:sp>
        <p:nvSpPr>
          <p:cNvPr id="22" name="anim:7:17"/>
          <p:cNvSpPr txBox="1"/>
          <p:nvPr/>
        </p:nvSpPr>
        <p:spPr>
          <a:xfrm>
            <a:off x="8549640" y="2651760"/>
            <a:ext cx="3108960" cy="685800"/>
          </a:xfrm>
          <a:prstGeom prst="rect">
            <a:avLst/>
          </a:prstGeom>
          <a:noFill/>
          <a:ln/>
        </p:spPr>
        <p:txBody>
          <a:bodyPr wrap="square" lIns="0" tIns="0" rIns="0" bIns="0" rtlCol="0" anchor="t"/>
          <a:lstStyle/>
          <a:p>
            <a:pPr algn="l" indent="0" marL="0">
              <a:buNone/>
            </a:pPr>
            <a:r>
              <a:rPr lang="en-US" sz="4000" b="1" dirty="0">
                <a:solidFill>
                  <a:srgbClr val="F2A541"/>
                </a:solidFill>
                <a:latin typeface="Calibri" pitchFamily="34" charset="0"/>
                <a:ea typeface="Calibri" pitchFamily="34" charset="-122"/>
                <a:cs typeface="Calibri" pitchFamily="34" charset="-120"/>
              </a:rPr>
              <a:t>44</a:t>
            </a:r>
            <a:endParaRPr lang="en-US" sz="4000" dirty="0"/>
          </a:p>
        </p:txBody>
      </p:sp>
      <p:sp>
        <p:nvSpPr>
          <p:cNvPr id="23" name="anim:7:18"/>
          <p:cNvSpPr txBox="1"/>
          <p:nvPr/>
        </p:nvSpPr>
        <p:spPr>
          <a:xfrm>
            <a:off x="8549640" y="3337560"/>
            <a:ext cx="3108960" cy="36576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meses de fila por distrito</a:t>
            </a:r>
            <a:endParaRPr lang="en-US" sz="1300" dirty="0"/>
          </a:p>
        </p:txBody>
      </p:sp>
      <p:sp>
        <p:nvSpPr>
          <p:cNvPr id="24" name="anim:8:19"/>
          <p:cNvSpPr txBox="1"/>
          <p:nvPr/>
        </p:nvSpPr>
        <p:spPr>
          <a:xfrm>
            <a:off x="8549640" y="4069080"/>
            <a:ext cx="3108960" cy="685800"/>
          </a:xfrm>
          <a:prstGeom prst="rect">
            <a:avLst/>
          </a:prstGeom>
          <a:noFill/>
          <a:ln/>
        </p:spPr>
        <p:txBody>
          <a:bodyPr wrap="square" lIns="0" tIns="0" rIns="0" bIns="0" rtlCol="0" anchor="t"/>
          <a:lstStyle/>
          <a:p>
            <a:pPr algn="l" indent="0" marL="0">
              <a:buNone/>
            </a:pPr>
            <a:r>
              <a:rPr lang="en-US" sz="4000" b="1" dirty="0">
                <a:solidFill>
                  <a:srgbClr val="F2A541"/>
                </a:solidFill>
                <a:latin typeface="Calibri" pitchFamily="34" charset="0"/>
                <a:ea typeface="Calibri" pitchFamily="34" charset="-122"/>
                <a:cs typeface="Calibri" pitchFamily="34" charset="-120"/>
              </a:rPr>
              <a:t>26.889</a:t>
            </a:r>
            <a:endParaRPr lang="en-US" sz="4000" dirty="0"/>
          </a:p>
        </p:txBody>
      </p:sp>
      <p:sp>
        <p:nvSpPr>
          <p:cNvPr id="25" name="anim:8:20"/>
          <p:cNvSpPr txBox="1"/>
          <p:nvPr/>
        </p:nvSpPr>
        <p:spPr>
          <a:xfrm>
            <a:off x="8549640" y="4754880"/>
            <a:ext cx="3108960" cy="36576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setores censitários do Censo 2022</a:t>
            </a:r>
            <a:endParaRPr lang="en-US" sz="1300" dirty="0"/>
          </a:p>
        </p:txBody>
      </p:sp>
      <p:sp>
        <p:nvSpPr>
          <p:cNvPr id="26" name="Text 23"/>
          <p:cNvSpPr txBox="1"/>
          <p:nvPr/>
        </p:nvSpPr>
        <p:spPr>
          <a:xfrm>
            <a:off x="731520" y="6217920"/>
            <a:ext cx="8229600" cy="32004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Profa. Dra. Cristina Dutra de Aguiar · ICMC-USP, São Carlos</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00"/>
                                        <p:tgtEl>
                                          <p:spTgt spid="8"/>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00"/>
                                        <p:tgtEl>
                                          <p:spTgt spid="10"/>
                                        </p:tgtEl>
                                      </p:cBhvr>
                                    </p:animEffect>
                                  </p:childTnLst>
                                </p:cTn>
                              </p:par>
                            </p:childTnLst>
                          </p:cTn>
                        </p:par>
                        <p:par>
                          <p:cTn id="24" fill="hold">
                            <p:stCondLst>
                              <p:cond delay="500"/>
                            </p:stCondLst>
                            <p:childTnLst>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00"/>
                                        <p:tgtEl>
                                          <p:spTgt spid="12"/>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00"/>
                                        <p:tgtEl>
                                          <p:spTgt spid="14"/>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00"/>
                                        <p:tgtEl>
                                          <p:spTgt spid="15"/>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400"/>
                                        <p:tgtEl>
                                          <p:spTgt spid="16"/>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00"/>
                                        <p:tgtEl>
                                          <p:spTgt spid="17"/>
                                        </p:tgtEl>
                                      </p:cBhvr>
                                    </p:animEffect>
                                  </p:childTnLst>
                                </p:cTn>
                              </p:par>
                            </p:childTnLst>
                          </p:cTn>
                        </p:par>
                        <p:par>
                          <p:cTn id="52" fill="hold">
                            <p:stCondLst>
                              <p:cond delay="1000"/>
                            </p:stCondLst>
                            <p:childTnLst>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400"/>
                                        <p:tgtEl>
                                          <p:spTgt spid="18"/>
                                        </p:tgtEl>
                                      </p:cBhvr>
                                    </p:animEffect>
                                  </p:childTnLst>
                                </p:cTn>
                              </p:par>
                            </p:childTnLst>
                          </p:cTn>
                        </p:par>
                        <p:par>
                          <p:cTn id="56" fill="hold">
                            <p:stCondLst>
                              <p:cond delay="1000"/>
                            </p:stCondLst>
                            <p:childTnLst>
                              <p:par>
                                <p:cTn id="57" presetID="10" presetClass="entr" presetSubtype="0" fill="hold" grpId="0"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400"/>
                                        <p:tgtEl>
                                          <p:spTgt spid="19"/>
                                        </p:tgtEl>
                                      </p:cBhvr>
                                    </p:animEffect>
                                  </p:childTnLst>
                                </p:cTn>
                              </p:par>
                            </p:childTnLst>
                          </p:cTn>
                        </p:par>
                        <p:par>
                          <p:cTn id="60" fill="hold">
                            <p:stCondLst>
                              <p:cond delay="1250"/>
                            </p:stCondLst>
                            <p:childTnLst>
                              <p:par>
                                <p:cTn id="61" presetID="10" presetClass="entr" presetSubtype="0" fill="hold" grpId="0" nodeType="with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fade">
                                      <p:cBhvr>
                                        <p:cTn id="63" dur="400"/>
                                        <p:tgtEl>
                                          <p:spTgt spid="20"/>
                                        </p:tgtEl>
                                      </p:cBhvr>
                                    </p:animEffect>
                                  </p:childTnLst>
                                </p:cTn>
                              </p:par>
                            </p:childTnLst>
                          </p:cTn>
                        </p:par>
                        <p:par>
                          <p:cTn id="64" fill="hold">
                            <p:stCondLst>
                              <p:cond delay="1250"/>
                            </p:stCondLst>
                            <p:childTnLst>
                              <p:par>
                                <p:cTn id="65" presetID="10" presetClass="entr" presetSubtype="0" fill="hold" grpId="0" nodeType="with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fade">
                                      <p:cBhvr>
                                        <p:cTn id="67" dur="400"/>
                                        <p:tgtEl>
                                          <p:spTgt spid="21"/>
                                        </p:tgtEl>
                                      </p:cBhvr>
                                    </p:animEffect>
                                  </p:childTnLst>
                                </p:cTn>
                              </p:par>
                            </p:childTnLst>
                          </p:cTn>
                        </p:par>
                        <p:par>
                          <p:cTn id="68" fill="hold">
                            <p:stCondLst>
                              <p:cond delay="1500"/>
                            </p:stCondLst>
                            <p:childTnLst>
                              <p:par>
                                <p:cTn id="69" presetID="10" presetClass="entr" presetSubtype="0" fill="hold" grpId="0" nodeType="with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fade">
                                      <p:cBhvr>
                                        <p:cTn id="71" dur="400"/>
                                        <p:tgtEl>
                                          <p:spTgt spid="22"/>
                                        </p:tgtEl>
                                      </p:cBhvr>
                                    </p:animEffect>
                                  </p:childTnLst>
                                </p:cTn>
                              </p:par>
                            </p:childTnLst>
                          </p:cTn>
                        </p:par>
                        <p:par>
                          <p:cTn id="72" fill="hold">
                            <p:stCondLst>
                              <p:cond delay="1500"/>
                            </p:stCondLst>
                            <p:childTnLst>
                              <p:par>
                                <p:cTn id="73" presetID="10" presetClass="entr" presetSubtype="0" fill="hold" grpId="0" nodeType="withEffect">
                                  <p:stCondLst>
                                    <p:cond delay="0"/>
                                  </p:stCondLst>
                                  <p:childTnLst>
                                    <p:set>
                                      <p:cBhvr>
                                        <p:cTn id="74" dur="1" fill="hold">
                                          <p:stCondLst>
                                            <p:cond delay="0"/>
                                          </p:stCondLst>
                                        </p:cTn>
                                        <p:tgtEl>
                                          <p:spTgt spid="23"/>
                                        </p:tgtEl>
                                        <p:attrNameLst>
                                          <p:attrName>style.visibility</p:attrName>
                                        </p:attrNameLst>
                                      </p:cBhvr>
                                      <p:to>
                                        <p:strVal val="visible"/>
                                      </p:to>
                                    </p:set>
                                    <p:animEffect transition="in" filter="fade">
                                      <p:cBhvr>
                                        <p:cTn id="75" dur="400"/>
                                        <p:tgtEl>
                                          <p:spTgt spid="23"/>
                                        </p:tgtEl>
                                      </p:cBhvr>
                                    </p:animEffect>
                                  </p:childTnLst>
                                </p:cTn>
                              </p:par>
                            </p:childTnLst>
                          </p:cTn>
                        </p:par>
                        <p:par>
                          <p:cTn id="76" fill="hold">
                            <p:stCondLst>
                              <p:cond delay="1750"/>
                            </p:stCondLst>
                            <p:childTnLst>
                              <p:par>
                                <p:cTn id="77" presetID="10" presetClass="entr" presetSubtype="0" fill="hold" grpId="0" nodeType="withEffect">
                                  <p:stCondLst>
                                    <p:cond delay="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400"/>
                                        <p:tgtEl>
                                          <p:spTgt spid="24"/>
                                        </p:tgtEl>
                                      </p:cBhvr>
                                    </p:animEffect>
                                  </p:childTnLst>
                                </p:cTn>
                              </p:par>
                            </p:childTnLst>
                          </p:cTn>
                        </p:par>
                        <p:par>
                          <p:cTn id="80" fill="hold">
                            <p:stCondLst>
                              <p:cond delay="1750"/>
                            </p:stCondLst>
                            <p:childTnLst>
                              <p:par>
                                <p:cTn id="81" presetID="10" presetClass="entr" presetSubtype="0" fill="hold" grpId="0" nodeType="with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A Ana tem 1 ano e está na fila da creche</a:t>
            </a:r>
            <a:endParaRPr lang="en-US" sz="3200" dirty="0"/>
          </a:p>
        </p:txBody>
      </p:sp>
      <p:sp>
        <p:nvSpPr>
          <p:cNvPr id="5" name="anim:1:21"/>
          <p:cNvSpPr/>
          <p:nvPr/>
        </p:nvSpPr>
        <p:spPr>
          <a:xfrm>
            <a:off x="548640" y="1600200"/>
            <a:ext cx="5440680" cy="4343400"/>
          </a:xfrm>
          <a:prstGeom prst="roundRect">
            <a:avLst>
              <a:gd name="adj" fmla="val 2526"/>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22"/>
          <p:cNvSpPr/>
          <p:nvPr/>
        </p:nvSpPr>
        <p:spPr>
          <a:xfrm>
            <a:off x="822960" y="1828800"/>
            <a:ext cx="2148840" cy="310896"/>
          </a:xfrm>
          <a:prstGeom prst="roundRect">
            <a:avLst>
              <a:gd name="adj" fmla="val 50000"/>
            </a:avLst>
          </a:prstGeom>
          <a:solidFill>
            <a:srgbClr val="566175"/>
          </a:solidFill>
          <a:ln w="12700">
            <a:solidFill>
              <a:srgbClr val="566175"/>
            </a:solidFill>
            <a:prstDash val="solid"/>
          </a:ln>
        </p:spPr>
      </p:sp>
      <p:sp>
        <p:nvSpPr>
          <p:cNvPr id="7" name="anim:1:23"/>
          <p:cNvSpPr txBox="1"/>
          <p:nvPr/>
        </p:nvSpPr>
        <p:spPr>
          <a:xfrm>
            <a:off x="822960" y="1828800"/>
            <a:ext cx="214884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PERSONA HIPOTÉTICA</a:t>
            </a:r>
            <a:endParaRPr lang="en-US" sz="1200" dirty="0"/>
          </a:p>
        </p:txBody>
      </p:sp>
      <p:sp>
        <p:nvSpPr>
          <p:cNvPr id="8" name="anim:1:24"/>
          <p:cNvSpPr/>
          <p:nvPr/>
        </p:nvSpPr>
        <p:spPr>
          <a:xfrm>
            <a:off x="822960" y="2304288"/>
            <a:ext cx="685800" cy="685800"/>
          </a:xfrm>
          <a:prstGeom prst="ellipse">
            <a:avLst/>
          </a:prstGeom>
          <a:solidFill>
            <a:srgbClr val="F2A541"/>
          </a:solidFill>
          <a:ln w="12700">
            <a:solidFill>
              <a:srgbClr val="F2A541"/>
            </a:solidFill>
            <a:prstDash val="solid"/>
          </a:ln>
        </p:spPr>
      </p:sp>
      <p:sp>
        <p:nvSpPr>
          <p:cNvPr id="9" name="anim:1:25"/>
          <p:cNvSpPr txBox="1"/>
          <p:nvPr/>
        </p:nvSpPr>
        <p:spPr>
          <a:xfrm>
            <a:off x="822960" y="2304288"/>
            <a:ext cx="685800" cy="685800"/>
          </a:xfrm>
          <a:prstGeom prst="rect">
            <a:avLst/>
          </a:prstGeom>
          <a:noFill/>
          <a:ln/>
        </p:spPr>
        <p:txBody>
          <a:bodyPr wrap="square" lIns="0" tIns="0" rIns="0" bIns="0" rtlCol="0" anchor="ctr"/>
          <a:lstStyle/>
          <a:p>
            <a:pPr algn="ctr" indent="0" marL="0">
              <a:buNone/>
            </a:pPr>
            <a:r>
              <a:rPr lang="en-US" sz="2600" b="1" dirty="0">
                <a:solidFill>
                  <a:srgbClr val="1B2A4A"/>
                </a:solidFill>
                <a:latin typeface="Calibri" pitchFamily="34" charset="0"/>
                <a:ea typeface="Calibri" pitchFamily="34" charset="-122"/>
                <a:cs typeface="Calibri" pitchFamily="34" charset="-120"/>
              </a:rPr>
              <a:t>A</a:t>
            </a:r>
            <a:endParaRPr lang="en-US" sz="2600" dirty="0"/>
          </a:p>
        </p:txBody>
      </p:sp>
      <p:sp>
        <p:nvSpPr>
          <p:cNvPr id="10" name="anim:1:26"/>
          <p:cNvSpPr txBox="1"/>
          <p:nvPr/>
        </p:nvSpPr>
        <p:spPr>
          <a:xfrm>
            <a:off x="1691640" y="2286000"/>
            <a:ext cx="4023360" cy="411480"/>
          </a:xfrm>
          <a:prstGeom prst="rect">
            <a:avLst/>
          </a:prstGeom>
          <a:noFill/>
          <a:ln/>
        </p:spPr>
        <p:txBody>
          <a:bodyPr wrap="square" lIns="0" tIns="0" rIns="0" bIns="0" rtlCol="0" anchor="t"/>
          <a:lstStyle/>
          <a:p>
            <a:pPr algn="l" indent="0" marL="0">
              <a:buNone/>
            </a:pPr>
            <a:r>
              <a:rPr lang="en-US" sz="2600" b="1" dirty="0">
                <a:solidFill>
                  <a:srgbClr val="1B2A4A"/>
                </a:solidFill>
                <a:latin typeface="Calibri" pitchFamily="34" charset="0"/>
                <a:ea typeface="Calibri" pitchFamily="34" charset="-122"/>
                <a:cs typeface="Calibri" pitchFamily="34" charset="-120"/>
              </a:rPr>
              <a:t>Ana, 1 ano</a:t>
            </a:r>
            <a:endParaRPr lang="en-US" sz="2600" dirty="0"/>
          </a:p>
        </p:txBody>
      </p:sp>
      <p:sp>
        <p:nvSpPr>
          <p:cNvPr id="11" name="anim:1:27"/>
          <p:cNvSpPr txBox="1"/>
          <p:nvPr/>
        </p:nvSpPr>
        <p:spPr>
          <a:xfrm>
            <a:off x="1691640" y="2697480"/>
            <a:ext cx="4023360" cy="320040"/>
          </a:xfrm>
          <a:prstGeom prst="rect">
            <a:avLst/>
          </a:prstGeom>
          <a:noFill/>
          <a:ln/>
        </p:spPr>
        <p:txBody>
          <a:bodyPr wrap="square" lIns="0" tIns="0" rIns="0" bIns="0" rtlCol="0" anchor="t"/>
          <a:lstStyle/>
          <a:p>
            <a:pPr algn="l" indent="0" marL="0">
              <a:buNone/>
            </a:pPr>
            <a:r>
              <a:rPr lang="en-US" sz="1400" dirty="0">
                <a:solidFill>
                  <a:srgbClr val="566175"/>
                </a:solidFill>
                <a:latin typeface="Calibri" pitchFamily="34" charset="0"/>
                <a:ea typeface="Calibri" pitchFamily="34" charset="-122"/>
                <a:cs typeface="Calibri" pitchFamily="34" charset="-120"/>
              </a:rPr>
              <a:t>mora no Tremembé, DRE Jaçanã/Tremembé</a:t>
            </a:r>
            <a:endParaRPr lang="en-US" sz="1400" dirty="0"/>
          </a:p>
        </p:txBody>
      </p:sp>
      <p:sp>
        <p:nvSpPr>
          <p:cNvPr id="12" name="anim:2:28"/>
          <p:cNvSpPr txBox="1"/>
          <p:nvPr/>
        </p:nvSpPr>
        <p:spPr>
          <a:xfrm>
            <a:off x="822960" y="3246120"/>
            <a:ext cx="4937760" cy="256032"/>
          </a:xfrm>
          <a:prstGeom prst="rect">
            <a:avLst/>
          </a:prstGeom>
          <a:noFill/>
          <a:ln/>
        </p:spPr>
        <p:txBody>
          <a:bodyPr wrap="square" lIns="0" tIns="0" rIns="0" bIns="0" rtlCol="0" anchor="t"/>
          <a:lstStyle/>
          <a:p>
            <a:pPr algn="l" indent="0" marL="0">
              <a:buNone/>
            </a:pPr>
            <a:r>
              <a:rPr lang="en-US" sz="1200" b="1" spc="100" kern="0" dirty="0">
                <a:solidFill>
                  <a:srgbClr val="8A5300"/>
                </a:solidFill>
                <a:latin typeface="Calibri" pitchFamily="34" charset="0"/>
                <a:ea typeface="Calibri" pitchFamily="34" charset="-122"/>
                <a:cs typeface="Calibri" pitchFamily="34" charset="-120"/>
              </a:rPr>
              <a:t>A MÃE</a:t>
            </a:r>
            <a:endParaRPr lang="en-US" sz="1200" dirty="0"/>
          </a:p>
        </p:txBody>
      </p:sp>
      <p:sp>
        <p:nvSpPr>
          <p:cNvPr id="13" name="anim:2:29"/>
          <p:cNvSpPr txBox="1"/>
          <p:nvPr/>
        </p:nvSpPr>
        <p:spPr>
          <a:xfrm>
            <a:off x="822960" y="3520440"/>
            <a:ext cx="4937760" cy="1051560"/>
          </a:xfrm>
          <a:prstGeom prst="rect">
            <a:avLst/>
          </a:prstGeom>
          <a:noFill/>
          <a:ln/>
        </p:spPr>
        <p:txBody>
          <a:bodyPr wrap="square" lIns="0" tIns="0" rIns="0" bIns="0" rtlCol="0" anchor="t"/>
          <a:lstStyle/>
          <a:p>
            <a:pPr algn="l" indent="0" marL="0">
              <a:buNone/>
            </a:pPr>
            <a:r>
              <a:rPr lang="en-US" sz="1500" dirty="0">
                <a:solidFill>
                  <a:srgbClr val="1F2937"/>
                </a:solidFill>
                <a:latin typeface="Calibri" pitchFamily="34" charset="0"/>
                <a:ea typeface="Calibri" pitchFamily="34" charset="-122"/>
                <a:cs typeface="Calibri" pitchFamily="34" charset="-120"/>
              </a:rPr>
              <a:t>Precisa voltar a trabalhar e não tem com quem deixar a filha. A vaga que apareceu ficava longe de casa, e ela decidiu esperar a creche do bairro.</a:t>
            </a:r>
            <a:endParaRPr lang="en-US" sz="1500" dirty="0"/>
          </a:p>
        </p:txBody>
      </p:sp>
      <p:sp>
        <p:nvSpPr>
          <p:cNvPr id="14" name="anim:3:30"/>
          <p:cNvSpPr txBox="1"/>
          <p:nvPr/>
        </p:nvSpPr>
        <p:spPr>
          <a:xfrm>
            <a:off x="822960" y="4526280"/>
            <a:ext cx="4937760" cy="256032"/>
          </a:xfrm>
          <a:prstGeom prst="rect">
            <a:avLst/>
          </a:prstGeom>
          <a:noFill/>
          <a:ln/>
        </p:spPr>
        <p:txBody>
          <a:bodyPr wrap="square" lIns="0" tIns="0" rIns="0" bIns="0" rtlCol="0" anchor="t"/>
          <a:lstStyle/>
          <a:p>
            <a:pPr algn="l" indent="0" marL="0">
              <a:buNone/>
            </a:pPr>
            <a:r>
              <a:rPr lang="en-US" sz="1200" b="1" spc="100" kern="0" dirty="0">
                <a:solidFill>
                  <a:srgbClr val="8A5300"/>
                </a:solidFill>
                <a:latin typeface="Calibri" pitchFamily="34" charset="0"/>
                <a:ea typeface="Calibri" pitchFamily="34" charset="-122"/>
                <a:cs typeface="Calibri" pitchFamily="34" charset="-120"/>
              </a:rPr>
              <a:t>A ANA</a:t>
            </a:r>
            <a:endParaRPr lang="en-US" sz="1200" dirty="0"/>
          </a:p>
        </p:txBody>
      </p:sp>
      <p:sp>
        <p:nvSpPr>
          <p:cNvPr id="15" name="anim:3:31"/>
          <p:cNvSpPr txBox="1"/>
          <p:nvPr/>
        </p:nvSpPr>
        <p:spPr>
          <a:xfrm>
            <a:off x="822960" y="4800600"/>
            <a:ext cx="4937760" cy="731520"/>
          </a:xfrm>
          <a:prstGeom prst="rect">
            <a:avLst/>
          </a:prstGeom>
          <a:noFill/>
          <a:ln/>
        </p:spPr>
        <p:txBody>
          <a:bodyPr wrap="square" lIns="0" tIns="0" rIns="0" bIns="0" rtlCol="0" anchor="t"/>
          <a:lstStyle/>
          <a:p>
            <a:pPr algn="l" indent="0" marL="0">
              <a:buNone/>
            </a:pPr>
            <a:r>
              <a:rPr lang="en-US" sz="1500" dirty="0">
                <a:solidFill>
                  <a:srgbClr val="1F2937"/>
                </a:solidFill>
                <a:latin typeface="Calibri" pitchFamily="34" charset="0"/>
                <a:ea typeface="Calibri" pitchFamily="34" charset="-122"/>
                <a:cs typeface="Calibri" pitchFamily="34" charset="-120"/>
              </a:rPr>
              <a:t>Fica fora da creche enquanto espera. Cada mês na fila é um mês a menos de creche.</a:t>
            </a:r>
            <a:endParaRPr lang="en-US" sz="1500" dirty="0"/>
          </a:p>
        </p:txBody>
      </p:sp>
      <p:sp>
        <p:nvSpPr>
          <p:cNvPr id="16" name="anim:4:32"/>
          <p:cNvSpPr/>
          <p:nvPr/>
        </p:nvSpPr>
        <p:spPr>
          <a:xfrm>
            <a:off x="6172200" y="1600200"/>
            <a:ext cx="5440680" cy="4343400"/>
          </a:xfrm>
          <a:prstGeom prst="roundRect">
            <a:avLst>
              <a:gd name="adj" fmla="val 2526"/>
            </a:avLst>
          </a:prstGeom>
          <a:solidFill>
            <a:srgbClr val="EEF2F8"/>
          </a:solidFill>
          <a:ln w="9525">
            <a:solidFill>
              <a:srgbClr val="EEF2F8"/>
            </a:solidFill>
            <a:prstDash val="solid"/>
          </a:ln>
        </p:spPr>
      </p:sp>
      <p:sp>
        <p:nvSpPr>
          <p:cNvPr id="17" name="anim:4:33"/>
          <p:cNvSpPr txBox="1"/>
          <p:nvPr/>
        </p:nvSpPr>
        <p:spPr>
          <a:xfrm>
            <a:off x="6492240" y="1810512"/>
            <a:ext cx="4846320" cy="274320"/>
          </a:xfrm>
          <a:prstGeom prst="rect">
            <a:avLst/>
          </a:prstGeom>
          <a:noFill/>
          <a:ln/>
        </p:spPr>
        <p:txBody>
          <a:bodyPr wrap="square" lIns="0" tIns="0" rIns="0" bIns="0" rtlCol="0" anchor="t"/>
          <a:lstStyle/>
          <a:p>
            <a:pPr algn="l" indent="0" marL="0">
              <a:buNone/>
            </a:pPr>
            <a:r>
              <a:rPr lang="en-US" sz="1200" b="1" spc="100" kern="0" dirty="0">
                <a:solidFill>
                  <a:srgbClr val="566175"/>
                </a:solidFill>
                <a:latin typeface="Calibri" pitchFamily="34" charset="0"/>
                <a:ea typeface="Calibri" pitchFamily="34" charset="-122"/>
                <a:cs typeface="Calibri" pitchFamily="34" charset="-120"/>
              </a:rPr>
              <a:t>O TREMEMBÉ NOS NOSSOS DADOS</a:t>
            </a:r>
            <a:endParaRPr lang="en-US" sz="1200" dirty="0"/>
          </a:p>
        </p:txBody>
      </p:sp>
      <p:sp>
        <p:nvSpPr>
          <p:cNvPr id="18" name="anim:5:34"/>
          <p:cNvSpPr txBox="1"/>
          <p:nvPr/>
        </p:nvSpPr>
        <p:spPr>
          <a:xfrm>
            <a:off x="6492240" y="2286000"/>
            <a:ext cx="2194560" cy="731520"/>
          </a:xfrm>
          <a:prstGeom prst="rect">
            <a:avLst/>
          </a:prstGeom>
          <a:noFill/>
          <a:ln/>
        </p:spPr>
        <p:txBody>
          <a:bodyPr wrap="square" lIns="0" tIns="0" rIns="0" bIns="0" rtlCol="0" anchor="ctr"/>
          <a:lstStyle/>
          <a:p>
            <a:pPr algn="l" indent="0" marL="0">
              <a:buNone/>
            </a:pPr>
            <a:r>
              <a:rPr lang="en-US" sz="4000" b="1" dirty="0">
                <a:solidFill>
                  <a:srgbClr val="2E5EAA"/>
                </a:solidFill>
                <a:latin typeface="Calibri" pitchFamily="34" charset="0"/>
                <a:ea typeface="Calibri" pitchFamily="34" charset="-122"/>
                <a:cs typeface="Calibri" pitchFamily="34" charset="-120"/>
              </a:rPr>
              <a:t>153</a:t>
            </a:r>
            <a:endParaRPr lang="en-US" sz="4000" dirty="0"/>
          </a:p>
        </p:txBody>
      </p:sp>
      <p:sp>
        <p:nvSpPr>
          <p:cNvPr id="19" name="anim:5:35"/>
          <p:cNvSpPr txBox="1"/>
          <p:nvPr/>
        </p:nvSpPr>
        <p:spPr>
          <a:xfrm>
            <a:off x="8732520" y="2286000"/>
            <a:ext cx="2697480" cy="73152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na fila de creche do Tremembé em junho de 2024, a segunda maior da cidade</a:t>
            </a:r>
            <a:endParaRPr lang="en-US" sz="1400" dirty="0"/>
          </a:p>
        </p:txBody>
      </p:sp>
      <p:sp>
        <p:nvSpPr>
          <p:cNvPr id="20" name="anim:6:36"/>
          <p:cNvSpPr txBox="1"/>
          <p:nvPr/>
        </p:nvSpPr>
        <p:spPr>
          <a:xfrm>
            <a:off x="6492240" y="3474720"/>
            <a:ext cx="2194560" cy="731520"/>
          </a:xfrm>
          <a:prstGeom prst="rect">
            <a:avLst/>
          </a:prstGeom>
          <a:noFill/>
          <a:ln/>
        </p:spPr>
        <p:txBody>
          <a:bodyPr wrap="square" lIns="0" tIns="0" rIns="0" bIns="0" rtlCol="0" anchor="ctr"/>
          <a:lstStyle/>
          <a:p>
            <a:pPr algn="l" indent="0" marL="0">
              <a:buNone/>
            </a:pPr>
            <a:r>
              <a:rPr lang="en-US" sz="4000" b="1" dirty="0">
                <a:solidFill>
                  <a:srgbClr val="1B2A4A"/>
                </a:solidFill>
                <a:latin typeface="Calibri" pitchFamily="34" charset="0"/>
                <a:ea typeface="Calibri" pitchFamily="34" charset="-122"/>
                <a:cs typeface="Calibri" pitchFamily="34" charset="-120"/>
              </a:rPr>
              <a:t>74</a:t>
            </a:r>
            <a:endParaRPr lang="en-US" sz="4000" dirty="0"/>
          </a:p>
        </p:txBody>
      </p:sp>
      <p:sp>
        <p:nvSpPr>
          <p:cNvPr id="21" name="anim:6:37"/>
          <p:cNvSpPr txBox="1"/>
          <p:nvPr/>
        </p:nvSpPr>
        <p:spPr>
          <a:xfrm>
            <a:off x="8732520" y="3474720"/>
            <a:ext cx="2697480" cy="73152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delas esperavam uma unidade específica, como a mãe da Ana</a:t>
            </a:r>
            <a:endParaRPr lang="en-US" sz="1400" dirty="0"/>
          </a:p>
        </p:txBody>
      </p:sp>
      <p:sp>
        <p:nvSpPr>
          <p:cNvPr id="22" name="anim:7:38"/>
          <p:cNvSpPr txBox="1"/>
          <p:nvPr/>
        </p:nvSpPr>
        <p:spPr>
          <a:xfrm>
            <a:off x="6492240" y="4663440"/>
            <a:ext cx="2194560" cy="731520"/>
          </a:xfrm>
          <a:prstGeom prst="rect">
            <a:avLst/>
          </a:prstGeom>
          <a:noFill/>
          <a:ln/>
        </p:spPr>
        <p:txBody>
          <a:bodyPr wrap="square" lIns="0" tIns="0" rIns="0" bIns="0" rtlCol="0" anchor="ctr"/>
          <a:lstStyle/>
          <a:p>
            <a:pPr algn="l" indent="0" marL="0">
              <a:buNone/>
            </a:pPr>
            <a:r>
              <a:rPr lang="en-US" sz="4000" b="1" dirty="0">
                <a:solidFill>
                  <a:srgbClr val="1B2A4A"/>
                </a:solidFill>
                <a:latin typeface="Calibri" pitchFamily="34" charset="0"/>
                <a:ea typeface="Calibri" pitchFamily="34" charset="-122"/>
                <a:cs typeface="Calibri" pitchFamily="34" charset="-120"/>
              </a:rPr>
              <a:t>2,5%</a:t>
            </a:r>
            <a:endParaRPr lang="en-US" sz="4000" dirty="0"/>
          </a:p>
        </p:txBody>
      </p:sp>
      <p:sp>
        <p:nvSpPr>
          <p:cNvPr id="23" name="anim:7:39"/>
          <p:cNvSpPr txBox="1"/>
          <p:nvPr/>
        </p:nvSpPr>
        <p:spPr>
          <a:xfrm>
            <a:off x="8732520" y="4663440"/>
            <a:ext cx="2697480" cy="73152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da demanda de creche fora da rede, mais que o dobro da cidade (1,1%)</a:t>
            </a:r>
            <a:endParaRPr lang="en-US" sz="1400" dirty="0"/>
          </a:p>
        </p:txBody>
      </p:sp>
      <p:sp>
        <p:nvSpPr>
          <p:cNvPr id="24" name="Text 21"/>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Persona hipotética. Números reais do Tremembé: Demanda Registrada e Matrículas (SME-SP), junho de 2024.</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50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7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7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10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100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1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12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1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1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F2A541"/>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E se fosse o seu filho?</a:t>
            </a:r>
            <a:endParaRPr lang="en-US" sz="3200" dirty="0"/>
          </a:p>
        </p:txBody>
      </p:sp>
      <p:sp>
        <p:nvSpPr>
          <p:cNvPr id="5" name="anim:1:40"/>
          <p:cNvSpPr txBox="1"/>
          <p:nvPr/>
        </p:nvSpPr>
        <p:spPr>
          <a:xfrm>
            <a:off x="548640" y="1554480"/>
            <a:ext cx="5212080" cy="1280160"/>
          </a:xfrm>
          <a:prstGeom prst="rect">
            <a:avLst/>
          </a:prstGeom>
          <a:noFill/>
          <a:ln/>
        </p:spPr>
        <p:txBody>
          <a:bodyPr wrap="square" lIns="0" tIns="0" rIns="0" bIns="0" rtlCol="0" anchor="t"/>
          <a:lstStyle/>
          <a:p>
            <a:pPr algn="l" indent="0" marL="0">
              <a:buNone/>
            </a:pPr>
            <a:r>
              <a:rPr lang="en-US" sz="8000" b="1" dirty="0">
                <a:solidFill>
                  <a:srgbClr val="F2A541"/>
                </a:solidFill>
                <a:latin typeface="Calibri" pitchFamily="34" charset="0"/>
                <a:ea typeface="Calibri" pitchFamily="34" charset="-122"/>
                <a:cs typeface="Calibri" pitchFamily="34" charset="-120"/>
              </a:rPr>
              <a:t>3.633</a:t>
            </a:r>
            <a:endParaRPr lang="en-US" sz="8000" dirty="0"/>
          </a:p>
        </p:txBody>
      </p:sp>
      <p:sp>
        <p:nvSpPr>
          <p:cNvPr id="6" name="anim:1:41"/>
          <p:cNvSpPr txBox="1"/>
          <p:nvPr/>
        </p:nvSpPr>
        <p:spPr>
          <a:xfrm>
            <a:off x="548640" y="2880360"/>
            <a:ext cx="5120640" cy="822960"/>
          </a:xfrm>
          <a:prstGeom prst="rect">
            <a:avLst/>
          </a:prstGeom>
          <a:noFill/>
          <a:ln/>
        </p:spPr>
        <p:txBody>
          <a:bodyPr wrap="square" lIns="0" tIns="0" rIns="0" bIns="0" rtlCol="0" anchor="t"/>
          <a:lstStyle/>
          <a:p>
            <a:pPr algn="l" indent="0" marL="0">
              <a:buNone/>
            </a:pPr>
            <a:r>
              <a:rPr lang="en-US" sz="2000" dirty="0">
                <a:solidFill>
                  <a:srgbClr val="FFFFFF"/>
                </a:solidFill>
                <a:latin typeface="Calibri" pitchFamily="34" charset="0"/>
                <a:ea typeface="Calibri" pitchFamily="34" charset="-122"/>
                <a:cs typeface="Calibri" pitchFamily="34" charset="-120"/>
              </a:rPr>
              <a:t>crianças esperavam vaga em creche em São Paulo em junho de 2024</a:t>
            </a:r>
            <a:endParaRPr lang="en-US" sz="2000" dirty="0"/>
          </a:p>
        </p:txBody>
      </p:sp>
      <p:sp>
        <p:nvSpPr>
          <p:cNvPr id="7" name="anim:2:42"/>
          <p:cNvSpPr/>
          <p:nvPr/>
        </p:nvSpPr>
        <p:spPr>
          <a:xfrm>
            <a:off x="6172200" y="1600200"/>
            <a:ext cx="5440680" cy="1280160"/>
          </a:xfrm>
          <a:prstGeom prst="roundRect">
            <a:avLst>
              <a:gd name="adj" fmla="val 8571"/>
            </a:avLst>
          </a:prstGeom>
          <a:solidFill>
            <a:srgbClr val="FFFFFF">
              <a:alpha val="10000"/>
            </a:srgbClr>
          </a:solidFill>
          <a:ln w="9525">
            <a:solidFill>
              <a:srgbClr val="3A4D73"/>
            </a:solidFill>
            <a:prstDash val="solid"/>
          </a:ln>
        </p:spPr>
      </p:sp>
      <p:sp>
        <p:nvSpPr>
          <p:cNvPr id="8" name="anim:2:43"/>
          <p:cNvSpPr txBox="1"/>
          <p:nvPr/>
        </p:nvSpPr>
        <p:spPr>
          <a:xfrm>
            <a:off x="6446520" y="1737360"/>
            <a:ext cx="1874520" cy="1005840"/>
          </a:xfrm>
          <a:prstGeom prst="rect">
            <a:avLst/>
          </a:prstGeom>
          <a:noFill/>
          <a:ln/>
        </p:spPr>
        <p:txBody>
          <a:bodyPr wrap="square" lIns="0" tIns="0" rIns="0" bIns="0" rtlCol="0" anchor="ctr"/>
          <a:lstStyle/>
          <a:p>
            <a:pPr algn="l" indent="0" marL="0">
              <a:buNone/>
            </a:pPr>
            <a:r>
              <a:rPr lang="en-US" sz="3600" b="1" dirty="0">
                <a:solidFill>
                  <a:srgbClr val="F2A541"/>
                </a:solidFill>
                <a:latin typeface="Calibri" pitchFamily="34" charset="0"/>
                <a:ea typeface="Calibri" pitchFamily="34" charset="-122"/>
                <a:cs typeface="Calibri" pitchFamily="34" charset="-120"/>
              </a:rPr>
              <a:t>2.502</a:t>
            </a:r>
            <a:endParaRPr lang="en-US" sz="3600" dirty="0"/>
          </a:p>
        </p:txBody>
      </p:sp>
      <p:sp>
        <p:nvSpPr>
          <p:cNvPr id="9" name="anim:2:44"/>
          <p:cNvSpPr txBox="1"/>
          <p:nvPr/>
        </p:nvSpPr>
        <p:spPr>
          <a:xfrm>
            <a:off x="8366760" y="1737360"/>
            <a:ext cx="3063240" cy="1005840"/>
          </a:xfrm>
          <a:prstGeom prst="rect">
            <a:avLst/>
          </a:prstGeom>
          <a:noFill/>
          <a:ln/>
        </p:spPr>
        <p:txBody>
          <a:bodyPr wrap="square" lIns="0" tIns="0" rIns="0" bIns="0" rtlCol="0" anchor="ctr"/>
          <a:lstStyle/>
          <a:p>
            <a:pPr algn="l" indent="0" marL="0">
              <a:buNone/>
            </a:pPr>
            <a:r>
              <a:rPr lang="en-US" sz="1500" dirty="0">
                <a:solidFill>
                  <a:srgbClr val="C9D3E6"/>
                </a:solidFill>
                <a:latin typeface="Calibri" pitchFamily="34" charset="0"/>
                <a:ea typeface="Calibri" pitchFamily="34" charset="-122"/>
                <a:cs typeface="Calibri" pitchFamily="34" charset="-120"/>
              </a:rPr>
              <a:t>esperavam uma vaga numa unidade específica, escolhida pela família</a:t>
            </a:r>
            <a:endParaRPr lang="en-US" sz="1500" dirty="0"/>
          </a:p>
        </p:txBody>
      </p:sp>
      <p:sp>
        <p:nvSpPr>
          <p:cNvPr id="10" name="anim:3:45"/>
          <p:cNvSpPr/>
          <p:nvPr/>
        </p:nvSpPr>
        <p:spPr>
          <a:xfrm>
            <a:off x="6172200" y="3063240"/>
            <a:ext cx="5440680" cy="1280160"/>
          </a:xfrm>
          <a:prstGeom prst="roundRect">
            <a:avLst>
              <a:gd name="adj" fmla="val 8571"/>
            </a:avLst>
          </a:prstGeom>
          <a:solidFill>
            <a:srgbClr val="FFFFFF">
              <a:alpha val="10000"/>
            </a:srgbClr>
          </a:solidFill>
          <a:ln w="9525">
            <a:solidFill>
              <a:srgbClr val="3A4D73"/>
            </a:solidFill>
            <a:prstDash val="solid"/>
          </a:ln>
        </p:spPr>
      </p:sp>
      <p:sp>
        <p:nvSpPr>
          <p:cNvPr id="11" name="anim:3:46"/>
          <p:cNvSpPr txBox="1"/>
          <p:nvPr/>
        </p:nvSpPr>
        <p:spPr>
          <a:xfrm>
            <a:off x="6446520" y="3200400"/>
            <a:ext cx="1874520" cy="1005840"/>
          </a:xfrm>
          <a:prstGeom prst="rect">
            <a:avLst/>
          </a:prstGeom>
          <a:noFill/>
          <a:ln/>
        </p:spPr>
        <p:txBody>
          <a:bodyPr wrap="square" lIns="0" tIns="0" rIns="0" bIns="0" rtlCol="0" anchor="ctr"/>
          <a:lstStyle/>
          <a:p>
            <a:pPr algn="l" indent="0" marL="0">
              <a:buNone/>
            </a:pPr>
            <a:r>
              <a:rPr lang="en-US" sz="3600" b="1" dirty="0">
                <a:solidFill>
                  <a:srgbClr val="F2A541"/>
                </a:solidFill>
                <a:latin typeface="Calibri" pitchFamily="34" charset="0"/>
                <a:ea typeface="Calibri" pitchFamily="34" charset="-122"/>
                <a:cs typeface="Calibri" pitchFamily="34" charset="-120"/>
              </a:rPr>
              <a:t>1.131</a:t>
            </a:r>
            <a:endParaRPr lang="en-US" sz="3600" dirty="0"/>
          </a:p>
        </p:txBody>
      </p:sp>
      <p:sp>
        <p:nvSpPr>
          <p:cNvPr id="12" name="anim:3:47"/>
          <p:cNvSpPr txBox="1"/>
          <p:nvPr/>
        </p:nvSpPr>
        <p:spPr>
          <a:xfrm>
            <a:off x="8366760" y="3200400"/>
            <a:ext cx="3063240" cy="1005840"/>
          </a:xfrm>
          <a:prstGeom prst="rect">
            <a:avLst/>
          </a:prstGeom>
          <a:noFill/>
          <a:ln/>
        </p:spPr>
        <p:txBody>
          <a:bodyPr wrap="square" lIns="0" tIns="0" rIns="0" bIns="0" rtlCol="0" anchor="ctr"/>
          <a:lstStyle/>
          <a:p>
            <a:pPr algn="l" indent="0" marL="0">
              <a:buNone/>
            </a:pPr>
            <a:r>
              <a:rPr lang="en-US" sz="1500" dirty="0">
                <a:solidFill>
                  <a:srgbClr val="C9D3E6"/>
                </a:solidFill>
                <a:latin typeface="Calibri" pitchFamily="34" charset="0"/>
                <a:ea typeface="Calibri" pitchFamily="34" charset="-122"/>
                <a:cs typeface="Calibri" pitchFamily="34" charset="-120"/>
              </a:rPr>
              <a:t>aceitavam qualquer unidade e esperavam havia até 30 dias</a:t>
            </a:r>
            <a:endParaRPr lang="en-US" sz="1500" dirty="0"/>
          </a:p>
        </p:txBody>
      </p:sp>
      <p:sp>
        <p:nvSpPr>
          <p:cNvPr id="13" name="anim:4:48"/>
          <p:cNvSpPr txBox="1"/>
          <p:nvPr/>
        </p:nvSpPr>
        <p:spPr>
          <a:xfrm>
            <a:off x="548640" y="4754880"/>
            <a:ext cx="11064240" cy="640080"/>
          </a:xfrm>
          <a:prstGeom prst="rect">
            <a:avLst/>
          </a:prstGeom>
          <a:noFill/>
          <a:ln/>
        </p:spPr>
        <p:txBody>
          <a:bodyPr wrap="square" lIns="0" tIns="0" rIns="0" bIns="0" rtlCol="0" anchor="t"/>
          <a:lstStyle/>
          <a:p>
            <a:pPr algn="l" indent="0" marL="0">
              <a:buNone/>
            </a:pPr>
            <a:r>
              <a:rPr lang="en-US" sz="2400" b="1" dirty="0">
                <a:solidFill>
                  <a:srgbClr val="FFFFFF"/>
                </a:solidFill>
                <a:latin typeface="Calibri" pitchFamily="34" charset="0"/>
                <a:ea typeface="Calibri" pitchFamily="34" charset="-122"/>
                <a:cs typeface="Calibri" pitchFamily="34" charset="-120"/>
              </a:rPr>
              <a:t>A fila caiu 97% desde 2015. Para essas famílias, a espera continua.</a:t>
            </a:r>
            <a:endParaRPr lang="en-US" sz="2400" dirty="0"/>
          </a:p>
        </p:txBody>
      </p:sp>
      <p:sp>
        <p:nvSpPr>
          <p:cNvPr id="14" name="Text 11"/>
          <p:cNvSpPr txBox="1"/>
          <p:nvPr/>
        </p:nvSpPr>
        <p:spPr>
          <a:xfrm>
            <a:off x="548640" y="5897880"/>
            <a:ext cx="10241280" cy="274320"/>
          </a:xfrm>
          <a:prstGeom prst="rect">
            <a:avLst/>
          </a:prstGeom>
          <a:noFill/>
          <a:ln/>
        </p:spPr>
        <p:txBody>
          <a:bodyPr wrap="square" lIns="0" tIns="0" rIns="0" bIns="0" rtlCol="0" anchor="t"/>
          <a:lstStyle/>
          <a:p>
            <a:pPr algn="l" indent="0" marL="0">
              <a:buNone/>
            </a:pPr>
            <a:r>
              <a:rPr lang="en-US" sz="1000" i="1" dirty="0">
                <a:solidFill>
                  <a:srgbClr val="C9D3E6"/>
                </a:solidFill>
                <a:latin typeface="Calibri" pitchFamily="34" charset="0"/>
                <a:ea typeface="Calibri" pitchFamily="34" charset="-122"/>
                <a:cs typeface="Calibri" pitchFamily="34" charset="-120"/>
              </a:rPr>
              <a:t>Fonte: Demanda Registrada e Matrículas (SME-SP), junho de 2024, no fato Fila.</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F2A541"/>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50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O problema: saber onde abrir a próxima vaga</a:t>
            </a:r>
            <a:endParaRPr lang="en-US" sz="3200" dirty="0"/>
          </a:p>
        </p:txBody>
      </p:sp>
      <p:sp>
        <p:nvSpPr>
          <p:cNvPr id="5" name="anim:1:49"/>
          <p:cNvSpPr txBox="1"/>
          <p:nvPr/>
        </p:nvSpPr>
        <p:spPr>
          <a:xfrm>
            <a:off x="548640" y="1645920"/>
            <a:ext cx="5669280" cy="402336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A falta de vaga em creche foi por anos o principal problema de acesso da educação infantil em São Paulo.</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PNE (Lei 13.005/2014), Meta 1: creche para ao menos metade das crianças de até 3 anos; pré-escola universal.</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Em 2024 ainda havia fila nos 96 distritos. No Censo 2022, a oferta ia de menos de 50 a mais de 100 matrículas por 100 crianças.</a:t>
            </a:r>
            <a:endParaRPr lang="en-US" sz="1700" dirty="0"/>
          </a:p>
        </p:txBody>
      </p:sp>
      <p:sp>
        <p:nvSpPr>
          <p:cNvPr id="6" name="anim:2:50"/>
          <p:cNvSpPr/>
          <p:nvPr/>
        </p:nvSpPr>
        <p:spPr>
          <a:xfrm>
            <a:off x="6583680" y="1600200"/>
            <a:ext cx="5029200" cy="4343400"/>
          </a:xfrm>
          <a:prstGeom prst="roundRect">
            <a:avLst>
              <a:gd name="adj" fmla="val 2526"/>
            </a:avLst>
          </a:prstGeom>
          <a:solidFill>
            <a:srgbClr val="EEF2F8"/>
          </a:solidFill>
          <a:ln w="9525">
            <a:solidFill>
              <a:srgbClr val="EEF2F8"/>
            </a:solidFill>
            <a:prstDash val="solid"/>
          </a:ln>
        </p:spPr>
      </p:sp>
      <p:sp>
        <p:nvSpPr>
          <p:cNvPr id="7" name="anim:2:51"/>
          <p:cNvSpPr txBox="1"/>
          <p:nvPr/>
        </p:nvSpPr>
        <p:spPr>
          <a:xfrm>
            <a:off x="6903720" y="1810512"/>
            <a:ext cx="4389120" cy="274320"/>
          </a:xfrm>
          <a:prstGeom prst="rect">
            <a:avLst/>
          </a:prstGeom>
          <a:noFill/>
          <a:ln/>
        </p:spPr>
        <p:txBody>
          <a:bodyPr wrap="square" lIns="0" tIns="0" rIns="0" bIns="0" rtlCol="0" anchor="t"/>
          <a:lstStyle/>
          <a:p>
            <a:pPr algn="l" indent="0" marL="0">
              <a:buNone/>
            </a:pPr>
            <a:r>
              <a:rPr lang="en-US" sz="1200" b="1" spc="100" kern="0" dirty="0">
                <a:solidFill>
                  <a:srgbClr val="566175"/>
                </a:solidFill>
                <a:latin typeface="Calibri" pitchFamily="34" charset="0"/>
                <a:ea typeface="Calibri" pitchFamily="34" charset="-122"/>
                <a:cs typeface="Calibri" pitchFamily="34" charset="-120"/>
              </a:rPr>
              <a:t>FILA DE CRECHE EM JUNHO</a:t>
            </a:r>
            <a:endParaRPr lang="en-US" sz="1200" dirty="0"/>
          </a:p>
        </p:txBody>
      </p:sp>
      <p:sp>
        <p:nvSpPr>
          <p:cNvPr id="8" name="anim:2:52"/>
          <p:cNvSpPr txBox="1"/>
          <p:nvPr/>
        </p:nvSpPr>
        <p:spPr>
          <a:xfrm>
            <a:off x="6903720" y="2240280"/>
            <a:ext cx="1097280" cy="365760"/>
          </a:xfrm>
          <a:prstGeom prst="rect">
            <a:avLst/>
          </a:prstGeom>
          <a:noFill/>
          <a:ln/>
        </p:spPr>
        <p:txBody>
          <a:bodyPr wrap="square" lIns="0" tIns="0" rIns="0" bIns="0" rtlCol="0" anchor="t"/>
          <a:lstStyle/>
          <a:p>
            <a:pPr algn="l" indent="0" marL="0">
              <a:buNone/>
            </a:pPr>
            <a:r>
              <a:rPr lang="en-US" sz="1500" b="1" dirty="0">
                <a:solidFill>
                  <a:srgbClr val="566175"/>
                </a:solidFill>
                <a:latin typeface="Calibri" pitchFamily="34" charset="0"/>
                <a:ea typeface="Calibri" pitchFamily="34" charset="-122"/>
                <a:cs typeface="Calibri" pitchFamily="34" charset="-120"/>
              </a:rPr>
              <a:t>2015</a:t>
            </a:r>
            <a:endParaRPr lang="en-US" sz="1500" dirty="0"/>
          </a:p>
        </p:txBody>
      </p:sp>
      <p:sp>
        <p:nvSpPr>
          <p:cNvPr id="9" name="anim:2:53"/>
          <p:cNvSpPr txBox="1"/>
          <p:nvPr/>
        </p:nvSpPr>
        <p:spPr>
          <a:xfrm>
            <a:off x="6903720" y="2560320"/>
            <a:ext cx="4114800" cy="822960"/>
          </a:xfrm>
          <a:prstGeom prst="rect">
            <a:avLst/>
          </a:prstGeom>
          <a:noFill/>
          <a:ln/>
        </p:spPr>
        <p:txBody>
          <a:bodyPr wrap="square" lIns="0" tIns="0" rIns="0" bIns="0" rtlCol="0" anchor="t"/>
          <a:lstStyle/>
          <a:p>
            <a:pPr algn="l" indent="0" marL="0">
              <a:buNone/>
            </a:pPr>
            <a:r>
              <a:rPr lang="en-US" sz="4800" b="1" dirty="0">
                <a:solidFill>
                  <a:srgbClr val="1B2A4A"/>
                </a:solidFill>
                <a:latin typeface="Calibri" pitchFamily="34" charset="0"/>
                <a:ea typeface="Calibri" pitchFamily="34" charset="-122"/>
                <a:cs typeface="Calibri" pitchFamily="34" charset="-120"/>
              </a:rPr>
              <a:t>124.741</a:t>
            </a:r>
            <a:endParaRPr lang="en-US" sz="4800" dirty="0"/>
          </a:p>
        </p:txBody>
      </p:sp>
      <p:sp>
        <p:nvSpPr>
          <p:cNvPr id="10" name="anim:2:54"/>
          <p:cNvSpPr txBox="1"/>
          <p:nvPr/>
        </p:nvSpPr>
        <p:spPr>
          <a:xfrm>
            <a:off x="6903720" y="3383280"/>
            <a:ext cx="4389120" cy="32004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crianças · 34% da demanda fora da rede</a:t>
            </a:r>
            <a:endParaRPr lang="en-US" sz="1400" dirty="0"/>
          </a:p>
        </p:txBody>
      </p:sp>
      <p:sp>
        <p:nvSpPr>
          <p:cNvPr id="11" name="anim:3:55"/>
          <p:cNvSpPr/>
          <p:nvPr/>
        </p:nvSpPr>
        <p:spPr>
          <a:xfrm>
            <a:off x="10287000" y="3639312"/>
            <a:ext cx="1005840" cy="384048"/>
          </a:xfrm>
          <a:prstGeom prst="roundRect">
            <a:avLst>
              <a:gd name="adj" fmla="val 40476"/>
            </a:avLst>
          </a:prstGeom>
          <a:solidFill>
            <a:srgbClr val="F2A541"/>
          </a:solidFill>
          <a:ln w="12700">
            <a:solidFill>
              <a:srgbClr val="F2A541"/>
            </a:solidFill>
            <a:prstDash val="solid"/>
          </a:ln>
        </p:spPr>
      </p:sp>
      <p:sp>
        <p:nvSpPr>
          <p:cNvPr id="12" name="anim:3:56"/>
          <p:cNvSpPr txBox="1"/>
          <p:nvPr/>
        </p:nvSpPr>
        <p:spPr>
          <a:xfrm>
            <a:off x="10287000" y="3639312"/>
            <a:ext cx="1005840" cy="384048"/>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-97%</a:t>
            </a:r>
            <a:endParaRPr lang="en-US" sz="1400" dirty="0"/>
          </a:p>
        </p:txBody>
      </p:sp>
      <p:sp>
        <p:nvSpPr>
          <p:cNvPr id="13" name="anim:4:57"/>
          <p:cNvSpPr txBox="1"/>
          <p:nvPr/>
        </p:nvSpPr>
        <p:spPr>
          <a:xfrm>
            <a:off x="6903720" y="4069080"/>
            <a:ext cx="1097280" cy="365760"/>
          </a:xfrm>
          <a:prstGeom prst="rect">
            <a:avLst/>
          </a:prstGeom>
          <a:noFill/>
          <a:ln/>
        </p:spPr>
        <p:txBody>
          <a:bodyPr wrap="square" lIns="0" tIns="0" rIns="0" bIns="0" rtlCol="0" anchor="t"/>
          <a:lstStyle/>
          <a:p>
            <a:pPr algn="l" indent="0" marL="0">
              <a:buNone/>
            </a:pPr>
            <a:r>
              <a:rPr lang="en-US" sz="1500" b="1" dirty="0">
                <a:solidFill>
                  <a:srgbClr val="566175"/>
                </a:solidFill>
                <a:latin typeface="Calibri" pitchFamily="34" charset="0"/>
                <a:ea typeface="Calibri" pitchFamily="34" charset="-122"/>
                <a:cs typeface="Calibri" pitchFamily="34" charset="-120"/>
              </a:rPr>
              <a:t>2024</a:t>
            </a:r>
            <a:endParaRPr lang="en-US" sz="1500" dirty="0"/>
          </a:p>
        </p:txBody>
      </p:sp>
      <p:sp>
        <p:nvSpPr>
          <p:cNvPr id="14" name="anim:4:58"/>
          <p:cNvSpPr txBox="1"/>
          <p:nvPr/>
        </p:nvSpPr>
        <p:spPr>
          <a:xfrm>
            <a:off x="6903720" y="4389120"/>
            <a:ext cx="4114800" cy="822960"/>
          </a:xfrm>
          <a:prstGeom prst="rect">
            <a:avLst/>
          </a:prstGeom>
          <a:noFill/>
          <a:ln/>
        </p:spPr>
        <p:txBody>
          <a:bodyPr wrap="square" lIns="0" tIns="0" rIns="0" bIns="0" rtlCol="0" anchor="t"/>
          <a:lstStyle/>
          <a:p>
            <a:pPr algn="l" indent="0" marL="0">
              <a:buNone/>
            </a:pPr>
            <a:r>
              <a:rPr lang="en-US" sz="4800" b="1" dirty="0">
                <a:solidFill>
                  <a:srgbClr val="2E5EAA"/>
                </a:solidFill>
                <a:latin typeface="Calibri" pitchFamily="34" charset="0"/>
                <a:ea typeface="Calibri" pitchFamily="34" charset="-122"/>
                <a:cs typeface="Calibri" pitchFamily="34" charset="-120"/>
              </a:rPr>
              <a:t>3.633</a:t>
            </a:r>
            <a:endParaRPr lang="en-US" sz="4800" dirty="0"/>
          </a:p>
        </p:txBody>
      </p:sp>
      <p:sp>
        <p:nvSpPr>
          <p:cNvPr id="15" name="anim:4:59"/>
          <p:cNvSpPr txBox="1"/>
          <p:nvPr/>
        </p:nvSpPr>
        <p:spPr>
          <a:xfrm>
            <a:off x="6903720" y="5212080"/>
            <a:ext cx="4389120" cy="32004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crianças · 1% da demanda fora da rede</a:t>
            </a:r>
            <a:endParaRPr lang="en-US" sz="1400" dirty="0"/>
          </a:p>
        </p:txBody>
      </p:sp>
      <p:sp>
        <p:nvSpPr>
          <p:cNvPr id="16" name="Text 13"/>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Demanda Registrada e Matrículas (SME-SP) e Censo 2022 (IBGE); consultas 5 e 7 sobre a carga com os dados reais.</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25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Nossa solução: as três bases num data warehouse</a:t>
            </a:r>
            <a:endParaRPr lang="en-US" sz="3200" dirty="0"/>
          </a:p>
        </p:txBody>
      </p:sp>
      <p:sp>
        <p:nvSpPr>
          <p:cNvPr id="5" name="anim:1:60"/>
          <p:cNvSpPr/>
          <p:nvPr/>
        </p:nvSpPr>
        <p:spPr>
          <a:xfrm>
            <a:off x="548640" y="1554480"/>
            <a:ext cx="5257800" cy="3520440"/>
          </a:xfrm>
          <a:prstGeom prst="roundRect">
            <a:avLst>
              <a:gd name="adj" fmla="val 31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61"/>
          <p:cNvSpPr/>
          <p:nvPr/>
        </p:nvSpPr>
        <p:spPr>
          <a:xfrm>
            <a:off x="822960" y="1783080"/>
            <a:ext cx="868680" cy="310896"/>
          </a:xfrm>
          <a:prstGeom prst="roundRect">
            <a:avLst>
              <a:gd name="adj" fmla="val 50000"/>
            </a:avLst>
          </a:prstGeom>
          <a:solidFill>
            <a:srgbClr val="566175"/>
          </a:solidFill>
          <a:ln w="12700">
            <a:solidFill>
              <a:srgbClr val="566175"/>
            </a:solidFill>
            <a:prstDash val="solid"/>
          </a:ln>
        </p:spPr>
      </p:sp>
      <p:sp>
        <p:nvSpPr>
          <p:cNvPr id="7" name="anim:1:62"/>
          <p:cNvSpPr txBox="1"/>
          <p:nvPr/>
        </p:nvSpPr>
        <p:spPr>
          <a:xfrm>
            <a:off x="822960" y="1783080"/>
            <a:ext cx="8686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HOJE</a:t>
            </a:r>
            <a:endParaRPr lang="en-US" sz="1200" dirty="0"/>
          </a:p>
        </p:txBody>
      </p:sp>
      <p:sp>
        <p:nvSpPr>
          <p:cNvPr id="8" name="anim:1:63"/>
          <p:cNvSpPr txBox="1"/>
          <p:nvPr/>
        </p:nvSpPr>
        <p:spPr>
          <a:xfrm>
            <a:off x="822960" y="2212848"/>
            <a:ext cx="4709160" cy="411480"/>
          </a:xfrm>
          <a:prstGeom prst="rect">
            <a:avLst/>
          </a:prstGeom>
          <a:noFill/>
          <a:ln/>
        </p:spPr>
        <p:txBody>
          <a:bodyPr wrap="square" lIns="0" tIns="0" rIns="0" bIns="0" rtlCol="0" anchor="t"/>
          <a:lstStyle/>
          <a:p>
            <a:pPr algn="l" indent="0" marL="0">
              <a:buNone/>
            </a:pPr>
            <a:r>
              <a:rPr lang="en-US" sz="2000" b="1" dirty="0">
                <a:solidFill>
                  <a:srgbClr val="1B2A4A"/>
                </a:solidFill>
                <a:latin typeface="Calibri" pitchFamily="34" charset="0"/>
                <a:ea typeface="Calibri" pitchFamily="34" charset="-122"/>
                <a:cs typeface="Calibri" pitchFamily="34" charset="-120"/>
              </a:rPr>
              <a:t>Três bases que não conversam</a:t>
            </a:r>
            <a:endParaRPr lang="en-US" sz="2000" dirty="0"/>
          </a:p>
        </p:txBody>
      </p:sp>
      <p:sp>
        <p:nvSpPr>
          <p:cNvPr id="9" name="anim:1:64"/>
          <p:cNvSpPr txBox="1"/>
          <p:nvPr/>
        </p:nvSpPr>
        <p:spPr>
          <a:xfrm>
            <a:off x="822960" y="2743200"/>
            <a:ext cx="4709160" cy="224028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Fila: planilha por distrito, publicada em sete formatos diferentes.</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Matrícula: 13,4 milhões de linhas; de 2022 a 2024 o código da escola chega corrompido.</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População: Censo do IBGE, por setor censitário e em faixas de cinco anos.</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Nem o distrito é escrito igual: AGUA RASA na SME, Água Rasa no IBGE.</a:t>
            </a:r>
            <a:endParaRPr lang="en-US" sz="1400" dirty="0"/>
          </a:p>
        </p:txBody>
      </p:sp>
      <p:sp>
        <p:nvSpPr>
          <p:cNvPr id="10" name="anim:3:65"/>
          <p:cNvSpPr/>
          <p:nvPr/>
        </p:nvSpPr>
        <p:spPr>
          <a:xfrm>
            <a:off x="6355080" y="1554480"/>
            <a:ext cx="5257800" cy="3520440"/>
          </a:xfrm>
          <a:prstGeom prst="roundRect">
            <a:avLst>
              <a:gd name="adj" fmla="val 3117"/>
            </a:avLst>
          </a:prstGeom>
          <a:solidFill>
            <a:srgbClr val="FFFFFF"/>
          </a:solidFill>
          <a:ln w="9525">
            <a:solidFill>
              <a:srgbClr val="2E5EAA"/>
            </a:solidFill>
            <a:prstDash val="solid"/>
          </a:ln>
          <a:effectLst>
            <a:outerShdw sx="100000" sy="100000" kx="0" ky="0" algn="bl" rotWithShape="0" blurRad="101600" dist="25400" dir="5400000">
              <a:srgbClr val="1B2A4A">
                <a:alpha val="14000"/>
              </a:srgbClr>
            </a:outerShdw>
          </a:effectLst>
        </p:spPr>
      </p:sp>
      <p:sp>
        <p:nvSpPr>
          <p:cNvPr id="11" name="anim:3:66"/>
          <p:cNvSpPr/>
          <p:nvPr/>
        </p:nvSpPr>
        <p:spPr>
          <a:xfrm>
            <a:off x="6629400" y="1783080"/>
            <a:ext cx="3063240" cy="310896"/>
          </a:xfrm>
          <a:prstGeom prst="roundRect">
            <a:avLst>
              <a:gd name="adj" fmla="val 50000"/>
            </a:avLst>
          </a:prstGeom>
          <a:solidFill>
            <a:srgbClr val="2E5EAA"/>
          </a:solidFill>
          <a:ln w="12700">
            <a:solidFill>
              <a:srgbClr val="2E5EAA"/>
            </a:solidFill>
            <a:prstDash val="solid"/>
          </a:ln>
        </p:spPr>
      </p:sp>
      <p:sp>
        <p:nvSpPr>
          <p:cNvPr id="12" name="anim:3:67"/>
          <p:cNvSpPr txBox="1"/>
          <p:nvPr/>
        </p:nvSpPr>
        <p:spPr>
          <a:xfrm>
            <a:off x="6629400" y="1783080"/>
            <a:ext cx="306324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COM O NOSSO DATA WAREHOUSE</a:t>
            </a:r>
            <a:endParaRPr lang="en-US" sz="1200" dirty="0"/>
          </a:p>
        </p:txBody>
      </p:sp>
      <p:sp>
        <p:nvSpPr>
          <p:cNvPr id="13" name="anim:3:68"/>
          <p:cNvSpPr txBox="1"/>
          <p:nvPr/>
        </p:nvSpPr>
        <p:spPr>
          <a:xfrm>
            <a:off x="6629400" y="2212848"/>
            <a:ext cx="4709160" cy="411480"/>
          </a:xfrm>
          <a:prstGeom prst="rect">
            <a:avLst/>
          </a:prstGeom>
          <a:noFill/>
          <a:ln/>
        </p:spPr>
        <p:txBody>
          <a:bodyPr wrap="square" lIns="0" tIns="0" rIns="0" bIns="0" rtlCol="0" anchor="t"/>
          <a:lstStyle/>
          <a:p>
            <a:pPr algn="l" indent="0" marL="0">
              <a:buNone/>
            </a:pPr>
            <a:r>
              <a:rPr lang="en-US" sz="2000" b="1" dirty="0">
                <a:solidFill>
                  <a:srgbClr val="1B2A4A"/>
                </a:solidFill>
                <a:latin typeface="Calibri" pitchFamily="34" charset="0"/>
                <a:ea typeface="Calibri" pitchFamily="34" charset="-122"/>
                <a:cs typeface="Calibri" pitchFamily="34" charset="-120"/>
              </a:rPr>
              <a:t>Uma pergunta, uma consulta</a:t>
            </a:r>
            <a:endParaRPr lang="en-US" sz="2000" dirty="0"/>
          </a:p>
        </p:txBody>
      </p:sp>
      <p:sp>
        <p:nvSpPr>
          <p:cNvPr id="14" name="anim:3:69"/>
          <p:cNvSpPr txBox="1"/>
          <p:nvPr/>
        </p:nvSpPr>
        <p:spPr>
          <a:xfrm>
            <a:off x="6629400" y="2743200"/>
            <a:ext cx="4709160" cy="224028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Um comando baixa, limpa, carrega e confere os dados do portal da prefeitura e do IBGE.</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Cinco fatos e catorze dimensões que se cruzam por distrito, etapa e data.</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14 verificações de qualidade a cada carga; na carga real, nenhuma deu FALHA.</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Oito consultas OLAP respondem às perguntas do gestor.</a:t>
            </a:r>
            <a:endParaRPr lang="en-US" sz="1400" dirty="0"/>
          </a:p>
        </p:txBody>
      </p:sp>
      <p:sp>
        <p:nvSpPr>
          <p:cNvPr id="15" name="anim:2:70"/>
          <p:cNvSpPr/>
          <p:nvPr/>
        </p:nvSpPr>
        <p:spPr>
          <a:xfrm>
            <a:off x="5870448" y="3127248"/>
            <a:ext cx="420624" cy="365760"/>
          </a:xfrm>
          <a:prstGeom prst="rightArrow">
            <a:avLst/>
          </a:prstGeom>
          <a:solidFill>
            <a:srgbClr val="F2A541"/>
          </a:solidFill>
          <a:ln w="12700">
            <a:solidFill>
              <a:srgbClr val="F2A541"/>
            </a:solidFill>
            <a:prstDash val="solid"/>
          </a:ln>
        </p:spPr>
      </p:sp>
      <p:sp>
        <p:nvSpPr>
          <p:cNvPr id="16" name="anim:4:71"/>
          <p:cNvSpPr/>
          <p:nvPr/>
        </p:nvSpPr>
        <p:spPr>
          <a:xfrm>
            <a:off x="548640" y="5257800"/>
            <a:ext cx="11064240" cy="731520"/>
          </a:xfrm>
          <a:prstGeom prst="roundRect">
            <a:avLst>
              <a:gd name="adj" fmla="val 15000"/>
            </a:avLst>
          </a:prstGeom>
          <a:solidFill>
            <a:srgbClr val="EEF2F8"/>
          </a:solidFill>
          <a:ln w="9525">
            <a:solidFill>
              <a:srgbClr val="EEF2F8"/>
            </a:solidFill>
            <a:prstDash val="solid"/>
          </a:ln>
        </p:spPr>
      </p:sp>
      <p:sp>
        <p:nvSpPr>
          <p:cNvPr id="17" name="anim:4:72"/>
          <p:cNvSpPr/>
          <p:nvPr/>
        </p:nvSpPr>
        <p:spPr>
          <a:xfrm>
            <a:off x="777240" y="5376672"/>
            <a:ext cx="493776" cy="493776"/>
          </a:xfrm>
          <a:prstGeom prst="ellipse">
            <a:avLst/>
          </a:prstGeom>
          <a:solidFill>
            <a:srgbClr val="F2A541"/>
          </a:solidFill>
          <a:ln w="12700">
            <a:solidFill>
              <a:srgbClr val="F2A541"/>
            </a:solidFill>
            <a:prstDash val="solid"/>
          </a:ln>
        </p:spPr>
      </p:sp>
      <p:sp>
        <p:nvSpPr>
          <p:cNvPr id="18" name="anim:4:73"/>
          <p:cNvSpPr txBox="1"/>
          <p:nvPr/>
        </p:nvSpPr>
        <p:spPr>
          <a:xfrm>
            <a:off x="777240" y="5376672"/>
            <a:ext cx="493776" cy="493776"/>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19" name="anim:4:74"/>
          <p:cNvSpPr txBox="1"/>
          <p:nvPr/>
        </p:nvSpPr>
        <p:spPr>
          <a:xfrm>
            <a:off x="1463040" y="5303520"/>
            <a:ext cx="9966960" cy="64008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Quem usa: </a:t>
            </a:r>
            <a:pPr indent="0" marL="0">
              <a:buNone/>
            </a:pPr>
            <a:r>
              <a:rPr lang="en-US" sz="1500" dirty="0">
                <a:solidFill>
                  <a:srgbClr val="1F2937"/>
                </a:solidFill>
                <a:latin typeface="Calibri" pitchFamily="34" charset="0"/>
                <a:ea typeface="Calibri" pitchFamily="34" charset="-122"/>
                <a:cs typeface="Calibri" pitchFamily="34" charset="-120"/>
              </a:rPr>
              <a:t>a Secretaria Municipal de Educação e as 13 Diretorias Regionais, para decidir onde abrir a próxima vaga.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400"/>
                                        <p:tgtEl>
                                          <p:spTgt spid="10"/>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400"/>
                                        <p:tgtEl>
                                          <p:spTgt spid="11"/>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400"/>
                                        <p:tgtEl>
                                          <p:spTgt spid="12"/>
                                        </p:tgtEl>
                                      </p:cBhvr>
                                    </p:animEffect>
                                  </p:childTnLst>
                                </p:cTn>
                              </p:par>
                            </p:childTnLst>
                          </p:cTn>
                        </p:par>
                        <p:par>
                          <p:cTn id="40" fill="hold">
                            <p:stCondLst>
                              <p:cond delay="500"/>
                            </p:stCondLst>
                            <p:childTnLst>
                              <p:par>
                                <p:cTn id="41" presetID="10"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400"/>
                                        <p:tgtEl>
                                          <p:spTgt spid="13"/>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400"/>
                                        <p:tgtEl>
                                          <p:spTgt spid="14"/>
                                        </p:tgtEl>
                                      </p:cBhvr>
                                    </p:animEffect>
                                  </p:childTnLst>
                                </p:cTn>
                              </p:par>
                            </p:childTnLst>
                          </p:cTn>
                        </p:par>
                        <p:par>
                          <p:cTn id="48" fill="hold">
                            <p:stCondLst>
                              <p:cond delay="7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7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7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7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Do dado à vaga: como a fila pode cair mais</a:t>
            </a:r>
            <a:endParaRPr lang="en-US" sz="3200" dirty="0"/>
          </a:p>
        </p:txBody>
      </p:sp>
      <p:sp>
        <p:nvSpPr>
          <p:cNvPr id="5" name="anim:1:75"/>
          <p:cNvSpPr/>
          <p:nvPr/>
        </p:nvSpPr>
        <p:spPr>
          <a:xfrm>
            <a:off x="548640"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76"/>
          <p:cNvSpPr/>
          <p:nvPr/>
        </p:nvSpPr>
        <p:spPr>
          <a:xfrm>
            <a:off x="777240" y="1810512"/>
            <a:ext cx="502920" cy="502920"/>
          </a:xfrm>
          <a:prstGeom prst="ellipse">
            <a:avLst/>
          </a:prstGeom>
          <a:solidFill>
            <a:srgbClr val="F2A541"/>
          </a:solidFill>
          <a:ln w="12700">
            <a:solidFill>
              <a:srgbClr val="F2A541"/>
            </a:solidFill>
            <a:prstDash val="solid"/>
          </a:ln>
        </p:spPr>
      </p:sp>
      <p:sp>
        <p:nvSpPr>
          <p:cNvPr id="7" name="anim:1:77"/>
          <p:cNvSpPr txBox="1"/>
          <p:nvPr/>
        </p:nvSpPr>
        <p:spPr>
          <a:xfrm>
            <a:off x="777240"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1</a:t>
            </a:r>
            <a:endParaRPr lang="en-US" sz="1500" dirty="0"/>
          </a:p>
        </p:txBody>
      </p:sp>
      <p:sp>
        <p:nvSpPr>
          <p:cNvPr id="8" name="anim:1:78"/>
          <p:cNvSpPr txBox="1"/>
          <p:nvPr/>
        </p:nvSpPr>
        <p:spPr>
          <a:xfrm>
            <a:off x="777240"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Medir</a:t>
            </a:r>
            <a:endParaRPr lang="en-US" sz="1900" dirty="0"/>
          </a:p>
        </p:txBody>
      </p:sp>
      <p:sp>
        <p:nvSpPr>
          <p:cNvPr id="9" name="anim:1:79"/>
          <p:cNvSpPr txBox="1"/>
          <p:nvPr/>
        </p:nvSpPr>
        <p:spPr>
          <a:xfrm>
            <a:off x="777240"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A fila de cada distrito e etapa, a cada publicação, separando quem espera uma unidade específica.</a:t>
            </a:r>
            <a:endParaRPr lang="en-US" sz="1400" dirty="0"/>
          </a:p>
        </p:txBody>
      </p:sp>
      <p:sp>
        <p:nvSpPr>
          <p:cNvPr id="10" name="anim:1:80"/>
          <p:cNvSpPr/>
          <p:nvPr/>
        </p:nvSpPr>
        <p:spPr>
          <a:xfrm>
            <a:off x="777240" y="4343400"/>
            <a:ext cx="1097280" cy="310896"/>
          </a:xfrm>
          <a:prstGeom prst="roundRect">
            <a:avLst>
              <a:gd name="adj" fmla="val 50000"/>
            </a:avLst>
          </a:prstGeom>
          <a:solidFill>
            <a:srgbClr val="2E5EAA"/>
          </a:solidFill>
          <a:ln w="12700">
            <a:solidFill>
              <a:srgbClr val="2E5EAA"/>
            </a:solidFill>
            <a:prstDash val="solid"/>
          </a:ln>
        </p:spPr>
      </p:sp>
      <p:sp>
        <p:nvSpPr>
          <p:cNvPr id="11" name="anim:1:81"/>
          <p:cNvSpPr txBox="1"/>
          <p:nvPr/>
        </p:nvSpPr>
        <p:spPr>
          <a:xfrm>
            <a:off x="777240" y="4343400"/>
            <a:ext cx="10972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fato Fila</a:t>
            </a:r>
            <a:endParaRPr lang="en-US" sz="1200" dirty="0"/>
          </a:p>
        </p:txBody>
      </p:sp>
      <p:sp>
        <p:nvSpPr>
          <p:cNvPr id="12" name="anim:1:82"/>
          <p:cNvSpPr/>
          <p:nvPr/>
        </p:nvSpPr>
        <p:spPr>
          <a:xfrm>
            <a:off x="3118104" y="3108960"/>
            <a:ext cx="219456" cy="274320"/>
          </a:xfrm>
          <a:prstGeom prst="rightArrow">
            <a:avLst/>
          </a:prstGeom>
          <a:solidFill>
            <a:srgbClr val="F2A541"/>
          </a:solidFill>
          <a:ln w="12700">
            <a:solidFill>
              <a:srgbClr val="F2A541"/>
            </a:solidFill>
            <a:prstDash val="solid"/>
          </a:ln>
        </p:spPr>
      </p:sp>
      <p:sp>
        <p:nvSpPr>
          <p:cNvPr id="13" name="anim:2:83"/>
          <p:cNvSpPr/>
          <p:nvPr/>
        </p:nvSpPr>
        <p:spPr>
          <a:xfrm>
            <a:off x="3364992"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4" name="anim:2:84"/>
          <p:cNvSpPr/>
          <p:nvPr/>
        </p:nvSpPr>
        <p:spPr>
          <a:xfrm>
            <a:off x="3593592" y="1810512"/>
            <a:ext cx="502920" cy="502920"/>
          </a:xfrm>
          <a:prstGeom prst="ellipse">
            <a:avLst/>
          </a:prstGeom>
          <a:solidFill>
            <a:srgbClr val="F2A541"/>
          </a:solidFill>
          <a:ln w="12700">
            <a:solidFill>
              <a:srgbClr val="F2A541"/>
            </a:solidFill>
            <a:prstDash val="solid"/>
          </a:ln>
        </p:spPr>
      </p:sp>
      <p:sp>
        <p:nvSpPr>
          <p:cNvPr id="15" name="anim:2:85"/>
          <p:cNvSpPr txBox="1"/>
          <p:nvPr/>
        </p:nvSpPr>
        <p:spPr>
          <a:xfrm>
            <a:off x="3593592"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2</a:t>
            </a:r>
            <a:endParaRPr lang="en-US" sz="1500" dirty="0"/>
          </a:p>
        </p:txBody>
      </p:sp>
      <p:sp>
        <p:nvSpPr>
          <p:cNvPr id="16" name="anim:2:86"/>
          <p:cNvSpPr txBox="1"/>
          <p:nvPr/>
        </p:nvSpPr>
        <p:spPr>
          <a:xfrm>
            <a:off x="3593592"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Localizar</a:t>
            </a:r>
            <a:endParaRPr lang="en-US" sz="1900" dirty="0"/>
          </a:p>
        </p:txBody>
      </p:sp>
      <p:sp>
        <p:nvSpPr>
          <p:cNvPr id="17" name="anim:2:87"/>
          <p:cNvSpPr txBox="1"/>
          <p:nvPr/>
        </p:nvSpPr>
        <p:spPr>
          <a:xfrm>
            <a:off x="3593592"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Onde a fila resiste e onde a oferta por criança é menor.</a:t>
            </a:r>
            <a:endParaRPr lang="en-US" sz="1400" dirty="0"/>
          </a:p>
        </p:txBody>
      </p:sp>
      <p:sp>
        <p:nvSpPr>
          <p:cNvPr id="18" name="anim:2:88"/>
          <p:cNvSpPr/>
          <p:nvPr/>
        </p:nvSpPr>
        <p:spPr>
          <a:xfrm>
            <a:off x="3593592" y="4343400"/>
            <a:ext cx="566928" cy="310896"/>
          </a:xfrm>
          <a:prstGeom prst="roundRect">
            <a:avLst>
              <a:gd name="adj" fmla="val 50000"/>
            </a:avLst>
          </a:prstGeom>
          <a:solidFill>
            <a:srgbClr val="2E5EAA"/>
          </a:solidFill>
          <a:ln w="12700">
            <a:solidFill>
              <a:srgbClr val="2E5EAA"/>
            </a:solidFill>
            <a:prstDash val="solid"/>
          </a:ln>
        </p:spPr>
      </p:sp>
      <p:sp>
        <p:nvSpPr>
          <p:cNvPr id="19" name="anim:2:89"/>
          <p:cNvSpPr txBox="1"/>
          <p:nvPr/>
        </p:nvSpPr>
        <p:spPr>
          <a:xfrm>
            <a:off x="3593592"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C1</a:t>
            </a:r>
            <a:endParaRPr lang="en-US" sz="1200" dirty="0"/>
          </a:p>
        </p:txBody>
      </p:sp>
      <p:sp>
        <p:nvSpPr>
          <p:cNvPr id="20" name="anim:2:90"/>
          <p:cNvSpPr/>
          <p:nvPr/>
        </p:nvSpPr>
        <p:spPr>
          <a:xfrm>
            <a:off x="4251960" y="4343400"/>
            <a:ext cx="566928" cy="310896"/>
          </a:xfrm>
          <a:prstGeom prst="roundRect">
            <a:avLst>
              <a:gd name="adj" fmla="val 50000"/>
            </a:avLst>
          </a:prstGeom>
          <a:solidFill>
            <a:srgbClr val="2E5EAA"/>
          </a:solidFill>
          <a:ln w="12700">
            <a:solidFill>
              <a:srgbClr val="2E5EAA"/>
            </a:solidFill>
            <a:prstDash val="solid"/>
          </a:ln>
        </p:spPr>
      </p:sp>
      <p:sp>
        <p:nvSpPr>
          <p:cNvPr id="21" name="anim:2:91"/>
          <p:cNvSpPr txBox="1"/>
          <p:nvPr/>
        </p:nvSpPr>
        <p:spPr>
          <a:xfrm>
            <a:off x="4251960"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C5</a:t>
            </a:r>
            <a:endParaRPr lang="en-US" sz="1200" dirty="0"/>
          </a:p>
        </p:txBody>
      </p:sp>
      <p:sp>
        <p:nvSpPr>
          <p:cNvPr id="22" name="anim:2:92"/>
          <p:cNvSpPr/>
          <p:nvPr/>
        </p:nvSpPr>
        <p:spPr>
          <a:xfrm>
            <a:off x="4910328" y="4343400"/>
            <a:ext cx="566928" cy="310896"/>
          </a:xfrm>
          <a:prstGeom prst="roundRect">
            <a:avLst>
              <a:gd name="adj" fmla="val 50000"/>
            </a:avLst>
          </a:prstGeom>
          <a:solidFill>
            <a:srgbClr val="2E5EAA"/>
          </a:solidFill>
          <a:ln w="12700">
            <a:solidFill>
              <a:srgbClr val="2E5EAA"/>
            </a:solidFill>
            <a:prstDash val="solid"/>
          </a:ln>
        </p:spPr>
      </p:sp>
      <p:sp>
        <p:nvSpPr>
          <p:cNvPr id="23" name="anim:2:93"/>
          <p:cNvSpPr txBox="1"/>
          <p:nvPr/>
        </p:nvSpPr>
        <p:spPr>
          <a:xfrm>
            <a:off x="4910328"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C7</a:t>
            </a:r>
            <a:endParaRPr lang="en-US" sz="1200" dirty="0"/>
          </a:p>
        </p:txBody>
      </p:sp>
      <p:sp>
        <p:nvSpPr>
          <p:cNvPr id="24" name="anim:2:94"/>
          <p:cNvSpPr/>
          <p:nvPr/>
        </p:nvSpPr>
        <p:spPr>
          <a:xfrm>
            <a:off x="5934456" y="3108960"/>
            <a:ext cx="219456" cy="274320"/>
          </a:xfrm>
          <a:prstGeom prst="rightArrow">
            <a:avLst/>
          </a:prstGeom>
          <a:solidFill>
            <a:srgbClr val="F2A541"/>
          </a:solidFill>
          <a:ln w="12700">
            <a:solidFill>
              <a:srgbClr val="F2A541"/>
            </a:solidFill>
            <a:prstDash val="solid"/>
          </a:ln>
        </p:spPr>
      </p:sp>
      <p:sp>
        <p:nvSpPr>
          <p:cNvPr id="25" name="anim:3:95"/>
          <p:cNvSpPr/>
          <p:nvPr/>
        </p:nvSpPr>
        <p:spPr>
          <a:xfrm>
            <a:off x="6181344"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6" name="anim:3:96"/>
          <p:cNvSpPr/>
          <p:nvPr/>
        </p:nvSpPr>
        <p:spPr>
          <a:xfrm>
            <a:off x="6409944" y="1810512"/>
            <a:ext cx="502920" cy="502920"/>
          </a:xfrm>
          <a:prstGeom prst="ellipse">
            <a:avLst/>
          </a:prstGeom>
          <a:solidFill>
            <a:srgbClr val="F2A541"/>
          </a:solidFill>
          <a:ln w="12700">
            <a:solidFill>
              <a:srgbClr val="F2A541"/>
            </a:solidFill>
            <a:prstDash val="solid"/>
          </a:ln>
        </p:spPr>
      </p:sp>
      <p:sp>
        <p:nvSpPr>
          <p:cNvPr id="27" name="anim:3:97"/>
          <p:cNvSpPr txBox="1"/>
          <p:nvPr/>
        </p:nvSpPr>
        <p:spPr>
          <a:xfrm>
            <a:off x="6409944"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3</a:t>
            </a:r>
            <a:endParaRPr lang="en-US" sz="1500" dirty="0"/>
          </a:p>
        </p:txBody>
      </p:sp>
      <p:sp>
        <p:nvSpPr>
          <p:cNvPr id="28" name="anim:3:98"/>
          <p:cNvSpPr txBox="1"/>
          <p:nvPr/>
        </p:nvSpPr>
        <p:spPr>
          <a:xfrm>
            <a:off x="6409944"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Decidir</a:t>
            </a:r>
            <a:endParaRPr lang="en-US" sz="1900" dirty="0"/>
          </a:p>
        </p:txBody>
      </p:sp>
      <p:sp>
        <p:nvSpPr>
          <p:cNvPr id="29" name="anim:3:99"/>
          <p:cNvSpPr txBox="1"/>
          <p:nvPr/>
        </p:nvSpPr>
        <p:spPr>
          <a:xfrm>
            <a:off x="6409944"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Turma nova ou lugar ocioso, pela ocupação das turmas, e por qual rede abrir a vaga.</a:t>
            </a:r>
            <a:endParaRPr lang="en-US" sz="1400" dirty="0"/>
          </a:p>
        </p:txBody>
      </p:sp>
      <p:sp>
        <p:nvSpPr>
          <p:cNvPr id="30" name="anim:3:100"/>
          <p:cNvSpPr/>
          <p:nvPr/>
        </p:nvSpPr>
        <p:spPr>
          <a:xfrm>
            <a:off x="6409944" y="4343400"/>
            <a:ext cx="566928" cy="310896"/>
          </a:xfrm>
          <a:prstGeom prst="roundRect">
            <a:avLst>
              <a:gd name="adj" fmla="val 50000"/>
            </a:avLst>
          </a:prstGeom>
          <a:solidFill>
            <a:srgbClr val="2E5EAA"/>
          </a:solidFill>
          <a:ln w="12700">
            <a:solidFill>
              <a:srgbClr val="2E5EAA"/>
            </a:solidFill>
            <a:prstDash val="solid"/>
          </a:ln>
        </p:spPr>
      </p:sp>
      <p:sp>
        <p:nvSpPr>
          <p:cNvPr id="31" name="anim:3:101"/>
          <p:cNvSpPr txBox="1"/>
          <p:nvPr/>
        </p:nvSpPr>
        <p:spPr>
          <a:xfrm>
            <a:off x="6409944"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C3</a:t>
            </a:r>
            <a:endParaRPr lang="en-US" sz="1200" dirty="0"/>
          </a:p>
        </p:txBody>
      </p:sp>
      <p:sp>
        <p:nvSpPr>
          <p:cNvPr id="32" name="anim:3:102"/>
          <p:cNvSpPr/>
          <p:nvPr/>
        </p:nvSpPr>
        <p:spPr>
          <a:xfrm>
            <a:off x="7068312" y="4343400"/>
            <a:ext cx="566928" cy="310896"/>
          </a:xfrm>
          <a:prstGeom prst="roundRect">
            <a:avLst>
              <a:gd name="adj" fmla="val 50000"/>
            </a:avLst>
          </a:prstGeom>
          <a:solidFill>
            <a:srgbClr val="2E5EAA"/>
          </a:solidFill>
          <a:ln w="12700">
            <a:solidFill>
              <a:srgbClr val="2E5EAA"/>
            </a:solidFill>
            <a:prstDash val="solid"/>
          </a:ln>
        </p:spPr>
      </p:sp>
      <p:sp>
        <p:nvSpPr>
          <p:cNvPr id="33" name="anim:3:103"/>
          <p:cNvSpPr txBox="1"/>
          <p:nvPr/>
        </p:nvSpPr>
        <p:spPr>
          <a:xfrm>
            <a:off x="7068312"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C4</a:t>
            </a:r>
            <a:endParaRPr lang="en-US" sz="1200" dirty="0"/>
          </a:p>
        </p:txBody>
      </p:sp>
      <p:sp>
        <p:nvSpPr>
          <p:cNvPr id="34" name="anim:3:104"/>
          <p:cNvSpPr/>
          <p:nvPr/>
        </p:nvSpPr>
        <p:spPr>
          <a:xfrm>
            <a:off x="7726680" y="4343400"/>
            <a:ext cx="566928" cy="310896"/>
          </a:xfrm>
          <a:prstGeom prst="roundRect">
            <a:avLst>
              <a:gd name="adj" fmla="val 50000"/>
            </a:avLst>
          </a:prstGeom>
          <a:solidFill>
            <a:srgbClr val="2E5EAA"/>
          </a:solidFill>
          <a:ln w="12700">
            <a:solidFill>
              <a:srgbClr val="2E5EAA"/>
            </a:solidFill>
            <a:prstDash val="solid"/>
          </a:ln>
        </p:spPr>
      </p:sp>
      <p:sp>
        <p:nvSpPr>
          <p:cNvPr id="35" name="anim:3:105"/>
          <p:cNvSpPr txBox="1"/>
          <p:nvPr/>
        </p:nvSpPr>
        <p:spPr>
          <a:xfrm>
            <a:off x="7726680"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C8</a:t>
            </a:r>
            <a:endParaRPr lang="en-US" sz="1200" dirty="0"/>
          </a:p>
        </p:txBody>
      </p:sp>
      <p:sp>
        <p:nvSpPr>
          <p:cNvPr id="36" name="anim:3:106"/>
          <p:cNvSpPr/>
          <p:nvPr/>
        </p:nvSpPr>
        <p:spPr>
          <a:xfrm>
            <a:off x="8750808" y="3108960"/>
            <a:ext cx="219456" cy="274320"/>
          </a:xfrm>
          <a:prstGeom prst="rightArrow">
            <a:avLst/>
          </a:prstGeom>
          <a:solidFill>
            <a:srgbClr val="F2A541"/>
          </a:solidFill>
          <a:ln w="12700">
            <a:solidFill>
              <a:srgbClr val="F2A541"/>
            </a:solidFill>
            <a:prstDash val="solid"/>
          </a:ln>
        </p:spPr>
      </p:sp>
      <p:sp>
        <p:nvSpPr>
          <p:cNvPr id="37" name="anim:4:107"/>
          <p:cNvSpPr/>
          <p:nvPr/>
        </p:nvSpPr>
        <p:spPr>
          <a:xfrm>
            <a:off x="8997696"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8" name="anim:4:108"/>
          <p:cNvSpPr/>
          <p:nvPr/>
        </p:nvSpPr>
        <p:spPr>
          <a:xfrm>
            <a:off x="9226296" y="1810512"/>
            <a:ext cx="502920" cy="502920"/>
          </a:xfrm>
          <a:prstGeom prst="ellipse">
            <a:avLst/>
          </a:prstGeom>
          <a:solidFill>
            <a:srgbClr val="F2A541"/>
          </a:solidFill>
          <a:ln w="12700">
            <a:solidFill>
              <a:srgbClr val="F2A541"/>
            </a:solidFill>
            <a:prstDash val="solid"/>
          </a:ln>
        </p:spPr>
      </p:sp>
      <p:sp>
        <p:nvSpPr>
          <p:cNvPr id="39" name="anim:4:109"/>
          <p:cNvSpPr txBox="1"/>
          <p:nvPr/>
        </p:nvSpPr>
        <p:spPr>
          <a:xfrm>
            <a:off x="9226296"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4</a:t>
            </a:r>
            <a:endParaRPr lang="en-US" sz="1500" dirty="0"/>
          </a:p>
        </p:txBody>
      </p:sp>
      <p:sp>
        <p:nvSpPr>
          <p:cNvPr id="40" name="anim:4:110"/>
          <p:cNvSpPr txBox="1"/>
          <p:nvPr/>
        </p:nvSpPr>
        <p:spPr>
          <a:xfrm>
            <a:off x="9226296"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Acompanhar</a:t>
            </a:r>
            <a:endParaRPr lang="en-US" sz="1900" dirty="0"/>
          </a:p>
        </p:txBody>
      </p:sp>
      <p:sp>
        <p:nvSpPr>
          <p:cNvPr id="41" name="anim:4:111"/>
          <p:cNvSpPr txBox="1"/>
          <p:nvPr/>
        </p:nvSpPr>
        <p:spPr>
          <a:xfrm>
            <a:off x="9226296"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A publicação seguinte mostra se a fila do distrito caiu; o ciclo recomeça.</a:t>
            </a:r>
            <a:endParaRPr lang="en-US" sz="1400" dirty="0"/>
          </a:p>
        </p:txBody>
      </p:sp>
      <p:sp>
        <p:nvSpPr>
          <p:cNvPr id="42" name="anim:4:112"/>
          <p:cNvSpPr/>
          <p:nvPr/>
        </p:nvSpPr>
        <p:spPr>
          <a:xfrm>
            <a:off x="9226296" y="4343400"/>
            <a:ext cx="566928" cy="310896"/>
          </a:xfrm>
          <a:prstGeom prst="roundRect">
            <a:avLst>
              <a:gd name="adj" fmla="val 50000"/>
            </a:avLst>
          </a:prstGeom>
          <a:solidFill>
            <a:srgbClr val="2E5EAA"/>
          </a:solidFill>
          <a:ln w="12700">
            <a:solidFill>
              <a:srgbClr val="2E5EAA"/>
            </a:solidFill>
            <a:prstDash val="solid"/>
          </a:ln>
        </p:spPr>
      </p:sp>
      <p:sp>
        <p:nvSpPr>
          <p:cNvPr id="43" name="anim:4:113"/>
          <p:cNvSpPr txBox="1"/>
          <p:nvPr/>
        </p:nvSpPr>
        <p:spPr>
          <a:xfrm>
            <a:off x="9226296"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C1</a:t>
            </a:r>
            <a:endParaRPr lang="en-US" sz="1200" dirty="0"/>
          </a:p>
        </p:txBody>
      </p:sp>
      <p:sp>
        <p:nvSpPr>
          <p:cNvPr id="44" name="anim:4:114"/>
          <p:cNvSpPr/>
          <p:nvPr/>
        </p:nvSpPr>
        <p:spPr>
          <a:xfrm>
            <a:off x="9884664" y="4343400"/>
            <a:ext cx="566928" cy="310896"/>
          </a:xfrm>
          <a:prstGeom prst="roundRect">
            <a:avLst>
              <a:gd name="adj" fmla="val 50000"/>
            </a:avLst>
          </a:prstGeom>
          <a:solidFill>
            <a:srgbClr val="2E5EAA"/>
          </a:solidFill>
          <a:ln w="12700">
            <a:solidFill>
              <a:srgbClr val="2E5EAA"/>
            </a:solidFill>
            <a:prstDash val="solid"/>
          </a:ln>
        </p:spPr>
      </p:sp>
      <p:sp>
        <p:nvSpPr>
          <p:cNvPr id="45" name="anim:4:115"/>
          <p:cNvSpPr txBox="1"/>
          <p:nvPr/>
        </p:nvSpPr>
        <p:spPr>
          <a:xfrm>
            <a:off x="9884664"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C5</a:t>
            </a:r>
            <a:endParaRPr lang="en-US" sz="1200" dirty="0"/>
          </a:p>
        </p:txBody>
      </p:sp>
      <p:sp>
        <p:nvSpPr>
          <p:cNvPr id="46" name="anim:5:116"/>
          <p:cNvSpPr/>
          <p:nvPr/>
        </p:nvSpPr>
        <p:spPr>
          <a:xfrm>
            <a:off x="548640" y="5166360"/>
            <a:ext cx="11064240" cy="822960"/>
          </a:xfrm>
          <a:prstGeom prst="roundRect">
            <a:avLst>
              <a:gd name="adj" fmla="val 13333"/>
            </a:avLst>
          </a:prstGeom>
          <a:solidFill>
            <a:srgbClr val="EEF2F8"/>
          </a:solidFill>
          <a:ln w="9525">
            <a:solidFill>
              <a:srgbClr val="EEF2F8"/>
            </a:solidFill>
            <a:prstDash val="solid"/>
          </a:ln>
        </p:spPr>
      </p:sp>
      <p:sp>
        <p:nvSpPr>
          <p:cNvPr id="47" name="anim:5:117"/>
          <p:cNvSpPr/>
          <p:nvPr/>
        </p:nvSpPr>
        <p:spPr>
          <a:xfrm>
            <a:off x="777240" y="5321808"/>
            <a:ext cx="512064" cy="512064"/>
          </a:xfrm>
          <a:prstGeom prst="ellipse">
            <a:avLst/>
          </a:prstGeom>
          <a:solidFill>
            <a:srgbClr val="F2A541"/>
          </a:solidFill>
          <a:ln w="12700">
            <a:solidFill>
              <a:srgbClr val="F2A541"/>
            </a:solidFill>
            <a:prstDash val="solid"/>
          </a:ln>
        </p:spPr>
      </p:sp>
      <p:sp>
        <p:nvSpPr>
          <p:cNvPr id="48" name="anim:5:118"/>
          <p:cNvSpPr txBox="1"/>
          <p:nvPr/>
        </p:nvSpPr>
        <p:spPr>
          <a:xfrm>
            <a:off x="777240" y="5321808"/>
            <a:ext cx="512064" cy="512064"/>
          </a:xfrm>
          <a:prstGeom prst="rect">
            <a:avLst/>
          </a:prstGeom>
          <a:noFill/>
          <a:ln/>
        </p:spPr>
        <p:txBody>
          <a:bodyPr wrap="square" lIns="0" tIns="0" rIns="0" bIns="0" rtlCol="0" anchor="ctr"/>
          <a:lstStyle/>
          <a:p>
            <a:pPr algn="ctr" indent="0" marL="0">
              <a:buNone/>
            </a:pPr>
            <a:r>
              <a:rPr lang="en-US" sz="1800" b="1" dirty="0">
                <a:solidFill>
                  <a:srgbClr val="1B2A4A"/>
                </a:solidFill>
                <a:latin typeface="Calibri" pitchFamily="34" charset="0"/>
                <a:ea typeface="Calibri" pitchFamily="34" charset="-122"/>
                <a:cs typeface="Calibri" pitchFamily="34" charset="-120"/>
              </a:rPr>
              <a:t>!</a:t>
            </a:r>
            <a:endParaRPr lang="en-US" sz="1800" dirty="0"/>
          </a:p>
        </p:txBody>
      </p:sp>
      <p:sp>
        <p:nvSpPr>
          <p:cNvPr id="49" name="anim:5:119"/>
          <p:cNvSpPr txBox="1"/>
          <p:nvPr/>
        </p:nvSpPr>
        <p:spPr>
          <a:xfrm>
            <a:off x="1508760" y="5212080"/>
            <a:ext cx="9966960" cy="73152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Quase sete em cada dez crianças da fila de creche esperavam uma unidade específica: </a:t>
            </a:r>
            <a:pPr indent="0" marL="0">
              <a:buNone/>
            </a:pPr>
            <a:r>
              <a:rPr lang="en-US" sz="1500" dirty="0">
                <a:solidFill>
                  <a:srgbClr val="1F2937"/>
                </a:solidFill>
                <a:latin typeface="Calibri" pitchFamily="34" charset="0"/>
                <a:ea typeface="Calibri" pitchFamily="34" charset="-122"/>
                <a:cs typeface="Calibri" pitchFamily="34" charset="-120"/>
              </a:rPr>
              <a:t>falta vaga no lugar certo, e é isso que o ciclo procura.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2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2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2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5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5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5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50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50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50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50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50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par>
                          <p:cTn id="124" fill="hold">
                            <p:stCondLst>
                              <p:cond delay="500"/>
                            </p:stCondLst>
                            <p:childTnLst>
                              <p:par>
                                <p:cTn id="125" presetID="10" presetClass="entr" presetSubtype="0" fill="hold" grpId="0" nodeType="withEffect">
                                  <p:stCondLst>
                                    <p:cond delay="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400"/>
                                        <p:tgtEl>
                                          <p:spTgt spid="35"/>
                                        </p:tgtEl>
                                      </p:cBhvr>
                                    </p:animEffect>
                                  </p:childTnLst>
                                </p:cTn>
                              </p:par>
                            </p:childTnLst>
                          </p:cTn>
                        </p:par>
                        <p:par>
                          <p:cTn id="128" fill="hold">
                            <p:stCondLst>
                              <p:cond delay="500"/>
                            </p:stCondLst>
                            <p:childTnLst>
                              <p:par>
                                <p:cTn id="129" presetID="10" presetClass="entr" presetSubtype="0" fill="hold" grpId="0" nodeType="withEffect">
                                  <p:stCondLst>
                                    <p:cond delay="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400"/>
                                        <p:tgtEl>
                                          <p:spTgt spid="36"/>
                                        </p:tgtEl>
                                      </p:cBhvr>
                                    </p:animEffect>
                                  </p:childTnLst>
                                </p:cTn>
                              </p:par>
                            </p:childTnLst>
                          </p:cTn>
                        </p:par>
                        <p:par>
                          <p:cTn id="132" fill="hold">
                            <p:stCondLst>
                              <p:cond delay="750"/>
                            </p:stCondLst>
                            <p:childTnLst>
                              <p:par>
                                <p:cTn id="133" presetID="10" presetClass="entr" presetSubtype="0" fill="hold" grpId="0" nodeType="withEffect">
                                  <p:stCondLst>
                                    <p:cond delay="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400"/>
                                        <p:tgtEl>
                                          <p:spTgt spid="37"/>
                                        </p:tgtEl>
                                      </p:cBhvr>
                                    </p:animEffect>
                                  </p:childTnLst>
                                </p:cTn>
                              </p:par>
                            </p:childTnLst>
                          </p:cTn>
                        </p:par>
                        <p:par>
                          <p:cTn id="136" fill="hold">
                            <p:stCondLst>
                              <p:cond delay="750"/>
                            </p:stCondLst>
                            <p:childTnLst>
                              <p:par>
                                <p:cTn id="137" presetID="10" presetClass="entr" presetSubtype="0" fill="hold" grpId="0" nodeType="withEffect">
                                  <p:stCondLst>
                                    <p:cond delay="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400"/>
                                        <p:tgtEl>
                                          <p:spTgt spid="38"/>
                                        </p:tgtEl>
                                      </p:cBhvr>
                                    </p:animEffect>
                                  </p:childTnLst>
                                </p:cTn>
                              </p:par>
                            </p:childTnLst>
                          </p:cTn>
                        </p:par>
                        <p:par>
                          <p:cTn id="140" fill="hold">
                            <p:stCondLst>
                              <p:cond delay="750"/>
                            </p:stCondLst>
                            <p:childTnLst>
                              <p:par>
                                <p:cTn id="141" presetID="10" presetClass="entr" presetSubtype="0" fill="hold" grpId="0" nodeType="withEffect">
                                  <p:stCondLst>
                                    <p:cond delay="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400"/>
                                        <p:tgtEl>
                                          <p:spTgt spid="39"/>
                                        </p:tgtEl>
                                      </p:cBhvr>
                                    </p:animEffect>
                                  </p:childTnLst>
                                </p:cTn>
                              </p:par>
                            </p:childTnLst>
                          </p:cTn>
                        </p:par>
                        <p:par>
                          <p:cTn id="144" fill="hold">
                            <p:stCondLst>
                              <p:cond delay="750"/>
                            </p:stCondLst>
                            <p:childTnLst>
                              <p:par>
                                <p:cTn id="145" presetID="10" presetClass="entr" presetSubtype="0" fill="hold" grpId="0" nodeType="withEffect">
                                  <p:stCondLst>
                                    <p:cond delay="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400"/>
                                        <p:tgtEl>
                                          <p:spTgt spid="40"/>
                                        </p:tgtEl>
                                      </p:cBhvr>
                                    </p:animEffect>
                                  </p:childTnLst>
                                </p:cTn>
                              </p:par>
                            </p:childTnLst>
                          </p:cTn>
                        </p:par>
                        <p:par>
                          <p:cTn id="148" fill="hold">
                            <p:stCondLst>
                              <p:cond delay="750"/>
                            </p:stCondLst>
                            <p:childTnLst>
                              <p:par>
                                <p:cTn id="149" presetID="10" presetClass="entr" presetSubtype="0" fill="hold" grpId="0" nodeType="withEffect">
                                  <p:stCondLst>
                                    <p:cond delay="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400"/>
                                        <p:tgtEl>
                                          <p:spTgt spid="41"/>
                                        </p:tgtEl>
                                      </p:cBhvr>
                                    </p:animEffect>
                                  </p:childTnLst>
                                </p:cTn>
                              </p:par>
                            </p:childTnLst>
                          </p:cTn>
                        </p:par>
                        <p:par>
                          <p:cTn id="152" fill="hold">
                            <p:stCondLst>
                              <p:cond delay="750"/>
                            </p:stCondLst>
                            <p:childTnLst>
                              <p:par>
                                <p:cTn id="153" presetID="10" presetClass="entr" presetSubtype="0" fill="hold" grpId="0" nodeType="withEffect">
                                  <p:stCondLst>
                                    <p:cond delay="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400"/>
                                        <p:tgtEl>
                                          <p:spTgt spid="42"/>
                                        </p:tgtEl>
                                      </p:cBhvr>
                                    </p:animEffect>
                                  </p:childTnLst>
                                </p:cTn>
                              </p:par>
                            </p:childTnLst>
                          </p:cTn>
                        </p:par>
                        <p:par>
                          <p:cTn id="156" fill="hold">
                            <p:stCondLst>
                              <p:cond delay="750"/>
                            </p:stCondLst>
                            <p:childTnLst>
                              <p:par>
                                <p:cTn id="157" presetID="10" presetClass="entr" presetSubtype="0" fill="hold" grpId="0" nodeType="withEffect">
                                  <p:stCondLst>
                                    <p:cond delay="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400"/>
                                        <p:tgtEl>
                                          <p:spTgt spid="43"/>
                                        </p:tgtEl>
                                      </p:cBhvr>
                                    </p:animEffect>
                                  </p:childTnLst>
                                </p:cTn>
                              </p:par>
                            </p:childTnLst>
                          </p:cTn>
                        </p:par>
                        <p:par>
                          <p:cTn id="160" fill="hold">
                            <p:stCondLst>
                              <p:cond delay="750"/>
                            </p:stCondLst>
                            <p:childTnLst>
                              <p:par>
                                <p:cTn id="161" presetID="10" presetClass="entr" presetSubtype="0" fill="hold" grpId="0" nodeType="withEffect">
                                  <p:stCondLst>
                                    <p:cond delay="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400"/>
                                        <p:tgtEl>
                                          <p:spTgt spid="44"/>
                                        </p:tgtEl>
                                      </p:cBhvr>
                                    </p:animEffect>
                                  </p:childTnLst>
                                </p:cTn>
                              </p:par>
                            </p:childTnLst>
                          </p:cTn>
                        </p:par>
                        <p:par>
                          <p:cTn id="164" fill="hold">
                            <p:stCondLst>
                              <p:cond delay="750"/>
                            </p:stCondLst>
                            <p:childTnLst>
                              <p:par>
                                <p:cTn id="165" presetID="10" presetClass="entr" presetSubtype="0" fill="hold" grpId="0" nodeType="withEffect">
                                  <p:stCondLst>
                                    <p:cond delay="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400"/>
                                        <p:tgtEl>
                                          <p:spTgt spid="45"/>
                                        </p:tgtEl>
                                      </p:cBhvr>
                                    </p:animEffect>
                                  </p:childTnLst>
                                </p:cTn>
                              </p:par>
                            </p:childTnLst>
                          </p:cTn>
                        </p:par>
                        <p:par>
                          <p:cTn id="168" fill="hold">
                            <p:stCondLst>
                              <p:cond delay="1000"/>
                            </p:stCondLst>
                            <p:childTnLst>
                              <p:par>
                                <p:cTn id="169" presetID="10" presetClass="entr" presetSubtype="0" fill="hold" grpId="0" nodeType="withEffect">
                                  <p:stCondLst>
                                    <p:cond delay="0"/>
                                  </p:stCondLst>
                                  <p:childTnLst>
                                    <p:set>
                                      <p:cBhvr>
                                        <p:cTn id="170" dur="1" fill="hold">
                                          <p:stCondLst>
                                            <p:cond delay="0"/>
                                          </p:stCondLst>
                                        </p:cTn>
                                        <p:tgtEl>
                                          <p:spTgt spid="46"/>
                                        </p:tgtEl>
                                        <p:attrNameLst>
                                          <p:attrName>style.visibility</p:attrName>
                                        </p:attrNameLst>
                                      </p:cBhvr>
                                      <p:to>
                                        <p:strVal val="visible"/>
                                      </p:to>
                                    </p:set>
                                    <p:animEffect transition="in" filter="fade">
                                      <p:cBhvr>
                                        <p:cTn id="171" dur="400"/>
                                        <p:tgtEl>
                                          <p:spTgt spid="46"/>
                                        </p:tgtEl>
                                      </p:cBhvr>
                                    </p:animEffect>
                                  </p:childTnLst>
                                </p:cTn>
                              </p:par>
                            </p:childTnLst>
                          </p:cTn>
                        </p:par>
                        <p:par>
                          <p:cTn id="172" fill="hold">
                            <p:stCondLst>
                              <p:cond delay="1000"/>
                            </p:stCondLst>
                            <p:childTnLst>
                              <p:par>
                                <p:cTn id="173" presetID="10" presetClass="entr" presetSubtype="0" fill="hold" grpId="0" nodeType="withEffect">
                                  <p:stCondLst>
                                    <p:cond delay="0"/>
                                  </p:stCondLst>
                                  <p:childTnLst>
                                    <p:set>
                                      <p:cBhvr>
                                        <p:cTn id="174" dur="1" fill="hold">
                                          <p:stCondLst>
                                            <p:cond delay="0"/>
                                          </p:stCondLst>
                                        </p:cTn>
                                        <p:tgtEl>
                                          <p:spTgt spid="47"/>
                                        </p:tgtEl>
                                        <p:attrNameLst>
                                          <p:attrName>style.visibility</p:attrName>
                                        </p:attrNameLst>
                                      </p:cBhvr>
                                      <p:to>
                                        <p:strVal val="visible"/>
                                      </p:to>
                                    </p:set>
                                    <p:animEffect transition="in" filter="fade">
                                      <p:cBhvr>
                                        <p:cTn id="175" dur="400"/>
                                        <p:tgtEl>
                                          <p:spTgt spid="47"/>
                                        </p:tgtEl>
                                      </p:cBhvr>
                                    </p:animEffect>
                                  </p:childTnLst>
                                </p:cTn>
                              </p:par>
                            </p:childTnLst>
                          </p:cTn>
                        </p:par>
                        <p:par>
                          <p:cTn id="176" fill="hold">
                            <p:stCondLst>
                              <p:cond delay="1000"/>
                            </p:stCondLst>
                            <p:childTnLst>
                              <p:par>
                                <p:cTn id="177" presetID="10" presetClass="entr" presetSubtype="0" fill="hold" grpId="0" nodeType="withEffect">
                                  <p:stCondLst>
                                    <p:cond delay="0"/>
                                  </p:stCondLst>
                                  <p:childTnLst>
                                    <p:set>
                                      <p:cBhvr>
                                        <p:cTn id="178" dur="1" fill="hold">
                                          <p:stCondLst>
                                            <p:cond delay="0"/>
                                          </p:stCondLst>
                                        </p:cTn>
                                        <p:tgtEl>
                                          <p:spTgt spid="48"/>
                                        </p:tgtEl>
                                        <p:attrNameLst>
                                          <p:attrName>style.visibility</p:attrName>
                                        </p:attrNameLst>
                                      </p:cBhvr>
                                      <p:to>
                                        <p:strVal val="visible"/>
                                      </p:to>
                                    </p:set>
                                    <p:animEffect transition="in" filter="fade">
                                      <p:cBhvr>
                                        <p:cTn id="179" dur="400"/>
                                        <p:tgtEl>
                                          <p:spTgt spid="48"/>
                                        </p:tgtEl>
                                      </p:cBhvr>
                                    </p:animEffect>
                                  </p:childTnLst>
                                </p:cTn>
                              </p:par>
                            </p:childTnLst>
                          </p:cTn>
                        </p:par>
                        <p:par>
                          <p:cTn id="180" fill="hold">
                            <p:stCondLst>
                              <p:cond delay="1000"/>
                            </p:stCondLst>
                            <p:childTnLst>
                              <p:par>
                                <p:cTn id="181" presetID="10" presetClass="entr" presetSubtype="0" fill="hold" grpId="0" nodeType="withEffect">
                                  <p:stCondLst>
                                    <p:cond delay="0"/>
                                  </p:stCondLst>
                                  <p:childTnLst>
                                    <p:set>
                                      <p:cBhvr>
                                        <p:cTn id="182" dur="1" fill="hold">
                                          <p:stCondLst>
                                            <p:cond delay="0"/>
                                          </p:stCondLst>
                                        </p:cTn>
                                        <p:tgtEl>
                                          <p:spTgt spid="49"/>
                                        </p:tgtEl>
                                        <p:attrNameLst>
                                          <p:attrName>style.visibility</p:attrName>
                                        </p:attrNameLst>
                                      </p:cBhvr>
                                      <p:to>
                                        <p:strVal val="visible"/>
                                      </p:to>
                                    </p:set>
                                    <p:animEffect transition="in" filter="fade">
                                      <p:cBhvr>
                                        <p:cTn id="183"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Por que São Paulo, e não São Carlos</a:t>
            </a:r>
            <a:endParaRPr lang="en-US" sz="3200" dirty="0"/>
          </a:p>
        </p:txBody>
      </p:sp>
      <p:sp>
        <p:nvSpPr>
          <p:cNvPr id="5" name="anim:1:120"/>
          <p:cNvSpPr/>
          <p:nvPr/>
        </p:nvSpPr>
        <p:spPr>
          <a:xfrm>
            <a:off x="548640" y="1600200"/>
            <a:ext cx="5440680" cy="2880360"/>
          </a:xfrm>
          <a:prstGeom prst="roundRect">
            <a:avLst>
              <a:gd name="adj" fmla="val 381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121"/>
          <p:cNvSpPr/>
          <p:nvPr/>
        </p:nvSpPr>
        <p:spPr>
          <a:xfrm>
            <a:off x="822960" y="1828800"/>
            <a:ext cx="2011680" cy="310896"/>
          </a:xfrm>
          <a:prstGeom prst="roundRect">
            <a:avLst>
              <a:gd name="adj" fmla="val 50000"/>
            </a:avLst>
          </a:prstGeom>
          <a:solidFill>
            <a:srgbClr val="566175"/>
          </a:solidFill>
          <a:ln w="12700">
            <a:solidFill>
              <a:srgbClr val="566175"/>
            </a:solidFill>
            <a:prstDash val="solid"/>
          </a:ln>
        </p:spPr>
      </p:sp>
      <p:sp>
        <p:nvSpPr>
          <p:cNvPr id="7" name="anim:1:122"/>
          <p:cNvSpPr txBox="1"/>
          <p:nvPr/>
        </p:nvSpPr>
        <p:spPr>
          <a:xfrm>
            <a:off x="822960" y="1828800"/>
            <a:ext cx="20116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PRIMEIRA PROPOSTA</a:t>
            </a:r>
            <a:endParaRPr lang="en-US" sz="1200" dirty="0"/>
          </a:p>
        </p:txBody>
      </p:sp>
      <p:sp>
        <p:nvSpPr>
          <p:cNvPr id="8" name="anim:1:123"/>
          <p:cNvSpPr txBox="1"/>
          <p:nvPr/>
        </p:nvSpPr>
        <p:spPr>
          <a:xfrm>
            <a:off x="822960" y="2286000"/>
            <a:ext cx="4846320" cy="502920"/>
          </a:xfrm>
          <a:prstGeom prst="rect">
            <a:avLst/>
          </a:prstGeom>
          <a:noFill/>
          <a:ln/>
        </p:spPr>
        <p:txBody>
          <a:bodyPr wrap="square" lIns="0" tIns="0" rIns="0" bIns="0" rtlCol="0" anchor="t"/>
          <a:lstStyle/>
          <a:p>
            <a:pPr algn="l" indent="0" marL="0">
              <a:buNone/>
            </a:pPr>
            <a:r>
              <a:rPr lang="en-US" sz="2400" b="1" dirty="0">
                <a:solidFill>
                  <a:srgbClr val="1B2A4A"/>
                </a:solidFill>
                <a:latin typeface="Calibri" pitchFamily="34" charset="0"/>
                <a:ea typeface="Calibri" pitchFamily="34" charset="-122"/>
                <a:cs typeface="Calibri" pitchFamily="34" charset="-120"/>
              </a:rPr>
              <a:t>São Carlos</a:t>
            </a:r>
            <a:endParaRPr lang="en-US" sz="2400" dirty="0"/>
          </a:p>
        </p:txBody>
      </p:sp>
      <p:sp>
        <p:nvSpPr>
          <p:cNvPr id="9" name="anim:1:124"/>
          <p:cNvSpPr txBox="1"/>
          <p:nvPr/>
        </p:nvSpPr>
        <p:spPr>
          <a:xfrm>
            <a:off x="822960" y="2880360"/>
            <a:ext cx="4846320" cy="1371600"/>
          </a:xfrm>
          <a:prstGeom prst="rect">
            <a:avLst/>
          </a:prstGeom>
          <a:noFill/>
          <a:ln/>
        </p:spPr>
        <p:txBody>
          <a:bodyPr wrap="square" lIns="0" tIns="0" rIns="0" bIns="0" rtlCol="0" anchor="t"/>
          <a:lstStyle/>
          <a:p>
            <a:pPr algn="l" indent="0" marL="0">
              <a:buNone/>
            </a:pPr>
            <a:r>
              <a:rPr lang="en-US" sz="1600" dirty="0">
                <a:solidFill>
                  <a:srgbClr val="1F2937"/>
                </a:solidFill>
                <a:latin typeface="Calibri" pitchFamily="34" charset="0"/>
                <a:ea typeface="Calibri" pitchFamily="34" charset="-122"/>
                <a:cs typeface="Calibri" pitchFamily="34" charset="-120"/>
              </a:rPr>
              <a:t>Oferta escolar por setor censitário. Sem dado aberto de vaga nem de fila, a demanda não atendida teria de ser estimada.</a:t>
            </a:r>
            <a:endParaRPr lang="en-US" sz="1600" dirty="0"/>
          </a:p>
        </p:txBody>
      </p:sp>
      <p:sp>
        <p:nvSpPr>
          <p:cNvPr id="10" name="anim:2:125"/>
          <p:cNvSpPr/>
          <p:nvPr/>
        </p:nvSpPr>
        <p:spPr>
          <a:xfrm>
            <a:off x="6172200" y="1600200"/>
            <a:ext cx="5440680" cy="2880360"/>
          </a:xfrm>
          <a:prstGeom prst="roundRect">
            <a:avLst>
              <a:gd name="adj" fmla="val 381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1" name="anim:2:126"/>
          <p:cNvSpPr/>
          <p:nvPr/>
        </p:nvSpPr>
        <p:spPr>
          <a:xfrm>
            <a:off x="6446520" y="1828800"/>
            <a:ext cx="1188720" cy="310896"/>
          </a:xfrm>
          <a:prstGeom prst="roundRect">
            <a:avLst>
              <a:gd name="adj" fmla="val 50000"/>
            </a:avLst>
          </a:prstGeom>
          <a:solidFill>
            <a:srgbClr val="2E5EAA"/>
          </a:solidFill>
          <a:ln w="12700">
            <a:solidFill>
              <a:srgbClr val="2E5EAA"/>
            </a:solidFill>
            <a:prstDash val="solid"/>
          </a:ln>
        </p:spPr>
      </p:sp>
      <p:sp>
        <p:nvSpPr>
          <p:cNvPr id="12" name="anim:2:127"/>
          <p:cNvSpPr txBox="1"/>
          <p:nvPr/>
        </p:nvSpPr>
        <p:spPr>
          <a:xfrm>
            <a:off x="6446520" y="1828800"/>
            <a:ext cx="118872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ESCOLHA</a:t>
            </a:r>
            <a:endParaRPr lang="en-US" sz="1200" dirty="0"/>
          </a:p>
        </p:txBody>
      </p:sp>
      <p:sp>
        <p:nvSpPr>
          <p:cNvPr id="13" name="anim:2:128"/>
          <p:cNvSpPr txBox="1"/>
          <p:nvPr/>
        </p:nvSpPr>
        <p:spPr>
          <a:xfrm>
            <a:off x="6446520" y="2286000"/>
            <a:ext cx="4846320" cy="502920"/>
          </a:xfrm>
          <a:prstGeom prst="rect">
            <a:avLst/>
          </a:prstGeom>
          <a:noFill/>
          <a:ln/>
        </p:spPr>
        <p:txBody>
          <a:bodyPr wrap="square" lIns="0" tIns="0" rIns="0" bIns="0" rtlCol="0" anchor="t"/>
          <a:lstStyle/>
          <a:p>
            <a:pPr algn="l" indent="0" marL="0">
              <a:buNone/>
            </a:pPr>
            <a:r>
              <a:rPr lang="en-US" sz="2400" b="1" dirty="0">
                <a:solidFill>
                  <a:srgbClr val="1B2A4A"/>
                </a:solidFill>
                <a:latin typeface="Calibri" pitchFamily="34" charset="0"/>
                <a:ea typeface="Calibri" pitchFamily="34" charset="-122"/>
                <a:cs typeface="Calibri" pitchFamily="34" charset="-120"/>
              </a:rPr>
              <a:t>São Paulo</a:t>
            </a:r>
            <a:endParaRPr lang="en-US" sz="2400" dirty="0"/>
          </a:p>
        </p:txBody>
      </p:sp>
      <p:sp>
        <p:nvSpPr>
          <p:cNvPr id="14" name="anim:2:129"/>
          <p:cNvSpPr txBox="1"/>
          <p:nvPr/>
        </p:nvSpPr>
        <p:spPr>
          <a:xfrm>
            <a:off x="6446520" y="2880360"/>
            <a:ext cx="4846320" cy="1371600"/>
          </a:xfrm>
          <a:prstGeom prst="rect">
            <a:avLst/>
          </a:prstGeom>
          <a:noFill/>
          <a:ln/>
        </p:spPr>
        <p:txBody>
          <a:bodyPr wrap="square" lIns="0" tIns="0" rIns="0" bIns="0" rtlCol="0" anchor="t"/>
          <a:lstStyle/>
          <a:p>
            <a:pPr algn="l" indent="0" marL="0">
              <a:buNone/>
            </a:pPr>
            <a:r>
              <a:rPr lang="en-US" sz="1600" dirty="0">
                <a:solidFill>
                  <a:srgbClr val="1F2937"/>
                </a:solidFill>
                <a:latin typeface="Calibri" pitchFamily="34" charset="0"/>
                <a:ea typeface="Calibri" pitchFamily="34" charset="-122"/>
                <a:cs typeface="Calibri" pitchFamily="34" charset="-120"/>
              </a:rPr>
              <a:t>A SME publica o microdado de cada matrícula e a fila de espera por distrito: demanda medida, não estimada. 13,4 milhões de matrículas de 2015 a 2024.</a:t>
            </a:r>
            <a:endParaRPr lang="en-US" sz="1600" dirty="0"/>
          </a:p>
        </p:txBody>
      </p:sp>
      <p:sp>
        <p:nvSpPr>
          <p:cNvPr id="15" name="anim:3:130"/>
          <p:cNvSpPr/>
          <p:nvPr/>
        </p:nvSpPr>
        <p:spPr>
          <a:xfrm>
            <a:off x="548640" y="4709160"/>
            <a:ext cx="11064240" cy="1234440"/>
          </a:xfrm>
          <a:prstGeom prst="roundRect">
            <a:avLst>
              <a:gd name="adj" fmla="val 8889"/>
            </a:avLst>
          </a:prstGeom>
          <a:solidFill>
            <a:srgbClr val="EEF2F8"/>
          </a:solidFill>
          <a:ln w="9525">
            <a:solidFill>
              <a:srgbClr val="EEF2F8"/>
            </a:solidFill>
            <a:prstDash val="solid"/>
          </a:ln>
        </p:spPr>
      </p:sp>
      <p:sp>
        <p:nvSpPr>
          <p:cNvPr id="16" name="anim:3:131"/>
          <p:cNvSpPr/>
          <p:nvPr/>
        </p:nvSpPr>
        <p:spPr>
          <a:xfrm>
            <a:off x="822960" y="5047488"/>
            <a:ext cx="548640" cy="548640"/>
          </a:xfrm>
          <a:prstGeom prst="ellipse">
            <a:avLst/>
          </a:prstGeom>
          <a:solidFill>
            <a:srgbClr val="F2A541"/>
          </a:solidFill>
          <a:ln w="12700">
            <a:solidFill>
              <a:srgbClr val="F2A541"/>
            </a:solidFill>
            <a:prstDash val="solid"/>
          </a:ln>
        </p:spPr>
      </p:sp>
      <p:sp>
        <p:nvSpPr>
          <p:cNvPr id="17" name="anim:3:132"/>
          <p:cNvSpPr txBox="1"/>
          <p:nvPr/>
        </p:nvSpPr>
        <p:spPr>
          <a:xfrm>
            <a:off x="822960" y="5047488"/>
            <a:ext cx="548640" cy="548640"/>
          </a:xfrm>
          <a:prstGeom prst="rect">
            <a:avLst/>
          </a:prstGeom>
          <a:noFill/>
          <a:ln/>
        </p:spPr>
        <p:txBody>
          <a:bodyPr wrap="square" lIns="0" tIns="0" rIns="0" bIns="0" rtlCol="0" anchor="ctr"/>
          <a:lstStyle/>
          <a:p>
            <a:pPr algn="ctr" indent="0" marL="0">
              <a:buNone/>
            </a:pPr>
            <a:r>
              <a:rPr lang="en-US" sz="1800" b="1" dirty="0">
                <a:solidFill>
                  <a:srgbClr val="1B2A4A"/>
                </a:solidFill>
                <a:latin typeface="Calibri" pitchFamily="34" charset="0"/>
                <a:ea typeface="Calibri" pitchFamily="34" charset="-122"/>
                <a:cs typeface="Calibri" pitchFamily="34" charset="-120"/>
              </a:rPr>
              <a:t>✓</a:t>
            </a:r>
            <a:endParaRPr lang="en-US" sz="1800" dirty="0"/>
          </a:p>
        </p:txBody>
      </p:sp>
      <p:sp>
        <p:nvSpPr>
          <p:cNvPr id="18" name="anim:3:133"/>
          <p:cNvSpPr txBox="1"/>
          <p:nvPr/>
        </p:nvSpPr>
        <p:spPr>
          <a:xfrm>
            <a:off x="1600200" y="4818888"/>
            <a:ext cx="9784080" cy="100584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O modelo vale para São Carlos: </a:t>
            </a:r>
            <a:pPr indent="0" marL="0">
              <a:buNone/>
            </a:pPr>
            <a:r>
              <a:rPr lang="en-US" sz="1500" dirty="0">
                <a:solidFill>
                  <a:srgbClr val="1F2937"/>
                </a:solidFill>
                <a:latin typeface="Calibri" pitchFamily="34" charset="0"/>
                <a:ea typeface="Calibri" pitchFamily="34" charset="-122"/>
                <a:cs typeface="Calibri" pitchFamily="34" charset="-120"/>
              </a:rPr>
              <a:t>matrícula, turma e desfecho vêm do registro que todo sistema de gestão escolar mantém, e o Censo 2022 já tem a população por setor censitário do município. Falta só a rede registrar e publicar a fila.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Cinco assuntos de interesse e por que importam</a:t>
            </a:r>
            <a:endParaRPr lang="en-US" sz="3200" dirty="0"/>
          </a:p>
        </p:txBody>
      </p:sp>
      <p:sp>
        <p:nvSpPr>
          <p:cNvPr id="5" name="Text 2"/>
          <p:cNvSpPr txBox="1"/>
          <p:nvPr/>
        </p:nvSpPr>
        <p:spPr>
          <a:xfrm>
            <a:off x="685800" y="1463040"/>
            <a:ext cx="2926080" cy="256032"/>
          </a:xfrm>
          <a:prstGeom prst="rect">
            <a:avLst/>
          </a:prstGeom>
          <a:noFill/>
          <a:ln/>
        </p:spPr>
        <p:txBody>
          <a:bodyPr wrap="square" lIns="0" tIns="0" rIns="0" bIns="0" rtlCol="0" anchor="t"/>
          <a:lstStyle/>
          <a:p>
            <a:pPr algn="l" indent="0" marL="0">
              <a:buNone/>
            </a:pPr>
            <a:r>
              <a:rPr lang="en-US" sz="1100" b="1" spc="100" kern="0" dirty="0">
                <a:solidFill>
                  <a:srgbClr val="566175"/>
                </a:solidFill>
                <a:latin typeface="Calibri" pitchFamily="34" charset="0"/>
                <a:ea typeface="Calibri" pitchFamily="34" charset="-122"/>
                <a:cs typeface="Calibri" pitchFamily="34" charset="-120"/>
              </a:rPr>
              <a:t>ASSUNTO</a:t>
            </a:r>
            <a:endParaRPr lang="en-US" sz="1100" dirty="0"/>
          </a:p>
        </p:txBody>
      </p:sp>
      <p:sp>
        <p:nvSpPr>
          <p:cNvPr id="6" name="Text 3"/>
          <p:cNvSpPr txBox="1"/>
          <p:nvPr/>
        </p:nvSpPr>
        <p:spPr>
          <a:xfrm>
            <a:off x="3794760" y="1463040"/>
            <a:ext cx="4572000" cy="256032"/>
          </a:xfrm>
          <a:prstGeom prst="rect">
            <a:avLst/>
          </a:prstGeom>
          <a:noFill/>
          <a:ln/>
        </p:spPr>
        <p:txBody>
          <a:bodyPr wrap="square" lIns="0" tIns="0" rIns="0" bIns="0" rtlCol="0" anchor="t"/>
          <a:lstStyle/>
          <a:p>
            <a:pPr algn="l" indent="0" marL="0">
              <a:buNone/>
            </a:pPr>
            <a:r>
              <a:rPr lang="en-US" sz="1100" b="1" spc="100" kern="0" dirty="0">
                <a:solidFill>
                  <a:srgbClr val="566175"/>
                </a:solidFill>
                <a:latin typeface="Calibri" pitchFamily="34" charset="0"/>
                <a:ea typeface="Calibri" pitchFamily="34" charset="-122"/>
                <a:cs typeface="Calibri" pitchFamily="34" charset="-120"/>
              </a:rPr>
              <a:t>POR QUE IMPORTA</a:t>
            </a:r>
            <a:endParaRPr lang="en-US" sz="1100" dirty="0"/>
          </a:p>
        </p:txBody>
      </p:sp>
      <p:sp>
        <p:nvSpPr>
          <p:cNvPr id="7" name="Text 4"/>
          <p:cNvSpPr txBox="1"/>
          <p:nvPr/>
        </p:nvSpPr>
        <p:spPr>
          <a:xfrm>
            <a:off x="8732520" y="1463040"/>
            <a:ext cx="2743200" cy="256032"/>
          </a:xfrm>
          <a:prstGeom prst="rect">
            <a:avLst/>
          </a:prstGeom>
          <a:noFill/>
          <a:ln/>
        </p:spPr>
        <p:txBody>
          <a:bodyPr wrap="square" lIns="0" tIns="0" rIns="0" bIns="0" rtlCol="0" anchor="t"/>
          <a:lstStyle/>
          <a:p>
            <a:pPr algn="l" indent="0" marL="0">
              <a:buNone/>
            </a:pPr>
            <a:r>
              <a:rPr lang="en-US" sz="1100" b="1" spc="100" kern="0" dirty="0">
                <a:solidFill>
                  <a:srgbClr val="566175"/>
                </a:solidFill>
                <a:latin typeface="Calibri" pitchFamily="34" charset="0"/>
                <a:ea typeface="Calibri" pitchFamily="34" charset="-122"/>
                <a:cs typeface="Calibri" pitchFamily="34" charset="-120"/>
              </a:rPr>
              <a:t>NO MODELO</a:t>
            </a:r>
            <a:endParaRPr lang="en-US" sz="1100" dirty="0"/>
          </a:p>
        </p:txBody>
      </p:sp>
      <p:sp>
        <p:nvSpPr>
          <p:cNvPr id="8" name="anim:1:134"/>
          <p:cNvSpPr/>
          <p:nvPr/>
        </p:nvSpPr>
        <p:spPr>
          <a:xfrm>
            <a:off x="548640" y="1783080"/>
            <a:ext cx="11064240" cy="548640"/>
          </a:xfrm>
          <a:prstGeom prst="roundRect">
            <a:avLst>
              <a:gd name="adj" fmla="val 20000"/>
            </a:avLst>
          </a:prstGeom>
          <a:solidFill>
            <a:srgbClr val="EEF2F8"/>
          </a:solidFill>
          <a:ln w="9525">
            <a:solidFill>
              <a:srgbClr val="D6E0F0"/>
            </a:solidFill>
            <a:prstDash val="solid"/>
          </a:ln>
        </p:spPr>
      </p:sp>
      <p:sp>
        <p:nvSpPr>
          <p:cNvPr id="9" name="anim:1:135"/>
          <p:cNvSpPr/>
          <p:nvPr/>
        </p:nvSpPr>
        <p:spPr>
          <a:xfrm>
            <a:off x="685800" y="1883664"/>
            <a:ext cx="2971800" cy="347472"/>
          </a:xfrm>
          <a:prstGeom prst="roundRect">
            <a:avLst>
              <a:gd name="adj" fmla="val 44737"/>
            </a:avLst>
          </a:prstGeom>
          <a:solidFill>
            <a:srgbClr val="2E5EAA"/>
          </a:solidFill>
          <a:ln w="12700">
            <a:solidFill>
              <a:srgbClr val="2E5EAA"/>
            </a:solidFill>
            <a:prstDash val="solid"/>
          </a:ln>
        </p:spPr>
      </p:sp>
      <p:sp>
        <p:nvSpPr>
          <p:cNvPr id="10" name="anim:1:136"/>
          <p:cNvSpPr txBox="1"/>
          <p:nvPr/>
        </p:nvSpPr>
        <p:spPr>
          <a:xfrm>
            <a:off x="685800" y="188366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Matrículas</a:t>
            </a:r>
            <a:endParaRPr lang="en-US" sz="1200" dirty="0"/>
          </a:p>
        </p:txBody>
      </p:sp>
      <p:sp>
        <p:nvSpPr>
          <p:cNvPr id="11" name="anim:1:137"/>
          <p:cNvSpPr txBox="1"/>
          <p:nvPr/>
        </p:nvSpPr>
        <p:spPr>
          <a:xfrm>
            <a:off x="3794760" y="178308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oferta efetivamente usada, com o perfil de cada aluno</a:t>
            </a:r>
            <a:endParaRPr lang="en-US" sz="1500" dirty="0"/>
          </a:p>
        </p:txBody>
      </p:sp>
      <p:sp>
        <p:nvSpPr>
          <p:cNvPr id="12" name="anim:1:138"/>
          <p:cNvSpPr txBox="1"/>
          <p:nvPr/>
        </p:nvSpPr>
        <p:spPr>
          <a:xfrm>
            <a:off x="8732520" y="178308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Matrícula</a:t>
            </a:r>
            <a:endParaRPr lang="en-US" sz="1300" dirty="0"/>
          </a:p>
        </p:txBody>
      </p:sp>
      <p:sp>
        <p:nvSpPr>
          <p:cNvPr id="13" name="anim:2:139"/>
          <p:cNvSpPr/>
          <p:nvPr/>
        </p:nvSpPr>
        <p:spPr>
          <a:xfrm>
            <a:off x="548640" y="2423160"/>
            <a:ext cx="11064240" cy="548640"/>
          </a:xfrm>
          <a:prstGeom prst="roundRect">
            <a:avLst>
              <a:gd name="adj" fmla="val 20000"/>
            </a:avLst>
          </a:prstGeom>
          <a:solidFill>
            <a:srgbClr val="FFFFFF"/>
          </a:solidFill>
          <a:ln w="9525">
            <a:solidFill>
              <a:srgbClr val="D6E0F0"/>
            </a:solidFill>
            <a:prstDash val="solid"/>
          </a:ln>
        </p:spPr>
      </p:sp>
      <p:sp>
        <p:nvSpPr>
          <p:cNvPr id="14" name="anim:2:140"/>
          <p:cNvSpPr/>
          <p:nvPr/>
        </p:nvSpPr>
        <p:spPr>
          <a:xfrm>
            <a:off x="685800" y="2523744"/>
            <a:ext cx="2971800" cy="347472"/>
          </a:xfrm>
          <a:prstGeom prst="roundRect">
            <a:avLst>
              <a:gd name="adj" fmla="val 44737"/>
            </a:avLst>
          </a:prstGeom>
          <a:solidFill>
            <a:srgbClr val="2E5EAA"/>
          </a:solidFill>
          <a:ln w="12700">
            <a:solidFill>
              <a:srgbClr val="2E5EAA"/>
            </a:solidFill>
            <a:prstDash val="solid"/>
          </a:ln>
        </p:spPr>
      </p:sp>
      <p:sp>
        <p:nvSpPr>
          <p:cNvPr id="15" name="anim:2:141"/>
          <p:cNvSpPr txBox="1"/>
          <p:nvPr/>
        </p:nvSpPr>
        <p:spPr>
          <a:xfrm>
            <a:off x="685800" y="252374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Fila (demanda registrada)</a:t>
            </a:r>
            <a:endParaRPr lang="en-US" sz="1200" dirty="0"/>
          </a:p>
        </p:txBody>
      </p:sp>
      <p:sp>
        <p:nvSpPr>
          <p:cNvPr id="16" name="anim:2:142"/>
          <p:cNvSpPr txBox="1"/>
          <p:nvPr/>
        </p:nvSpPr>
        <p:spPr>
          <a:xfrm>
            <a:off x="3794760" y="242316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quem pediu vaga e não foi atendido</a:t>
            </a:r>
            <a:endParaRPr lang="en-US" sz="1500" dirty="0"/>
          </a:p>
        </p:txBody>
      </p:sp>
      <p:sp>
        <p:nvSpPr>
          <p:cNvPr id="17" name="anim:2:143"/>
          <p:cNvSpPr txBox="1"/>
          <p:nvPr/>
        </p:nvSpPr>
        <p:spPr>
          <a:xfrm>
            <a:off x="8732520" y="242316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Fila</a:t>
            </a:r>
            <a:endParaRPr lang="en-US" sz="1300" dirty="0"/>
          </a:p>
        </p:txBody>
      </p:sp>
      <p:sp>
        <p:nvSpPr>
          <p:cNvPr id="18" name="anim:3:144"/>
          <p:cNvSpPr/>
          <p:nvPr/>
        </p:nvSpPr>
        <p:spPr>
          <a:xfrm>
            <a:off x="548640" y="3063240"/>
            <a:ext cx="11064240" cy="548640"/>
          </a:xfrm>
          <a:prstGeom prst="roundRect">
            <a:avLst>
              <a:gd name="adj" fmla="val 20000"/>
            </a:avLst>
          </a:prstGeom>
          <a:solidFill>
            <a:srgbClr val="EEF2F8"/>
          </a:solidFill>
          <a:ln w="9525">
            <a:solidFill>
              <a:srgbClr val="D6E0F0"/>
            </a:solidFill>
            <a:prstDash val="solid"/>
          </a:ln>
        </p:spPr>
      </p:sp>
      <p:sp>
        <p:nvSpPr>
          <p:cNvPr id="19" name="anim:3:145"/>
          <p:cNvSpPr/>
          <p:nvPr/>
        </p:nvSpPr>
        <p:spPr>
          <a:xfrm>
            <a:off x="685800" y="3163824"/>
            <a:ext cx="2971800" cy="347472"/>
          </a:xfrm>
          <a:prstGeom prst="roundRect">
            <a:avLst>
              <a:gd name="adj" fmla="val 44737"/>
            </a:avLst>
          </a:prstGeom>
          <a:solidFill>
            <a:srgbClr val="2E5EAA"/>
          </a:solidFill>
          <a:ln w="12700">
            <a:solidFill>
              <a:srgbClr val="2E5EAA"/>
            </a:solidFill>
            <a:prstDash val="solid"/>
          </a:ln>
        </p:spPr>
      </p:sp>
      <p:sp>
        <p:nvSpPr>
          <p:cNvPr id="20" name="anim:3:146"/>
          <p:cNvSpPr txBox="1"/>
          <p:nvPr/>
        </p:nvSpPr>
        <p:spPr>
          <a:xfrm>
            <a:off x="685800" y="316382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Capacidade e ocupação das turmas</a:t>
            </a:r>
            <a:endParaRPr lang="en-US" sz="1200" dirty="0"/>
          </a:p>
        </p:txBody>
      </p:sp>
      <p:sp>
        <p:nvSpPr>
          <p:cNvPr id="21" name="anim:3:147"/>
          <p:cNvSpPr txBox="1"/>
          <p:nvPr/>
        </p:nvSpPr>
        <p:spPr>
          <a:xfrm>
            <a:off x="3794760" y="306324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se a oferta existente está cheia: turma nova ou lugar ocioso</a:t>
            </a:r>
            <a:endParaRPr lang="en-US" sz="1500" dirty="0"/>
          </a:p>
        </p:txBody>
      </p:sp>
      <p:sp>
        <p:nvSpPr>
          <p:cNvPr id="22" name="anim:3:148"/>
          <p:cNvSpPr txBox="1"/>
          <p:nvPr/>
        </p:nvSpPr>
        <p:spPr>
          <a:xfrm>
            <a:off x="8732520" y="306324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Ocupação de Turma</a:t>
            </a:r>
            <a:endParaRPr lang="en-US" sz="1300" dirty="0"/>
          </a:p>
        </p:txBody>
      </p:sp>
      <p:sp>
        <p:nvSpPr>
          <p:cNvPr id="23" name="anim:4:149"/>
          <p:cNvSpPr/>
          <p:nvPr/>
        </p:nvSpPr>
        <p:spPr>
          <a:xfrm>
            <a:off x="548640" y="3703320"/>
            <a:ext cx="11064240" cy="548640"/>
          </a:xfrm>
          <a:prstGeom prst="roundRect">
            <a:avLst>
              <a:gd name="adj" fmla="val 20000"/>
            </a:avLst>
          </a:prstGeom>
          <a:solidFill>
            <a:srgbClr val="FFFFFF"/>
          </a:solidFill>
          <a:ln w="9525">
            <a:solidFill>
              <a:srgbClr val="D6E0F0"/>
            </a:solidFill>
            <a:prstDash val="solid"/>
          </a:ln>
        </p:spPr>
      </p:sp>
      <p:sp>
        <p:nvSpPr>
          <p:cNvPr id="24" name="anim:4:150"/>
          <p:cNvSpPr/>
          <p:nvPr/>
        </p:nvSpPr>
        <p:spPr>
          <a:xfrm>
            <a:off x="685800" y="3803904"/>
            <a:ext cx="2971800" cy="347472"/>
          </a:xfrm>
          <a:prstGeom prst="roundRect">
            <a:avLst>
              <a:gd name="adj" fmla="val 44737"/>
            </a:avLst>
          </a:prstGeom>
          <a:solidFill>
            <a:srgbClr val="2E5EAA"/>
          </a:solidFill>
          <a:ln w="12700">
            <a:solidFill>
              <a:srgbClr val="2E5EAA"/>
            </a:solidFill>
            <a:prstDash val="solid"/>
          </a:ln>
        </p:spPr>
      </p:sp>
      <p:sp>
        <p:nvSpPr>
          <p:cNvPr id="25" name="anim:4:151"/>
          <p:cNvSpPr txBox="1"/>
          <p:nvPr/>
        </p:nvSpPr>
        <p:spPr>
          <a:xfrm>
            <a:off x="685800" y="380390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População em idade escolar</a:t>
            </a:r>
            <a:endParaRPr lang="en-US" sz="1200" dirty="0"/>
          </a:p>
        </p:txBody>
      </p:sp>
      <p:sp>
        <p:nvSpPr>
          <p:cNvPr id="26" name="anim:4:152"/>
          <p:cNvSpPr txBox="1"/>
          <p:nvPr/>
        </p:nvSpPr>
        <p:spPr>
          <a:xfrm>
            <a:off x="3794760" y="370332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demanda potencial, mesmo sem pedido de vaga</a:t>
            </a:r>
            <a:endParaRPr lang="en-US" sz="1500" dirty="0"/>
          </a:p>
        </p:txBody>
      </p:sp>
      <p:sp>
        <p:nvSpPr>
          <p:cNvPr id="27" name="anim:4:153"/>
          <p:cNvSpPr txBox="1"/>
          <p:nvPr/>
        </p:nvSpPr>
        <p:spPr>
          <a:xfrm>
            <a:off x="8732520" y="370332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População</a:t>
            </a:r>
            <a:endParaRPr lang="en-US" sz="1300" dirty="0"/>
          </a:p>
        </p:txBody>
      </p:sp>
      <p:sp>
        <p:nvSpPr>
          <p:cNvPr id="28" name="anim:5:154"/>
          <p:cNvSpPr/>
          <p:nvPr/>
        </p:nvSpPr>
        <p:spPr>
          <a:xfrm>
            <a:off x="548640" y="4343400"/>
            <a:ext cx="11064240" cy="548640"/>
          </a:xfrm>
          <a:prstGeom prst="roundRect">
            <a:avLst>
              <a:gd name="adj" fmla="val 20000"/>
            </a:avLst>
          </a:prstGeom>
          <a:solidFill>
            <a:srgbClr val="EEF2F8"/>
          </a:solidFill>
          <a:ln w="9525">
            <a:solidFill>
              <a:srgbClr val="D6E0F0"/>
            </a:solidFill>
            <a:prstDash val="solid"/>
          </a:ln>
        </p:spPr>
      </p:sp>
      <p:sp>
        <p:nvSpPr>
          <p:cNvPr id="29" name="anim:5:155"/>
          <p:cNvSpPr/>
          <p:nvPr/>
        </p:nvSpPr>
        <p:spPr>
          <a:xfrm>
            <a:off x="685800" y="4443984"/>
            <a:ext cx="2971800" cy="347472"/>
          </a:xfrm>
          <a:prstGeom prst="roundRect">
            <a:avLst>
              <a:gd name="adj" fmla="val 44737"/>
            </a:avLst>
          </a:prstGeom>
          <a:solidFill>
            <a:srgbClr val="2E5EAA"/>
          </a:solidFill>
          <a:ln w="12700">
            <a:solidFill>
              <a:srgbClr val="2E5EAA"/>
            </a:solidFill>
            <a:prstDash val="solid"/>
          </a:ln>
        </p:spPr>
      </p:sp>
      <p:sp>
        <p:nvSpPr>
          <p:cNvPr id="30" name="anim:5:156"/>
          <p:cNvSpPr txBox="1"/>
          <p:nvPr/>
        </p:nvSpPr>
        <p:spPr>
          <a:xfrm>
            <a:off x="685800" y="444398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Oferta escolar por setor</a:t>
            </a:r>
            <a:endParaRPr lang="en-US" sz="1200" dirty="0"/>
          </a:p>
        </p:txBody>
      </p:sp>
      <p:sp>
        <p:nvSpPr>
          <p:cNvPr id="31" name="anim:5:157"/>
          <p:cNvSpPr txBox="1"/>
          <p:nvPr/>
        </p:nvSpPr>
        <p:spPr>
          <a:xfrm>
            <a:off x="3794760" y="434340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onde e por qual rede (direta ou conveniada) a vaga é oferecida</a:t>
            </a:r>
            <a:endParaRPr lang="en-US" sz="1500" dirty="0"/>
          </a:p>
        </p:txBody>
      </p:sp>
      <p:sp>
        <p:nvSpPr>
          <p:cNvPr id="32" name="anim:5:158"/>
          <p:cNvSpPr txBox="1"/>
          <p:nvPr/>
        </p:nvSpPr>
        <p:spPr>
          <a:xfrm>
            <a:off x="8732520" y="434340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dimensões Escola, Território, Setor</a:t>
            </a:r>
            <a:endParaRPr lang="en-US" sz="1300" dirty="0"/>
          </a:p>
        </p:txBody>
      </p:sp>
      <p:sp>
        <p:nvSpPr>
          <p:cNvPr id="33" name="anim:6:159"/>
          <p:cNvSpPr/>
          <p:nvPr/>
        </p:nvSpPr>
        <p:spPr>
          <a:xfrm>
            <a:off x="548640" y="5166360"/>
            <a:ext cx="11064240" cy="822960"/>
          </a:xfrm>
          <a:prstGeom prst="roundRect">
            <a:avLst>
              <a:gd name="adj" fmla="val 13333"/>
            </a:avLst>
          </a:prstGeom>
          <a:solidFill>
            <a:srgbClr val="EEF2F8"/>
          </a:solidFill>
          <a:ln w="9525">
            <a:solidFill>
              <a:srgbClr val="EEF2F8"/>
            </a:solidFill>
            <a:prstDash val="solid"/>
          </a:ln>
        </p:spPr>
      </p:sp>
      <p:sp>
        <p:nvSpPr>
          <p:cNvPr id="34" name="anim:6:160"/>
          <p:cNvSpPr/>
          <p:nvPr/>
        </p:nvSpPr>
        <p:spPr>
          <a:xfrm>
            <a:off x="777240" y="5321808"/>
            <a:ext cx="512064" cy="512064"/>
          </a:xfrm>
          <a:prstGeom prst="ellipse">
            <a:avLst/>
          </a:prstGeom>
          <a:solidFill>
            <a:srgbClr val="F2A541"/>
          </a:solidFill>
          <a:ln w="12700">
            <a:solidFill>
              <a:srgbClr val="F2A541"/>
            </a:solidFill>
            <a:prstDash val="solid"/>
          </a:ln>
        </p:spPr>
      </p:sp>
      <p:sp>
        <p:nvSpPr>
          <p:cNvPr id="35" name="anim:6:161"/>
          <p:cNvSpPr txBox="1"/>
          <p:nvPr/>
        </p:nvSpPr>
        <p:spPr>
          <a:xfrm>
            <a:off x="777240" y="5321808"/>
            <a:ext cx="512064" cy="512064"/>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5</a:t>
            </a:r>
            <a:endParaRPr lang="en-US" sz="1500" dirty="0"/>
          </a:p>
        </p:txBody>
      </p:sp>
      <p:sp>
        <p:nvSpPr>
          <p:cNvPr id="36" name="anim:6:162"/>
          <p:cNvSpPr txBox="1"/>
          <p:nvPr/>
        </p:nvSpPr>
        <p:spPr>
          <a:xfrm>
            <a:off x="1508760" y="5212080"/>
            <a:ext cx="9966960" cy="73152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Quinto processo: desfecho da matrícula. </a:t>
            </a:r>
            <a:pPr indent="0" marL="0">
              <a:buNone/>
            </a:pPr>
            <a:r>
              <a:rPr lang="en-US" sz="1500" dirty="0">
                <a:solidFill>
                  <a:srgbClr val="1F2937"/>
                </a:solidFill>
                <a:latin typeface="Calibri" pitchFamily="34" charset="0"/>
                <a:ea typeface="Calibri" pitchFamily="34" charset="-122"/>
                <a:cs typeface="Calibri" pitchFamily="34" charset="-120"/>
              </a:rPr>
              <a:t>Acompanha o que acontece depois do acesso: aprovação, reprovação, abandono e transferência.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00"/>
                                        <p:tgtEl>
                                          <p:spTgt spid="9"/>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00"/>
                                        <p:tgtEl>
                                          <p:spTgt spid="10"/>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400"/>
                                        <p:tgtEl>
                                          <p:spTgt spid="14"/>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00"/>
                                        <p:tgtEl>
                                          <p:spTgt spid="15"/>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400"/>
                                        <p:tgtEl>
                                          <p:spTgt spid="16"/>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400"/>
                                        <p:tgtEl>
                                          <p:spTgt spid="17"/>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400"/>
                                        <p:tgtEl>
                                          <p:spTgt spid="18"/>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400"/>
                                        <p:tgtEl>
                                          <p:spTgt spid="19"/>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00"/>
                                        <p:tgtEl>
                                          <p:spTgt spid="20"/>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400"/>
                                        <p:tgtEl>
                                          <p:spTgt spid="21"/>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400"/>
                                        <p:tgtEl>
                                          <p:spTgt spid="22"/>
                                        </p:tgtEl>
                                      </p:cBhvr>
                                    </p:animEffect>
                                  </p:childTnLst>
                                </p:cTn>
                              </p:par>
                            </p:childTnLst>
                          </p:cTn>
                        </p:par>
                        <p:par>
                          <p:cTn id="64" fill="hold">
                            <p:stCondLst>
                              <p:cond delay="750"/>
                            </p:stCondLst>
                            <p:childTnLst>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childTnLst>
                          </p:cTn>
                        </p:par>
                        <p:par>
                          <p:cTn id="68" fill="hold">
                            <p:stCondLst>
                              <p:cond delay="750"/>
                            </p:stCondLst>
                            <p:childTnLst>
                              <p:par>
                                <p:cTn id="69" presetID="10" presetClass="entr" presetSubtype="0"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400"/>
                                        <p:tgtEl>
                                          <p:spTgt spid="24"/>
                                        </p:tgtEl>
                                      </p:cBhvr>
                                    </p:animEffect>
                                  </p:childTnLst>
                                </p:cTn>
                              </p:par>
                            </p:childTnLst>
                          </p:cTn>
                        </p:par>
                        <p:par>
                          <p:cTn id="72" fill="hold">
                            <p:stCondLst>
                              <p:cond delay="750"/>
                            </p:stCondLst>
                            <p:childTnLst>
                              <p:par>
                                <p:cTn id="73" presetID="10" presetClass="entr" presetSubtype="0"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childTnLst>
                          </p:cTn>
                        </p:par>
                        <p:par>
                          <p:cTn id="76" fill="hold">
                            <p:stCondLst>
                              <p:cond delay="750"/>
                            </p:stCondLst>
                            <p:childTnLst>
                              <p:par>
                                <p:cTn id="77" presetID="10" presetClass="entr" presetSubtype="0" fill="hold" grpId="0" nodeType="with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400"/>
                                        <p:tgtEl>
                                          <p:spTgt spid="26"/>
                                        </p:tgtEl>
                                      </p:cBhvr>
                                    </p:animEffect>
                                  </p:childTnLst>
                                </p:cTn>
                              </p:par>
                            </p:childTnLst>
                          </p:cTn>
                        </p:par>
                        <p:par>
                          <p:cTn id="80" fill="hold">
                            <p:stCondLst>
                              <p:cond delay="750"/>
                            </p:stCondLst>
                            <p:childTnLst>
                              <p:par>
                                <p:cTn id="81" presetID="10" presetClass="entr" presetSubtype="0" fill="hold" grpId="0" nodeType="withEffect">
                                  <p:stCondLst>
                                    <p:cond delay="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400"/>
                                        <p:tgtEl>
                                          <p:spTgt spid="27"/>
                                        </p:tgtEl>
                                      </p:cBhvr>
                                    </p:animEffect>
                                  </p:childTnLst>
                                </p:cTn>
                              </p:par>
                            </p:childTnLst>
                          </p:cTn>
                        </p:par>
                        <p:par>
                          <p:cTn id="84" fill="hold">
                            <p:stCondLst>
                              <p:cond delay="1000"/>
                            </p:stCondLst>
                            <p:childTnLst>
                              <p:par>
                                <p:cTn id="85" presetID="10" presetClass="entr" presetSubtype="0" fill="hold" grpId="0"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400"/>
                                        <p:tgtEl>
                                          <p:spTgt spid="28"/>
                                        </p:tgtEl>
                                      </p:cBhvr>
                                    </p:animEffect>
                                  </p:childTnLst>
                                </p:cTn>
                              </p:par>
                            </p:childTnLst>
                          </p:cTn>
                        </p:par>
                        <p:par>
                          <p:cTn id="88" fill="hold">
                            <p:stCondLst>
                              <p:cond delay="1000"/>
                            </p:stCondLst>
                            <p:childTnLst>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par>
                          <p:cTn id="92" fill="hold">
                            <p:stCondLst>
                              <p:cond delay="1000"/>
                            </p:stCondLst>
                            <p:childTnLst>
                              <p:par>
                                <p:cTn id="93" presetID="10" presetClass="entr" presetSubtype="0"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fade">
                                      <p:cBhvr>
                                        <p:cTn id="95" dur="400"/>
                                        <p:tgtEl>
                                          <p:spTgt spid="30"/>
                                        </p:tgtEl>
                                      </p:cBhvr>
                                    </p:animEffect>
                                  </p:childTnLst>
                                </p:cTn>
                              </p:par>
                            </p:childTnLst>
                          </p:cTn>
                        </p:par>
                        <p:par>
                          <p:cTn id="96" fill="hold">
                            <p:stCondLst>
                              <p:cond delay="1000"/>
                            </p:stCondLst>
                            <p:childTnLst>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childTnLst>
                          </p:cTn>
                        </p:par>
                        <p:par>
                          <p:cTn id="100" fill="hold">
                            <p:stCondLst>
                              <p:cond delay="1000"/>
                            </p:stCondLst>
                            <p:childTnLst>
                              <p:par>
                                <p:cTn id="101" presetID="10" presetClass="entr" presetSubtype="0" fill="hold" grpId="0" nodeType="withEffect">
                                  <p:stCondLst>
                                    <p:cond delay="0"/>
                                  </p:stCondLst>
                                  <p:childTnLst>
                                    <p:set>
                                      <p:cBhvr>
                                        <p:cTn id="102" dur="1" fill="hold">
                                          <p:stCondLst>
                                            <p:cond delay="0"/>
                                          </p:stCondLst>
                                        </p:cTn>
                                        <p:tgtEl>
                                          <p:spTgt spid="32"/>
                                        </p:tgtEl>
                                        <p:attrNameLst>
                                          <p:attrName>style.visibility</p:attrName>
                                        </p:attrNameLst>
                                      </p:cBhvr>
                                      <p:to>
                                        <p:strVal val="visible"/>
                                      </p:to>
                                    </p:set>
                                    <p:animEffect transition="in" filter="fade">
                                      <p:cBhvr>
                                        <p:cTn id="103" dur="400"/>
                                        <p:tgtEl>
                                          <p:spTgt spid="32"/>
                                        </p:tgtEl>
                                      </p:cBhvr>
                                    </p:animEffect>
                                  </p:childTnLst>
                                </p:cTn>
                              </p:par>
                            </p:childTnLst>
                          </p:cTn>
                        </p:par>
                        <p:par>
                          <p:cTn id="104" fill="hold">
                            <p:stCondLst>
                              <p:cond delay="1250"/>
                            </p:stCondLst>
                            <p:childTnLst>
                              <p:par>
                                <p:cTn id="105" presetID="10" presetClass="entr" presetSubtype="0" fill="hold" grpId="0" nodeType="withEffect">
                                  <p:stCondLst>
                                    <p:cond delay="0"/>
                                  </p:stCondLst>
                                  <p:childTnLst>
                                    <p:set>
                                      <p:cBhvr>
                                        <p:cTn id="106" dur="1" fill="hold">
                                          <p:stCondLst>
                                            <p:cond delay="0"/>
                                          </p:stCondLst>
                                        </p:cTn>
                                        <p:tgtEl>
                                          <p:spTgt spid="33"/>
                                        </p:tgtEl>
                                        <p:attrNameLst>
                                          <p:attrName>style.visibility</p:attrName>
                                        </p:attrNameLst>
                                      </p:cBhvr>
                                      <p:to>
                                        <p:strVal val="visible"/>
                                      </p:to>
                                    </p:set>
                                    <p:animEffect transition="in" filter="fade">
                                      <p:cBhvr>
                                        <p:cTn id="107" dur="400"/>
                                        <p:tgtEl>
                                          <p:spTgt spid="33"/>
                                        </p:tgtEl>
                                      </p:cBhvr>
                                    </p:animEffect>
                                  </p:childTnLst>
                                </p:cTn>
                              </p:par>
                            </p:childTnLst>
                          </p:cTn>
                        </p:par>
                        <p:par>
                          <p:cTn id="108" fill="hold">
                            <p:stCondLst>
                              <p:cond delay="1250"/>
                            </p:stCondLst>
                            <p:childTnLst>
                              <p:par>
                                <p:cTn id="109" presetID="10" presetClass="entr" presetSubtype="0" fill="hold" grpId="0" nodeType="with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fade">
                                      <p:cBhvr>
                                        <p:cTn id="111" dur="400"/>
                                        <p:tgtEl>
                                          <p:spTgt spid="34"/>
                                        </p:tgtEl>
                                      </p:cBhvr>
                                    </p:animEffect>
                                  </p:childTnLst>
                                </p:cTn>
                              </p:par>
                            </p:childTnLst>
                          </p:cTn>
                        </p:par>
                        <p:par>
                          <p:cTn id="112" fill="hold">
                            <p:stCondLst>
                              <p:cond delay="1250"/>
                            </p:stCondLst>
                            <p:childTnLst>
                              <p:par>
                                <p:cTn id="113" presetID="10" presetClass="entr" presetSubtype="0" fill="hold" grpId="0" nodeType="withEffect">
                                  <p:stCondLst>
                                    <p:cond delay="0"/>
                                  </p:stCondLst>
                                  <p:childTnLst>
                                    <p:set>
                                      <p:cBhvr>
                                        <p:cTn id="114" dur="1" fill="hold">
                                          <p:stCondLst>
                                            <p:cond delay="0"/>
                                          </p:stCondLst>
                                        </p:cTn>
                                        <p:tgtEl>
                                          <p:spTgt spid="35"/>
                                        </p:tgtEl>
                                        <p:attrNameLst>
                                          <p:attrName>style.visibility</p:attrName>
                                        </p:attrNameLst>
                                      </p:cBhvr>
                                      <p:to>
                                        <p:strVal val="visible"/>
                                      </p:to>
                                    </p:set>
                                    <p:animEffect transition="in" filter="fade">
                                      <p:cBhvr>
                                        <p:cTn id="115" dur="400"/>
                                        <p:tgtEl>
                                          <p:spTgt spid="35"/>
                                        </p:tgtEl>
                                      </p:cBhvr>
                                    </p:animEffect>
                                  </p:childTnLst>
                                </p:cTn>
                              </p:par>
                            </p:childTnLst>
                          </p:cTn>
                        </p:par>
                        <p:par>
                          <p:cTn id="116" fill="hold">
                            <p:stCondLst>
                              <p:cond delay="1250"/>
                            </p:stCondLst>
                            <p:childTnLst>
                              <p:par>
                                <p:cTn id="117" presetID="10" presetClass="entr" presetSubtype="0" fill="hold" grpId="0" nodeType="withEffect">
                                  <p:stCondLst>
                                    <p:cond delay="0"/>
                                  </p:stCondLst>
                                  <p:childTnLst>
                                    <p:set>
                                      <p:cBhvr>
                                        <p:cTn id="118" dur="1" fill="hold">
                                          <p:stCondLst>
                                            <p:cond delay="0"/>
                                          </p:stCondLst>
                                        </p:cTn>
                                        <p:tgtEl>
                                          <p:spTgt spid="36"/>
                                        </p:tgtEl>
                                        <p:attrNameLst>
                                          <p:attrName>style.visibility</p:attrName>
                                        </p:attrNameLst>
                                      </p:cBhvr>
                                      <p:to>
                                        <p:strVal val="visible"/>
                                      </p:to>
                                    </p:set>
                                    <p:animEffect transition="in" filter="fade">
                                      <p:cBhvr>
                                        <p:cTn id="119"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Imagine que a prefeitura adote a nossa proposta</a:t>
            </a:r>
            <a:endParaRPr lang="en-US" sz="3200" dirty="0"/>
          </a:p>
        </p:txBody>
      </p:sp>
      <p:sp>
        <p:nvSpPr>
          <p:cNvPr id="5" name="anim:1:348"/>
          <p:cNvSpPr/>
          <p:nvPr/>
        </p:nvSpPr>
        <p:spPr>
          <a:xfrm>
            <a:off x="548640"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349"/>
          <p:cNvSpPr/>
          <p:nvPr/>
        </p:nvSpPr>
        <p:spPr>
          <a:xfrm>
            <a:off x="777240" y="1810512"/>
            <a:ext cx="502920" cy="502920"/>
          </a:xfrm>
          <a:prstGeom prst="ellipse">
            <a:avLst/>
          </a:prstGeom>
          <a:solidFill>
            <a:srgbClr val="F2A541"/>
          </a:solidFill>
          <a:ln w="12700">
            <a:solidFill>
              <a:srgbClr val="F2A541"/>
            </a:solidFill>
            <a:prstDash val="solid"/>
          </a:ln>
        </p:spPr>
      </p:sp>
      <p:sp>
        <p:nvSpPr>
          <p:cNvPr id="7" name="anim:1:350"/>
          <p:cNvSpPr txBox="1"/>
          <p:nvPr/>
        </p:nvSpPr>
        <p:spPr>
          <a:xfrm>
            <a:off x="777240"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1</a:t>
            </a:r>
            <a:endParaRPr lang="en-US" sz="1500" dirty="0"/>
          </a:p>
        </p:txBody>
      </p:sp>
      <p:sp>
        <p:nvSpPr>
          <p:cNvPr id="8" name="anim:1:351"/>
          <p:cNvSpPr txBox="1"/>
          <p:nvPr/>
        </p:nvSpPr>
        <p:spPr>
          <a:xfrm>
            <a:off x="777240"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Kevenn Laranjeira de Oliveira</a:t>
            </a:r>
            <a:endParaRPr lang="en-US" sz="1500" dirty="0"/>
          </a:p>
        </p:txBody>
      </p:sp>
      <p:sp>
        <p:nvSpPr>
          <p:cNvPr id="9" name="anim:1:352"/>
          <p:cNvSpPr txBox="1"/>
          <p:nvPr/>
        </p:nvSpPr>
        <p:spPr>
          <a:xfrm>
            <a:off x="777240"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1 a 9</a:t>
            </a:r>
            <a:endParaRPr lang="en-US" sz="1200" dirty="0"/>
          </a:p>
        </p:txBody>
      </p:sp>
      <p:sp>
        <p:nvSpPr>
          <p:cNvPr id="10" name="anim:1:353"/>
          <p:cNvSpPr txBox="1"/>
          <p:nvPr/>
        </p:nvSpPr>
        <p:spPr>
          <a:xfrm>
            <a:off x="777240"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O problema e a proposta</a:t>
            </a:r>
            <a:endParaRPr lang="en-US" sz="1500" dirty="0"/>
          </a:p>
        </p:txBody>
      </p:sp>
      <p:sp>
        <p:nvSpPr>
          <p:cNvPr id="11" name="anim:1:354"/>
          <p:cNvSpPr txBox="1"/>
          <p:nvPr/>
        </p:nvSpPr>
        <p:spPr>
          <a:xfrm>
            <a:off x="777240"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A Ana, o problema, a proposta, o ciclo, São Paulo e os assuntos.</a:t>
            </a:r>
            <a:endParaRPr lang="en-US" sz="1300" dirty="0"/>
          </a:p>
        </p:txBody>
      </p:sp>
      <p:sp>
        <p:nvSpPr>
          <p:cNvPr id="12" name="anim:1:355"/>
          <p:cNvSpPr/>
          <p:nvPr/>
        </p:nvSpPr>
        <p:spPr>
          <a:xfrm>
            <a:off x="3118104" y="3200400"/>
            <a:ext cx="219456" cy="274320"/>
          </a:xfrm>
          <a:prstGeom prst="rightArrow">
            <a:avLst/>
          </a:prstGeom>
          <a:solidFill>
            <a:srgbClr val="F2A541"/>
          </a:solidFill>
          <a:ln w="12700">
            <a:solidFill>
              <a:srgbClr val="F2A541"/>
            </a:solidFill>
            <a:prstDash val="solid"/>
          </a:ln>
        </p:spPr>
      </p:sp>
      <p:sp>
        <p:nvSpPr>
          <p:cNvPr id="13" name="anim:2:356"/>
          <p:cNvSpPr/>
          <p:nvPr/>
        </p:nvSpPr>
        <p:spPr>
          <a:xfrm>
            <a:off x="3364992"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4" name="anim:2:357"/>
          <p:cNvSpPr/>
          <p:nvPr/>
        </p:nvSpPr>
        <p:spPr>
          <a:xfrm>
            <a:off x="3593592" y="1810512"/>
            <a:ext cx="502920" cy="502920"/>
          </a:xfrm>
          <a:prstGeom prst="ellipse">
            <a:avLst/>
          </a:prstGeom>
          <a:solidFill>
            <a:srgbClr val="F2A541"/>
          </a:solidFill>
          <a:ln w="12700">
            <a:solidFill>
              <a:srgbClr val="F2A541"/>
            </a:solidFill>
            <a:prstDash val="solid"/>
          </a:ln>
        </p:spPr>
      </p:sp>
      <p:sp>
        <p:nvSpPr>
          <p:cNvPr id="15" name="anim:2:358"/>
          <p:cNvSpPr txBox="1"/>
          <p:nvPr/>
        </p:nvSpPr>
        <p:spPr>
          <a:xfrm>
            <a:off x="3593592"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2</a:t>
            </a:r>
            <a:endParaRPr lang="en-US" sz="1500" dirty="0"/>
          </a:p>
        </p:txBody>
      </p:sp>
      <p:sp>
        <p:nvSpPr>
          <p:cNvPr id="16" name="anim:2:359"/>
          <p:cNvSpPr txBox="1"/>
          <p:nvPr/>
        </p:nvSpPr>
        <p:spPr>
          <a:xfrm>
            <a:off x="3593592"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Thiago Rodrigues Gouveia da Silva</a:t>
            </a:r>
            <a:endParaRPr lang="en-US" sz="1500" dirty="0"/>
          </a:p>
        </p:txBody>
      </p:sp>
      <p:sp>
        <p:nvSpPr>
          <p:cNvPr id="17" name="anim:2:360"/>
          <p:cNvSpPr txBox="1"/>
          <p:nvPr/>
        </p:nvSpPr>
        <p:spPr>
          <a:xfrm>
            <a:off x="3593592"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10 a 14</a:t>
            </a:r>
            <a:endParaRPr lang="en-US" sz="1200" dirty="0"/>
          </a:p>
        </p:txBody>
      </p:sp>
      <p:sp>
        <p:nvSpPr>
          <p:cNvPr id="18" name="anim:2:361"/>
          <p:cNvSpPr txBox="1"/>
          <p:nvPr/>
        </p:nvSpPr>
        <p:spPr>
          <a:xfrm>
            <a:off x="3593592"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Passo 1: os dados</a:t>
            </a:r>
            <a:endParaRPr lang="en-US" sz="1500" dirty="0"/>
          </a:p>
        </p:txBody>
      </p:sp>
      <p:sp>
        <p:nvSpPr>
          <p:cNvPr id="19" name="anim:2:362"/>
          <p:cNvSpPr txBox="1"/>
          <p:nvPr/>
        </p:nvSpPr>
        <p:spPr>
          <a:xfrm>
            <a:off x="3593592"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Fontes, integração, problemas nos dados, grão e a estrela Matrícula.</a:t>
            </a:r>
            <a:endParaRPr lang="en-US" sz="1300" dirty="0"/>
          </a:p>
        </p:txBody>
      </p:sp>
      <p:sp>
        <p:nvSpPr>
          <p:cNvPr id="20" name="anim:2:363"/>
          <p:cNvSpPr/>
          <p:nvPr/>
        </p:nvSpPr>
        <p:spPr>
          <a:xfrm>
            <a:off x="5934456" y="3200400"/>
            <a:ext cx="219456" cy="274320"/>
          </a:xfrm>
          <a:prstGeom prst="rightArrow">
            <a:avLst/>
          </a:prstGeom>
          <a:solidFill>
            <a:srgbClr val="F2A541"/>
          </a:solidFill>
          <a:ln w="12700">
            <a:solidFill>
              <a:srgbClr val="F2A541"/>
            </a:solidFill>
            <a:prstDash val="solid"/>
          </a:ln>
        </p:spPr>
      </p:sp>
      <p:sp>
        <p:nvSpPr>
          <p:cNvPr id="21" name="anim:3:364"/>
          <p:cNvSpPr/>
          <p:nvPr/>
        </p:nvSpPr>
        <p:spPr>
          <a:xfrm>
            <a:off x="6181344"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2" name="anim:3:365"/>
          <p:cNvSpPr/>
          <p:nvPr/>
        </p:nvSpPr>
        <p:spPr>
          <a:xfrm>
            <a:off x="6409944" y="1810512"/>
            <a:ext cx="502920" cy="502920"/>
          </a:xfrm>
          <a:prstGeom prst="ellipse">
            <a:avLst/>
          </a:prstGeom>
          <a:solidFill>
            <a:srgbClr val="F2A541"/>
          </a:solidFill>
          <a:ln w="12700">
            <a:solidFill>
              <a:srgbClr val="F2A541"/>
            </a:solidFill>
            <a:prstDash val="solid"/>
          </a:ln>
        </p:spPr>
      </p:sp>
      <p:sp>
        <p:nvSpPr>
          <p:cNvPr id="23" name="anim:3:366"/>
          <p:cNvSpPr txBox="1"/>
          <p:nvPr/>
        </p:nvSpPr>
        <p:spPr>
          <a:xfrm>
            <a:off x="6409944"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3</a:t>
            </a:r>
            <a:endParaRPr lang="en-US" sz="1500" dirty="0"/>
          </a:p>
        </p:txBody>
      </p:sp>
      <p:sp>
        <p:nvSpPr>
          <p:cNvPr id="24" name="anim:3:367"/>
          <p:cNvSpPr txBox="1"/>
          <p:nvPr/>
        </p:nvSpPr>
        <p:spPr>
          <a:xfrm>
            <a:off x="6409944"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Daniel Afonso Borges dos Santos</a:t>
            </a:r>
            <a:endParaRPr lang="en-US" sz="1500" dirty="0"/>
          </a:p>
        </p:txBody>
      </p:sp>
      <p:sp>
        <p:nvSpPr>
          <p:cNvPr id="25" name="anim:3:368"/>
          <p:cNvSpPr txBox="1"/>
          <p:nvPr/>
        </p:nvSpPr>
        <p:spPr>
          <a:xfrm>
            <a:off x="6409944"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15 a 19</a:t>
            </a:r>
            <a:endParaRPr lang="en-US" sz="1200" dirty="0"/>
          </a:p>
        </p:txBody>
      </p:sp>
      <p:sp>
        <p:nvSpPr>
          <p:cNvPr id="26" name="anim:3:369"/>
          <p:cNvSpPr txBox="1"/>
          <p:nvPr/>
        </p:nvSpPr>
        <p:spPr>
          <a:xfrm>
            <a:off x="6409944"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Passo 2: o modelo</a:t>
            </a:r>
            <a:endParaRPr lang="en-US" sz="1500" dirty="0"/>
          </a:p>
        </p:txBody>
      </p:sp>
      <p:sp>
        <p:nvSpPr>
          <p:cNvPr id="27" name="anim:3:370"/>
          <p:cNvSpPr txBox="1"/>
          <p:nvPr/>
        </p:nvSpPr>
        <p:spPr>
          <a:xfrm>
            <a:off x="6409944"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Estrelas Fila, Desfecho, Ocupação de Turma e População; constelação.</a:t>
            </a:r>
            <a:endParaRPr lang="en-US" sz="1300" dirty="0"/>
          </a:p>
        </p:txBody>
      </p:sp>
      <p:sp>
        <p:nvSpPr>
          <p:cNvPr id="28" name="anim:3:371"/>
          <p:cNvSpPr/>
          <p:nvPr/>
        </p:nvSpPr>
        <p:spPr>
          <a:xfrm>
            <a:off x="8750808" y="3200400"/>
            <a:ext cx="219456" cy="274320"/>
          </a:xfrm>
          <a:prstGeom prst="rightArrow">
            <a:avLst/>
          </a:prstGeom>
          <a:solidFill>
            <a:srgbClr val="F2A541"/>
          </a:solidFill>
          <a:ln w="12700">
            <a:solidFill>
              <a:srgbClr val="F2A541"/>
            </a:solidFill>
            <a:prstDash val="solid"/>
          </a:ln>
        </p:spPr>
      </p:sp>
      <p:sp>
        <p:nvSpPr>
          <p:cNvPr id="29" name="anim:4:372"/>
          <p:cNvSpPr/>
          <p:nvPr/>
        </p:nvSpPr>
        <p:spPr>
          <a:xfrm>
            <a:off x="8997696"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0" name="anim:4:373"/>
          <p:cNvSpPr/>
          <p:nvPr/>
        </p:nvSpPr>
        <p:spPr>
          <a:xfrm>
            <a:off x="9226296" y="1810512"/>
            <a:ext cx="502920" cy="502920"/>
          </a:xfrm>
          <a:prstGeom prst="ellipse">
            <a:avLst/>
          </a:prstGeom>
          <a:solidFill>
            <a:srgbClr val="F2A541"/>
          </a:solidFill>
          <a:ln w="12700">
            <a:solidFill>
              <a:srgbClr val="F2A541"/>
            </a:solidFill>
            <a:prstDash val="solid"/>
          </a:ln>
        </p:spPr>
      </p:sp>
      <p:sp>
        <p:nvSpPr>
          <p:cNvPr id="31" name="anim:4:374"/>
          <p:cNvSpPr txBox="1"/>
          <p:nvPr/>
        </p:nvSpPr>
        <p:spPr>
          <a:xfrm>
            <a:off x="9226296"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4</a:t>
            </a:r>
            <a:endParaRPr lang="en-US" sz="1500" dirty="0"/>
          </a:p>
        </p:txBody>
      </p:sp>
      <p:sp>
        <p:nvSpPr>
          <p:cNvPr id="32" name="anim:4:375"/>
          <p:cNvSpPr txBox="1"/>
          <p:nvPr/>
        </p:nvSpPr>
        <p:spPr>
          <a:xfrm>
            <a:off x="9226296"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Luís Antônio Arruda Soares</a:t>
            </a:r>
            <a:endParaRPr lang="en-US" sz="1500" dirty="0"/>
          </a:p>
        </p:txBody>
      </p:sp>
      <p:sp>
        <p:nvSpPr>
          <p:cNvPr id="33" name="anim:4:376"/>
          <p:cNvSpPr txBox="1"/>
          <p:nvPr/>
        </p:nvSpPr>
        <p:spPr>
          <a:xfrm>
            <a:off x="9226296"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20 a 26</a:t>
            </a:r>
            <a:endParaRPr lang="en-US" sz="1200" dirty="0"/>
          </a:p>
        </p:txBody>
      </p:sp>
      <p:sp>
        <p:nvSpPr>
          <p:cNvPr id="34" name="anim:4:377"/>
          <p:cNvSpPr txBox="1"/>
          <p:nvPr/>
        </p:nvSpPr>
        <p:spPr>
          <a:xfrm>
            <a:off x="9226296"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Passo 3: as respostas</a:t>
            </a:r>
            <a:endParaRPr lang="en-US" sz="1500" dirty="0"/>
          </a:p>
        </p:txBody>
      </p:sp>
      <p:sp>
        <p:nvSpPr>
          <p:cNvPr id="35" name="anim:4:378"/>
          <p:cNvSpPr txBox="1"/>
          <p:nvPr/>
        </p:nvSpPr>
        <p:spPr>
          <a:xfrm>
            <a:off x="9226296"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Consultas, resultados, decisões e a vaga da Ana.</a:t>
            </a:r>
            <a:endParaRPr lang="en-US" sz="1300" dirty="0"/>
          </a:p>
        </p:txBody>
      </p:sp>
      <p:sp>
        <p:nvSpPr>
          <p:cNvPr id="36" name="anim:5:379"/>
          <p:cNvSpPr/>
          <p:nvPr/>
        </p:nvSpPr>
        <p:spPr>
          <a:xfrm>
            <a:off x="548640" y="5303520"/>
            <a:ext cx="11064240" cy="685800"/>
          </a:xfrm>
          <a:prstGeom prst="roundRect">
            <a:avLst>
              <a:gd name="adj" fmla="val 16000"/>
            </a:avLst>
          </a:prstGeom>
          <a:solidFill>
            <a:srgbClr val="EEF2F8"/>
          </a:solidFill>
          <a:ln w="9525">
            <a:solidFill>
              <a:srgbClr val="EEF2F8"/>
            </a:solidFill>
            <a:prstDash val="solid"/>
          </a:ln>
        </p:spPr>
      </p:sp>
      <p:sp>
        <p:nvSpPr>
          <p:cNvPr id="37" name="anim:5:380"/>
          <p:cNvSpPr/>
          <p:nvPr/>
        </p:nvSpPr>
        <p:spPr>
          <a:xfrm>
            <a:off x="777240" y="5394960"/>
            <a:ext cx="493776" cy="493776"/>
          </a:xfrm>
          <a:prstGeom prst="ellipse">
            <a:avLst/>
          </a:prstGeom>
          <a:solidFill>
            <a:srgbClr val="F2A541"/>
          </a:solidFill>
          <a:ln w="12700">
            <a:solidFill>
              <a:srgbClr val="F2A541"/>
            </a:solidFill>
            <a:prstDash val="solid"/>
          </a:ln>
        </p:spPr>
      </p:sp>
      <p:sp>
        <p:nvSpPr>
          <p:cNvPr id="38" name="anim:5:381"/>
          <p:cNvSpPr txBox="1"/>
          <p:nvPr/>
        </p:nvSpPr>
        <p:spPr>
          <a:xfrm>
            <a:off x="777240" y="5394960"/>
            <a:ext cx="493776" cy="493776"/>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39" name="anim:5:382"/>
          <p:cNvSpPr txBox="1"/>
          <p:nvPr/>
        </p:nvSpPr>
        <p:spPr>
          <a:xfrm>
            <a:off x="1463040" y="5303520"/>
            <a:ext cx="9966960" cy="68580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A história é um cenário hipotético; os números vêm da nossa carga com os dados reais.</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5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5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5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75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75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75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75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75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75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par>
                          <p:cTn id="124" fill="hold">
                            <p:stCondLst>
                              <p:cond delay="750"/>
                            </p:stCondLst>
                            <p:childTnLst>
                              <p:par>
                                <p:cTn id="125" presetID="10" presetClass="entr" presetSubtype="0" fill="hold" grpId="0" nodeType="withEffect">
                                  <p:stCondLst>
                                    <p:cond delay="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400"/>
                                        <p:tgtEl>
                                          <p:spTgt spid="35"/>
                                        </p:tgtEl>
                                      </p:cBhvr>
                                    </p:animEffect>
                                  </p:childTnLst>
                                </p:cTn>
                              </p:par>
                            </p:childTnLst>
                          </p:cTn>
                        </p:par>
                        <p:par>
                          <p:cTn id="128" fill="hold">
                            <p:stCondLst>
                              <p:cond delay="1000"/>
                            </p:stCondLst>
                            <p:childTnLst>
                              <p:par>
                                <p:cTn id="129" presetID="10" presetClass="entr" presetSubtype="0" fill="hold" grpId="0" nodeType="withEffect">
                                  <p:stCondLst>
                                    <p:cond delay="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400"/>
                                        <p:tgtEl>
                                          <p:spTgt spid="36"/>
                                        </p:tgtEl>
                                      </p:cBhvr>
                                    </p:animEffect>
                                  </p:childTnLst>
                                </p:cTn>
                              </p:par>
                            </p:childTnLst>
                          </p:cTn>
                        </p:par>
                        <p:par>
                          <p:cTn id="132" fill="hold">
                            <p:stCondLst>
                              <p:cond delay="1000"/>
                            </p:stCondLst>
                            <p:childTnLst>
                              <p:par>
                                <p:cTn id="133" presetID="10" presetClass="entr" presetSubtype="0" fill="hold" grpId="0" nodeType="withEffect">
                                  <p:stCondLst>
                                    <p:cond delay="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400"/>
                                        <p:tgtEl>
                                          <p:spTgt spid="37"/>
                                        </p:tgtEl>
                                      </p:cBhvr>
                                    </p:animEffect>
                                  </p:childTnLst>
                                </p:cTn>
                              </p:par>
                            </p:childTnLst>
                          </p:cTn>
                        </p:par>
                        <p:par>
                          <p:cTn id="136" fill="hold">
                            <p:stCondLst>
                              <p:cond delay="1000"/>
                            </p:stCondLst>
                            <p:childTnLst>
                              <p:par>
                                <p:cTn id="137" presetID="10" presetClass="entr" presetSubtype="0" fill="hold" grpId="0" nodeType="withEffect">
                                  <p:stCondLst>
                                    <p:cond delay="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400"/>
                                        <p:tgtEl>
                                          <p:spTgt spid="38"/>
                                        </p:tgtEl>
                                      </p:cBhvr>
                                    </p:animEffect>
                                  </p:childTnLst>
                                </p:cTn>
                              </p:par>
                            </p:childTnLst>
                          </p:cTn>
                        </p:par>
                        <p:par>
                          <p:cTn id="140" fill="hold">
                            <p:stCondLst>
                              <p:cond delay="1000"/>
                            </p:stCondLst>
                            <p:childTnLst>
                              <p:par>
                                <p:cTn id="141" presetID="10" presetClass="entr" presetSubtype="0" fill="hold" grpId="0" nodeType="withEffect">
                                  <p:stCondLst>
                                    <p:cond delay="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Três fontes de dados reais e oficiais</a:t>
            </a:r>
            <a:endParaRPr lang="en-US" sz="3200" dirty="0"/>
          </a:p>
        </p:txBody>
      </p:sp>
      <p:sp>
        <p:nvSpPr>
          <p:cNvPr id="5" name="anim:1:163"/>
          <p:cNvSpPr/>
          <p:nvPr/>
        </p:nvSpPr>
        <p:spPr>
          <a:xfrm>
            <a:off x="548640" y="1600200"/>
            <a:ext cx="3566160" cy="4389120"/>
          </a:xfrm>
          <a:prstGeom prst="roundRect">
            <a:avLst>
              <a:gd name="adj" fmla="val 307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164"/>
          <p:cNvSpPr txBox="1"/>
          <p:nvPr/>
        </p:nvSpPr>
        <p:spPr>
          <a:xfrm>
            <a:off x="822960" y="1801368"/>
            <a:ext cx="3108960" cy="274320"/>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SME-SP · ANUAL</a:t>
            </a:r>
            <a:endParaRPr lang="en-US" sz="1100" dirty="0"/>
          </a:p>
        </p:txBody>
      </p:sp>
      <p:sp>
        <p:nvSpPr>
          <p:cNvPr id="7" name="anim:1:165"/>
          <p:cNvSpPr txBox="1"/>
          <p:nvPr/>
        </p:nvSpPr>
        <p:spPr>
          <a:xfrm>
            <a:off x="822960" y="2103120"/>
            <a:ext cx="3108960" cy="685800"/>
          </a:xfrm>
          <a:prstGeom prst="rect">
            <a:avLst/>
          </a:prstGeom>
          <a:noFill/>
          <a:ln/>
        </p:spPr>
        <p:txBody>
          <a:bodyPr wrap="square" lIns="0" tIns="0" rIns="0" bIns="0" rtlCol="0" anchor="t"/>
          <a:lstStyle/>
          <a:p>
            <a:pPr algn="l" indent="0" marL="0">
              <a:buNone/>
            </a:pPr>
            <a:r>
              <a:rPr lang="en-US" sz="1800" b="1" dirty="0">
                <a:solidFill>
                  <a:srgbClr val="1B2A4A"/>
                </a:solidFill>
                <a:latin typeface="Calibri" pitchFamily="34" charset="0"/>
                <a:ea typeface="Calibri" pitchFamily="34" charset="-122"/>
                <a:cs typeface="Calibri" pitchFamily="34" charset="-120"/>
              </a:rPr>
              <a:t>Microdados de Matrículas</a:t>
            </a:r>
            <a:endParaRPr lang="en-US" sz="1800" dirty="0"/>
          </a:p>
        </p:txBody>
      </p:sp>
      <p:sp>
        <p:nvSpPr>
          <p:cNvPr id="8" name="anim:1:166"/>
          <p:cNvSpPr txBox="1"/>
          <p:nvPr/>
        </p:nvSpPr>
        <p:spPr>
          <a:xfrm>
            <a:off x="822960" y="2834640"/>
            <a:ext cx="3108960" cy="685800"/>
          </a:xfrm>
          <a:prstGeom prst="rect">
            <a:avLst/>
          </a:prstGeom>
          <a:noFill/>
          <a:ln/>
        </p:spPr>
        <p:txBody>
          <a:bodyPr wrap="square" lIns="0" tIns="0" rIns="0" bIns="0" rtlCol="0" anchor="t"/>
          <a:lstStyle/>
          <a:p>
            <a:pPr algn="l" indent="0" marL="0">
              <a:buNone/>
            </a:pPr>
            <a:r>
              <a:rPr lang="en-US" sz="3600" b="1" dirty="0">
                <a:solidFill>
                  <a:srgbClr val="2E5EAA"/>
                </a:solidFill>
                <a:latin typeface="Calibri" pitchFamily="34" charset="0"/>
                <a:ea typeface="Calibri" pitchFamily="34" charset="-122"/>
                <a:cs typeface="Calibri" pitchFamily="34" charset="-120"/>
              </a:rPr>
              <a:t>13,4 mi</a:t>
            </a:r>
            <a:endParaRPr lang="en-US" sz="3600" dirty="0"/>
          </a:p>
        </p:txBody>
      </p:sp>
      <p:sp>
        <p:nvSpPr>
          <p:cNvPr id="9" name="anim:1:167"/>
          <p:cNvSpPr txBox="1"/>
          <p:nvPr/>
        </p:nvSpPr>
        <p:spPr>
          <a:xfrm>
            <a:off x="822960" y="3520440"/>
            <a:ext cx="3108960" cy="45720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matrículas de escolarização, 2015 a 2024</a:t>
            </a:r>
            <a:endParaRPr lang="en-US" sz="1200" dirty="0"/>
          </a:p>
        </p:txBody>
      </p:sp>
      <p:sp>
        <p:nvSpPr>
          <p:cNvPr id="10" name="anim:1:168"/>
          <p:cNvSpPr txBox="1"/>
          <p:nvPr/>
        </p:nvSpPr>
        <p:spPr>
          <a:xfrm>
            <a:off x="822960" y="4069080"/>
            <a:ext cx="3063240" cy="1783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Uma linha por vínculo aluno-turma: escola, turma, turno, série, idade, perfil, deficiência, datas e desfecho.</a:t>
            </a:r>
            <a:endParaRPr lang="en-US" sz="1400" dirty="0"/>
          </a:p>
        </p:txBody>
      </p:sp>
      <p:sp>
        <p:nvSpPr>
          <p:cNvPr id="11" name="anim:2:169"/>
          <p:cNvSpPr/>
          <p:nvPr/>
        </p:nvSpPr>
        <p:spPr>
          <a:xfrm>
            <a:off x="4297680" y="1600200"/>
            <a:ext cx="3566160" cy="4389120"/>
          </a:xfrm>
          <a:prstGeom prst="roundRect">
            <a:avLst>
              <a:gd name="adj" fmla="val 307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2" name="anim:2:170"/>
          <p:cNvSpPr txBox="1"/>
          <p:nvPr/>
        </p:nvSpPr>
        <p:spPr>
          <a:xfrm>
            <a:off x="4572000" y="1801368"/>
            <a:ext cx="3108960" cy="274320"/>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SME-SP · TRIMESTRAL E BIMESTRAL</a:t>
            </a:r>
            <a:endParaRPr lang="en-US" sz="1100" dirty="0"/>
          </a:p>
        </p:txBody>
      </p:sp>
      <p:sp>
        <p:nvSpPr>
          <p:cNvPr id="13" name="anim:2:171"/>
          <p:cNvSpPr txBox="1"/>
          <p:nvPr/>
        </p:nvSpPr>
        <p:spPr>
          <a:xfrm>
            <a:off x="4572000" y="2103120"/>
            <a:ext cx="3108960" cy="685800"/>
          </a:xfrm>
          <a:prstGeom prst="rect">
            <a:avLst/>
          </a:prstGeom>
          <a:noFill/>
          <a:ln/>
        </p:spPr>
        <p:txBody>
          <a:bodyPr wrap="square" lIns="0" tIns="0" rIns="0" bIns="0" rtlCol="0" anchor="t"/>
          <a:lstStyle/>
          <a:p>
            <a:pPr algn="l" indent="0" marL="0">
              <a:buNone/>
            </a:pPr>
            <a:r>
              <a:rPr lang="en-US" sz="1800" b="1" dirty="0">
                <a:solidFill>
                  <a:srgbClr val="1B2A4A"/>
                </a:solidFill>
                <a:latin typeface="Calibri" pitchFamily="34" charset="0"/>
                <a:ea typeface="Calibri" pitchFamily="34" charset="-122"/>
                <a:cs typeface="Calibri" pitchFamily="34" charset="-120"/>
              </a:rPr>
              <a:t>Demanda Registrada e Matrículas</a:t>
            </a:r>
            <a:endParaRPr lang="en-US" sz="1800" dirty="0"/>
          </a:p>
        </p:txBody>
      </p:sp>
      <p:sp>
        <p:nvSpPr>
          <p:cNvPr id="14" name="anim:2:172"/>
          <p:cNvSpPr txBox="1"/>
          <p:nvPr/>
        </p:nvSpPr>
        <p:spPr>
          <a:xfrm>
            <a:off x="4572000" y="2834640"/>
            <a:ext cx="3108960" cy="685800"/>
          </a:xfrm>
          <a:prstGeom prst="rect">
            <a:avLst/>
          </a:prstGeom>
          <a:noFill/>
          <a:ln/>
        </p:spPr>
        <p:txBody>
          <a:bodyPr wrap="square" lIns="0" tIns="0" rIns="0" bIns="0" rtlCol="0" anchor="t"/>
          <a:lstStyle/>
          <a:p>
            <a:pPr algn="l" indent="0" marL="0">
              <a:buNone/>
            </a:pPr>
            <a:r>
              <a:rPr lang="en-US" sz="3600" b="1" dirty="0">
                <a:solidFill>
                  <a:srgbClr val="2E5EAA"/>
                </a:solidFill>
                <a:latin typeface="Calibri" pitchFamily="34" charset="0"/>
                <a:ea typeface="Calibri" pitchFamily="34" charset="-122"/>
                <a:cs typeface="Calibri" pitchFamily="34" charset="-120"/>
              </a:rPr>
              <a:t>44 meses</a:t>
            </a:r>
            <a:endParaRPr lang="en-US" sz="3600" dirty="0"/>
          </a:p>
        </p:txBody>
      </p:sp>
      <p:sp>
        <p:nvSpPr>
          <p:cNvPr id="15" name="anim:2:173"/>
          <p:cNvSpPr txBox="1"/>
          <p:nvPr/>
        </p:nvSpPr>
        <p:spPr>
          <a:xfrm>
            <a:off x="4572000" y="3520440"/>
            <a:ext cx="3108960" cy="45720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44 meses (33 arquivos) × 96 distritos no recorte</a:t>
            </a:r>
            <a:endParaRPr lang="en-US" sz="1200" dirty="0"/>
          </a:p>
        </p:txBody>
      </p:sp>
      <p:sp>
        <p:nvSpPr>
          <p:cNvPr id="16" name="anim:2:174"/>
          <p:cNvSpPr txBox="1"/>
          <p:nvPr/>
        </p:nvSpPr>
        <p:spPr>
          <a:xfrm>
            <a:off x="4572000" y="4069080"/>
            <a:ext cx="3063240" cy="1783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Por distrito e etapa: matrículas, matrículas em processo e fila. Trimestral até 2022, bimestral desde 2023; sete formatos diferentes.</a:t>
            </a:r>
            <a:endParaRPr lang="en-US" sz="1400" dirty="0"/>
          </a:p>
        </p:txBody>
      </p:sp>
      <p:sp>
        <p:nvSpPr>
          <p:cNvPr id="17" name="anim:3:175"/>
          <p:cNvSpPr/>
          <p:nvPr/>
        </p:nvSpPr>
        <p:spPr>
          <a:xfrm>
            <a:off x="8046720" y="1600200"/>
            <a:ext cx="3566160" cy="4389120"/>
          </a:xfrm>
          <a:prstGeom prst="roundRect">
            <a:avLst>
              <a:gd name="adj" fmla="val 307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8" name="anim:3:176"/>
          <p:cNvSpPr txBox="1"/>
          <p:nvPr/>
        </p:nvSpPr>
        <p:spPr>
          <a:xfrm>
            <a:off x="8321040" y="1801368"/>
            <a:ext cx="3108960" cy="274320"/>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IBGE · AGREGADOS POR SETORES</a:t>
            </a:r>
            <a:endParaRPr lang="en-US" sz="1100" dirty="0"/>
          </a:p>
        </p:txBody>
      </p:sp>
      <p:sp>
        <p:nvSpPr>
          <p:cNvPr id="19" name="anim:3:177"/>
          <p:cNvSpPr txBox="1"/>
          <p:nvPr/>
        </p:nvSpPr>
        <p:spPr>
          <a:xfrm>
            <a:off x="8321040" y="2103120"/>
            <a:ext cx="3108960" cy="685800"/>
          </a:xfrm>
          <a:prstGeom prst="rect">
            <a:avLst/>
          </a:prstGeom>
          <a:noFill/>
          <a:ln/>
        </p:spPr>
        <p:txBody>
          <a:bodyPr wrap="square" lIns="0" tIns="0" rIns="0" bIns="0" rtlCol="0" anchor="t"/>
          <a:lstStyle/>
          <a:p>
            <a:pPr algn="l" indent="0" marL="0">
              <a:buNone/>
            </a:pPr>
            <a:r>
              <a:rPr lang="en-US" sz="1800" b="1" dirty="0">
                <a:solidFill>
                  <a:srgbClr val="1B2A4A"/>
                </a:solidFill>
                <a:latin typeface="Calibri" pitchFamily="34" charset="0"/>
                <a:ea typeface="Calibri" pitchFamily="34" charset="-122"/>
                <a:cs typeface="Calibri" pitchFamily="34" charset="-120"/>
              </a:rPr>
              <a:t>Censo Demográfico 2022</a:t>
            </a:r>
            <a:endParaRPr lang="en-US" sz="1800" dirty="0"/>
          </a:p>
        </p:txBody>
      </p:sp>
      <p:sp>
        <p:nvSpPr>
          <p:cNvPr id="20" name="anim:3:178"/>
          <p:cNvSpPr txBox="1"/>
          <p:nvPr/>
        </p:nvSpPr>
        <p:spPr>
          <a:xfrm>
            <a:off x="8321040" y="2834640"/>
            <a:ext cx="3108960" cy="685800"/>
          </a:xfrm>
          <a:prstGeom prst="rect">
            <a:avLst/>
          </a:prstGeom>
          <a:noFill/>
          <a:ln/>
        </p:spPr>
        <p:txBody>
          <a:bodyPr wrap="square" lIns="0" tIns="0" rIns="0" bIns="0" rtlCol="0" anchor="t"/>
          <a:lstStyle/>
          <a:p>
            <a:pPr algn="l" indent="0" marL="0">
              <a:buNone/>
            </a:pPr>
            <a:r>
              <a:rPr lang="en-US" sz="3600" b="1" dirty="0">
                <a:solidFill>
                  <a:srgbClr val="2E5EAA"/>
                </a:solidFill>
                <a:latin typeface="Calibri" pitchFamily="34" charset="0"/>
                <a:ea typeface="Calibri" pitchFamily="34" charset="-122"/>
                <a:cs typeface="Calibri" pitchFamily="34" charset="-120"/>
              </a:rPr>
              <a:t>26.889</a:t>
            </a:r>
            <a:endParaRPr lang="en-US" sz="3600" dirty="0"/>
          </a:p>
        </p:txBody>
      </p:sp>
      <p:sp>
        <p:nvSpPr>
          <p:cNvPr id="21" name="anim:3:179"/>
          <p:cNvSpPr txBox="1"/>
          <p:nvPr/>
        </p:nvSpPr>
        <p:spPr>
          <a:xfrm>
            <a:off x="8321040" y="3520440"/>
            <a:ext cx="3108960" cy="45720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setores do município, 11,4 milhões de moradores</a:t>
            </a:r>
            <a:endParaRPr lang="en-US" sz="1200" dirty="0"/>
          </a:p>
        </p:txBody>
      </p:sp>
      <p:sp>
        <p:nvSpPr>
          <p:cNvPr id="22" name="anim:3:180"/>
          <p:cNvSpPr txBox="1"/>
          <p:nvPr/>
        </p:nvSpPr>
        <p:spPr>
          <a:xfrm>
            <a:off x="8321040" y="4069080"/>
            <a:ext cx="3063240" cy="1783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Pessoas residentes por setor censitário e grupo de idade (variáveis V01031 a V01041); referência 31/07/2022.</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50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Integração: o mesmo dado em formas diferentes</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1463040"/>
                <a:gridCol w="3291840"/>
                <a:gridCol w="3017520"/>
                <a:gridCol w="3291840"/>
              </a:tblGrid>
              <a:tr h="56692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Dado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SME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IBGE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No data warehouse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Distrito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AGUA RASA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Água Rasa + código de 9 dígitos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nome normalizado, chave da dimensão Território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Idade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idade simples em 31/03</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grupo de 0 a 4, 5 a 9, ...</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faixa IBGE na dimensão Idade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Etapa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Creche, Pré Escola (fila); MODALIDADE (microdado)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não se aplica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catálogo único de etapas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Setor</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CD_SETOR: 4 dígitos, administrativo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CD_SETOR: 15 dígitos, censitário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homônimo: nunca cruzados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bl>
          </a:graphicData>
        </a:graphic>
      </p:graphicFrame>
      <p:sp>
        <p:nvSpPr>
          <p:cNvPr id="6" name="anim:1:181"/>
          <p:cNvSpPr/>
          <p:nvPr/>
        </p:nvSpPr>
        <p:spPr>
          <a:xfrm>
            <a:off x="548640" y="4572000"/>
            <a:ext cx="11064240" cy="1371600"/>
          </a:xfrm>
          <a:prstGeom prst="roundRect">
            <a:avLst>
              <a:gd name="adj" fmla="val 8000"/>
            </a:avLst>
          </a:prstGeom>
          <a:solidFill>
            <a:srgbClr val="EEF2F8"/>
          </a:solidFill>
          <a:ln w="9525">
            <a:solidFill>
              <a:srgbClr val="EEF2F8"/>
            </a:solidFill>
            <a:prstDash val="solid"/>
          </a:ln>
        </p:spPr>
      </p:sp>
      <p:sp>
        <p:nvSpPr>
          <p:cNvPr id="7" name="anim:1:182"/>
          <p:cNvSpPr txBox="1"/>
          <p:nvPr/>
        </p:nvSpPr>
        <p:spPr>
          <a:xfrm>
            <a:off x="822960" y="4663440"/>
            <a:ext cx="2011680" cy="1188720"/>
          </a:xfrm>
          <a:prstGeom prst="rect">
            <a:avLst/>
          </a:prstGeom>
          <a:noFill/>
          <a:ln/>
        </p:spPr>
        <p:txBody>
          <a:bodyPr wrap="square" lIns="0" tIns="0" rIns="0" bIns="0" rtlCol="0" anchor="ctr"/>
          <a:lstStyle/>
          <a:p>
            <a:pPr algn="l" indent="0" marL="0">
              <a:buNone/>
            </a:pPr>
            <a:r>
              <a:rPr lang="en-US" sz="4400" b="1" dirty="0">
                <a:solidFill>
                  <a:srgbClr val="2E5EAA"/>
                </a:solidFill>
                <a:latin typeface="Calibri" pitchFamily="34" charset="0"/>
                <a:ea typeface="Calibri" pitchFamily="34" charset="-122"/>
                <a:cs typeface="Calibri" pitchFamily="34" charset="-120"/>
              </a:rPr>
              <a:t>&lt; 1%</a:t>
            </a:r>
            <a:endParaRPr lang="en-US" sz="4400" dirty="0"/>
          </a:p>
        </p:txBody>
      </p:sp>
      <p:sp>
        <p:nvSpPr>
          <p:cNvPr id="8" name="anim:1:183"/>
          <p:cNvSpPr txBox="1"/>
          <p:nvPr/>
        </p:nvSpPr>
        <p:spPr>
          <a:xfrm>
            <a:off x="2926080" y="4663440"/>
            <a:ext cx="8503920" cy="118872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Reconciliação: </a:t>
            </a:r>
            <a:pPr indent="0" marL="0">
              <a:buNone/>
            </a:pPr>
            <a:r>
              <a:rPr lang="en-US" sz="1500" dirty="0">
                <a:solidFill>
                  <a:srgbClr val="1F2937"/>
                </a:solidFill>
                <a:latin typeface="Calibri" pitchFamily="34" charset="0"/>
                <a:ea typeface="Calibri" pitchFamily="34" charset="-122"/>
                <a:cs typeface="Calibri" pitchFamily="34" charset="-120"/>
              </a:rPr>
              <a:t>matrículas ativas em junho no microdado contra a matrícula da planilha de fila, por distrito e etapa: diferença abaixo de 1% de 2015 a 2020 (creche: +0,03% em 2015, +0,17% em 2019).</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Problemas reais nos dados e como foram tratados</a:t>
            </a:r>
            <a:endParaRPr lang="en-US" sz="3200" dirty="0"/>
          </a:p>
        </p:txBody>
      </p:sp>
      <p:sp>
        <p:nvSpPr>
          <p:cNvPr id="5" name="anim:1:184"/>
          <p:cNvSpPr/>
          <p:nvPr/>
        </p:nvSpPr>
        <p:spPr>
          <a:xfrm>
            <a:off x="548640" y="1600200"/>
            <a:ext cx="3566160" cy="2011680"/>
          </a:xfrm>
          <a:prstGeom prst="roundRect">
            <a:avLst>
              <a:gd name="adj" fmla="val 545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185"/>
          <p:cNvSpPr/>
          <p:nvPr/>
        </p:nvSpPr>
        <p:spPr>
          <a:xfrm>
            <a:off x="777240" y="1847088"/>
            <a:ext cx="438912" cy="438912"/>
          </a:xfrm>
          <a:prstGeom prst="ellipse">
            <a:avLst/>
          </a:prstGeom>
          <a:solidFill>
            <a:srgbClr val="F2A541"/>
          </a:solidFill>
          <a:ln w="12700">
            <a:solidFill>
              <a:srgbClr val="F2A541"/>
            </a:solidFill>
            <a:prstDash val="solid"/>
          </a:ln>
        </p:spPr>
      </p:sp>
      <p:sp>
        <p:nvSpPr>
          <p:cNvPr id="7" name="anim:1:186"/>
          <p:cNvSpPr txBox="1"/>
          <p:nvPr/>
        </p:nvSpPr>
        <p:spPr>
          <a:xfrm>
            <a:off x="777240" y="1847088"/>
            <a:ext cx="438912" cy="438912"/>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1</a:t>
            </a:r>
            <a:endParaRPr lang="en-US" sz="1400" dirty="0"/>
          </a:p>
        </p:txBody>
      </p:sp>
      <p:sp>
        <p:nvSpPr>
          <p:cNvPr id="8" name="anim:1:187"/>
          <p:cNvSpPr txBox="1"/>
          <p:nvPr/>
        </p:nvSpPr>
        <p:spPr>
          <a:xfrm>
            <a:off x="1371600" y="1801368"/>
            <a:ext cx="2560320" cy="7772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Código da escola corrompido (2022-2024)</a:t>
            </a:r>
            <a:endParaRPr lang="en-US" sz="1500" dirty="0"/>
          </a:p>
        </p:txBody>
      </p:sp>
      <p:sp>
        <p:nvSpPr>
          <p:cNvPr id="9" name="anim:1:188"/>
          <p:cNvSpPr txBox="1"/>
          <p:nvPr/>
        </p:nvSpPr>
        <p:spPr>
          <a:xfrm>
            <a:off x="822960" y="2651760"/>
            <a:ext cx="3063240" cy="8686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recuperado pelo nome, tipo e distrito em 94,8% a 98,6% das matrículas</a:t>
            </a:r>
            <a:endParaRPr lang="en-US" sz="1400" dirty="0"/>
          </a:p>
        </p:txBody>
      </p:sp>
      <p:sp>
        <p:nvSpPr>
          <p:cNvPr id="10" name="anim:2:189"/>
          <p:cNvSpPr/>
          <p:nvPr/>
        </p:nvSpPr>
        <p:spPr>
          <a:xfrm>
            <a:off x="4297680" y="1600200"/>
            <a:ext cx="3566160" cy="2011680"/>
          </a:xfrm>
          <a:prstGeom prst="roundRect">
            <a:avLst>
              <a:gd name="adj" fmla="val 545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1" name="anim:2:190"/>
          <p:cNvSpPr/>
          <p:nvPr/>
        </p:nvSpPr>
        <p:spPr>
          <a:xfrm>
            <a:off x="4526280" y="1847088"/>
            <a:ext cx="438912" cy="438912"/>
          </a:xfrm>
          <a:prstGeom prst="ellipse">
            <a:avLst/>
          </a:prstGeom>
          <a:solidFill>
            <a:srgbClr val="F2A541"/>
          </a:solidFill>
          <a:ln w="12700">
            <a:solidFill>
              <a:srgbClr val="F2A541"/>
            </a:solidFill>
            <a:prstDash val="solid"/>
          </a:ln>
        </p:spPr>
      </p:sp>
      <p:sp>
        <p:nvSpPr>
          <p:cNvPr id="12" name="anim:2:191"/>
          <p:cNvSpPr txBox="1"/>
          <p:nvPr/>
        </p:nvSpPr>
        <p:spPr>
          <a:xfrm>
            <a:off x="4526280" y="1847088"/>
            <a:ext cx="438912" cy="438912"/>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2</a:t>
            </a:r>
            <a:endParaRPr lang="en-US" sz="1400" dirty="0"/>
          </a:p>
        </p:txBody>
      </p:sp>
      <p:sp>
        <p:nvSpPr>
          <p:cNvPr id="13" name="anim:2:192"/>
          <p:cNvSpPr txBox="1"/>
          <p:nvPr/>
        </p:nvSpPr>
        <p:spPr>
          <a:xfrm>
            <a:off x="5120640" y="1801368"/>
            <a:ext cx="2560320" cy="7772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Sete formatos da planilha de fila</a:t>
            </a:r>
            <a:endParaRPr lang="en-US" sz="1500" dirty="0"/>
          </a:p>
        </p:txBody>
      </p:sp>
      <p:sp>
        <p:nvSpPr>
          <p:cNvPr id="14" name="anim:2:193"/>
          <p:cNvSpPr txBox="1"/>
          <p:nvPr/>
        </p:nvSpPr>
        <p:spPr>
          <a:xfrm>
            <a:off x="4572000" y="2651760"/>
            <a:ext cx="3063240" cy="8686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colunas lidas do cabeçalho; significado de (1), (2), (3) lido do rodapé</a:t>
            </a:r>
            <a:endParaRPr lang="en-US" sz="1400" dirty="0"/>
          </a:p>
        </p:txBody>
      </p:sp>
      <p:sp>
        <p:nvSpPr>
          <p:cNvPr id="15" name="anim:3:194"/>
          <p:cNvSpPr/>
          <p:nvPr/>
        </p:nvSpPr>
        <p:spPr>
          <a:xfrm>
            <a:off x="8046720" y="1600200"/>
            <a:ext cx="3566160" cy="2011680"/>
          </a:xfrm>
          <a:prstGeom prst="roundRect">
            <a:avLst>
              <a:gd name="adj" fmla="val 545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6" name="anim:3:195"/>
          <p:cNvSpPr/>
          <p:nvPr/>
        </p:nvSpPr>
        <p:spPr>
          <a:xfrm>
            <a:off x="8275320" y="1847088"/>
            <a:ext cx="438912" cy="438912"/>
          </a:xfrm>
          <a:prstGeom prst="ellipse">
            <a:avLst/>
          </a:prstGeom>
          <a:solidFill>
            <a:srgbClr val="F2A541"/>
          </a:solidFill>
          <a:ln w="12700">
            <a:solidFill>
              <a:srgbClr val="F2A541"/>
            </a:solidFill>
            <a:prstDash val="solid"/>
          </a:ln>
        </p:spPr>
      </p:sp>
      <p:sp>
        <p:nvSpPr>
          <p:cNvPr id="17" name="anim:3:196"/>
          <p:cNvSpPr txBox="1"/>
          <p:nvPr/>
        </p:nvSpPr>
        <p:spPr>
          <a:xfrm>
            <a:off x="8275320" y="1847088"/>
            <a:ext cx="438912" cy="438912"/>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3</a:t>
            </a:r>
            <a:endParaRPr lang="en-US" sz="1400" dirty="0"/>
          </a:p>
        </p:txBody>
      </p:sp>
      <p:sp>
        <p:nvSpPr>
          <p:cNvPr id="18" name="anim:3:197"/>
          <p:cNvSpPr txBox="1"/>
          <p:nvPr/>
        </p:nvSpPr>
        <p:spPr>
          <a:xfrm>
            <a:off x="8869680" y="1801368"/>
            <a:ext cx="2560320" cy="7772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Turno não publicado em 2021</a:t>
            </a:r>
            <a:endParaRPr lang="en-US" sz="1500" dirty="0"/>
          </a:p>
        </p:txBody>
      </p:sp>
      <p:sp>
        <p:nvSpPr>
          <p:cNvPr id="19" name="anim:3:198"/>
          <p:cNvSpPr txBox="1"/>
          <p:nvPr/>
        </p:nvSpPr>
        <p:spPr>
          <a:xfrm>
            <a:off x="8321040" y="2651760"/>
            <a:ext cx="3063240" cy="8686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deduzido do código da turma, conferido pelos horários</a:t>
            </a:r>
            <a:endParaRPr lang="en-US" sz="1400" dirty="0"/>
          </a:p>
        </p:txBody>
      </p:sp>
      <p:sp>
        <p:nvSpPr>
          <p:cNvPr id="20" name="anim:4:199"/>
          <p:cNvSpPr/>
          <p:nvPr/>
        </p:nvSpPr>
        <p:spPr>
          <a:xfrm>
            <a:off x="548640" y="3840480"/>
            <a:ext cx="3566160" cy="2011680"/>
          </a:xfrm>
          <a:prstGeom prst="roundRect">
            <a:avLst>
              <a:gd name="adj" fmla="val 545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1" name="anim:4:200"/>
          <p:cNvSpPr/>
          <p:nvPr/>
        </p:nvSpPr>
        <p:spPr>
          <a:xfrm>
            <a:off x="777240" y="4087368"/>
            <a:ext cx="438912" cy="438912"/>
          </a:xfrm>
          <a:prstGeom prst="ellipse">
            <a:avLst/>
          </a:prstGeom>
          <a:solidFill>
            <a:srgbClr val="F2A541"/>
          </a:solidFill>
          <a:ln w="12700">
            <a:solidFill>
              <a:srgbClr val="F2A541"/>
            </a:solidFill>
            <a:prstDash val="solid"/>
          </a:ln>
        </p:spPr>
      </p:sp>
      <p:sp>
        <p:nvSpPr>
          <p:cNvPr id="22" name="anim:4:201"/>
          <p:cNvSpPr txBox="1"/>
          <p:nvPr/>
        </p:nvSpPr>
        <p:spPr>
          <a:xfrm>
            <a:off x="777240" y="4087368"/>
            <a:ext cx="438912" cy="438912"/>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4</a:t>
            </a:r>
            <a:endParaRPr lang="en-US" sz="1400" dirty="0"/>
          </a:p>
        </p:txBody>
      </p:sp>
      <p:sp>
        <p:nvSpPr>
          <p:cNvPr id="23" name="anim:4:202"/>
          <p:cNvSpPr txBox="1"/>
          <p:nvPr/>
        </p:nvSpPr>
        <p:spPr>
          <a:xfrm>
            <a:off x="1371600" y="4041648"/>
            <a:ext cx="2560320" cy="7772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Idade com vírgula, nula ou nascida em 1900</a:t>
            </a:r>
            <a:endParaRPr lang="en-US" sz="1500" dirty="0"/>
          </a:p>
        </p:txBody>
      </p:sp>
      <p:sp>
        <p:nvSpPr>
          <p:cNvPr id="24" name="anim:4:203"/>
          <p:cNvSpPr txBox="1"/>
          <p:nvPr/>
        </p:nvSpPr>
        <p:spPr>
          <a:xfrm>
            <a:off x="822960" y="4892040"/>
            <a:ext cx="3063240" cy="8686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recalculada pelo nascimento; impossível vira não informada</a:t>
            </a:r>
            <a:endParaRPr lang="en-US" sz="1400" dirty="0"/>
          </a:p>
        </p:txBody>
      </p:sp>
      <p:sp>
        <p:nvSpPr>
          <p:cNvPr id="25" name="anim:5:204"/>
          <p:cNvSpPr/>
          <p:nvPr/>
        </p:nvSpPr>
        <p:spPr>
          <a:xfrm>
            <a:off x="4297680" y="3840480"/>
            <a:ext cx="3566160" cy="2011680"/>
          </a:xfrm>
          <a:prstGeom prst="roundRect">
            <a:avLst>
              <a:gd name="adj" fmla="val 545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6" name="anim:5:205"/>
          <p:cNvSpPr/>
          <p:nvPr/>
        </p:nvSpPr>
        <p:spPr>
          <a:xfrm>
            <a:off x="4526280" y="4087368"/>
            <a:ext cx="438912" cy="438912"/>
          </a:xfrm>
          <a:prstGeom prst="ellipse">
            <a:avLst/>
          </a:prstGeom>
          <a:solidFill>
            <a:srgbClr val="F2A541"/>
          </a:solidFill>
          <a:ln w="12700">
            <a:solidFill>
              <a:srgbClr val="F2A541"/>
            </a:solidFill>
            <a:prstDash val="solid"/>
          </a:ln>
        </p:spPr>
      </p:sp>
      <p:sp>
        <p:nvSpPr>
          <p:cNvPr id="27" name="anim:5:206"/>
          <p:cNvSpPr txBox="1"/>
          <p:nvPr/>
        </p:nvSpPr>
        <p:spPr>
          <a:xfrm>
            <a:off x="4526280" y="4087368"/>
            <a:ext cx="438912" cy="438912"/>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5</a:t>
            </a:r>
            <a:endParaRPr lang="en-US" sz="1400" dirty="0"/>
          </a:p>
        </p:txBody>
      </p:sp>
      <p:sp>
        <p:nvSpPr>
          <p:cNvPr id="28" name="anim:5:207"/>
          <p:cNvSpPr txBox="1"/>
          <p:nvPr/>
        </p:nvSpPr>
        <p:spPr>
          <a:xfrm>
            <a:off x="5120640" y="4041648"/>
            <a:ext cx="2560320" cy="7772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Datas em cinco formatos, inclusive serial do Excel</a:t>
            </a:r>
            <a:endParaRPr lang="en-US" sz="1500" dirty="0"/>
          </a:p>
        </p:txBody>
      </p:sp>
      <p:sp>
        <p:nvSpPr>
          <p:cNvPr id="29" name="anim:5:208"/>
          <p:cNvSpPr txBox="1"/>
          <p:nvPr/>
        </p:nvSpPr>
        <p:spPr>
          <a:xfrm>
            <a:off x="4572000" y="4892040"/>
            <a:ext cx="3063240" cy="8686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todos lidos; fora da janela do ano letivo, descartadas</a:t>
            </a:r>
            <a:endParaRPr lang="en-US" sz="1400" dirty="0"/>
          </a:p>
        </p:txBody>
      </p:sp>
      <p:sp>
        <p:nvSpPr>
          <p:cNvPr id="30" name="anim:6:209"/>
          <p:cNvSpPr/>
          <p:nvPr/>
        </p:nvSpPr>
        <p:spPr>
          <a:xfrm>
            <a:off x="8046720" y="3840480"/>
            <a:ext cx="3566160" cy="2011680"/>
          </a:xfrm>
          <a:prstGeom prst="roundRect">
            <a:avLst>
              <a:gd name="adj" fmla="val 545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1" name="anim:6:210"/>
          <p:cNvSpPr/>
          <p:nvPr/>
        </p:nvSpPr>
        <p:spPr>
          <a:xfrm>
            <a:off x="8275320" y="4087368"/>
            <a:ext cx="438912" cy="438912"/>
          </a:xfrm>
          <a:prstGeom prst="ellipse">
            <a:avLst/>
          </a:prstGeom>
          <a:solidFill>
            <a:srgbClr val="F2A541"/>
          </a:solidFill>
          <a:ln w="12700">
            <a:solidFill>
              <a:srgbClr val="F2A541"/>
            </a:solidFill>
            <a:prstDash val="solid"/>
          </a:ln>
        </p:spPr>
      </p:sp>
      <p:sp>
        <p:nvSpPr>
          <p:cNvPr id="32" name="anim:6:211"/>
          <p:cNvSpPr txBox="1"/>
          <p:nvPr/>
        </p:nvSpPr>
        <p:spPr>
          <a:xfrm>
            <a:off x="8275320" y="4087368"/>
            <a:ext cx="438912" cy="438912"/>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6</a:t>
            </a:r>
            <a:endParaRPr lang="en-US" sz="1400" dirty="0"/>
          </a:p>
        </p:txBody>
      </p:sp>
      <p:sp>
        <p:nvSpPr>
          <p:cNvPr id="33" name="anim:6:212"/>
          <p:cNvSpPr txBox="1"/>
          <p:nvPr/>
        </p:nvSpPr>
        <p:spPr>
          <a:xfrm>
            <a:off x="8869680" y="4041648"/>
            <a:ext cx="2560320" cy="7772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Valores suprimidos pelo IBGE em setores pequenos</a:t>
            </a:r>
            <a:endParaRPr lang="en-US" sz="1500" dirty="0"/>
          </a:p>
        </p:txBody>
      </p:sp>
      <p:sp>
        <p:nvSpPr>
          <p:cNvPr id="34" name="anim:6:213"/>
          <p:cNvSpPr txBox="1"/>
          <p:nvPr/>
        </p:nvSpPr>
        <p:spPr>
          <a:xfrm>
            <a:off x="8321040" y="4892040"/>
            <a:ext cx="3063240" cy="8686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6.543 valores ficam nulos, nunca zero</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7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7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7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7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7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10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10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10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10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10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125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125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125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125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125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Grão e aditividade dos fatos</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2103120"/>
                <a:gridCol w="2834640"/>
                <a:gridCol w="3657600"/>
                <a:gridCol w="2468880"/>
              </a:tblGrid>
              <a:tr h="603504">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Tabela de fatos</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Grão</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Fatos</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Aditividade</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r>
              <a:tr h="603504">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Matrícula</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vínculo aluno-turma × ano</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quantidade (=1), dias de matrícula</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500" b="1" dirty="0">
                          <a:solidFill>
                            <a:srgbClr val="2E5EAA"/>
                          </a:solidFill>
                          <a:latin typeface="Calibri" pitchFamily="34" charset="0"/>
                          <a:ea typeface="Calibri" pitchFamily="34" charset="-122"/>
                          <a:cs typeface="Calibri" pitchFamily="34" charset="-120"/>
                        </a:rPr>
                        <a:t>aditivo</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603504">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Fila</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distrito × mês × etapa</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matrículas, em processo, demanda e categorias</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500" b="1" dirty="0">
                          <a:solidFill>
                            <a:srgbClr val="8A5300"/>
                          </a:solidFill>
                          <a:latin typeface="Calibri" pitchFamily="34" charset="0"/>
                          <a:ea typeface="Calibri" pitchFamily="34" charset="-122"/>
                          <a:cs typeface="Calibri" pitchFamily="34" charset="-120"/>
                        </a:rPr>
                        <a:t>semiaditivo (estoque)</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603504">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Desfecho</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escola × ano × série</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contagens por desfecho; taxas</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500" b="1" dirty="0">
                          <a:solidFill>
                            <a:srgbClr val="2E5EAA"/>
                          </a:solidFill>
                          <a:latin typeface="Calibri" pitchFamily="34" charset="0"/>
                          <a:ea typeface="Calibri" pitchFamily="34" charset="-122"/>
                          <a:cs typeface="Calibri" pitchFamily="34" charset="-120"/>
                        </a:rPr>
                        <a:t>aditivo; taxas não aditivas</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603504">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Ocupação de Turma</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turma × ano</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turmas, matrículas, ativas em junho; alunos por turma</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500" b="1" dirty="0">
                          <a:solidFill>
                            <a:srgbClr val="2E5EAA"/>
                          </a:solidFill>
                          <a:latin typeface="Calibri" pitchFamily="34" charset="0"/>
                          <a:ea typeface="Calibri" pitchFamily="34" charset="-122"/>
                          <a:cs typeface="Calibri" pitchFamily="34" charset="-120"/>
                        </a:rPr>
                        <a:t>aditivo; média não aditiva</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603504">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População</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setor censitário × faixa × Censo</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pessoas</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500" b="1" dirty="0">
                          <a:solidFill>
                            <a:srgbClr val="8A5300"/>
                          </a:solidFill>
                          <a:latin typeface="Calibri" pitchFamily="34" charset="0"/>
                          <a:ea typeface="Calibri" pitchFamily="34" charset="-122"/>
                          <a:cs typeface="Calibri" pitchFamily="34" charset="-120"/>
                        </a:rPr>
                        <a:t>semiaditivo (estoque)</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bl>
          </a:graphicData>
        </a:graphic>
      </p:graphicFrame>
      <p:sp>
        <p:nvSpPr>
          <p:cNvPr id="6" name="anim:1:214"/>
          <p:cNvSpPr/>
          <p:nvPr/>
        </p:nvSpPr>
        <p:spPr>
          <a:xfrm>
            <a:off x="548640" y="5440680"/>
            <a:ext cx="1417320" cy="310896"/>
          </a:xfrm>
          <a:prstGeom prst="roundRect">
            <a:avLst>
              <a:gd name="adj" fmla="val 50000"/>
            </a:avLst>
          </a:prstGeom>
          <a:solidFill>
            <a:srgbClr val="2E5EAA"/>
          </a:solidFill>
          <a:ln w="12700">
            <a:solidFill>
              <a:srgbClr val="2E5EAA"/>
            </a:solidFill>
            <a:prstDash val="solid"/>
          </a:ln>
        </p:spPr>
      </p:sp>
      <p:sp>
        <p:nvSpPr>
          <p:cNvPr id="7" name="anim:1:215"/>
          <p:cNvSpPr txBox="1"/>
          <p:nvPr/>
        </p:nvSpPr>
        <p:spPr>
          <a:xfrm>
            <a:off x="548640" y="5440680"/>
            <a:ext cx="141732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aditivo</a:t>
            </a:r>
            <a:endParaRPr lang="en-US" sz="1200" dirty="0"/>
          </a:p>
        </p:txBody>
      </p:sp>
      <p:sp>
        <p:nvSpPr>
          <p:cNvPr id="8" name="anim:1:216"/>
          <p:cNvSpPr txBox="1"/>
          <p:nvPr/>
        </p:nvSpPr>
        <p:spPr>
          <a:xfrm>
            <a:off x="2103120" y="5440680"/>
            <a:ext cx="2103120" cy="310896"/>
          </a:xfrm>
          <a:prstGeom prst="rect">
            <a:avLst/>
          </a:prstGeom>
          <a:noFill/>
          <a:ln/>
        </p:spPr>
        <p:txBody>
          <a:bodyPr wrap="square" lIns="0" tIns="0" rIns="0" bIns="0" rtlCol="0" anchor="ctr"/>
          <a:lstStyle/>
          <a:p>
            <a:pPr algn="l" indent="0" marL="0">
              <a:buNone/>
            </a:pPr>
            <a:r>
              <a:rPr lang="en-US" sz="1200" dirty="0">
                <a:solidFill>
                  <a:srgbClr val="566175"/>
                </a:solidFill>
                <a:latin typeface="Calibri" pitchFamily="34" charset="0"/>
                <a:ea typeface="Calibri" pitchFamily="34" charset="-122"/>
                <a:cs typeface="Calibri" pitchFamily="34" charset="-120"/>
              </a:rPr>
              <a:t>soma em todas as dimensões</a:t>
            </a:r>
            <a:endParaRPr lang="en-US" sz="1200" dirty="0"/>
          </a:p>
        </p:txBody>
      </p:sp>
      <p:sp>
        <p:nvSpPr>
          <p:cNvPr id="9" name="anim:2:217"/>
          <p:cNvSpPr/>
          <p:nvPr/>
        </p:nvSpPr>
        <p:spPr>
          <a:xfrm>
            <a:off x="4297680" y="5440680"/>
            <a:ext cx="1417320" cy="310896"/>
          </a:xfrm>
          <a:prstGeom prst="roundRect">
            <a:avLst>
              <a:gd name="adj" fmla="val 50000"/>
            </a:avLst>
          </a:prstGeom>
          <a:solidFill>
            <a:srgbClr val="8A5300"/>
          </a:solidFill>
          <a:ln w="12700">
            <a:solidFill>
              <a:srgbClr val="8A5300"/>
            </a:solidFill>
            <a:prstDash val="solid"/>
          </a:ln>
        </p:spPr>
      </p:sp>
      <p:sp>
        <p:nvSpPr>
          <p:cNvPr id="10" name="anim:2:218"/>
          <p:cNvSpPr txBox="1"/>
          <p:nvPr/>
        </p:nvSpPr>
        <p:spPr>
          <a:xfrm>
            <a:off x="4297680" y="5440680"/>
            <a:ext cx="141732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semiaditivo</a:t>
            </a:r>
            <a:endParaRPr lang="en-US" sz="1200" dirty="0"/>
          </a:p>
        </p:txBody>
      </p:sp>
      <p:sp>
        <p:nvSpPr>
          <p:cNvPr id="11" name="anim:2:219"/>
          <p:cNvSpPr txBox="1"/>
          <p:nvPr/>
        </p:nvSpPr>
        <p:spPr>
          <a:xfrm>
            <a:off x="5852160" y="5440680"/>
            <a:ext cx="2103120" cy="310896"/>
          </a:xfrm>
          <a:prstGeom prst="rect">
            <a:avLst/>
          </a:prstGeom>
          <a:noFill/>
          <a:ln/>
        </p:spPr>
        <p:txBody>
          <a:bodyPr wrap="square" lIns="0" tIns="0" rIns="0" bIns="0" rtlCol="0" anchor="ctr"/>
          <a:lstStyle/>
          <a:p>
            <a:pPr algn="l" indent="0" marL="0">
              <a:buNone/>
            </a:pPr>
            <a:r>
              <a:rPr lang="en-US" sz="1200" dirty="0">
                <a:solidFill>
                  <a:srgbClr val="566175"/>
                </a:solidFill>
                <a:latin typeface="Calibri" pitchFamily="34" charset="0"/>
                <a:ea typeface="Calibri" pitchFamily="34" charset="-122"/>
                <a:cs typeface="Calibri" pitchFamily="34" charset="-120"/>
              </a:rPr>
              <a:t>estoque: não soma no tempo</a:t>
            </a:r>
            <a:endParaRPr lang="en-US" sz="1200" dirty="0"/>
          </a:p>
        </p:txBody>
      </p:sp>
      <p:sp>
        <p:nvSpPr>
          <p:cNvPr id="12" name="anim:3:220"/>
          <p:cNvSpPr/>
          <p:nvPr/>
        </p:nvSpPr>
        <p:spPr>
          <a:xfrm>
            <a:off x="8046720" y="5440680"/>
            <a:ext cx="1417320" cy="310896"/>
          </a:xfrm>
          <a:prstGeom prst="roundRect">
            <a:avLst>
              <a:gd name="adj" fmla="val 50000"/>
            </a:avLst>
          </a:prstGeom>
          <a:solidFill>
            <a:srgbClr val="566175"/>
          </a:solidFill>
          <a:ln w="12700">
            <a:solidFill>
              <a:srgbClr val="566175"/>
            </a:solidFill>
            <a:prstDash val="solid"/>
          </a:ln>
        </p:spPr>
      </p:sp>
      <p:sp>
        <p:nvSpPr>
          <p:cNvPr id="13" name="anim:3:221"/>
          <p:cNvSpPr txBox="1"/>
          <p:nvPr/>
        </p:nvSpPr>
        <p:spPr>
          <a:xfrm>
            <a:off x="8046720" y="5440680"/>
            <a:ext cx="141732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não aditivo</a:t>
            </a:r>
            <a:endParaRPr lang="en-US" sz="1200" dirty="0"/>
          </a:p>
        </p:txBody>
      </p:sp>
      <p:sp>
        <p:nvSpPr>
          <p:cNvPr id="14" name="anim:3:222"/>
          <p:cNvSpPr txBox="1"/>
          <p:nvPr/>
        </p:nvSpPr>
        <p:spPr>
          <a:xfrm>
            <a:off x="9601200" y="5440680"/>
            <a:ext cx="2103120" cy="310896"/>
          </a:xfrm>
          <a:prstGeom prst="rect">
            <a:avLst/>
          </a:prstGeom>
          <a:noFill/>
          <a:ln/>
        </p:spPr>
        <p:txBody>
          <a:bodyPr wrap="square" lIns="0" tIns="0" rIns="0" bIns="0" rtlCol="0" anchor="ctr"/>
          <a:lstStyle/>
          <a:p>
            <a:pPr algn="l" indent="0" marL="0">
              <a:buNone/>
            </a:pPr>
            <a:r>
              <a:rPr lang="en-US" sz="1200" dirty="0">
                <a:solidFill>
                  <a:srgbClr val="566175"/>
                </a:solidFill>
                <a:latin typeface="Calibri" pitchFamily="34" charset="0"/>
                <a:ea typeface="Calibri" pitchFamily="34" charset="-122"/>
                <a:cs typeface="Calibri" pitchFamily="34" charset="-120"/>
              </a:rPr>
              <a:t>recalculado a partir das somas</a:t>
            </a:r>
            <a:endParaRPr lang="en-US" sz="12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00"/>
                                        <p:tgtEl>
                                          <p:spTgt spid="8"/>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00"/>
                                        <p:tgtEl>
                                          <p:spTgt spid="10"/>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00"/>
                                        <p:tgtEl>
                                          <p:spTgt spid="12"/>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Matrícula</a:t>
            </a:r>
            <a:endParaRPr lang="en-US" sz="3200" dirty="0"/>
          </a:p>
        </p:txBody>
      </p:sp>
      <p:sp>
        <p:nvSpPr>
          <p:cNvPr id="5" name="anim:1:223"/>
          <p:cNvSpPr/>
          <p:nvPr/>
        </p:nvSpPr>
        <p:spPr>
          <a:xfrm>
            <a:off x="548640" y="1463040"/>
            <a:ext cx="7498080" cy="4572000"/>
          </a:xfrm>
          <a:prstGeom prst="roundRect">
            <a:avLst>
              <a:gd name="adj" fmla="val 24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224" descr="Esquema estrela Matrícula: tabela de fatos Matrícula no centro, ligada a dez dimensões">    </p:cNvPr>
          <p:cNvPicPr>
            <a:picLocks noChangeAspect="1"/>
          </p:cNvPicPr>
          <p:nvPr/>
        </p:nvPicPr>
        <p:blipFill>
          <a:blip r:embed="rId1"/>
          <a:stretch>
            <a:fillRect/>
          </a:stretch>
        </p:blipFill>
        <p:spPr>
          <a:xfrm>
            <a:off x="1368738" y="1600200"/>
            <a:ext cx="5857883" cy="4297680"/>
          </a:xfrm>
          <a:prstGeom prst="rect">
            <a:avLst/>
          </a:prstGeom>
        </p:spPr>
      </p:pic>
      <p:sp>
        <p:nvSpPr>
          <p:cNvPr id="7" name="anim:2:225"/>
          <p:cNvSpPr/>
          <p:nvPr/>
        </p:nvSpPr>
        <p:spPr>
          <a:xfrm>
            <a:off x="8275320" y="1463040"/>
            <a:ext cx="3337560" cy="4572000"/>
          </a:xfrm>
          <a:prstGeom prst="roundRect">
            <a:avLst>
              <a:gd name="adj" fmla="val 3288"/>
            </a:avLst>
          </a:prstGeom>
          <a:solidFill>
            <a:srgbClr val="EEF2F8"/>
          </a:solidFill>
          <a:ln w="9525">
            <a:solidFill>
              <a:srgbClr val="EEF2F8"/>
            </a:solidFill>
            <a:prstDash val="solid"/>
          </a:ln>
        </p:spPr>
      </p:sp>
      <p:sp>
        <p:nvSpPr>
          <p:cNvPr id="8" name="anim:2:226"/>
          <p:cNvSpPr txBox="1"/>
          <p:nvPr/>
        </p:nvSpPr>
        <p:spPr>
          <a:xfrm>
            <a:off x="8458200" y="1645920"/>
            <a:ext cx="3017520" cy="425196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Data com dois papéis: início e fim da matrícula.</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Ocorrência contada por campo artificial (= 1), como em fatos sem fato.</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Bugigangas: Perfil, Deficiência, Situação.</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Degeneradas: id turma, código da matrícula.</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Escola: mudança lenta tipo 2.</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Hierarquias: dia ≤ mês ≤ trimestre ≤ semestre ≤ ano; série ≤ etapa ≤ nível; idade ≤ faixa IBGE.</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Fila</a:t>
            </a:r>
            <a:endParaRPr lang="en-US" sz="3200" dirty="0"/>
          </a:p>
        </p:txBody>
      </p:sp>
      <p:sp>
        <p:nvSpPr>
          <p:cNvPr id="5" name="anim:1:227"/>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228" descr="Esquema estrela Fila: tabela de fatos Fila ligada às dimensões Tempo, Território e Etapa">    </p:cNvPr>
          <p:cNvPicPr>
            <a:picLocks noChangeAspect="1"/>
          </p:cNvPicPr>
          <p:nvPr/>
        </p:nvPicPr>
        <p:blipFill>
          <a:blip r:embed="rId1"/>
          <a:stretch>
            <a:fillRect/>
          </a:stretch>
        </p:blipFill>
        <p:spPr>
          <a:xfrm>
            <a:off x="945583" y="1600200"/>
            <a:ext cx="10270354" cy="3429000"/>
          </a:xfrm>
          <a:prstGeom prst="rect">
            <a:avLst/>
          </a:prstGeom>
        </p:spPr>
      </p:pic>
      <p:sp>
        <p:nvSpPr>
          <p:cNvPr id="7" name="anim:2:229"/>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distrito × mês × etapa.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Estoque: SOMA no território e na etapa; um único mês no tempo.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Tempo: mês ≤ trimestre ≤ semestre ≤ ano e mês ≤ bimestre ≤ ano.</a:t>
            </a:r>
            <a:endParaRPr lang="en-US" sz="1500" dirty="0"/>
          </a:p>
        </p:txBody>
      </p:sp>
      <p:sp>
        <p:nvSpPr>
          <p:cNvPr id="8" name="anim:2:230"/>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Território: distrito ≤ DRE ≤ município ≤ UF.</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Formato da planilha: dimensão degenerada.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Desfecho</a:t>
            </a:r>
            <a:endParaRPr lang="en-US" sz="3200" dirty="0"/>
          </a:p>
        </p:txBody>
      </p:sp>
      <p:sp>
        <p:nvSpPr>
          <p:cNvPr id="5" name="anim:1:231"/>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232" descr="Esquema estrela Desfecho: tabela de fatos Desfecho ligada a Ano Letivo, Escola, Território e Série">    </p:cNvPr>
          <p:cNvPicPr>
            <a:picLocks noChangeAspect="1"/>
          </p:cNvPicPr>
          <p:nvPr/>
        </p:nvPicPr>
        <p:blipFill>
          <a:blip r:embed="rId1"/>
          <a:stretch>
            <a:fillRect/>
          </a:stretch>
        </p:blipFill>
        <p:spPr>
          <a:xfrm>
            <a:off x="747080" y="1600200"/>
            <a:ext cx="10667360" cy="3429000"/>
          </a:xfrm>
          <a:prstGeom prst="rect">
            <a:avLst/>
          </a:prstGeom>
        </p:spPr>
      </p:pic>
      <p:sp>
        <p:nvSpPr>
          <p:cNvPr id="7" name="anim:2:233"/>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escola × ano letivo × série.</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Fato agregado do fato Matrícula.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Contagens por desfecho: SOMA.</a:t>
            </a:r>
            <a:endParaRPr lang="en-US" sz="1500" dirty="0"/>
          </a:p>
        </p:txBody>
      </p:sp>
      <p:sp>
        <p:nvSpPr>
          <p:cNvPr id="8" name="anim:2:234"/>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Taxas derivadas, não aditivas: recalculadas pelas contagens.</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Série: série ≤ etapa ≤ nível.</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Ocupação de Turma</a:t>
            </a:r>
            <a:endParaRPr lang="en-US" sz="3200" dirty="0"/>
          </a:p>
        </p:txBody>
      </p:sp>
      <p:sp>
        <p:nvSpPr>
          <p:cNvPr id="5" name="anim:1:235"/>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236" descr="Esquema estrela Ocupação de Turma: tabela de fatos ligada a Ano Letivo, Escola, Território, Série e Turno">    </p:cNvPr>
          <p:cNvPicPr>
            <a:picLocks noChangeAspect="1"/>
          </p:cNvPicPr>
          <p:nvPr/>
        </p:nvPicPr>
        <p:blipFill>
          <a:blip r:embed="rId1"/>
          <a:stretch>
            <a:fillRect/>
          </a:stretch>
        </p:blipFill>
        <p:spPr>
          <a:xfrm>
            <a:off x="2088886" y="1600200"/>
            <a:ext cx="7983747" cy="3429000"/>
          </a:xfrm>
          <a:prstGeom prst="rect">
            <a:avLst/>
          </a:prstGeom>
        </p:spPr>
      </p:pic>
      <p:sp>
        <p:nvSpPr>
          <p:cNvPr id="7" name="anim:2:237"/>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turma × ano letivo.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Turmas (= 1), matrículas e ativas em 30/06: SOMA.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Alunos por turma: derivado, recalculado pelas somas.</a:t>
            </a:r>
            <a:endParaRPr lang="en-US" sz="1500" dirty="0"/>
          </a:p>
        </p:txBody>
      </p:sp>
      <p:sp>
        <p:nvSpPr>
          <p:cNvPr id="8" name="anim:2:238"/>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Capacidade não publicada por nenhuma fonte: não é estimada.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id turma: dimensão degenerada.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População</a:t>
            </a:r>
            <a:endParaRPr lang="en-US" sz="3200" dirty="0"/>
          </a:p>
        </p:txBody>
      </p:sp>
      <p:sp>
        <p:nvSpPr>
          <p:cNvPr id="5" name="anim:1:239"/>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240" descr="Esquema estrela População: tabela de fatos População ligada a Tempo, Setor Censitário, Território e Faixa Etária">    </p:cNvPr>
          <p:cNvPicPr>
            <a:picLocks noChangeAspect="1"/>
          </p:cNvPicPr>
          <p:nvPr/>
        </p:nvPicPr>
        <p:blipFill>
          <a:blip r:embed="rId1"/>
          <a:stretch>
            <a:fillRect/>
          </a:stretch>
        </p:blipFill>
        <p:spPr>
          <a:xfrm>
            <a:off x="1272367" y="1600200"/>
            <a:ext cx="9616786" cy="3429000"/>
          </a:xfrm>
          <a:prstGeom prst="rect">
            <a:avLst/>
          </a:prstGeom>
        </p:spPr>
      </p:pic>
      <p:sp>
        <p:nvSpPr>
          <p:cNvPr id="7" name="anim:2:241"/>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setor censitário × faixa etária × data do Censo.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Estoque: SOMA entre setores e faixas, não no tempo.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Setor censitário ≤ distrito ≤ DRE ≤ município ≤ UF.</a:t>
            </a:r>
            <a:endParaRPr lang="en-US" sz="1500" dirty="0"/>
          </a:p>
        </p:txBody>
      </p:sp>
      <p:sp>
        <p:nvSpPr>
          <p:cNvPr id="8" name="anim:2:242"/>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Faixa Etária: rollup encolhido de Idade.</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Valor suprimido pelo IBGE fica nulo.</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Constelação de fatos</a:t>
            </a:r>
            <a:endParaRPr lang="en-US" sz="3200" dirty="0"/>
          </a:p>
        </p:txBody>
      </p:sp>
      <p:sp>
        <p:nvSpPr>
          <p:cNvPr id="5" name="anim:1:243"/>
          <p:cNvSpPr/>
          <p:nvPr/>
        </p:nvSpPr>
        <p:spPr>
          <a:xfrm>
            <a:off x="548640" y="1463040"/>
            <a:ext cx="11064240" cy="4389120"/>
          </a:xfrm>
          <a:prstGeom prst="roundRect">
            <a:avLst>
              <a:gd name="adj" fmla="val 25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244" descr="Constelação de fatos: cinco tabelas de fatos e catorze dimensões compartilhadas">    </p:cNvPr>
          <p:cNvPicPr>
            <a:picLocks noChangeAspect="1"/>
          </p:cNvPicPr>
          <p:nvPr/>
        </p:nvPicPr>
        <p:blipFill>
          <a:blip r:embed="rId1"/>
          <a:stretch>
            <a:fillRect/>
          </a:stretch>
        </p:blipFill>
        <p:spPr>
          <a:xfrm>
            <a:off x="1139015" y="1600200"/>
            <a:ext cx="9883491" cy="4114800"/>
          </a:xfrm>
          <a:prstGeom prst="rect">
            <a:avLst/>
          </a:prstGeom>
        </p:spPr>
      </p:pic>
      <p:sp>
        <p:nvSpPr>
          <p:cNvPr id="7" name="anim:2:245"/>
          <p:cNvSpPr txBox="1"/>
          <p:nvPr/>
        </p:nvSpPr>
        <p:spPr>
          <a:xfrm>
            <a:off x="548640" y="5943600"/>
            <a:ext cx="11064240" cy="365760"/>
          </a:xfrm>
          <a:prstGeom prst="rect">
            <a:avLst/>
          </a:prstGeom>
          <a:noFill/>
          <a:ln/>
        </p:spPr>
        <p:txBody>
          <a:bodyPr wrap="square" lIns="0" tIns="0" rIns="0" bIns="0" rtlCol="0" anchor="t"/>
          <a:lstStyle/>
          <a:p>
            <a:pPr algn="l" indent="0" marL="0">
              <a:buNone/>
            </a:pPr>
            <a:r>
              <a:rPr lang="en-US" sz="1300" i="1" dirty="0">
                <a:solidFill>
                  <a:srgbClr val="566175"/>
                </a:solidFill>
                <a:latin typeface="Calibri" pitchFamily="34" charset="0"/>
                <a:ea typeface="Calibri" pitchFamily="34" charset="-122"/>
                <a:cs typeface="Calibri" pitchFamily="34" charset="-120"/>
              </a:rPr>
              <a:t>Processo de projeto: matriz de barramento (fato × dimensão), dimensões conformadas e, onde os grãos diferem, rollups encolhidos (tracejado).</a:t>
            </a:r>
            <a:endParaRPr lang="en-US" sz="13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Oito consultas OLAP</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640080"/>
                <a:gridCol w="1828800"/>
                <a:gridCol w="5486400"/>
                <a:gridCol w="3108960"/>
              </a:tblGrid>
              <a:tr h="493776">
                <a:tc>
                  <a:txBody>
                    <a:bodyPr/>
                    <a:lstStyle/>
                    <a:p>
                      <a:pPr indent="0" marL="0">
                        <a:buNone/>
                      </a:pP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Operação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Pergunta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Fatos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C1</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drill-down</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de creche: município → DRE → distrito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C2</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roll-up</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matrículas: etapa → nível → total, ano a ano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C3</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slice and dice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creche por rede e jornada, 2019 e 2024</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C4</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pivot</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DRE nas linhas, jornada nas colunas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C5</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8A5300"/>
                          </a:solidFill>
                          <a:latin typeface="Calibri" pitchFamily="34" charset="0"/>
                          <a:ea typeface="Calibri" pitchFamily="34" charset="-122"/>
                          <a:cs typeface="Calibri" pitchFamily="34" charset="-120"/>
                        </a:rPr>
                        <a:t>drill-across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contra matrícula ativa em junho, por distrito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C6</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8A5300"/>
                          </a:solidFill>
                          <a:latin typeface="Calibri" pitchFamily="34" charset="0"/>
                          <a:ea typeface="Calibri" pitchFamily="34" charset="-122"/>
                          <a:cs typeface="Calibri" pitchFamily="34" charset="-120"/>
                        </a:rPr>
                        <a:t>drill-across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de creche e abandono no fundamental, por DRE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Matrícula, Desfecho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C7</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8A5300"/>
                          </a:solidFill>
                          <a:latin typeface="Calibri" pitchFamily="34" charset="0"/>
                          <a:ea typeface="Calibri" pitchFamily="34" charset="-122"/>
                          <a:cs typeface="Calibri" pitchFamily="34" charset="-120"/>
                        </a:rPr>
                        <a:t>drill-across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crianças de 0 a 4 anos: residentes, matriculadas e na fila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População, Matrícula, Fila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C8</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drill-down</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alunos por turma: município → DRE → distrito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Ocupação de Turma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bl>
          </a:graphicData>
        </a:graphic>
      </p:graphicFrame>
      <p:sp>
        <p:nvSpPr>
          <p:cNvPr id="6" name="anim:1:246"/>
          <p:cNvSpPr txBox="1"/>
          <p:nvPr/>
        </p:nvSpPr>
        <p:spPr>
          <a:xfrm>
            <a:off x="548640" y="5989320"/>
            <a:ext cx="11064240" cy="292608"/>
          </a:xfrm>
          <a:prstGeom prst="rect">
            <a:avLst/>
          </a:prstGeom>
          <a:noFill/>
          <a:ln/>
        </p:spPr>
        <p:txBody>
          <a:bodyPr wrap="square" lIns="0" tIns="0" rIns="0" bIns="0" rtlCol="0" anchor="t"/>
          <a:lstStyle/>
          <a:p>
            <a:pPr algn="l" indent="0" marL="0">
              <a:buNone/>
            </a:pPr>
            <a:r>
              <a:rPr lang="en-US" sz="1300" b="1" dirty="0">
                <a:solidFill>
                  <a:srgbClr val="1B2A4A"/>
                </a:solidFill>
                <a:latin typeface="Calibri" pitchFamily="34" charset="0"/>
                <a:ea typeface="Calibri" pitchFamily="34" charset="-122"/>
                <a:cs typeface="Calibri" pitchFamily="34" charset="-120"/>
              </a:rPr>
              <a:t>Exigido: 2 roll-up ou drill-down, 1 slice and dice, 1 pivot, 1 drill-across. Feito: 3, 1, 1 e 3.</a:t>
            </a:r>
            <a:endParaRPr lang="en-US" sz="13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Resultados: fila e oferta de creche</a:t>
            </a:r>
            <a:endParaRPr lang="en-US" sz="3200" dirty="0"/>
          </a:p>
        </p:txBody>
      </p:sp>
      <p:graphicFrame>
        <p:nvGraphicFramePr>
          <p:cNvPr id="5" name="Chart 0" descr=""/>
          <p:cNvGraphicFramePr/>
          <p:nvPr/>
        </p:nvGraphicFramePr>
        <p:xfrm>
          <a:off x="457200" y="1417320"/>
          <a:ext cx="5852160" cy="457200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400800" y="1417320"/>
          <a:ext cx="5303520" cy="2971800"/>
        </p:xfrm>
        <a:graphic xmlns:a="http://schemas.openxmlformats.org/drawingml/2006/main">
          <a:graphicData uri="http://schemas.openxmlformats.org/drawingml/2006/chart">
            <c:chart xmlns:c="http://schemas.openxmlformats.org/drawingml/2006/chart" r:id="rId2"/>
          </a:graphicData>
        </a:graphic>
      </p:graphicFrame>
      <p:sp>
        <p:nvSpPr>
          <p:cNvPr id="7" name="anim:1:247"/>
          <p:cNvSpPr/>
          <p:nvPr/>
        </p:nvSpPr>
        <p:spPr>
          <a:xfrm>
            <a:off x="6446520" y="4526280"/>
            <a:ext cx="5166360" cy="1417320"/>
          </a:xfrm>
          <a:prstGeom prst="roundRect">
            <a:avLst>
              <a:gd name="adj" fmla="val 7742"/>
            </a:avLst>
          </a:prstGeom>
          <a:solidFill>
            <a:srgbClr val="EEF2F8"/>
          </a:solidFill>
          <a:ln w="9525">
            <a:solidFill>
              <a:srgbClr val="EEF2F8"/>
            </a:solidFill>
            <a:prstDash val="solid"/>
          </a:ln>
        </p:spPr>
      </p:sp>
      <p:sp>
        <p:nvSpPr>
          <p:cNvPr id="8" name="anim:1:248"/>
          <p:cNvSpPr txBox="1"/>
          <p:nvPr/>
        </p:nvSpPr>
        <p:spPr>
          <a:xfrm>
            <a:off x="6675120" y="4617720"/>
            <a:ext cx="1554480" cy="1234440"/>
          </a:xfrm>
          <a:prstGeom prst="rect">
            <a:avLst/>
          </a:prstGeom>
          <a:noFill/>
          <a:ln/>
        </p:spPr>
        <p:txBody>
          <a:bodyPr wrap="square" lIns="0" tIns="0" rIns="0" bIns="0" rtlCol="0" anchor="ctr"/>
          <a:lstStyle/>
          <a:p>
            <a:pPr algn="l" indent="0" marL="0">
              <a:buNone/>
            </a:pPr>
            <a:r>
              <a:rPr lang="en-US" sz="4000" b="1" dirty="0">
                <a:solidFill>
                  <a:srgbClr val="2E5EAA"/>
                </a:solidFill>
                <a:latin typeface="Calibri" pitchFamily="34" charset="0"/>
                <a:ea typeface="Calibri" pitchFamily="34" charset="-122"/>
                <a:cs typeface="Calibri" pitchFamily="34" charset="-120"/>
              </a:rPr>
              <a:t>85%</a:t>
            </a:r>
            <a:endParaRPr lang="en-US" sz="4000" dirty="0"/>
          </a:p>
        </p:txBody>
      </p:sp>
      <p:sp>
        <p:nvSpPr>
          <p:cNvPr id="9" name="anim:1:249"/>
          <p:cNvSpPr txBox="1"/>
          <p:nvPr/>
        </p:nvSpPr>
        <p:spPr>
          <a:xfrm>
            <a:off x="8275320" y="4617720"/>
            <a:ext cx="3200400" cy="123444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da creche é conveniada, quase toda em jornada integral, em 2019 e 2024 (consulta 3).</a:t>
            </a:r>
            <a:endParaRPr lang="en-US" sz="1400" dirty="0"/>
          </a:p>
        </p:txBody>
      </p:sp>
      <p:sp>
        <p:nvSpPr>
          <p:cNvPr id="10" name="Text 5"/>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SME-SP, Demanda Registrada e Matrículas e Microdados de Matrículas; consultas 3 e 5.</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Resultados: população e ocupação das turmas</a:t>
            </a:r>
            <a:endParaRPr lang="en-US" sz="3200" dirty="0"/>
          </a:p>
        </p:txBody>
      </p:sp>
      <p:sp>
        <p:nvSpPr>
          <p:cNvPr id="5" name="anim:1:250"/>
          <p:cNvSpPr/>
          <p:nvPr/>
        </p:nvSpPr>
        <p:spPr>
          <a:xfrm>
            <a:off x="548640" y="1463040"/>
            <a:ext cx="5440680" cy="2377440"/>
          </a:xfrm>
          <a:prstGeom prst="roundRect">
            <a:avLst>
              <a:gd name="adj" fmla="val 461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251"/>
          <p:cNvSpPr txBox="1"/>
          <p:nvPr/>
        </p:nvSpPr>
        <p:spPr>
          <a:xfrm>
            <a:off x="822960" y="1664208"/>
            <a:ext cx="4846320" cy="274320"/>
          </a:xfrm>
          <a:prstGeom prst="rect">
            <a:avLst/>
          </a:prstGeom>
          <a:noFill/>
          <a:ln/>
        </p:spPr>
        <p:txBody>
          <a:bodyPr wrap="square" lIns="0" tIns="0" rIns="0" bIns="0" rtlCol="0" anchor="t"/>
          <a:lstStyle/>
          <a:p>
            <a:pPr algn="l" indent="0" marL="0">
              <a:buNone/>
            </a:pPr>
            <a:r>
              <a:rPr lang="en-US" sz="1200" b="1" spc="100" kern="0" dirty="0">
                <a:solidFill>
                  <a:srgbClr val="8A5300"/>
                </a:solidFill>
                <a:latin typeface="Calibri" pitchFamily="34" charset="0"/>
                <a:ea typeface="Calibri" pitchFamily="34" charset="-122"/>
                <a:cs typeface="Calibri" pitchFamily="34" charset="-120"/>
              </a:rPr>
              <a:t>CONSULTA 7 · 31/07/2022</a:t>
            </a:r>
            <a:endParaRPr lang="en-US" sz="1200" dirty="0"/>
          </a:p>
        </p:txBody>
      </p:sp>
      <p:sp>
        <p:nvSpPr>
          <p:cNvPr id="7" name="anim:1:252"/>
          <p:cNvSpPr txBox="1"/>
          <p:nvPr/>
        </p:nvSpPr>
        <p:spPr>
          <a:xfrm>
            <a:off x="822960" y="1965960"/>
            <a:ext cx="1463040" cy="960120"/>
          </a:xfrm>
          <a:prstGeom prst="rect">
            <a:avLst/>
          </a:prstGeom>
          <a:noFill/>
          <a:ln/>
        </p:spPr>
        <p:txBody>
          <a:bodyPr wrap="square" lIns="0" tIns="0" rIns="0" bIns="0" rtlCol="0" anchor="t"/>
          <a:lstStyle/>
          <a:p>
            <a:pPr algn="l" indent="0" marL="0">
              <a:buNone/>
            </a:pPr>
            <a:r>
              <a:rPr lang="en-US" sz="6000" b="1" dirty="0">
                <a:solidFill>
                  <a:srgbClr val="2E5EAA"/>
                </a:solidFill>
                <a:latin typeface="Calibri" pitchFamily="34" charset="0"/>
                <a:ea typeface="Calibri" pitchFamily="34" charset="-122"/>
                <a:cs typeface="Calibri" pitchFamily="34" charset="-120"/>
              </a:rPr>
              <a:t>86</a:t>
            </a:r>
            <a:endParaRPr lang="en-US" sz="6000" dirty="0"/>
          </a:p>
        </p:txBody>
      </p:sp>
      <p:sp>
        <p:nvSpPr>
          <p:cNvPr id="8" name="anim:1:253"/>
          <p:cNvSpPr txBox="1"/>
          <p:nvPr/>
        </p:nvSpPr>
        <p:spPr>
          <a:xfrm>
            <a:off x="2240280" y="2148840"/>
            <a:ext cx="3566160" cy="685800"/>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matrículas por 100 crianças de 0 a 4 anos</a:t>
            </a:r>
            <a:endParaRPr lang="en-US" sz="1700" dirty="0"/>
          </a:p>
        </p:txBody>
      </p:sp>
      <p:sp>
        <p:nvSpPr>
          <p:cNvPr id="9" name="anim:1:254"/>
          <p:cNvSpPr txBox="1"/>
          <p:nvPr/>
        </p:nvSpPr>
        <p:spPr>
          <a:xfrm>
            <a:off x="822960" y="3063240"/>
            <a:ext cx="4937760" cy="548640"/>
          </a:xfrm>
          <a:prstGeom prst="rect">
            <a:avLst/>
          </a:prstGeom>
          <a:noFill/>
          <a:ln/>
        </p:spPr>
        <p:txBody>
          <a:bodyPr wrap="square" lIns="0" tIns="0" rIns="0" bIns="0" rtlCol="0" anchor="t"/>
          <a:lstStyle/>
          <a:p>
            <a:pPr algn="l" indent="0" marL="0">
              <a:buNone/>
            </a:pPr>
            <a:r>
              <a:rPr lang="en-US" sz="1400" dirty="0">
                <a:solidFill>
                  <a:srgbClr val="566175"/>
                </a:solidFill>
                <a:latin typeface="Calibri" pitchFamily="34" charset="0"/>
                <a:ea typeface="Calibri" pitchFamily="34" charset="-122"/>
                <a:cs typeface="Calibri" pitchFamily="34" charset="-120"/>
              </a:rPr>
              <a:t>514.131 matrículas ativas para 598.406 crianças residentes.</a:t>
            </a:r>
            <a:endParaRPr lang="en-US" sz="1400" dirty="0"/>
          </a:p>
        </p:txBody>
      </p:sp>
      <p:sp>
        <p:nvSpPr>
          <p:cNvPr id="10" name="anim:2:255"/>
          <p:cNvSpPr/>
          <p:nvPr/>
        </p:nvSpPr>
        <p:spPr>
          <a:xfrm>
            <a:off x="548640" y="4023360"/>
            <a:ext cx="5440680" cy="1965960"/>
          </a:xfrm>
          <a:prstGeom prst="roundRect">
            <a:avLst>
              <a:gd name="adj" fmla="val 5581"/>
            </a:avLst>
          </a:prstGeom>
          <a:solidFill>
            <a:srgbClr val="EEF2F8"/>
          </a:solidFill>
          <a:ln w="9525">
            <a:solidFill>
              <a:srgbClr val="EEF2F8"/>
            </a:solidFill>
            <a:prstDash val="solid"/>
          </a:ln>
        </p:spPr>
      </p:sp>
      <p:sp>
        <p:nvSpPr>
          <p:cNvPr id="11" name="anim:2:256"/>
          <p:cNvSpPr txBox="1"/>
          <p:nvPr/>
        </p:nvSpPr>
        <p:spPr>
          <a:xfrm>
            <a:off x="822960" y="4187952"/>
            <a:ext cx="4846320" cy="365760"/>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Por distrito, longe da média</a:t>
            </a:r>
            <a:endParaRPr lang="en-US" sz="1700" dirty="0"/>
          </a:p>
        </p:txBody>
      </p:sp>
      <p:sp>
        <p:nvSpPr>
          <p:cNvPr id="12" name="anim:2:257"/>
          <p:cNvSpPr txBox="1"/>
          <p:nvPr/>
        </p:nvSpPr>
        <p:spPr>
          <a:xfrm>
            <a:off x="822960" y="4617720"/>
            <a:ext cx="4937760" cy="128016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25 distritos com menos de 50 matrículas por 100 crianças; outros 25 com mais de 100. A matrícula conta onde a escola fica; a população, onde a criança mora.</a:t>
            </a:r>
            <a:endParaRPr lang="en-US" sz="1400" dirty="0"/>
          </a:p>
        </p:txBody>
      </p:sp>
      <p:graphicFrame>
        <p:nvGraphicFramePr>
          <p:cNvPr id="13" name="Chart 0" descr=""/>
          <p:cNvGraphicFramePr/>
          <p:nvPr/>
        </p:nvGraphicFramePr>
        <p:xfrm>
          <a:off x="6263640" y="1417320"/>
          <a:ext cx="5440680" cy="4617720"/>
        </p:xfrm>
        <a:graphic xmlns:a="http://schemas.openxmlformats.org/drawingml/2006/main">
          <a:graphicData uri="http://schemas.openxmlformats.org/drawingml/2006/chart">
            <c:chart xmlns:c="http://schemas.openxmlformats.org/drawingml/2006/chart" r:id="rId1"/>
          </a:graphicData>
        </a:graphic>
      </p:graphicFrame>
      <p:sp>
        <p:nvSpPr>
          <p:cNvPr id="14" name="Text 10"/>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Censo 2022 (IBGE) e Microdados de Matrículas (SME-SP); consultas 7 e 8.</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Decisões de projeto em destaque</a:t>
            </a:r>
            <a:endParaRPr lang="en-US" sz="3200" dirty="0"/>
          </a:p>
        </p:txBody>
      </p:sp>
      <p:sp>
        <p:nvSpPr>
          <p:cNvPr id="5" name="anim:1:258"/>
          <p:cNvSpPr/>
          <p:nvPr/>
        </p:nvSpPr>
        <p:spPr>
          <a:xfrm>
            <a:off x="548640" y="1508760"/>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259"/>
          <p:cNvSpPr/>
          <p:nvPr/>
        </p:nvSpPr>
        <p:spPr>
          <a:xfrm>
            <a:off x="822960" y="1911096"/>
            <a:ext cx="548640" cy="548640"/>
          </a:xfrm>
          <a:prstGeom prst="ellipse">
            <a:avLst/>
          </a:prstGeom>
          <a:solidFill>
            <a:srgbClr val="F2A541"/>
          </a:solidFill>
          <a:ln w="12700">
            <a:solidFill>
              <a:srgbClr val="F2A541"/>
            </a:solidFill>
            <a:prstDash val="solid"/>
          </a:ln>
        </p:spPr>
      </p:sp>
      <p:sp>
        <p:nvSpPr>
          <p:cNvPr id="7" name="anim:1:260"/>
          <p:cNvSpPr txBox="1"/>
          <p:nvPr/>
        </p:nvSpPr>
        <p:spPr>
          <a:xfrm>
            <a:off x="822960" y="1911096"/>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1</a:t>
            </a:r>
            <a:endParaRPr lang="en-US" sz="1500" dirty="0"/>
          </a:p>
        </p:txBody>
      </p:sp>
      <p:sp>
        <p:nvSpPr>
          <p:cNvPr id="8" name="anim:1:261"/>
          <p:cNvSpPr txBox="1"/>
          <p:nvPr/>
        </p:nvSpPr>
        <p:spPr>
          <a:xfrm>
            <a:off x="1600200" y="1691640"/>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Grão mais fino na matrícula</a:t>
            </a:r>
            <a:endParaRPr lang="en-US" sz="1700" dirty="0"/>
          </a:p>
        </p:txBody>
      </p:sp>
      <p:sp>
        <p:nvSpPr>
          <p:cNvPr id="9" name="anim:1:262"/>
          <p:cNvSpPr txBox="1"/>
          <p:nvPr/>
        </p:nvSpPr>
        <p:spPr>
          <a:xfrm>
            <a:off x="1600200" y="2112264"/>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vínculo aluno-turma: preserva perfil e desfecho de cada aluno</a:t>
            </a:r>
            <a:endParaRPr lang="en-US" sz="1400" dirty="0"/>
          </a:p>
        </p:txBody>
      </p:sp>
      <p:sp>
        <p:nvSpPr>
          <p:cNvPr id="10" name="anim:2:263"/>
          <p:cNvSpPr/>
          <p:nvPr/>
        </p:nvSpPr>
        <p:spPr>
          <a:xfrm>
            <a:off x="6172200" y="1508760"/>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1" name="anim:2:264"/>
          <p:cNvSpPr/>
          <p:nvPr/>
        </p:nvSpPr>
        <p:spPr>
          <a:xfrm>
            <a:off x="6446520" y="1911096"/>
            <a:ext cx="548640" cy="548640"/>
          </a:xfrm>
          <a:prstGeom prst="ellipse">
            <a:avLst/>
          </a:prstGeom>
          <a:solidFill>
            <a:srgbClr val="F2A541"/>
          </a:solidFill>
          <a:ln w="12700">
            <a:solidFill>
              <a:srgbClr val="F2A541"/>
            </a:solidFill>
            <a:prstDash val="solid"/>
          </a:ln>
        </p:spPr>
      </p:sp>
      <p:sp>
        <p:nvSpPr>
          <p:cNvPr id="12" name="anim:2:265"/>
          <p:cNvSpPr txBox="1"/>
          <p:nvPr/>
        </p:nvSpPr>
        <p:spPr>
          <a:xfrm>
            <a:off x="6446520" y="1911096"/>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2</a:t>
            </a:r>
            <a:endParaRPr lang="en-US" sz="1500" dirty="0"/>
          </a:p>
        </p:txBody>
      </p:sp>
      <p:sp>
        <p:nvSpPr>
          <p:cNvPr id="13" name="anim:2:266"/>
          <p:cNvSpPr txBox="1"/>
          <p:nvPr/>
        </p:nvSpPr>
        <p:spPr>
          <a:xfrm>
            <a:off x="7223760" y="1691640"/>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Rollups encolhidos</a:t>
            </a:r>
            <a:endParaRPr lang="en-US" sz="1700" dirty="0"/>
          </a:p>
        </p:txBody>
      </p:sp>
      <p:sp>
        <p:nvSpPr>
          <p:cNvPr id="14" name="anim:2:267"/>
          <p:cNvSpPr txBox="1"/>
          <p:nvPr/>
        </p:nvSpPr>
        <p:spPr>
          <a:xfrm>
            <a:off x="7223760" y="2112264"/>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cada fato mantém o seu grão; Etapa, Tempo, Faixa Etária e Território conformam</a:t>
            </a:r>
            <a:endParaRPr lang="en-US" sz="1400" dirty="0"/>
          </a:p>
        </p:txBody>
      </p:sp>
      <p:sp>
        <p:nvSpPr>
          <p:cNvPr id="15" name="anim:3:268"/>
          <p:cNvSpPr/>
          <p:nvPr/>
        </p:nvSpPr>
        <p:spPr>
          <a:xfrm>
            <a:off x="548640" y="3044952"/>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6" name="anim:3:269"/>
          <p:cNvSpPr/>
          <p:nvPr/>
        </p:nvSpPr>
        <p:spPr>
          <a:xfrm>
            <a:off x="822960" y="3447288"/>
            <a:ext cx="548640" cy="548640"/>
          </a:xfrm>
          <a:prstGeom prst="ellipse">
            <a:avLst/>
          </a:prstGeom>
          <a:solidFill>
            <a:srgbClr val="F2A541"/>
          </a:solidFill>
          <a:ln w="12700">
            <a:solidFill>
              <a:srgbClr val="F2A541"/>
            </a:solidFill>
            <a:prstDash val="solid"/>
          </a:ln>
        </p:spPr>
      </p:sp>
      <p:sp>
        <p:nvSpPr>
          <p:cNvPr id="17" name="anim:3:270"/>
          <p:cNvSpPr txBox="1"/>
          <p:nvPr/>
        </p:nvSpPr>
        <p:spPr>
          <a:xfrm>
            <a:off x="822960" y="3447288"/>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3</a:t>
            </a:r>
            <a:endParaRPr lang="en-US" sz="1500" dirty="0"/>
          </a:p>
        </p:txBody>
      </p:sp>
      <p:sp>
        <p:nvSpPr>
          <p:cNvPr id="18" name="anim:3:271"/>
          <p:cNvSpPr txBox="1"/>
          <p:nvPr/>
        </p:nvSpPr>
        <p:spPr>
          <a:xfrm>
            <a:off x="1600200" y="3227832"/>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Nulo não é zero</a:t>
            </a:r>
            <a:endParaRPr lang="en-US" sz="1700" dirty="0"/>
          </a:p>
        </p:txBody>
      </p:sp>
      <p:sp>
        <p:nvSpPr>
          <p:cNvPr id="19" name="anim:3:272"/>
          <p:cNvSpPr txBox="1"/>
          <p:nvPr/>
        </p:nvSpPr>
        <p:spPr>
          <a:xfrm>
            <a:off x="1600200" y="3648456"/>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medida não publicada fica nula; zero faria a fila sumir</a:t>
            </a:r>
            <a:endParaRPr lang="en-US" sz="1400" dirty="0"/>
          </a:p>
        </p:txBody>
      </p:sp>
      <p:sp>
        <p:nvSpPr>
          <p:cNvPr id="20" name="anim:4:273"/>
          <p:cNvSpPr/>
          <p:nvPr/>
        </p:nvSpPr>
        <p:spPr>
          <a:xfrm>
            <a:off x="6172200" y="3044952"/>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1" name="anim:4:274"/>
          <p:cNvSpPr/>
          <p:nvPr/>
        </p:nvSpPr>
        <p:spPr>
          <a:xfrm>
            <a:off x="6446520" y="3447288"/>
            <a:ext cx="548640" cy="548640"/>
          </a:xfrm>
          <a:prstGeom prst="ellipse">
            <a:avLst/>
          </a:prstGeom>
          <a:solidFill>
            <a:srgbClr val="F2A541"/>
          </a:solidFill>
          <a:ln w="12700">
            <a:solidFill>
              <a:srgbClr val="F2A541"/>
            </a:solidFill>
            <a:prstDash val="solid"/>
          </a:ln>
        </p:spPr>
      </p:sp>
      <p:sp>
        <p:nvSpPr>
          <p:cNvPr id="22" name="anim:4:275"/>
          <p:cNvSpPr txBox="1"/>
          <p:nvPr/>
        </p:nvSpPr>
        <p:spPr>
          <a:xfrm>
            <a:off x="6446520" y="3447288"/>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4</a:t>
            </a:r>
            <a:endParaRPr lang="en-US" sz="1500" dirty="0"/>
          </a:p>
        </p:txBody>
      </p:sp>
      <p:sp>
        <p:nvSpPr>
          <p:cNvPr id="23" name="anim:4:276"/>
          <p:cNvSpPr txBox="1"/>
          <p:nvPr/>
        </p:nvSpPr>
        <p:spPr>
          <a:xfrm>
            <a:off x="7223760" y="3227832"/>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Escola tipo 2</a:t>
            </a:r>
            <a:endParaRPr lang="en-US" sz="1700" dirty="0"/>
          </a:p>
        </p:txBody>
      </p:sp>
      <p:sp>
        <p:nvSpPr>
          <p:cNvPr id="24" name="anim:4:277"/>
          <p:cNvSpPr txBox="1"/>
          <p:nvPr/>
        </p:nvSpPr>
        <p:spPr>
          <a:xfrm>
            <a:off x="7223760" y="3648456"/>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402 escolas mudam de nome, tipo, distrito ou DRE na série</a:t>
            </a:r>
            <a:endParaRPr lang="en-US" sz="1400" dirty="0"/>
          </a:p>
        </p:txBody>
      </p:sp>
      <p:sp>
        <p:nvSpPr>
          <p:cNvPr id="25" name="anim:5:278"/>
          <p:cNvSpPr/>
          <p:nvPr/>
        </p:nvSpPr>
        <p:spPr>
          <a:xfrm>
            <a:off x="548640" y="4581144"/>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6" name="anim:5:279"/>
          <p:cNvSpPr/>
          <p:nvPr/>
        </p:nvSpPr>
        <p:spPr>
          <a:xfrm>
            <a:off x="822960" y="4983480"/>
            <a:ext cx="548640" cy="548640"/>
          </a:xfrm>
          <a:prstGeom prst="ellipse">
            <a:avLst/>
          </a:prstGeom>
          <a:solidFill>
            <a:srgbClr val="F2A541"/>
          </a:solidFill>
          <a:ln w="12700">
            <a:solidFill>
              <a:srgbClr val="F2A541"/>
            </a:solidFill>
            <a:prstDash val="solid"/>
          </a:ln>
        </p:spPr>
      </p:sp>
      <p:sp>
        <p:nvSpPr>
          <p:cNvPr id="27" name="anim:5:280"/>
          <p:cNvSpPr txBox="1"/>
          <p:nvPr/>
        </p:nvSpPr>
        <p:spPr>
          <a:xfrm>
            <a:off x="822960" y="4983480"/>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5</a:t>
            </a:r>
            <a:endParaRPr lang="en-US" sz="1500" dirty="0"/>
          </a:p>
        </p:txBody>
      </p:sp>
      <p:sp>
        <p:nvSpPr>
          <p:cNvPr id="28" name="anim:5:281"/>
          <p:cNvSpPr txBox="1"/>
          <p:nvPr/>
        </p:nvSpPr>
        <p:spPr>
          <a:xfrm>
            <a:off x="1600200" y="4764024"/>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Capacidade não inventada</a:t>
            </a:r>
            <a:endParaRPr lang="en-US" sz="1700" dirty="0"/>
          </a:p>
        </p:txBody>
      </p:sp>
      <p:sp>
        <p:nvSpPr>
          <p:cNvPr id="29" name="anim:5:282"/>
          <p:cNvSpPr txBox="1"/>
          <p:nvPr/>
        </p:nvSpPr>
        <p:spPr>
          <a:xfrm>
            <a:off x="1600200" y="5184648"/>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ocupação medida pelos alunos ativos; nenhuma vaga estimada</a:t>
            </a:r>
            <a:endParaRPr lang="en-US" sz="1400" dirty="0"/>
          </a:p>
        </p:txBody>
      </p:sp>
      <p:sp>
        <p:nvSpPr>
          <p:cNvPr id="30" name="anim:6:283"/>
          <p:cNvSpPr/>
          <p:nvPr/>
        </p:nvSpPr>
        <p:spPr>
          <a:xfrm>
            <a:off x="6172200" y="4581144"/>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1" name="anim:6:284"/>
          <p:cNvSpPr/>
          <p:nvPr/>
        </p:nvSpPr>
        <p:spPr>
          <a:xfrm>
            <a:off x="6446520" y="4983480"/>
            <a:ext cx="548640" cy="548640"/>
          </a:xfrm>
          <a:prstGeom prst="ellipse">
            <a:avLst/>
          </a:prstGeom>
          <a:solidFill>
            <a:srgbClr val="F2A541"/>
          </a:solidFill>
          <a:ln w="12700">
            <a:solidFill>
              <a:srgbClr val="F2A541"/>
            </a:solidFill>
            <a:prstDash val="solid"/>
          </a:ln>
        </p:spPr>
      </p:sp>
      <p:sp>
        <p:nvSpPr>
          <p:cNvPr id="32" name="anim:6:285"/>
          <p:cNvSpPr txBox="1"/>
          <p:nvPr/>
        </p:nvSpPr>
        <p:spPr>
          <a:xfrm>
            <a:off x="6446520" y="4983480"/>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6</a:t>
            </a:r>
            <a:endParaRPr lang="en-US" sz="1500" dirty="0"/>
          </a:p>
        </p:txBody>
      </p:sp>
      <p:sp>
        <p:nvSpPr>
          <p:cNvPr id="33" name="anim:6:286"/>
          <p:cNvSpPr txBox="1"/>
          <p:nvPr/>
        </p:nvSpPr>
        <p:spPr>
          <a:xfrm>
            <a:off x="7223760" y="4764024"/>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Datas de referência</a:t>
            </a:r>
            <a:endParaRPr lang="en-US" sz="1700" dirty="0"/>
          </a:p>
        </p:txBody>
      </p:sp>
      <p:sp>
        <p:nvSpPr>
          <p:cNvPr id="34" name="anim:6:287"/>
          <p:cNvSpPr txBox="1"/>
          <p:nvPr/>
        </p:nvSpPr>
        <p:spPr>
          <a:xfrm>
            <a:off x="7223760" y="5184648"/>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junho para fila × matrícula; 31/07/2022 para população × matrícula</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7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7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7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7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7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10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10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10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10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10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125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125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125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125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125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A decisão: a próxima vaga vai para o Tremembé</a:t>
            </a:r>
            <a:endParaRPr lang="en-US" sz="3200" dirty="0"/>
          </a:p>
        </p:txBody>
      </p:sp>
      <p:sp>
        <p:nvSpPr>
          <p:cNvPr id="5" name="anim:1:288"/>
          <p:cNvSpPr/>
          <p:nvPr/>
        </p:nvSpPr>
        <p:spPr>
          <a:xfrm>
            <a:off x="548640" y="1554480"/>
            <a:ext cx="5440680" cy="3383280"/>
          </a:xfrm>
          <a:prstGeom prst="roundRect">
            <a:avLst>
              <a:gd name="adj" fmla="val 324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289"/>
          <p:cNvSpPr/>
          <p:nvPr/>
        </p:nvSpPr>
        <p:spPr>
          <a:xfrm>
            <a:off x="822960" y="1783080"/>
            <a:ext cx="2788920" cy="310896"/>
          </a:xfrm>
          <a:prstGeom prst="roundRect">
            <a:avLst>
              <a:gd name="adj" fmla="val 50000"/>
            </a:avLst>
          </a:prstGeom>
          <a:solidFill>
            <a:srgbClr val="2E5EAA"/>
          </a:solidFill>
          <a:ln w="12700">
            <a:solidFill>
              <a:srgbClr val="2E5EAA"/>
            </a:solidFill>
            <a:prstDash val="solid"/>
          </a:ln>
        </p:spPr>
      </p:sp>
      <p:sp>
        <p:nvSpPr>
          <p:cNvPr id="7" name="anim:1:290"/>
          <p:cNvSpPr txBox="1"/>
          <p:nvPr/>
        </p:nvSpPr>
        <p:spPr>
          <a:xfrm>
            <a:off x="822960" y="1783080"/>
            <a:ext cx="278892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GRAJAÚ · O MAIOR DISTRITO</a:t>
            </a:r>
            <a:endParaRPr lang="en-US" sz="1200" dirty="0"/>
          </a:p>
        </p:txBody>
      </p:sp>
      <p:sp>
        <p:nvSpPr>
          <p:cNvPr id="8" name="anim:1:291"/>
          <p:cNvSpPr txBox="1"/>
          <p:nvPr/>
        </p:nvSpPr>
        <p:spPr>
          <a:xfrm>
            <a:off x="822960" y="2286000"/>
            <a:ext cx="1828800" cy="685800"/>
          </a:xfrm>
          <a:prstGeom prst="rect">
            <a:avLst/>
          </a:prstGeom>
          <a:noFill/>
          <a:ln/>
        </p:spPr>
        <p:txBody>
          <a:bodyPr wrap="square" lIns="0" tIns="0" rIns="0" bIns="0" rtlCol="0" anchor="ctr"/>
          <a:lstStyle/>
          <a:p>
            <a:pPr algn="l" indent="0" marL="0">
              <a:buNone/>
            </a:pPr>
            <a:r>
              <a:rPr lang="en-US" sz="3400" b="1" dirty="0">
                <a:solidFill>
                  <a:srgbClr val="2E5EAA"/>
                </a:solidFill>
                <a:latin typeface="Calibri" pitchFamily="34" charset="0"/>
                <a:ea typeface="Calibri" pitchFamily="34" charset="-122"/>
                <a:cs typeface="Calibri" pitchFamily="34" charset="-120"/>
              </a:rPr>
              <a:t>24.398</a:t>
            </a:r>
            <a:endParaRPr lang="en-US" sz="3400" dirty="0"/>
          </a:p>
        </p:txBody>
      </p:sp>
      <p:sp>
        <p:nvSpPr>
          <p:cNvPr id="9" name="anim:1:292"/>
          <p:cNvSpPr txBox="1"/>
          <p:nvPr/>
        </p:nvSpPr>
        <p:spPr>
          <a:xfrm>
            <a:off x="2697480" y="2286000"/>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crianças de 0 a 4 anos (Censo 2022)</a:t>
            </a:r>
            <a:endParaRPr lang="en-US" sz="1400" dirty="0"/>
          </a:p>
        </p:txBody>
      </p:sp>
      <p:sp>
        <p:nvSpPr>
          <p:cNvPr id="10" name="anim:1:293"/>
          <p:cNvSpPr txBox="1"/>
          <p:nvPr/>
        </p:nvSpPr>
        <p:spPr>
          <a:xfrm>
            <a:off x="822960" y="3127248"/>
            <a:ext cx="1828800" cy="685800"/>
          </a:xfrm>
          <a:prstGeom prst="rect">
            <a:avLst/>
          </a:prstGeom>
          <a:noFill/>
          <a:ln/>
        </p:spPr>
        <p:txBody>
          <a:bodyPr wrap="square" lIns="0" tIns="0" rIns="0" bIns="0" rtlCol="0" anchor="ctr"/>
          <a:lstStyle/>
          <a:p>
            <a:pPr algn="l" indent="0" marL="0">
              <a:buNone/>
            </a:pPr>
            <a:r>
              <a:rPr lang="en-US" sz="3400" b="1" dirty="0">
                <a:solidFill>
                  <a:srgbClr val="2E5EAA"/>
                </a:solidFill>
                <a:latin typeface="Calibri" pitchFamily="34" charset="0"/>
                <a:ea typeface="Calibri" pitchFamily="34" charset="-122"/>
                <a:cs typeface="Calibri" pitchFamily="34" charset="-120"/>
              </a:rPr>
              <a:t>82,7</a:t>
            </a:r>
            <a:endParaRPr lang="en-US" sz="3400" dirty="0"/>
          </a:p>
        </p:txBody>
      </p:sp>
      <p:sp>
        <p:nvSpPr>
          <p:cNvPr id="11" name="anim:1:294"/>
          <p:cNvSpPr txBox="1"/>
          <p:nvPr/>
        </p:nvSpPr>
        <p:spPr>
          <a:xfrm>
            <a:off x="2697480" y="3127248"/>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matrículas por 100 crianças (2022)</a:t>
            </a:r>
            <a:endParaRPr lang="en-US" sz="1400" dirty="0"/>
          </a:p>
        </p:txBody>
      </p:sp>
      <p:sp>
        <p:nvSpPr>
          <p:cNvPr id="12" name="anim:1:295"/>
          <p:cNvSpPr txBox="1"/>
          <p:nvPr/>
        </p:nvSpPr>
        <p:spPr>
          <a:xfrm>
            <a:off x="822960" y="3968496"/>
            <a:ext cx="1828800" cy="685800"/>
          </a:xfrm>
          <a:prstGeom prst="rect">
            <a:avLst/>
          </a:prstGeom>
          <a:noFill/>
          <a:ln/>
        </p:spPr>
        <p:txBody>
          <a:bodyPr wrap="square" lIns="0" tIns="0" rIns="0" bIns="0" rtlCol="0" anchor="ctr"/>
          <a:lstStyle/>
          <a:p>
            <a:pPr algn="l" indent="0" marL="0">
              <a:buNone/>
            </a:pPr>
            <a:r>
              <a:rPr lang="en-US" sz="3400" b="1" dirty="0">
                <a:solidFill>
                  <a:srgbClr val="2E5EAA"/>
                </a:solidFill>
                <a:latin typeface="Calibri" pitchFamily="34" charset="0"/>
                <a:ea typeface="Calibri" pitchFamily="34" charset="-122"/>
                <a:cs typeface="Calibri" pitchFamily="34" charset="-120"/>
              </a:rPr>
              <a:t>88</a:t>
            </a:r>
            <a:endParaRPr lang="en-US" sz="3400" dirty="0"/>
          </a:p>
        </p:txBody>
      </p:sp>
      <p:sp>
        <p:nvSpPr>
          <p:cNvPr id="13" name="anim:1:296"/>
          <p:cNvSpPr txBox="1"/>
          <p:nvPr/>
        </p:nvSpPr>
        <p:spPr>
          <a:xfrm>
            <a:off x="2697480" y="3968496"/>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na fila de creche em junho de 2024; eram 8.018 em 2015</a:t>
            </a:r>
            <a:endParaRPr lang="en-US" sz="1400" dirty="0"/>
          </a:p>
        </p:txBody>
      </p:sp>
      <p:sp>
        <p:nvSpPr>
          <p:cNvPr id="14" name="anim:2:297"/>
          <p:cNvSpPr/>
          <p:nvPr/>
        </p:nvSpPr>
        <p:spPr>
          <a:xfrm>
            <a:off x="6172200" y="1554480"/>
            <a:ext cx="5440680" cy="3383280"/>
          </a:xfrm>
          <a:prstGeom prst="roundRect">
            <a:avLst>
              <a:gd name="adj" fmla="val 3243"/>
            </a:avLst>
          </a:prstGeom>
          <a:solidFill>
            <a:srgbClr val="FFFFFF"/>
          </a:solidFill>
          <a:ln w="9525">
            <a:solidFill>
              <a:srgbClr val="F2A541"/>
            </a:solidFill>
            <a:prstDash val="solid"/>
          </a:ln>
          <a:effectLst>
            <a:outerShdw sx="100000" sy="100000" kx="0" ky="0" algn="bl" rotWithShape="0" blurRad="101600" dist="25400" dir="5400000">
              <a:srgbClr val="1B2A4A">
                <a:alpha val="14000"/>
              </a:srgbClr>
            </a:outerShdw>
          </a:effectLst>
        </p:spPr>
      </p:sp>
      <p:sp>
        <p:nvSpPr>
          <p:cNvPr id="15" name="anim:2:298"/>
          <p:cNvSpPr/>
          <p:nvPr/>
        </p:nvSpPr>
        <p:spPr>
          <a:xfrm>
            <a:off x="6446520" y="1783080"/>
            <a:ext cx="2788920" cy="310896"/>
          </a:xfrm>
          <a:prstGeom prst="roundRect">
            <a:avLst>
              <a:gd name="adj" fmla="val 50000"/>
            </a:avLst>
          </a:prstGeom>
          <a:solidFill>
            <a:srgbClr val="F2A541"/>
          </a:solidFill>
          <a:ln w="12700">
            <a:solidFill>
              <a:srgbClr val="F2A541"/>
            </a:solidFill>
            <a:prstDash val="solid"/>
          </a:ln>
        </p:spPr>
      </p:sp>
      <p:sp>
        <p:nvSpPr>
          <p:cNvPr id="16" name="anim:2:299"/>
          <p:cNvSpPr txBox="1"/>
          <p:nvPr/>
        </p:nvSpPr>
        <p:spPr>
          <a:xfrm>
            <a:off x="6446520" y="1783080"/>
            <a:ext cx="2788920" cy="310896"/>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TREMEMBÉ · DISTRITO DA ANA</a:t>
            </a:r>
            <a:endParaRPr lang="en-US" sz="1200" dirty="0"/>
          </a:p>
        </p:txBody>
      </p:sp>
      <p:sp>
        <p:nvSpPr>
          <p:cNvPr id="17" name="anim:2:300"/>
          <p:cNvSpPr txBox="1"/>
          <p:nvPr/>
        </p:nvSpPr>
        <p:spPr>
          <a:xfrm>
            <a:off x="6446520" y="2286000"/>
            <a:ext cx="1828800" cy="685800"/>
          </a:xfrm>
          <a:prstGeom prst="rect">
            <a:avLst/>
          </a:prstGeom>
          <a:noFill/>
          <a:ln/>
        </p:spPr>
        <p:txBody>
          <a:bodyPr wrap="square" lIns="0" tIns="0" rIns="0" bIns="0" rtlCol="0" anchor="ctr"/>
          <a:lstStyle/>
          <a:p>
            <a:pPr algn="l" indent="0" marL="0">
              <a:buNone/>
            </a:pPr>
            <a:r>
              <a:rPr lang="en-US" sz="3400" b="1" dirty="0">
                <a:solidFill>
                  <a:srgbClr val="1B2A4A"/>
                </a:solidFill>
                <a:latin typeface="Calibri" pitchFamily="34" charset="0"/>
                <a:ea typeface="Calibri" pitchFamily="34" charset="-122"/>
                <a:cs typeface="Calibri" pitchFamily="34" charset="-120"/>
              </a:rPr>
              <a:t>11.498</a:t>
            </a:r>
            <a:endParaRPr lang="en-US" sz="3400" dirty="0"/>
          </a:p>
        </p:txBody>
      </p:sp>
      <p:sp>
        <p:nvSpPr>
          <p:cNvPr id="18" name="anim:2:301"/>
          <p:cNvSpPr txBox="1"/>
          <p:nvPr/>
        </p:nvSpPr>
        <p:spPr>
          <a:xfrm>
            <a:off x="8321040" y="2286000"/>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crianças de 0 a 4 anos (Censo 2022)</a:t>
            </a:r>
            <a:endParaRPr lang="en-US" sz="1400" dirty="0"/>
          </a:p>
        </p:txBody>
      </p:sp>
      <p:sp>
        <p:nvSpPr>
          <p:cNvPr id="19" name="anim:2:302"/>
          <p:cNvSpPr txBox="1"/>
          <p:nvPr/>
        </p:nvSpPr>
        <p:spPr>
          <a:xfrm>
            <a:off x="6446520" y="3127248"/>
            <a:ext cx="1828800" cy="685800"/>
          </a:xfrm>
          <a:prstGeom prst="rect">
            <a:avLst/>
          </a:prstGeom>
          <a:noFill/>
          <a:ln/>
        </p:spPr>
        <p:txBody>
          <a:bodyPr wrap="square" lIns="0" tIns="0" rIns="0" bIns="0" rtlCol="0" anchor="ctr"/>
          <a:lstStyle/>
          <a:p>
            <a:pPr algn="l" indent="0" marL="0">
              <a:buNone/>
            </a:pPr>
            <a:r>
              <a:rPr lang="en-US" sz="3400" b="1" dirty="0">
                <a:solidFill>
                  <a:srgbClr val="1B2A4A"/>
                </a:solidFill>
                <a:latin typeface="Calibri" pitchFamily="34" charset="0"/>
                <a:ea typeface="Calibri" pitchFamily="34" charset="-122"/>
                <a:cs typeface="Calibri" pitchFamily="34" charset="-120"/>
              </a:rPr>
              <a:t>71,6</a:t>
            </a:r>
            <a:endParaRPr lang="en-US" sz="3400" dirty="0"/>
          </a:p>
        </p:txBody>
      </p:sp>
      <p:sp>
        <p:nvSpPr>
          <p:cNvPr id="20" name="anim:2:303"/>
          <p:cNvSpPr txBox="1"/>
          <p:nvPr/>
        </p:nvSpPr>
        <p:spPr>
          <a:xfrm>
            <a:off x="8321040" y="3127248"/>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matrículas por 100 crianças, abaixo da média de 86</a:t>
            </a:r>
            <a:endParaRPr lang="en-US" sz="1400" dirty="0"/>
          </a:p>
        </p:txBody>
      </p:sp>
      <p:sp>
        <p:nvSpPr>
          <p:cNvPr id="21" name="anim:2:304"/>
          <p:cNvSpPr txBox="1"/>
          <p:nvPr/>
        </p:nvSpPr>
        <p:spPr>
          <a:xfrm>
            <a:off x="6446520" y="3968496"/>
            <a:ext cx="1828800" cy="685800"/>
          </a:xfrm>
          <a:prstGeom prst="rect">
            <a:avLst/>
          </a:prstGeom>
          <a:noFill/>
          <a:ln/>
        </p:spPr>
        <p:txBody>
          <a:bodyPr wrap="square" lIns="0" tIns="0" rIns="0" bIns="0" rtlCol="0" anchor="ctr"/>
          <a:lstStyle/>
          <a:p>
            <a:pPr algn="l" indent="0" marL="0">
              <a:buNone/>
            </a:pPr>
            <a:r>
              <a:rPr lang="en-US" sz="3400" b="1" dirty="0">
                <a:solidFill>
                  <a:srgbClr val="1B2A4A"/>
                </a:solidFill>
                <a:latin typeface="Calibri" pitchFamily="34" charset="0"/>
                <a:ea typeface="Calibri" pitchFamily="34" charset="-122"/>
                <a:cs typeface="Calibri" pitchFamily="34" charset="-120"/>
              </a:rPr>
              <a:t>153</a:t>
            </a:r>
            <a:endParaRPr lang="en-US" sz="3400" dirty="0"/>
          </a:p>
        </p:txBody>
      </p:sp>
      <p:sp>
        <p:nvSpPr>
          <p:cNvPr id="22" name="anim:2:305"/>
          <p:cNvSpPr txBox="1"/>
          <p:nvPr/>
        </p:nvSpPr>
        <p:spPr>
          <a:xfrm>
            <a:off x="8321040" y="3968496"/>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na fila de creche em junho de 2024, a segunda maior da cidade</a:t>
            </a:r>
            <a:endParaRPr lang="en-US" sz="1400" dirty="0"/>
          </a:p>
        </p:txBody>
      </p:sp>
      <p:sp>
        <p:nvSpPr>
          <p:cNvPr id="23" name="anim:3:306"/>
          <p:cNvSpPr/>
          <p:nvPr/>
        </p:nvSpPr>
        <p:spPr>
          <a:xfrm>
            <a:off x="548640" y="5120640"/>
            <a:ext cx="11064240" cy="868680"/>
          </a:xfrm>
          <a:prstGeom prst="roundRect">
            <a:avLst>
              <a:gd name="adj" fmla="val 12632"/>
            </a:avLst>
          </a:prstGeom>
          <a:solidFill>
            <a:srgbClr val="EEF2F8"/>
          </a:solidFill>
          <a:ln w="9525">
            <a:solidFill>
              <a:srgbClr val="EEF2F8"/>
            </a:solidFill>
            <a:prstDash val="solid"/>
          </a:ln>
        </p:spPr>
      </p:sp>
      <p:sp>
        <p:nvSpPr>
          <p:cNvPr id="24" name="anim:3:307"/>
          <p:cNvSpPr/>
          <p:nvPr/>
        </p:nvSpPr>
        <p:spPr>
          <a:xfrm>
            <a:off x="777240" y="5303520"/>
            <a:ext cx="512064" cy="512064"/>
          </a:xfrm>
          <a:prstGeom prst="ellipse">
            <a:avLst/>
          </a:prstGeom>
          <a:solidFill>
            <a:srgbClr val="F2A541"/>
          </a:solidFill>
          <a:ln w="12700">
            <a:solidFill>
              <a:srgbClr val="F2A541"/>
            </a:solidFill>
            <a:prstDash val="solid"/>
          </a:ln>
        </p:spPr>
      </p:sp>
      <p:sp>
        <p:nvSpPr>
          <p:cNvPr id="25" name="anim:3:308"/>
          <p:cNvSpPr txBox="1"/>
          <p:nvPr/>
        </p:nvSpPr>
        <p:spPr>
          <a:xfrm>
            <a:off x="777240" y="5303520"/>
            <a:ext cx="512064" cy="512064"/>
          </a:xfrm>
          <a:prstGeom prst="rect">
            <a:avLst/>
          </a:prstGeom>
          <a:noFill/>
          <a:ln/>
        </p:spPr>
        <p:txBody>
          <a:bodyPr wrap="square" lIns="0" tIns="0" rIns="0" bIns="0" rtlCol="0" anchor="ctr"/>
          <a:lstStyle/>
          <a:p>
            <a:pPr algn="ctr" indent="0" marL="0">
              <a:buNone/>
            </a:pPr>
            <a:r>
              <a:rPr lang="en-US" sz="1800" b="1" dirty="0">
                <a:solidFill>
                  <a:srgbClr val="1B2A4A"/>
                </a:solidFill>
                <a:latin typeface="Calibri" pitchFamily="34" charset="0"/>
                <a:ea typeface="Calibri" pitchFamily="34" charset="-122"/>
                <a:cs typeface="Calibri" pitchFamily="34" charset="-120"/>
              </a:rPr>
              <a:t>!</a:t>
            </a:r>
            <a:endParaRPr lang="en-US" sz="1800" dirty="0"/>
          </a:p>
        </p:txBody>
      </p:sp>
      <p:sp>
        <p:nvSpPr>
          <p:cNvPr id="26" name="anim:3:309"/>
          <p:cNvSpPr txBox="1"/>
          <p:nvPr/>
        </p:nvSpPr>
        <p:spPr>
          <a:xfrm>
            <a:off x="1508760" y="5166360"/>
            <a:ext cx="9966960" cy="77724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O que o cruzamento mostra: </a:t>
            </a:r>
            <a:pPr indent="0" marL="0">
              <a:buNone/>
            </a:pPr>
            <a:r>
              <a:rPr lang="en-US" sz="1500" dirty="0">
                <a:solidFill>
                  <a:srgbClr val="1F2937"/>
                </a:solidFill>
                <a:latin typeface="Calibri" pitchFamily="34" charset="0"/>
                <a:ea typeface="Calibri" pitchFamily="34" charset="-122"/>
                <a:cs typeface="Calibri" pitchFamily="34" charset="-120"/>
              </a:rPr>
              <a:t>pelo tamanho, a escolha seria o Grajaú; com fila, oferta e população lado a lado, a próxima vaga pesa mais no Tremembé.</a:t>
            </a:r>
            <a:endParaRPr lang="en-US" sz="1500" dirty="0"/>
          </a:p>
        </p:txBody>
      </p:sp>
      <p:sp>
        <p:nvSpPr>
          <p:cNvPr id="27" name="Text 24"/>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consultas 5 e 7; a matrícula conta onde fica a escola, e a população, onde mora a criança.</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2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5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Fim da história: a Ana consegue a vaga</a:t>
            </a:r>
            <a:endParaRPr lang="en-US" sz="3200" dirty="0"/>
          </a:p>
        </p:txBody>
      </p:sp>
      <p:sp>
        <p:nvSpPr>
          <p:cNvPr id="5" name="anim:1:310"/>
          <p:cNvSpPr/>
          <p:nvPr/>
        </p:nvSpPr>
        <p:spPr>
          <a:xfrm>
            <a:off x="548640" y="1554480"/>
            <a:ext cx="4846320" cy="3520440"/>
          </a:xfrm>
          <a:prstGeom prst="roundRect">
            <a:avLst>
              <a:gd name="adj" fmla="val 3117"/>
            </a:avLst>
          </a:prstGeom>
          <a:solidFill>
            <a:srgbClr val="1B2A4A"/>
          </a:solidFill>
          <a:ln w="9525">
            <a:solidFill>
              <a:srgbClr val="1B2A4A"/>
            </a:solidFill>
            <a:prstDash val="solid"/>
          </a:ln>
          <a:effectLst>
            <a:outerShdw sx="100000" sy="100000" kx="0" ky="0" algn="bl" rotWithShape="0" blurRad="101600" dist="25400" dir="5400000">
              <a:srgbClr val="1B2A4A">
                <a:alpha val="14000"/>
              </a:srgbClr>
            </a:outerShdw>
          </a:effectLst>
        </p:spPr>
      </p:sp>
      <p:sp>
        <p:nvSpPr>
          <p:cNvPr id="6" name="anim:1:311"/>
          <p:cNvSpPr/>
          <p:nvPr/>
        </p:nvSpPr>
        <p:spPr>
          <a:xfrm>
            <a:off x="822960" y="1783080"/>
            <a:ext cx="2240280" cy="310896"/>
          </a:xfrm>
          <a:prstGeom prst="roundRect">
            <a:avLst>
              <a:gd name="adj" fmla="val 50000"/>
            </a:avLst>
          </a:prstGeom>
          <a:solidFill>
            <a:srgbClr val="F2A541"/>
          </a:solidFill>
          <a:ln w="12700">
            <a:solidFill>
              <a:srgbClr val="F2A541"/>
            </a:solidFill>
            <a:prstDash val="solid"/>
          </a:ln>
        </p:spPr>
      </p:sp>
      <p:sp>
        <p:nvSpPr>
          <p:cNvPr id="7" name="anim:1:312"/>
          <p:cNvSpPr txBox="1"/>
          <p:nvPr/>
        </p:nvSpPr>
        <p:spPr>
          <a:xfrm>
            <a:off x="822960" y="1783080"/>
            <a:ext cx="2240280" cy="310896"/>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CENÁRIO HIPOTÉTICO</a:t>
            </a:r>
            <a:endParaRPr lang="en-US" sz="1200" dirty="0"/>
          </a:p>
        </p:txBody>
      </p:sp>
      <p:sp>
        <p:nvSpPr>
          <p:cNvPr id="8" name="anim:2:313"/>
          <p:cNvSpPr/>
          <p:nvPr/>
        </p:nvSpPr>
        <p:spPr>
          <a:xfrm>
            <a:off x="822960" y="2468880"/>
            <a:ext cx="457200" cy="457200"/>
          </a:xfrm>
          <a:prstGeom prst="ellipse">
            <a:avLst/>
          </a:prstGeom>
          <a:solidFill>
            <a:srgbClr val="F2A541"/>
          </a:solidFill>
          <a:ln w="12700">
            <a:solidFill>
              <a:srgbClr val="F2A541"/>
            </a:solidFill>
            <a:prstDash val="solid"/>
          </a:ln>
        </p:spPr>
      </p:sp>
      <p:sp>
        <p:nvSpPr>
          <p:cNvPr id="9" name="anim:2:314"/>
          <p:cNvSpPr txBox="1"/>
          <p:nvPr/>
        </p:nvSpPr>
        <p:spPr>
          <a:xfrm>
            <a:off x="822960" y="246888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1</a:t>
            </a:r>
            <a:endParaRPr lang="en-US" sz="1400" dirty="0"/>
          </a:p>
        </p:txBody>
      </p:sp>
      <p:sp>
        <p:nvSpPr>
          <p:cNvPr id="10" name="anim:2:315"/>
          <p:cNvSpPr txBox="1"/>
          <p:nvPr/>
        </p:nvSpPr>
        <p:spPr>
          <a:xfrm>
            <a:off x="1463040" y="2377440"/>
            <a:ext cx="3703320" cy="68580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A prefeitura abre turmas de creche no Tremembé.</a:t>
            </a:r>
            <a:endParaRPr lang="en-US" sz="1600" dirty="0"/>
          </a:p>
        </p:txBody>
      </p:sp>
      <p:sp>
        <p:nvSpPr>
          <p:cNvPr id="11" name="anim:3:316"/>
          <p:cNvSpPr/>
          <p:nvPr/>
        </p:nvSpPr>
        <p:spPr>
          <a:xfrm>
            <a:off x="822960" y="3337560"/>
            <a:ext cx="457200" cy="457200"/>
          </a:xfrm>
          <a:prstGeom prst="ellipse">
            <a:avLst/>
          </a:prstGeom>
          <a:solidFill>
            <a:srgbClr val="F2A541"/>
          </a:solidFill>
          <a:ln w="12700">
            <a:solidFill>
              <a:srgbClr val="F2A541"/>
            </a:solidFill>
            <a:prstDash val="solid"/>
          </a:ln>
        </p:spPr>
      </p:sp>
      <p:sp>
        <p:nvSpPr>
          <p:cNvPr id="12" name="anim:3:317"/>
          <p:cNvSpPr txBox="1"/>
          <p:nvPr/>
        </p:nvSpPr>
        <p:spPr>
          <a:xfrm>
            <a:off x="822960" y="333756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2</a:t>
            </a:r>
            <a:endParaRPr lang="en-US" sz="1400" dirty="0"/>
          </a:p>
        </p:txBody>
      </p:sp>
      <p:sp>
        <p:nvSpPr>
          <p:cNvPr id="13" name="anim:3:318"/>
          <p:cNvSpPr txBox="1"/>
          <p:nvPr/>
        </p:nvSpPr>
        <p:spPr>
          <a:xfrm>
            <a:off x="1463040" y="3246120"/>
            <a:ext cx="3703320" cy="68580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A Ana sai da fila e vira uma linha do fato Matrícula.</a:t>
            </a:r>
            <a:endParaRPr lang="en-US" sz="1600" dirty="0"/>
          </a:p>
        </p:txBody>
      </p:sp>
      <p:sp>
        <p:nvSpPr>
          <p:cNvPr id="14" name="anim:4:319"/>
          <p:cNvSpPr/>
          <p:nvPr/>
        </p:nvSpPr>
        <p:spPr>
          <a:xfrm>
            <a:off x="822960" y="4206240"/>
            <a:ext cx="457200" cy="457200"/>
          </a:xfrm>
          <a:prstGeom prst="ellipse">
            <a:avLst/>
          </a:prstGeom>
          <a:solidFill>
            <a:srgbClr val="F2A541"/>
          </a:solidFill>
          <a:ln w="12700">
            <a:solidFill>
              <a:srgbClr val="F2A541"/>
            </a:solidFill>
            <a:prstDash val="solid"/>
          </a:ln>
        </p:spPr>
      </p:sp>
      <p:sp>
        <p:nvSpPr>
          <p:cNvPr id="15" name="anim:4:320"/>
          <p:cNvSpPr txBox="1"/>
          <p:nvPr/>
        </p:nvSpPr>
        <p:spPr>
          <a:xfrm>
            <a:off x="822960" y="420624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3</a:t>
            </a:r>
            <a:endParaRPr lang="en-US" sz="1400" dirty="0"/>
          </a:p>
        </p:txBody>
      </p:sp>
      <p:sp>
        <p:nvSpPr>
          <p:cNvPr id="16" name="anim:4:321"/>
          <p:cNvSpPr txBox="1"/>
          <p:nvPr/>
        </p:nvSpPr>
        <p:spPr>
          <a:xfrm>
            <a:off x="1463040" y="4114800"/>
            <a:ext cx="3703320" cy="68580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A mãe da Ana volta a trabalhar.</a:t>
            </a:r>
            <a:endParaRPr lang="en-US" sz="1600" dirty="0"/>
          </a:p>
        </p:txBody>
      </p:sp>
      <p:sp>
        <p:nvSpPr>
          <p:cNvPr id="17" name="anim:5:322"/>
          <p:cNvSpPr/>
          <p:nvPr/>
        </p:nvSpPr>
        <p:spPr>
          <a:xfrm>
            <a:off x="5623560" y="1554480"/>
            <a:ext cx="5989320" cy="3520440"/>
          </a:xfrm>
          <a:prstGeom prst="roundRect">
            <a:avLst>
              <a:gd name="adj" fmla="val 31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8" name="anim:5:323"/>
          <p:cNvSpPr txBox="1"/>
          <p:nvPr/>
        </p:nvSpPr>
        <p:spPr>
          <a:xfrm>
            <a:off x="5897880" y="1755648"/>
            <a:ext cx="5394960" cy="274320"/>
          </a:xfrm>
          <a:prstGeom prst="rect">
            <a:avLst/>
          </a:prstGeom>
          <a:noFill/>
          <a:ln/>
        </p:spPr>
        <p:txBody>
          <a:bodyPr wrap="square" lIns="0" tIns="0" rIns="0" bIns="0" rtlCol="0" anchor="t"/>
          <a:lstStyle/>
          <a:p>
            <a:pPr algn="l" indent="0" marL="0">
              <a:buNone/>
            </a:pPr>
            <a:r>
              <a:rPr lang="en-US" sz="1200" b="1" spc="100" kern="0" dirty="0">
                <a:solidFill>
                  <a:srgbClr val="566175"/>
                </a:solidFill>
                <a:latin typeface="Calibri" pitchFamily="34" charset="0"/>
                <a:ea typeface="Calibri" pitchFamily="34" charset="-122"/>
                <a:cs typeface="Calibri" pitchFamily="34" charset="-120"/>
              </a:rPr>
              <a:t>O QUE O DATA WAREHOUSE TROUXE</a:t>
            </a:r>
            <a:endParaRPr lang="en-US" sz="1200" dirty="0"/>
          </a:p>
        </p:txBody>
      </p:sp>
      <p:sp>
        <p:nvSpPr>
          <p:cNvPr id="19" name="anim:6:324"/>
          <p:cNvSpPr txBox="1"/>
          <p:nvPr/>
        </p:nvSpPr>
        <p:spPr>
          <a:xfrm>
            <a:off x="5897880" y="2148840"/>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Uma consulta no lugar de três bases</a:t>
            </a:r>
            <a:endParaRPr lang="en-US" sz="1500" dirty="0"/>
          </a:p>
        </p:txBody>
      </p:sp>
      <p:sp>
        <p:nvSpPr>
          <p:cNvPr id="20" name="anim:6:325"/>
          <p:cNvSpPr txBox="1"/>
          <p:nvPr/>
        </p:nvSpPr>
        <p:spPr>
          <a:xfrm>
            <a:off x="5897880" y="2450592"/>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fila, matrícula, ocupação e população lado a lado, por distrito</a:t>
            </a:r>
            <a:endParaRPr lang="en-US" sz="1300" dirty="0"/>
          </a:p>
        </p:txBody>
      </p:sp>
      <p:sp>
        <p:nvSpPr>
          <p:cNvPr id="21" name="anim:7:326"/>
          <p:cNvSpPr txBox="1"/>
          <p:nvPr/>
        </p:nvSpPr>
        <p:spPr>
          <a:xfrm>
            <a:off x="5897880" y="2862072"/>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Números confiáveis</a:t>
            </a:r>
            <a:endParaRPr lang="en-US" sz="1500" dirty="0"/>
          </a:p>
        </p:txBody>
      </p:sp>
      <p:sp>
        <p:nvSpPr>
          <p:cNvPr id="22" name="anim:7:327"/>
          <p:cNvSpPr txBox="1"/>
          <p:nvPr/>
        </p:nvSpPr>
        <p:spPr>
          <a:xfrm>
            <a:off x="5897880" y="3163824"/>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14 verificações a cada carga e as bases da SME reconciliadas entre si</a:t>
            </a:r>
            <a:endParaRPr lang="en-US" sz="1300" dirty="0"/>
          </a:p>
        </p:txBody>
      </p:sp>
      <p:sp>
        <p:nvSpPr>
          <p:cNvPr id="23" name="anim:8:328"/>
          <p:cNvSpPr txBox="1"/>
          <p:nvPr/>
        </p:nvSpPr>
        <p:spPr>
          <a:xfrm>
            <a:off x="5897880" y="3575304"/>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Dez anos de histórico</a:t>
            </a:r>
            <a:endParaRPr lang="en-US" sz="1500" dirty="0"/>
          </a:p>
        </p:txBody>
      </p:sp>
      <p:sp>
        <p:nvSpPr>
          <p:cNvPr id="24" name="anim:8:329"/>
          <p:cNvSpPr txBox="1"/>
          <p:nvPr/>
        </p:nvSpPr>
        <p:spPr>
          <a:xfrm>
            <a:off x="5897880" y="3877056"/>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onde a fila caiu e onde ela resiste</a:t>
            </a:r>
            <a:endParaRPr lang="en-US" sz="1300" dirty="0"/>
          </a:p>
        </p:txBody>
      </p:sp>
      <p:sp>
        <p:nvSpPr>
          <p:cNvPr id="25" name="anim:9:330"/>
          <p:cNvSpPr txBox="1"/>
          <p:nvPr/>
        </p:nvSpPr>
        <p:spPr>
          <a:xfrm>
            <a:off x="5897880" y="4288536"/>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Atualização com um comando</a:t>
            </a:r>
            <a:endParaRPr lang="en-US" sz="1500" dirty="0"/>
          </a:p>
        </p:txBody>
      </p:sp>
      <p:sp>
        <p:nvSpPr>
          <p:cNvPr id="26" name="anim:9:331"/>
          <p:cNvSpPr txBox="1"/>
          <p:nvPr/>
        </p:nvSpPr>
        <p:spPr>
          <a:xfrm>
            <a:off x="5897880" y="4590288"/>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quando a prefeitura publica dados novos</a:t>
            </a:r>
            <a:endParaRPr lang="en-US" sz="1300" dirty="0"/>
          </a:p>
        </p:txBody>
      </p:sp>
      <p:sp>
        <p:nvSpPr>
          <p:cNvPr id="27" name="anim:10:332"/>
          <p:cNvSpPr/>
          <p:nvPr/>
        </p:nvSpPr>
        <p:spPr>
          <a:xfrm>
            <a:off x="548640" y="5257800"/>
            <a:ext cx="11064240" cy="731520"/>
          </a:xfrm>
          <a:prstGeom prst="roundRect">
            <a:avLst>
              <a:gd name="adj" fmla="val 15000"/>
            </a:avLst>
          </a:prstGeom>
          <a:solidFill>
            <a:srgbClr val="EEF2F8"/>
          </a:solidFill>
          <a:ln w="9525">
            <a:solidFill>
              <a:srgbClr val="EEF2F8"/>
            </a:solidFill>
            <a:prstDash val="solid"/>
          </a:ln>
        </p:spPr>
      </p:sp>
      <p:sp>
        <p:nvSpPr>
          <p:cNvPr id="28" name="anim:10:333"/>
          <p:cNvSpPr/>
          <p:nvPr/>
        </p:nvSpPr>
        <p:spPr>
          <a:xfrm>
            <a:off x="777240" y="5376672"/>
            <a:ext cx="493776" cy="493776"/>
          </a:xfrm>
          <a:prstGeom prst="ellipse">
            <a:avLst/>
          </a:prstGeom>
          <a:solidFill>
            <a:srgbClr val="F2A541"/>
          </a:solidFill>
          <a:ln w="12700">
            <a:solidFill>
              <a:srgbClr val="F2A541"/>
            </a:solidFill>
            <a:prstDash val="solid"/>
          </a:ln>
        </p:spPr>
      </p:sp>
      <p:sp>
        <p:nvSpPr>
          <p:cNvPr id="29" name="anim:10:334"/>
          <p:cNvSpPr txBox="1"/>
          <p:nvPr/>
        </p:nvSpPr>
        <p:spPr>
          <a:xfrm>
            <a:off x="777240" y="5376672"/>
            <a:ext cx="493776" cy="493776"/>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30" name="anim:10:335"/>
          <p:cNvSpPr txBox="1"/>
          <p:nvPr/>
        </p:nvSpPr>
        <p:spPr>
          <a:xfrm>
            <a:off x="1463040" y="5257800"/>
            <a:ext cx="9966960" cy="731520"/>
          </a:xfrm>
          <a:prstGeom prst="rect">
            <a:avLst/>
          </a:prstGeom>
          <a:noFill/>
          <a:ln/>
        </p:spPr>
        <p:txBody>
          <a:bodyPr wrap="square" lIns="0" tIns="0" rIns="0" bIns="0" rtlCol="0" anchor="ctr"/>
          <a:lstStyle/>
          <a:p>
            <a:pPr algn="l" indent="0" marL="0">
              <a:buNone/>
            </a:pPr>
            <a:r>
              <a:rPr lang="en-US" sz="1500" b="1" dirty="0">
                <a:solidFill>
                  <a:srgbClr val="1B2A4A"/>
                </a:solidFill>
                <a:latin typeface="Calibri" pitchFamily="34" charset="0"/>
                <a:ea typeface="Calibri" pitchFamily="34" charset="-122"/>
                <a:cs typeface="Calibri" pitchFamily="34" charset="-120"/>
              </a:rPr>
              <a:t>A mesma consulta serve para a próxima Ana, em qualquer um dos 96 distritos.</a:t>
            </a:r>
            <a:endParaRPr lang="en-US" sz="1500" dirty="0"/>
          </a:p>
        </p:txBody>
      </p:sp>
      <p:sp>
        <p:nvSpPr>
          <p:cNvPr id="31" name="Text 28"/>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Cenário hipotético. Números reais das consultas 5, 7 e 8 sobre a carga com os dados reais.</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7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10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10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1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1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1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1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17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17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20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20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225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225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225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225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F2A541"/>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Obrigado. Perguntas?</a:t>
            </a:r>
            <a:endParaRPr lang="en-US" sz="3200" dirty="0"/>
          </a:p>
        </p:txBody>
      </p:sp>
      <p:sp>
        <p:nvSpPr>
          <p:cNvPr id="5" name="anim:1:336"/>
          <p:cNvSpPr/>
          <p:nvPr/>
        </p:nvSpPr>
        <p:spPr>
          <a:xfrm>
            <a:off x="548640" y="1600200"/>
            <a:ext cx="3566160" cy="1371600"/>
          </a:xfrm>
          <a:prstGeom prst="roundRect">
            <a:avLst>
              <a:gd name="adj" fmla="val 8000"/>
            </a:avLst>
          </a:prstGeom>
          <a:solidFill>
            <a:srgbClr val="FFFFFF">
              <a:alpha val="10000"/>
            </a:srgbClr>
          </a:solidFill>
          <a:ln w="9525">
            <a:solidFill>
              <a:srgbClr val="3A4D73"/>
            </a:solidFill>
            <a:prstDash val="solid"/>
          </a:ln>
        </p:spPr>
      </p:sp>
      <p:sp>
        <p:nvSpPr>
          <p:cNvPr id="6" name="anim:1:337"/>
          <p:cNvSpPr txBox="1"/>
          <p:nvPr/>
        </p:nvSpPr>
        <p:spPr>
          <a:xfrm>
            <a:off x="822960" y="1719072"/>
            <a:ext cx="3017520" cy="685800"/>
          </a:xfrm>
          <a:prstGeom prst="rect">
            <a:avLst/>
          </a:prstGeom>
          <a:noFill/>
          <a:ln/>
        </p:spPr>
        <p:txBody>
          <a:bodyPr wrap="square" lIns="0" tIns="0" rIns="0" bIns="0" rtlCol="0" anchor="t"/>
          <a:lstStyle/>
          <a:p>
            <a:pPr algn="l" indent="0" marL="0">
              <a:buNone/>
            </a:pPr>
            <a:r>
              <a:rPr lang="en-US" sz="3400" b="1" dirty="0">
                <a:solidFill>
                  <a:srgbClr val="F2A541"/>
                </a:solidFill>
                <a:latin typeface="Calibri" pitchFamily="34" charset="0"/>
                <a:ea typeface="Calibri" pitchFamily="34" charset="-122"/>
                <a:cs typeface="Calibri" pitchFamily="34" charset="-120"/>
              </a:rPr>
              <a:t>13,4 mi</a:t>
            </a:r>
            <a:endParaRPr lang="en-US" sz="3400" dirty="0"/>
          </a:p>
        </p:txBody>
      </p:sp>
      <p:sp>
        <p:nvSpPr>
          <p:cNvPr id="7" name="anim:1:338"/>
          <p:cNvSpPr txBox="1"/>
          <p:nvPr/>
        </p:nvSpPr>
        <p:spPr>
          <a:xfrm>
            <a:off x="822960" y="2404872"/>
            <a:ext cx="3017520" cy="41148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matrículas de 2015 a 2024</a:t>
            </a:r>
            <a:endParaRPr lang="en-US" sz="1400" dirty="0"/>
          </a:p>
        </p:txBody>
      </p:sp>
      <p:sp>
        <p:nvSpPr>
          <p:cNvPr id="8" name="anim:2:339"/>
          <p:cNvSpPr/>
          <p:nvPr/>
        </p:nvSpPr>
        <p:spPr>
          <a:xfrm>
            <a:off x="4297680" y="1600200"/>
            <a:ext cx="3566160" cy="1371600"/>
          </a:xfrm>
          <a:prstGeom prst="roundRect">
            <a:avLst>
              <a:gd name="adj" fmla="val 8000"/>
            </a:avLst>
          </a:prstGeom>
          <a:solidFill>
            <a:srgbClr val="FFFFFF">
              <a:alpha val="10000"/>
            </a:srgbClr>
          </a:solidFill>
          <a:ln w="9525">
            <a:solidFill>
              <a:srgbClr val="3A4D73"/>
            </a:solidFill>
            <a:prstDash val="solid"/>
          </a:ln>
        </p:spPr>
      </p:sp>
      <p:sp>
        <p:nvSpPr>
          <p:cNvPr id="9" name="anim:2:340"/>
          <p:cNvSpPr txBox="1"/>
          <p:nvPr/>
        </p:nvSpPr>
        <p:spPr>
          <a:xfrm>
            <a:off x="4572000" y="1719072"/>
            <a:ext cx="3017520" cy="685800"/>
          </a:xfrm>
          <a:prstGeom prst="rect">
            <a:avLst/>
          </a:prstGeom>
          <a:noFill/>
          <a:ln/>
        </p:spPr>
        <p:txBody>
          <a:bodyPr wrap="square" lIns="0" tIns="0" rIns="0" bIns="0" rtlCol="0" anchor="t"/>
          <a:lstStyle/>
          <a:p>
            <a:pPr algn="l" indent="0" marL="0">
              <a:buNone/>
            </a:pPr>
            <a:r>
              <a:rPr lang="en-US" sz="3400" b="1" dirty="0">
                <a:solidFill>
                  <a:srgbClr val="F2A541"/>
                </a:solidFill>
                <a:latin typeface="Calibri" pitchFamily="34" charset="0"/>
                <a:ea typeface="Calibri" pitchFamily="34" charset="-122"/>
                <a:cs typeface="Calibri" pitchFamily="34" charset="-120"/>
              </a:rPr>
              <a:t>551 mil</a:t>
            </a:r>
            <a:endParaRPr lang="en-US" sz="3400" dirty="0"/>
          </a:p>
        </p:txBody>
      </p:sp>
      <p:sp>
        <p:nvSpPr>
          <p:cNvPr id="10" name="anim:2:341"/>
          <p:cNvSpPr txBox="1"/>
          <p:nvPr/>
        </p:nvSpPr>
        <p:spPr>
          <a:xfrm>
            <a:off x="4572000" y="2404872"/>
            <a:ext cx="3017520" cy="41148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turmas carregadas</a:t>
            </a:r>
            <a:endParaRPr lang="en-US" sz="1400" dirty="0"/>
          </a:p>
        </p:txBody>
      </p:sp>
      <p:sp>
        <p:nvSpPr>
          <p:cNvPr id="11" name="anim:3:342"/>
          <p:cNvSpPr/>
          <p:nvPr/>
        </p:nvSpPr>
        <p:spPr>
          <a:xfrm>
            <a:off x="8046720" y="1600200"/>
            <a:ext cx="3566160" cy="1371600"/>
          </a:xfrm>
          <a:prstGeom prst="roundRect">
            <a:avLst>
              <a:gd name="adj" fmla="val 8000"/>
            </a:avLst>
          </a:prstGeom>
          <a:solidFill>
            <a:srgbClr val="FFFFFF">
              <a:alpha val="10000"/>
            </a:srgbClr>
          </a:solidFill>
          <a:ln w="9525">
            <a:solidFill>
              <a:srgbClr val="3A4D73"/>
            </a:solidFill>
            <a:prstDash val="solid"/>
          </a:ln>
        </p:spPr>
      </p:sp>
      <p:sp>
        <p:nvSpPr>
          <p:cNvPr id="12" name="anim:3:343"/>
          <p:cNvSpPr txBox="1"/>
          <p:nvPr/>
        </p:nvSpPr>
        <p:spPr>
          <a:xfrm>
            <a:off x="8321040" y="1719072"/>
            <a:ext cx="3017520" cy="685800"/>
          </a:xfrm>
          <a:prstGeom prst="rect">
            <a:avLst/>
          </a:prstGeom>
          <a:noFill/>
          <a:ln/>
        </p:spPr>
        <p:txBody>
          <a:bodyPr wrap="square" lIns="0" tIns="0" rIns="0" bIns="0" rtlCol="0" anchor="t"/>
          <a:lstStyle/>
          <a:p>
            <a:pPr algn="l" indent="0" marL="0">
              <a:buNone/>
            </a:pPr>
            <a:r>
              <a:rPr lang="en-US" sz="3400" b="1" dirty="0">
                <a:solidFill>
                  <a:srgbClr val="F2A541"/>
                </a:solidFill>
                <a:latin typeface="Calibri" pitchFamily="34" charset="0"/>
                <a:ea typeface="Calibri" pitchFamily="34" charset="-122"/>
                <a:cs typeface="Calibri" pitchFamily="34" charset="-120"/>
              </a:rPr>
              <a:t>26.889</a:t>
            </a:r>
            <a:endParaRPr lang="en-US" sz="3400" dirty="0"/>
          </a:p>
        </p:txBody>
      </p:sp>
      <p:sp>
        <p:nvSpPr>
          <p:cNvPr id="13" name="anim:3:344"/>
          <p:cNvSpPr txBox="1"/>
          <p:nvPr/>
        </p:nvSpPr>
        <p:spPr>
          <a:xfrm>
            <a:off x="8321040" y="2404872"/>
            <a:ext cx="3017520" cy="41148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setores censitários</a:t>
            </a:r>
            <a:endParaRPr lang="en-US" sz="1400" dirty="0"/>
          </a:p>
        </p:txBody>
      </p:sp>
      <p:sp>
        <p:nvSpPr>
          <p:cNvPr id="14" name="anim:4:345"/>
          <p:cNvSpPr txBox="1"/>
          <p:nvPr/>
        </p:nvSpPr>
        <p:spPr>
          <a:xfrm>
            <a:off x="548640" y="3246120"/>
            <a:ext cx="10972800" cy="182880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Relatório: descrição do problema, povoamento atributo por atributo, cinco estrelas, constelação e oito consultas.</a:t>
            </a:r>
            <a:endParaRPr lang="en-US" sz="1600" dirty="0"/>
          </a:p>
          <a:p>
            <a:pPr marL="228600" indent="-2286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Repositório: pipeline do portal ao DuckDB, 14 verificações de qualidade e testes automáticos, inclusive da modelagem.</a:t>
            </a:r>
            <a:endParaRPr lang="en-US" sz="1600" dirty="0"/>
          </a:p>
          <a:p>
            <a:pPr marL="228600" indent="-2286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Carga real: 13,4 milhões de matrículas, 551 mil turmas e 26.889 setores censitários em 3,5 minutos, sem nenhuma FALHA nas verificações.</a:t>
            </a:r>
            <a:endParaRPr lang="en-US" sz="1600" dirty="0"/>
          </a:p>
        </p:txBody>
      </p:sp>
      <p:sp>
        <p:nvSpPr>
          <p:cNvPr id="15" name="anim:5:346"/>
          <p:cNvSpPr txBox="1"/>
          <p:nvPr/>
        </p:nvSpPr>
        <p:spPr>
          <a:xfrm>
            <a:off x="548640" y="5212080"/>
            <a:ext cx="10789920" cy="411480"/>
          </a:xfrm>
          <a:prstGeom prst="rect">
            <a:avLst/>
          </a:prstGeom>
          <a:noFill/>
          <a:ln/>
        </p:spPr>
        <p:txBody>
          <a:bodyPr wrap="square" lIns="0" tIns="0" rIns="0" bIns="0" rtlCol="0" anchor="t"/>
          <a:lstStyle/>
          <a:p>
            <a:pPr algn="l" indent="0" marL="0">
              <a:buNone/>
            </a:pPr>
            <a:r>
              <a:rPr lang="en-US" sz="1800" b="1" dirty="0">
                <a:solidFill>
                  <a:srgbClr val="F2A541"/>
                </a:solidFill>
                <a:latin typeface="Calibri" pitchFamily="34" charset="0"/>
                <a:ea typeface="Calibri" pitchFamily="34" charset="-122"/>
                <a:cs typeface="Calibri" pitchFamily="34" charset="-120"/>
              </a:rPr>
              <a:t>github.com/kevennlaranjeira/OLAP2026</a:t>
            </a:r>
            <a:endParaRPr lang="en-US" sz="1800" dirty="0"/>
          </a:p>
        </p:txBody>
      </p:sp>
      <p:sp>
        <p:nvSpPr>
          <p:cNvPr id="16" name="anim:5:347"/>
          <p:cNvSpPr txBox="1"/>
          <p:nvPr/>
        </p:nvSpPr>
        <p:spPr>
          <a:xfrm>
            <a:off x="548640" y="5760720"/>
            <a:ext cx="10789920" cy="36576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Kevenn Laranjeira de Oliveira  ·  Thiago Rodrigues Gouveia da Silva  ·  Daniel Afonso Borges dos Santos  ·  Luís Antônio Arruda Soares</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F2A541"/>
                </a:solidFill>
                <a:latin typeface="Calibri"/>
                <a:ea typeface="Calibri"/>
                <a:cs typeface="Calibri"/>
              </a:defRPr>
            </a:lvl1pPr>
          </a:lstStyle>
          <a:p>
            <a:pPr algn="r"/>
            <a:fld id="{F7021451-1387-4CA6-816F-3879F97B5CBC}" type="slidenum">
              <a:rPr b="1" lang="en-US"/>
              <a:t>26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10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B2A4A"/>
      </a:dk2>
      <a:lt2>
        <a:srgbClr val="EEF2F8"/>
      </a:lt2>
      <a:accent1>
        <a:srgbClr val="2E5EAA"/>
      </a:accent1>
      <a:accent2>
        <a:srgbClr val="F2A541"/>
      </a:accent2>
      <a:accent3>
        <a:srgbClr val="566175"/>
      </a:accent3>
      <a:accent4>
        <a:srgbClr val="8FA6CB"/>
      </a:accent4>
      <a:accent5>
        <a:srgbClr val="8A5300"/>
      </a:accent5>
      <a:accent6>
        <a:srgbClr val="D6E0F0"/>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Rede Municipal Paulistana: oferta escolar e demanda não atendida</dc:title>
  <dc:subject>PptxGenJS Presentation</dc:subject>
  <dc:creator>Grupo 7, SCC0245</dc:creator>
  <cp:lastModifiedBy>Grupo 7, SCC0245</cp:lastModifiedBy>
  <cp:revision>1</cp:revision>
  <dcterms:created xsi:type="dcterms:W3CDTF">2026-10-28T01:40:21Z</dcterms:created>
  <dcterms:modified xsi:type="dcterms:W3CDTF">2026-10-28T01:40:21Z</dcterms:modified>
</cp:coreProperties>
</file>