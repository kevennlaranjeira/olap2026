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3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E2B2B"/>
                </a:solidFill>
                <a:latin typeface="Calibri"/>
              </a:defRPr>
            </a:pPr>
            <a:r>
              <a:rPr sz="1500" b="0" i="0" u="none" strike="noStrike">
                <a:solidFill>
                  <a:srgbClr val="1E2B2B"/>
                </a:solidFill>
                <a:latin typeface="Calibri"/>
              </a:rPr>
              <a:t>Crianças na fila de creche em junho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Fila de creche em junho</c:v>
                </c:pt>
              </c:strCache>
            </c:strRef>
          </c:tx>
          <c:spPr>
            <a:solidFill>
              <a:srgbClr val="183D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B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124741</c:v>
                </c:pt>
                <c:pt idx="1">
                  <c:v>103496</c:v>
                </c:pt>
                <c:pt idx="2">
                  <c:v>104268</c:v>
                </c:pt>
                <c:pt idx="3">
                  <c:v>66714</c:v>
                </c:pt>
                <c:pt idx="4">
                  <c:v>48910</c:v>
                </c:pt>
                <c:pt idx="5">
                  <c:v>22732</c:v>
                </c:pt>
                <c:pt idx="6">
                  <c:v>8767</c:v>
                </c:pt>
                <c:pt idx="7">
                  <c:v>4761</c:v>
                </c:pt>
                <c:pt idx="8">
                  <c:v>4913</c:v>
                </c:pt>
                <c:pt idx="9">
                  <c:v>3633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E2B2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667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6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667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E2B2B"/>
                </a:solidFill>
                <a:latin typeface="Calibri"/>
              </a:defRPr>
            </a:pPr>
            <a:r>
              <a:rPr sz="1500" b="0" i="0" u="none" strike="noStrike">
                <a:solidFill>
                  <a:srgbClr val="1E2B2B"/>
                </a:solidFill>
                <a:latin typeface="Calibri"/>
              </a:rPr>
              <a:t>Fração da demanda de creche fora da rede (%)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Fração fora da rede</c:v>
                </c:pt>
              </c:strCache>
            </c:strRef>
          </c:tx>
          <c:spPr>
            <a:solidFill>
              <a:srgbClr val="D98E04"/>
            </a:solidFill>
            <a:ln w="38100" cap="flat">
              <a:solidFill>
                <a:srgbClr val="D98E04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B2B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D98E04"/>
              </a:solidFill>
              <a:ln w="9525" cap="flat">
                <a:solidFill>
                  <a:srgbClr val="D98E0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34.1</c:v>
                </c:pt>
                <c:pt idx="1">
                  <c:v>27.1</c:v>
                </c:pt>
                <c:pt idx="2">
                  <c:v>26.6</c:v>
                </c:pt>
                <c:pt idx="3">
                  <c:v>17.5</c:v>
                </c:pt>
                <c:pt idx="4">
                  <c:v>12.8</c:v>
                </c:pt>
                <c:pt idx="5">
                  <c:v>6.2</c:v>
                </c:pt>
                <c:pt idx="6">
                  <c:v>2.4</c:v>
                </c:pt>
                <c:pt idx="7">
                  <c:v>1.3</c:v>
                </c:pt>
                <c:pt idx="8">
                  <c:v>1.4</c:v>
                </c:pt>
                <c:pt idx="9">
                  <c:v>1.1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1E2B2B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667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667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E2B2B"/>
                </a:solidFill>
                <a:latin typeface="Calibri"/>
              </a:defRPr>
            </a:pPr>
            <a:r>
              <a:rPr sz="1500" b="0" i="0" u="none" strike="noStrike">
                <a:solidFill>
                  <a:srgbClr val="1E2B2B"/>
                </a:solidFill>
                <a:latin typeface="Calibri"/>
              </a:rPr>
              <a:t>Alunos por turma em 30 de junho (consulta 8)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183D3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B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Creche</c:v>
                  </c:pt>
                  <c:pt idx="1">
                    <c:v>Pré-escola</c:v>
                  </c:pt>
                  <c:pt idx="2">
                    <c:v>Fund. iniciais</c:v>
                  </c:pt>
                  <c:pt idx="3">
                    <c:v>Fund. finais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11.5</c:v>
                </c:pt>
                <c:pt idx="1">
                  <c:v>30.7</c:v>
                </c:pt>
                <c:pt idx="2">
                  <c:v>28.7</c:v>
                </c:pt>
                <c:pt idx="3">
                  <c:v>29.4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D98E0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B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Creche</c:v>
                  </c:pt>
                  <c:pt idx="1">
                    <c:v>Pré-escola</c:v>
                  </c:pt>
                  <c:pt idx="2">
                    <c:v>Fund. iniciais</c:v>
                  </c:pt>
                  <c:pt idx="3">
                    <c:v>Fund. finais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</c:v>
                </c:pt>
                <c:pt idx="1">
                  <c:v>26.9</c:v>
                </c:pt>
                <c:pt idx="2">
                  <c:v>30.6</c:v>
                </c:pt>
                <c:pt idx="3">
                  <c:v>31.6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E2B2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667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3E8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667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E2B2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Kevenn Laranjeira de Oliveira (bloco 1 de 4). Tempo previsto: 0,5 min.
Abertura. Apresentar o grupo, a disciplina e o tema: política pública municipal de educação. Dizer em uma frase a pergunta do trabalho: onde existe fila por vaga, onde existe oferta, se a oferta está cheia, quantas crianças moram em cada lugar e o que acontece com quem consegue a vaga.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Kevenn Laranjeira de Oliveira (bloco 1 de 4). Tempo previsto: 0,5 min.
Mostrar a divisão: cada integrante apresenta um bloco, com o mesmo tempo previsto. Os quatro blocos seguem a ordem pedida no enunciado: motivação; fontes; esquemas estrela e constelação; consultas e decisões.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Kevenn Laranjeira de Oliveira (bloco 1 de 4). Tempo previsto: 1 min.
Motivação. A falta de vaga em creche foi por anos o principal problema de acesso da educação infantil paulistana. O PNE (Lei 13.005/2014), Meta 1, pede creche para pelo menos metade das crianças de até 3 anos e pré-escola universal. A prefeitura publica a fila por distrito para dar transparência. Os números do slide são da nossa carga com os dados reais: a fila de creche em junho caiu de 124.741 crianças em 2015 para 3.633 em 2024. O gestor ainda precisa saber onde a oferta está cheia e quantas crianças moram em cada região, e é isso que o modelo junta.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Kevenn Laranjeira de Oliveira (bloco 1 de 4). Tempo previsto: 1 min.
Quem usa: Secretaria Municipal de Educação e as 13 Diretorias Regionais. Cada cartão é uma decisão real de política pública e cita as consultas que a apoiam. Destacar que a capacidade das turmas não é publicada, então medimos a ocupação.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Kevenn Laranjeira de Oliveira (bloco 1 de 4). Tempo previsto: 1 min.
O enunciado temático prioriza São Carlos. Nossa primeira proposta foi dimensionar a oferta escolar por setor censitário em São Carlos. Sem dado aberto de vaga nem de fila, a demanda não atendida teria de ser estimada, e o enunciado pede dados reais. São Paulo publica o microdado de cada matrícula e a fila por distrito. O modelo não depende de São Paulo: matrícula, turma e desfecho vêm do tipo de registro que qualquer sistema de gestão escolar mantém, e o Censo 2022 tem população por setor para todos os municípios.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Kevenn Laranjeira de Oliveira (bloco 1 de 4). Tempo previsto: 1 min.
Os cinco assuntos são os registrados na planilha do grupo, e cada um responde a uma parte da decisão de onde abrir vagas. Matrícula é a oferta usada; fila é quem pediu e não conseguiu; ocupação diz se a oferta que existe está cheia; população é a demanda potencial, que existe mesmo sem pedido; oferta por setor mostra onde e por qual rede a vaga é oferecida. Quatro assuntos viram tabelas de fatos; a oferta por setor é respondida pelas dimensões Escola, Território e Setor Censitário. O quinto processo, desfecho da matrícula, acompanha o que acontece depois do acesso.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Thiago Rodrigues Gouveia da Silva (bloco 2 de 4). Tempo previsto: 1 min.
Duas fontes da SME no Portal de Dados Abertos da Prefeitura, com grão, formato e vocabulário diferentes, e o Censo 2022 do IBGE. A fila tem sete formatos entre 2006 e 2026, e o significado das colunas numeradas muda com o formato. O Censo traz a demanda potencial: quantas crianças moram em cada setor. Na carga real entraram 26.889 setores do município, todos ligados a um distrito da SME.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Thiago Rodrigues Gouveia da Silva (bloco 2 de 4). Tempo previsto: 1 min.
Exemplos de integração exigidos no enunciado. Distrito: maiúsculas sem acento na SME, com acento no IBGE; a regra de normalização é a mesma. Idade: simples no microdado, grupos de cinco anos no IBGE; a dimensão Idade carrega a faixa do IBGE. CD_SETOR é um homônimo: na SME é setor administrativo de 4 dígitos, no IBGE setor censitário de 15. A prova de que a integração entre as bases da SME está certa: contando no microdado as matrículas ativas em junho, a diferença para a planilha fica abaixo de 1% de 2015 a 2020.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Thiago Rodrigues Gouveia da Silva (bloco 2 de 4). Tempo previsto: 1 min.
Cada problema foi medido nos dados reais e tratado por uma regra testada. O mais grave: de 2022 a 2024 o código da escola chega corrompido; recuperamos o código real pelo nome, tipo e distrito para 94,8% a 98,6% das matrículas. Princípio: medida não publicada fica nula, nunca zero. O pipeline roda catorze verificações automáticas depois de cada carga; na carga real nenhuma deu FALHA.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Thiago Rodrigues Gouveia da Silva (bloco 2 de 4). Tempo previsto: 1 min.
Grão declarado antes das dimensões. Matrícula no grão mais fino que a fonte permite; fila no grão em que a prefeitura publica; desfecho e ocupação são fatos agregados do fato de matrícula; população no grão do IBGE. Fila e população são estoques: somam no território, não no tempo. Taxas e alunos por turma são derivados não aditivos, sempre recalculados a partir das somas.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Thiago Rodrigues Gouveia da Silva (bloco 2 de 4). Tempo previsto: 1 min.
Fato no centro, dez dimensões. Dimensão Data com dois papéis, início e fim da matrícula, como a data de internação e de alta do artigo da disciplina: as duas datas permitem contar matrículas ativas em um dia. O fato principal é a ocorrência do vínculo, contada por um campo artificial igual a 1, técnica de tabela de fatos sem fato; a única medida é dias de matrícula. Três bugigangas. Duas degeneradas. Escola é mudança lenta tipo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Daniel Afonso Borges dos Santos (bloco 3 de 4). Tempo previsto: 1 min.
Fila: medidas nulas onde a prefeitura não publicou a quebra; formato da planilha como dimensão degenerada. Tempo tem duas hierarquias porque a fila foi trimestral até 2022 e bimestral depois. A fila é estoque: soma entre distritos e etapas, mas no tempo se escolhe um mês, nunca se soma.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Daniel Afonso Borges dos Santos (bloco 3 de 4). Tempo previsto: 1 min.
Desfecho: fato agregado do fato de matrícula, porque taxa de rendimento só faz sentido sobre um conjunto de alunos. As contagens somam; as taxas são recalculadas pelas contagens em qualquer nível, nunca como média de taxas. Na educação infantil não há aprovação, então a taxa fica nula.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Daniel Afonso Borges dos Santos (bloco 3 de 4). Tempo previsto: 1 min.
Ocupação de turma: agregado do fato de matrícula pelo id da turma. A capacidade não é publicada, então medimos os alunos ativos em 30 de junho por turma em funcionamento. A média é sempre soma de alunos dividida por soma de turmas.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Daniel Afonso Borges dos Santos (bloco 3 de 4). Tempo previsto: 1 min.
População: Censo 2022 no grão de setor censitário, a menor unidade territorial do modelo. Na carga real são 26.889 setores, todos ligados a um distrito da SME, e 11,4 milhões de moradores. Faixa Etária é o rollup encolhido de Idade que conforma com a matrícula.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Daniel Afonso Borges dos Santos (bloco 3 de 4). Tempo previsto: 1 min.
Cinco fatos, catorze dimensões. Território é compartilhado pelos cinco. Processo de projeto: matriz de barramento com fato e dimensão, dimensões conformadas e, onde os grãos diferem, rollups encolhidos conformados (tracejado): Tempo e Ano Letivo de Data, Etapa de Série, Faixa Etária de Idade, Território de Setor Censitário. O drill-across agrega cada fato até o grão comum e une pelos atributos conformados.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Luís Antônio Arruda Soares (bloco 4 de 4). Tempo previsto: 1,5 min.
O enunciado pede ao menos duas de roll-up ou drill-down, uma slice and dice, uma pivot e uma drill-across. Temos três, uma, uma e três. Cada consulta responde a uma pergunta do gestor e cita os fatos que usa. C7 é a que liga fila, matrícula e população; C8 é a da ocupação das turmas.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Luís Antônio Arruda Soares (bloco 4 de 4). Tempo previsto: 1 min.
Consulta 5 na carga com os dados reais de 2015 a 2024. A fila de creche em junho caiu 97% em dez anos e a fração da demanda fora da rede passou de 34% para 1%. A queda maior foi de 2017 a 2021. Consulta 3: 85% das matrículas de creche estão na rede conveniada, quase todas em jornada integral, em 2019 e em 2024.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Luís Antônio Arruda Soares (bloco 4 de 4). Tempo previsto: 1 min.
Consulta 7, na data do Censo: 598.406 crianças de 0 a 4 anos moram no município e a rede municipal tinha 514.131 matrículas ativas dessa idade, 86 por 100. A média esconde distâncias grandes: 25 distritos têm menos de 50 matrículas por 100 crianças residentes e outros 25 passam de 100, porque a matrícula conta onde a escola fica e a população onde a criança mora. Consulta 8: a creche funciona com perto de 11 crianças por turma em todas as DREs; no fundamental são de 28 a 32.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Luís Antônio Arruda Soares (bloco 4 de 4). Tempo previsto: 1 min.
Seis das 23 decisões documentadas no repositório. Cada uma tem a alternativa descartada e o argumento. Destacar as duas que mais aparecem em perguntas: por que rollups encolhidos em vez de um grão único, e por que nulo e não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Luís Antônio Arruda Soares (bloco 4 de 4). Tempo previsto: 0,5 min.
Encerramento. Lembrar que o relatório em PDF traz a descrição completa de cada atributo, com a coluna de origem e a integração, e que o repositório tem o pipeline completo, os testes e a documentação. Abrir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83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731520" y="6400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9CF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SCC0245 Processamento Analítico de Dados · Primeiro Trabalho Prático · Grupo 7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132588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Rede Municipal Paulistana: oferta escolar e demanda não atendida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063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2C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data warehouse para decidir onde abrir vagas, com dados abertos da SME-SP e do IBGE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069080"/>
            <a:ext cx="6858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Kevenn Laranjeira de Oliveira   18046529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Thiago Rodrigues Gouveia da Silva   18066911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 Afonso Borges dos Santos   12608581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Luís Antônio Arruda Soares   12559486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863840" y="49834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B9CF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Profa. Dra. Cristina Dutra de Aguiar</a:t>
            </a:r>
            <a:endParaRPr lang="en-US" sz="1400" dirty="0"/>
          </a:p>
          <a:p>
            <a:pPr algn="r" indent="0" marL="0">
              <a:buNone/>
            </a:pPr>
            <a:r>
              <a:rPr lang="en-US" sz="1400" dirty="0">
                <a:solidFill>
                  <a:srgbClr val="B9CF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ICMC-USP, São Carlos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Roteiro: quatro integrantes, tempos iguais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2651760" cy="4526280"/>
          </a:xfrm>
          <a:prstGeom prst="roundRect">
            <a:avLst>
              <a:gd name="adj" fmla="val 2759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1600200"/>
            <a:ext cx="502920" cy="50292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4028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Kevenn Laranjeira de Oliveira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9260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1 a 6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291840"/>
            <a:ext cx="2240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Motivação: o problema, as perguntas do gestor, a escolha de São Paulo e os cinco assuntos de interesse.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51206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min</a:t>
            </a:r>
            <a:endParaRPr lang="en-US" sz="2600" dirty="0"/>
          </a:p>
        </p:txBody>
      </p:sp>
      <p:sp>
        <p:nvSpPr>
          <p:cNvPr id="12" name="Shape 9"/>
          <p:cNvSpPr/>
          <p:nvPr/>
        </p:nvSpPr>
        <p:spPr>
          <a:xfrm>
            <a:off x="3360420" y="1371600"/>
            <a:ext cx="2651760" cy="4526280"/>
          </a:xfrm>
          <a:prstGeom prst="roundRect">
            <a:avLst>
              <a:gd name="adj" fmla="val 2759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589020" y="1600200"/>
            <a:ext cx="502920" cy="50292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58902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89020" y="224028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Thiago Rodrigues Gouveia da Silva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589020" y="29260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7 a 11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3589020" y="3291840"/>
            <a:ext cx="2240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 de dados, integração, problemas nos dados, grão e aditividade e a estrela Matrícula.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589020" y="51206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min</a:t>
            </a:r>
            <a:endParaRPr lang="en-US" sz="2600" dirty="0"/>
          </a:p>
        </p:txBody>
      </p:sp>
      <p:sp>
        <p:nvSpPr>
          <p:cNvPr id="19" name="Shape 16"/>
          <p:cNvSpPr/>
          <p:nvPr/>
        </p:nvSpPr>
        <p:spPr>
          <a:xfrm>
            <a:off x="6172200" y="1371600"/>
            <a:ext cx="2651760" cy="4526280"/>
          </a:xfrm>
          <a:prstGeom prst="roundRect">
            <a:avLst>
              <a:gd name="adj" fmla="val 2759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00800" y="1600200"/>
            <a:ext cx="502920" cy="50292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0080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6400800" y="224028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 Afonso Borges dos Santos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6400800" y="29260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12 a 16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6400800" y="3291840"/>
            <a:ext cx="2240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Estrelas Fila, Desfecho, Ocupação de Turma e População; constelação de fatos.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400800" y="51206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min</a:t>
            </a:r>
            <a:endParaRPr lang="en-US" sz="2600" dirty="0"/>
          </a:p>
        </p:txBody>
      </p:sp>
      <p:sp>
        <p:nvSpPr>
          <p:cNvPr id="26" name="Shape 23"/>
          <p:cNvSpPr/>
          <p:nvPr/>
        </p:nvSpPr>
        <p:spPr>
          <a:xfrm>
            <a:off x="8983980" y="1371600"/>
            <a:ext cx="2651760" cy="4526280"/>
          </a:xfrm>
          <a:prstGeom prst="roundRect">
            <a:avLst>
              <a:gd name="adj" fmla="val 2759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9212580" y="1600200"/>
            <a:ext cx="502920" cy="50292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21258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9212580" y="224028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Luís Antônio Arruda Soares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9212580" y="29260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17 a 21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9212580" y="3291840"/>
            <a:ext cx="2240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OLAP, resultados com os dados reais e decisões de projeto.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9212580" y="51206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min</a:t>
            </a:r>
            <a:endParaRPr lang="en-US" sz="260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60350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previsto: 20 minutos, sem contar as perguntas. Com outro limite de tempo, a divisão continua em quatro partes iguais.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problema: falta de vaga na educação infantil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58521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falta de vaga em creche foi por anos o principal problema de acesso da educação infantil em São Paulo.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PNE (Lei 13.005/2014), Meta 1: creche para ao menos metade das crianças de até 3 anos; pré-escola universal.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decidir onde abrir vagas, o gestor precisa cruzar fila, matrícula, ocupação das turmas e população, que estão em bases diferentes.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858000" y="1371600"/>
            <a:ext cx="4754880" cy="2103120"/>
          </a:xfrm>
          <a:prstGeom prst="roundRect">
            <a:avLst>
              <a:gd name="adj" fmla="val 3478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086600" y="153619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de creche em junho de 2015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086600" y="1993392"/>
            <a:ext cx="4297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7086600" y="201168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A5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124.741 crianças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7086600" y="28803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34% da demanda de creche fora da rede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858000" y="3703320"/>
            <a:ext cx="4754880" cy="2103120"/>
          </a:xfrm>
          <a:prstGeom prst="roundRect">
            <a:avLst>
              <a:gd name="adj" fmla="val 3478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086600" y="386791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de creche em junho de 2024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086600" y="4325112"/>
            <a:ext cx="4297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7086600" y="434340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3.633 crianças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7086600" y="52120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1% da demanda de creche fora da rede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35508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Demanda Registrada e Matrículas (SME-SP); consulta 5 sobre a carga com os dados reais.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Perguntas que o data warehouse responde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36192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abrir vagas?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93392"/>
            <a:ext cx="4983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por distrito e DRE, fila contra matrícula e contra a população de 0 a 4 anos.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0632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 · C5 · C7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172200" y="1371600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0" y="1536192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oferta é feita?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6400800" y="1993392"/>
            <a:ext cx="4983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 da rede conveniada e da jornada integral na creche e em cada DRE.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6400800" y="30632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C3 · C4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48640" y="3794760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3959352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nova ou lugar ocioso?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777240" y="4416552"/>
            <a:ext cx="4983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Alunos por turma em funcionamento, do município ao distrito.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54864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C8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172200" y="3794760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00800" y="3959352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e abandono andam juntos?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0" y="4416552"/>
            <a:ext cx="4983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de creche e abandono no ensino fundamental, por DRE.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6400800" y="54864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C6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São Paulo, e não São Carlos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5394960" cy="2926080"/>
          </a:xfrm>
          <a:prstGeom prst="roundRect">
            <a:avLst>
              <a:gd name="adj" fmla="val 2500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3619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Primeira proposta: São Carlos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93392"/>
            <a:ext cx="49377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 escolar por setor censitário.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dado aberto de vaga nem de fila, a demanda não atendida teria de ser estimada.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217920" y="1371600"/>
            <a:ext cx="5394960" cy="2926080"/>
          </a:xfrm>
          <a:prstGeom prst="roundRect">
            <a:avLst>
              <a:gd name="adj" fmla="val 2500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46520" y="153619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Escolha: São Paulo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6446520" y="1993392"/>
            <a:ext cx="49377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SME publica o microdado de cada matrícula e a fila de espera por distrito: demanda medida, não estimada.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13,4 milhões de matrículas de 2015 a 2024.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48640" y="457200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4663440"/>
            <a:ext cx="10607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vale para São Carlos: </a:t>
            </a:r>
            <a:pPr indent="0" marL="0">
              <a:buNone/>
            </a:pPr>
            <a:r>
              <a:rPr lang="en-US" sz="16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matrícula, turma e desfecho vêm do registro que todo sistema de gestão escolar mantém, e o Censo 2022 já tem a população por setor censitário do município. Falta só a rede registrar e publicar a fila.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Cinco assuntos de interesse e por que importam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4937760"/>
                <a:gridCol w="31089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Assunto de interesse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que importa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modelo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Matrículas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oferta efetivamente usada, com o perfil de cada aluno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fato Matrícula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 (demanda registrada)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 pediu vaga e não foi atendido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fato Fila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Capacidade e ocupação das turmas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a oferta existente está cheia: turma nova ou lugar ocioso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fato Ocupação de Turma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População em idade escolar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demanda potencial, mesmo sem pedido de vaga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fato População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Oferta escolar por setor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onde e por qual rede (direta ou conveniada) a vaga é oferecida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dimensões Escola, Território, Setor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48640" y="507492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51206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Quinto processo: desfecho da matrícula. </a:t>
            </a:r>
            <a:pPr indent="0" marL="0">
              <a:buNone/>
            </a:pPr>
            <a:r>
              <a:rPr lang="en-US" sz="16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Acompanha o que acontece depois do acesso: aprovação, reprovação, abandono e transferência.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fontes de dados reais e oficiais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3566160" cy="4572000"/>
          </a:xfrm>
          <a:prstGeom prst="roundRect">
            <a:avLst>
              <a:gd name="adj" fmla="val 2051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3619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Microdados de Matrículas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93392"/>
            <a:ext cx="31089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3317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SME-SP · anual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971800"/>
            <a:ext cx="31089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linha por vínculo aluno-turma: escola, turma, turno, série, idade, perfil, deficiência, datas e desfecho.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13,4 milhões de matrículas de escolarização (2015-2024).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297680" y="1371600"/>
            <a:ext cx="3566160" cy="4572000"/>
          </a:xfrm>
          <a:prstGeom prst="roundRect">
            <a:avLst>
              <a:gd name="adj" fmla="val 2051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26280" y="153619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 Registrada e Matrículas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993392"/>
            <a:ext cx="31089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4526280" y="23317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SME-SP · trimestral, bimestral desde 2023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4526280" y="2971800"/>
            <a:ext cx="31089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distrito e etapa: matrículas, matrículas em processo e fila.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planilhas × 96 distritos no recorte; sete formatos diferentes.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8046720" y="1371600"/>
            <a:ext cx="3566160" cy="4572000"/>
          </a:xfrm>
          <a:prstGeom prst="roundRect">
            <a:avLst>
              <a:gd name="adj" fmla="val 2051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75320" y="153619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Censo Demográfico 2022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8275320" y="1993392"/>
            <a:ext cx="31089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8275320" y="23317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IBGE · Agregados por Setores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275320" y="2971800"/>
            <a:ext cx="31089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Pessoas residentes por setor censitário e grupo de idade (variáveis V01031 a V01041).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26.889 setores do município, 11,4 milhões de moradores; referência 31/07/2022.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Integração: o mesmo dado em formas diferentes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291840"/>
                <a:gridCol w="3017520"/>
                <a:gridCol w="329184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data warehouse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AGUA RASA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Água Rasa + código de 9 dígitos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nome normalizado, chave da dimensão Território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Idade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idade simples em 31/03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grupo de 0 a 4, 5 a 9, ...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faixa IBGE na dimensão Idade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Etapa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Creche, Pré Escola (fila); MODALIDADE (microdado)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se aplica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catálogo único de etapas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CD_SETOR: 4 dígitos, administrativo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CD_SETOR: 15 dígitos, censitário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homônimo: nunca cruzados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48640" y="489204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49834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Reconciliação: </a:t>
            </a:r>
            <a:pPr indent="0" marL="0">
              <a:buNone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matrículas ativas em junho no microdado contra a matrícula da planilha de fila, por distrito e etapa: diferença abaixo de 1% de 2015 a 2020 (creche: +0,03% em 2015, +0,17% em 2019).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Problemas reais nos dados e como foram tratados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3566160" cy="2194560"/>
          </a:xfrm>
          <a:prstGeom prst="roundRect">
            <a:avLst>
              <a:gd name="adj" fmla="val 3333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3619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da escola corrompido (2022-2024)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331720"/>
            <a:ext cx="3108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recuperado pelo nome, tipo e distrito em 94,8% a 98,6% das matrículas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297680" y="1371600"/>
            <a:ext cx="3566160" cy="2194560"/>
          </a:xfrm>
          <a:prstGeom prst="roundRect">
            <a:avLst>
              <a:gd name="adj" fmla="val 3333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26280" y="153619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 formatos da planilha de fila</a:t>
            </a:r>
            <a:endParaRPr lang="en-US" sz="1550" dirty="0"/>
          </a:p>
        </p:txBody>
      </p:sp>
      <p:sp>
        <p:nvSpPr>
          <p:cNvPr id="10" name="Text 7"/>
          <p:cNvSpPr txBox="1"/>
          <p:nvPr/>
        </p:nvSpPr>
        <p:spPr>
          <a:xfrm>
            <a:off x="4526280" y="2331720"/>
            <a:ext cx="3108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colunas lidas do cabeçalho; significado de (1), (2), (3) lido do rodapé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8046720" y="1371600"/>
            <a:ext cx="3566160" cy="2194560"/>
          </a:xfrm>
          <a:prstGeom prst="roundRect">
            <a:avLst>
              <a:gd name="adj" fmla="val 3333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5320" y="153619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Turno não publicado em 2021</a:t>
            </a:r>
            <a:endParaRPr lang="en-US" sz="155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331720"/>
            <a:ext cx="3108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deduzido do código da turma, conferido pelos horários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48640" y="3749040"/>
            <a:ext cx="3566160" cy="2194560"/>
          </a:xfrm>
          <a:prstGeom prst="roundRect">
            <a:avLst>
              <a:gd name="adj" fmla="val 3333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391363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Idade com vírgula, nula ou nascida em 1900</a:t>
            </a:r>
            <a:endParaRPr lang="en-US" sz="155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4709160"/>
            <a:ext cx="3108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recalculada pelo nascimento; impossível vira não informada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297680" y="3749040"/>
            <a:ext cx="3566160" cy="2194560"/>
          </a:xfrm>
          <a:prstGeom prst="roundRect">
            <a:avLst>
              <a:gd name="adj" fmla="val 3333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526280" y="391363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 em cinco formatos, inclusive serial do Excel</a:t>
            </a:r>
            <a:endParaRPr lang="en-US" sz="1550" dirty="0"/>
          </a:p>
        </p:txBody>
      </p:sp>
      <p:sp>
        <p:nvSpPr>
          <p:cNvPr id="19" name="Text 16"/>
          <p:cNvSpPr txBox="1"/>
          <p:nvPr/>
        </p:nvSpPr>
        <p:spPr>
          <a:xfrm>
            <a:off x="4526280" y="4709160"/>
            <a:ext cx="3108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lidos; fora da janela do ano letivo, descartadas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8046720" y="3749040"/>
            <a:ext cx="3566160" cy="2194560"/>
          </a:xfrm>
          <a:prstGeom prst="roundRect">
            <a:avLst>
              <a:gd name="adj" fmla="val 3333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75320" y="391363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suprimidos pelo IBGE em setores pequenos</a:t>
            </a:r>
            <a:endParaRPr lang="en-US" sz="1550" dirty="0"/>
          </a:p>
        </p:txBody>
      </p:sp>
      <p:sp>
        <p:nvSpPr>
          <p:cNvPr id="22" name="Text 19"/>
          <p:cNvSpPr txBox="1"/>
          <p:nvPr/>
        </p:nvSpPr>
        <p:spPr>
          <a:xfrm>
            <a:off x="8275320" y="4709160"/>
            <a:ext cx="3108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6.543 valores ficam nulos, nunca zero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Grão e aditividade dos fatos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834640"/>
                <a:gridCol w="3657600"/>
                <a:gridCol w="246888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Tabela de fatos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Grão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Fatos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Aditividade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Matrícula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vínculo aluno-turma × ano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quantidade (=1), dias de matrícula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aditivo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distrito × mês × etapa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matrículas, em processo, demanda e categorias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semiaditivo (estoque)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Desfecho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escola × ano × série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contagens por desfecho; taxas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aditivo; taxas não aditivas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Ocupação de Turma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turma × ano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turmas, matrículas, ativas em junho; alunos por turma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aditivo; média não aditiva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População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setor censitário × faixa × Censo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pessoas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semiaditivo (estoque)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Esquema estrela Matrícula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pic>
        <p:nvPicPr>
          <p:cNvPr id="5" name="Image 0" descr="Esquema estrela Matrícula: tabela de fatos Matrícula no centro, ligada a dez dimensõ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6979606" cy="51206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8183880" y="1280160"/>
            <a:ext cx="352044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com dois papéis: início e fim da matrícula.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Ocorrência contada por campo artificial (= 1), como em fatos sem fato.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Bugigangas: Perfil, Deficiência, Situação.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Degeneradas: id turma, código da matrícula.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Escola: mudança lenta tipo 2.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Hierarquias: dia ≤ mês ≤ trimestre ≤ semestre ≤ ano; série ≤ etapa ≤ nível; idade ≤ faixa IBGE.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Esquema estrela Fila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pic>
        <p:nvPicPr>
          <p:cNvPr id="5" name="Image 0" descr="Esquema estrela Fila: tabela de fatos Fila ligada às dimensões Tempo, Território e Etap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11064240" cy="3694057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5157097"/>
            <a:ext cx="5440680" cy="1152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Grão: distrito × mês × etapa.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Estoque: SOMA no território e na etapa; um único mês no tempo.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Tempo: mês ≤ trimestre ≤ semestre ≤ ano e mês ≤ bimestre ≤ ano.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6172200" y="5157097"/>
            <a:ext cx="5440680" cy="1152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Território: distrito ≤ DRE ≤ município ≤ UF.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da planilha: dimensão degenerada.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Esquema estrela Desfecho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pic>
        <p:nvPicPr>
          <p:cNvPr id="5" name="Image 0" descr="Esquema estrela Desfecho: tabela de fatos Desfecho ligada a Ano Letivo, Escola, Território e Séri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11064240" cy="355657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5019616"/>
            <a:ext cx="5440680" cy="1289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Grão: escola × ano letivo × série.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Fato agregado do fato Matrícula.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Contagens por desfecho: SOMA.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6172200" y="5019616"/>
            <a:ext cx="5440680" cy="1289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Taxas derivadas, não aditivas: recalculadas pelas contagens.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Série: série ≤ etapa ≤ nível.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Esquema estrela Ocupação de Turma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pic>
        <p:nvPicPr>
          <p:cNvPr id="5" name="Image 0" descr="Esquema estrela Ocupação de Turma: tabela de fatos ligada a Ano Letivo, Escola, Território, Série e Turn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16312" y="1188720"/>
            <a:ext cx="8728897" cy="3749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5212080"/>
            <a:ext cx="5440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Grão: turma × ano letivo.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Turmas (= 1), matrículas e ativas em 30/06: SOMA.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Alunos por turma: derivado, recalculado pelas somas.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6172200" y="5212080"/>
            <a:ext cx="5440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Capacidade não publicada por nenhuma fonte: não é estimada.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turma: dimensão degenerada.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Esquema estrela População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pic>
        <p:nvPicPr>
          <p:cNvPr id="5" name="Image 0" descr="Esquema estrela População: tabela de fatos População ligada a Tempo, Setor Censitário, Território e Faixa Etár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3583" y="1188720"/>
            <a:ext cx="10514353" cy="3749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5212080"/>
            <a:ext cx="5440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Grão: setor censitário × faixa etária × data do Censo.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Estoque: SOMA entre setores e faixas, não no tempo.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censitário ≤ distrito ≤ DRE ≤ município ≤ UF.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6172200" y="5212080"/>
            <a:ext cx="5440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Faixa Etária: rollup encolhido de Idade.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suprimido pelo IBGE fica nulo.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Constelação de fatos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pic>
        <p:nvPicPr>
          <p:cNvPr id="5" name="Image 0" descr="Constelação de fatos: cinco tabelas de fatos e catorze dimensões compartilhad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10981656" cy="45720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 de projeto: matriz de barramento (fato × dimensão), dimensões conformadas e, onde os grãos diferem, rollups encolhidos (tracejado).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Oito consultas OLAP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828800"/>
                <a:gridCol w="5486400"/>
                <a:gridCol w="310896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Pergunta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drill-down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 de creche: município → DRE → distrito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roll-up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matrículas: etapa → nível → total, ano a ano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Matrícula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slice and dice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creche por rede e jornada, 2019 e 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Matrícula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pivot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DRE nas linhas, jornada nas colunas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Matrícula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drill-across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 contra matrícula ativa em junho, por distrito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Fila, Matrícula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drill-across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 de creche e abandono no fundamental, por DRE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Fila, Matrícula, Desfecho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drill-across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crianças de 0 a 4 anos: residentes, matriculadas e na fila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População, Matrícula, Fila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drill-down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alunos por turma: município → DRE → distrito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Ocupação de Turma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Resultados: fila e oferta de creche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234440"/>
          <a:ext cx="56692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6309360" y="1234440"/>
          <a:ext cx="53949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2"/>
          <p:cNvSpPr/>
          <p:nvPr/>
        </p:nvSpPr>
        <p:spPr>
          <a:xfrm>
            <a:off x="6309360" y="4434840"/>
            <a:ext cx="5394960" cy="1325880"/>
          </a:xfrm>
          <a:prstGeom prst="roundRect">
            <a:avLst>
              <a:gd name="adj" fmla="val 551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537960" y="459943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 da creche é conveniada</a:t>
            </a:r>
            <a:endParaRPr lang="en-US" sz="1700" dirty="0"/>
          </a:p>
        </p:txBody>
      </p:sp>
      <p:sp>
        <p:nvSpPr>
          <p:cNvPr id="9" name="Text 4"/>
          <p:cNvSpPr txBox="1"/>
          <p:nvPr/>
        </p:nvSpPr>
        <p:spPr>
          <a:xfrm>
            <a:off x="6537960" y="505663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 e 2024, quase toda em jornada integral (consulta 3).</a:t>
            </a:r>
            <a:endParaRPr lang="en-US" sz="14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635508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SME-SP, Demanda Registrada e Matrículas e Microdados de Matrículas; consultas 3 e 5.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Resultados: população e ocupação das turmas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325880"/>
            <a:ext cx="5394960" cy="2148840"/>
          </a:xfrm>
          <a:prstGeom prst="roundRect">
            <a:avLst>
              <a:gd name="adj" fmla="val 3404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9047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7 · 31/07/2022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47672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187452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5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86 por 100 crianças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606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514.131 matrículas ativas de 0 a 4 anos na rede municipal para 598.406 crianças dessa idade residentes.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48640" y="3657600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7240" y="382219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distrito, longe da média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4279392"/>
            <a:ext cx="49377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distritos com menos de 50 matrículas por 100 crianças; outros 25 com mais de 100.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matrícula conta onde a escola fica; a população, onde a criança mora.</a:t>
            </a:r>
            <a:endParaRPr lang="en-US" sz="15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6309360" y="1234440"/>
          <a:ext cx="539496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Text 10"/>
          <p:cNvSpPr txBox="1"/>
          <p:nvPr/>
        </p:nvSpPr>
        <p:spPr>
          <a:xfrm>
            <a:off x="548640" y="635508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Censo 2022 (IBGE) e Microdados de Matrículas (SME-SP); consultas 7 e 8.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Decisões de projeto em destaque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153619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Grão mais fino na matrícula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1965960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vínculo aluno-turma: preserva perfil e desfecho de cada aluno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172200" y="137160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400800" y="1828800"/>
            <a:ext cx="502920" cy="50292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7086600" y="153619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Rollups encolhidos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7086600" y="1965960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fato mantém o seu grão; Etapa, Tempo, Faixa Etária e Território conformam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48640" y="297180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77240" y="3429000"/>
            <a:ext cx="502920" cy="50292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77240" y="3429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463040" y="313639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Nulo não é zero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1463040" y="3566160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medida não publicada fica nula; zero faria a fila sumir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72200" y="297180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400800" y="3429000"/>
            <a:ext cx="502920" cy="50292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00800" y="3429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7086600" y="313639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Escola tipo 2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7086600" y="3566160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402 escolas mudam de nome, tipo, distrito ou DRE na série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48640" y="457200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77240" y="5029200"/>
            <a:ext cx="502920" cy="50292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77240" y="5029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1463040" y="473659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Capacidade não inventada</a:t>
            </a:r>
            <a:endParaRPr lang="en-US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1463040" y="5166360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ocupação medida pelos alunos ativos; nenhuma vaga estimada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6172200" y="457200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400800" y="5029200"/>
            <a:ext cx="502920" cy="50292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400800" y="5029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7086600" y="473659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 de referência</a:t>
            </a:r>
            <a:endParaRPr lang="en-US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7086600" y="5166360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junho para fila × matrícula; 31/07/2022 para população × matrícula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83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Obrigado. Perguntas?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9CF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107899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Relatório: descrição do problema, povoamento atributo por atributo, cinco estrelas, constelação e oito consultas.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Repositório: pipeline do portal ao DuckDB, 14 verificações de qualidade e testes automáticos, inclusive da modelagem.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real: 13,4 milhões de matrículas, 551 mil turmas e 26.889 setores censitários em 3,5 minutos, sem nenhuma FALHA nas verificações.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8463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C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github.com/kevennlaranjeira/OLAP2026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66928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9CF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Kevenn Laranjeira de Oliveira  ·  Thiago Rodrigues Gouveia da Silva  ·  Daniel Afonso Borges dos Santos  ·  Luís Antônio Arruda Soares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Rede Municipal Paulistana: oferta escolar e demanda não atendida</dc:title>
  <dc:subject>PptxGenJS Presentation</dc:subject>
  <dc:creator>Grupo 7, SCC0245</dc:creator>
  <cp:lastModifiedBy>Grupo 7, SCC0245</cp:lastModifiedBy>
  <cp:revision>1</cp:revision>
  <dcterms:created xsi:type="dcterms:W3CDTF">2026-10-08T23:14:26Z</dcterms:created>
  <dcterms:modified xsi:type="dcterms:W3CDTF">2026-10-08T23:14:26Z</dcterms:modified>
</cp:coreProperties>
</file>